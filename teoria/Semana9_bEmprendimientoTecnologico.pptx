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70" r:id="rId5"/>
    <p:sldId id="271" r:id="rId6"/>
    <p:sldId id="269" r:id="rId7"/>
    <p:sldId id="259" r:id="rId8"/>
    <p:sldId id="272" r:id="rId9"/>
    <p:sldId id="260" r:id="rId10"/>
    <p:sldId id="273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1866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C3B09-FFBF-287C-FF9B-B593A5647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870CD6-2507-4EB1-FCC1-8274C47FB5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BB8C04-157E-E9D4-DE46-0E5905075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3BDD1-2877-5698-CCB2-361BE70121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3471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EF8DF-5E6E-8BBC-6FD9-8DDCC7329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82D13E-A1E7-874A-8AC0-8F3EF3BC33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5F1CAE-1615-FBA0-54A3-B3006D4824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A03B96-7F41-6255-29A2-374CDABC36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2027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E8272-B74D-697D-A5C8-B6FB2D88C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DBB054-F93C-BE2D-8B6A-A787050CD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3E066A-902C-2622-8DCE-4D64164A4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9EB0C-D728-A4A5-5594-CCFD84063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0263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4572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Shape 2"/>
          <p:cNvSpPr/>
          <p:nvPr/>
        </p:nvSpPr>
        <p:spPr>
          <a:xfrm>
            <a:off x="914400" y="50292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914400" y="502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E2A"/>
                </a:solidFill>
              </a:rPr>
              <a:t>Semana 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2C39A"/>
                </a:solidFill>
              </a:rPr>
              <a:t>Emprendimiento Tecnológico S.I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</a:rPr>
              <a:t>Planes de Negocio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</a:rPr>
              <a:t>Exitosos en Tecnología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</a:rPr>
              <a:t>Caso EduConecta · Gestión de Marca · Naming de Proyectos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840480"/>
            <a:ext cx="795528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914400" y="3977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Francisco Rodríguez  ·  PUCE  ·  Sistemas de Información  ·  2024-02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98080" y="731520"/>
            <a:ext cx="2011680" cy="201168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Shape 10"/>
          <p:cNvSpPr/>
          <p:nvPr/>
        </p:nvSpPr>
        <p:spPr>
          <a:xfrm>
            <a:off x="7863840" y="1097280"/>
            <a:ext cx="1280160" cy="1280160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E2A"/>
          </a:solidFill>
          <a:ln w="12700">
            <a:solidFill>
              <a:srgbClr val="0D2E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Semana 9 — ¿Qué haremos hoy?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73152" cy="1600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E2A"/>
                </a:solidFill>
              </a:rPr>
              <a:t>Caso EduConecta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Análisis grupal de plan de negocio exitoso en tecnología (Fe y Alegría)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73152" cy="1600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548640" y="2926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3310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E2A"/>
                </a:solidFill>
              </a:rPr>
              <a:t>Preguntas de Análisis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Canvas, Lean Startup, sostenibilidad financiera y ventaja competitiva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Shape 13"/>
          <p:cNvSpPr/>
          <p:nvPr/>
        </p:nvSpPr>
        <p:spPr>
          <a:xfrm>
            <a:off x="4754880" y="1005840"/>
            <a:ext cx="73152" cy="1600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4937760" y="10972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937760" y="1481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E2A"/>
                </a:solidFill>
              </a:rPr>
              <a:t>Reflexión ApS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18288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Empatía, tensión negocio-impacto, conexión con sus proyectos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83464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Shape 18"/>
          <p:cNvSpPr/>
          <p:nvPr/>
        </p:nvSpPr>
        <p:spPr>
          <a:xfrm>
            <a:off x="4754880" y="2834640"/>
            <a:ext cx="73152" cy="1600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Text 19"/>
          <p:cNvSpPr/>
          <p:nvPr/>
        </p:nvSpPr>
        <p:spPr>
          <a:xfrm>
            <a:off x="4937760" y="2926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937760" y="3310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E2A"/>
                </a:solidFill>
              </a:rPr>
              <a:t>Gestión de Marca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6576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Framework para crear el nombre de su emprendimiento tecnológico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Caso EduConecta — Contexto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029200" cy="3749040"/>
          </a:xfrm>
          <a:prstGeom prst="rect">
            <a:avLst/>
          </a:prstGeom>
          <a:solidFill>
            <a:srgbClr val="F4F9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El desafío de Fe y Alegría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cap="all" dirty="0"/>
              <a:t>Contexto del caso</a:t>
            </a:r>
          </a:p>
          <a:p>
            <a:r>
              <a:rPr lang="es-MX" dirty="0"/>
              <a:t>La red Fe y Alegría Ecuador tiene 38 unidades educativas en zonas rurales y periurbanas, muchas con conectividad limitada, docentes con poca formación digital y alta rotación de estudiantes por factores económicos. La fundación quiere implementar una solución tecnológica que ayude a reducir la deserción escolar y mejorar los aprendizajes, pero no quiere comprar software genérico: busca una propuesta creada por jóvenes que entiendan la realidad local.</a:t>
            </a:r>
          </a:p>
        </p:txBody>
      </p:sp>
      <p:sp>
        <p:nvSpPr>
          <p:cNvPr id="7" name="Shape 5"/>
          <p:cNvSpPr/>
          <p:nvPr/>
        </p:nvSpPr>
        <p:spPr>
          <a:xfrm>
            <a:off x="5486400" y="960120"/>
            <a:ext cx="3383280" cy="3749040"/>
          </a:xfrm>
          <a:prstGeom prst="rect">
            <a:avLst/>
          </a:prstGeom>
          <a:solidFill>
            <a:srgbClr val="0D2E2A"/>
          </a:solidFill>
          <a:ln w="12700">
            <a:solidFill>
              <a:srgbClr val="0D2E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5623560" y="1097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EduConecta ofrece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23560" y="1600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Módulos offline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23560" y="18745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Descargables, sin internet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23560" y="2194560"/>
            <a:ext cx="3017520" cy="0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5623560" y="2377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Panel docente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23560" y="26517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Alertas de inasistencia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23560" y="2971800"/>
            <a:ext cx="3017520" cy="0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3"/>
          <p:cNvSpPr/>
          <p:nvPr/>
        </p:nvSpPr>
        <p:spPr>
          <a:xfrm>
            <a:off x="5623560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Canal familias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23560" y="3429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SMS o WhatsApp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23560" y="3749040"/>
            <a:ext cx="3017520" cy="0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5623560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Reportes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23560" y="42062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Para directivos automáticos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9A04F4-CCF6-6F54-1E79-BB1AEC5D0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7EEA621-8318-7F4F-B315-E95D15D74AAA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791E8E6-9092-F4F2-045B-4A499521BADD}"/>
              </a:ext>
            </a:extLst>
          </p:cNvPr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Caso EduConecta — Contexto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D18B085-8253-CB28-B549-1D2FA49A0D0C}"/>
              </a:ext>
            </a:extLst>
          </p:cNvPr>
          <p:cNvSpPr/>
          <p:nvPr/>
        </p:nvSpPr>
        <p:spPr>
          <a:xfrm>
            <a:off x="274320" y="960120"/>
            <a:ext cx="5029200" cy="3749040"/>
          </a:xfrm>
          <a:prstGeom prst="rect">
            <a:avLst/>
          </a:prstGeom>
          <a:solidFill>
            <a:srgbClr val="F4F9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10A984D-A3C9-DED5-DBEB-E41D2A035568}"/>
              </a:ext>
            </a:extLst>
          </p:cNvPr>
          <p:cNvSpPr/>
          <p:nvPr/>
        </p:nvSpPr>
        <p:spPr>
          <a:xfrm>
            <a:off x="365760" y="853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El desafío de Fe y Alegría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7B22DA1-F6C4-76CA-E44C-80181D0DFE36}"/>
              </a:ext>
            </a:extLst>
          </p:cNvPr>
          <p:cNvSpPr/>
          <p:nvPr/>
        </p:nvSpPr>
        <p:spPr>
          <a:xfrm>
            <a:off x="457200" y="150876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cap="all" dirty="0"/>
              <a:t>El emprendimiento: </a:t>
            </a:r>
            <a:r>
              <a:rPr lang="es-MX" cap="all" dirty="0" err="1"/>
              <a:t>EduConecta</a:t>
            </a:r>
            <a:endParaRPr lang="es-MX" cap="all" dirty="0"/>
          </a:p>
          <a:p>
            <a:r>
              <a:rPr lang="es-MX" dirty="0"/>
              <a:t>Tres egresados de PUCE desarrollaron </a:t>
            </a:r>
            <a:r>
              <a:rPr lang="es-MX" b="1" dirty="0" err="1"/>
              <a:t>EduConecta</a:t>
            </a:r>
            <a:r>
              <a:rPr lang="es-MX" dirty="0"/>
              <a:t>, una plataforma web y móvil que funciona con conectividad intermitente (modo offline). Ofrece:</a:t>
            </a:r>
          </a:p>
          <a:p>
            <a:r>
              <a:rPr lang="es-MX" dirty="0"/>
              <a:t>Módulos de aprendizaje descargables adaptados al currículo ecuatoriano</a:t>
            </a:r>
          </a:p>
          <a:p>
            <a:r>
              <a:rPr lang="es-MX" dirty="0"/>
              <a:t>Panel de seguimiento para docentes con alertas de inasistencia y rendimiento</a:t>
            </a:r>
          </a:p>
          <a:p>
            <a:r>
              <a:rPr lang="es-MX" dirty="0"/>
              <a:t>Canal de comunicación con familias vía SMS o WhatsApp</a:t>
            </a:r>
          </a:p>
          <a:p>
            <a:r>
              <a:rPr lang="es-MX" dirty="0"/>
              <a:t>Reportes automáticos para directivos de Fe y Alegría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64ED1E5-A679-AC97-3DEF-99646AB97677}"/>
              </a:ext>
            </a:extLst>
          </p:cNvPr>
          <p:cNvSpPr/>
          <p:nvPr/>
        </p:nvSpPr>
        <p:spPr>
          <a:xfrm>
            <a:off x="5486400" y="960120"/>
            <a:ext cx="3383280" cy="3749040"/>
          </a:xfrm>
          <a:prstGeom prst="rect">
            <a:avLst/>
          </a:prstGeom>
          <a:solidFill>
            <a:srgbClr val="0D2E2A"/>
          </a:solidFill>
          <a:ln w="12700">
            <a:solidFill>
              <a:srgbClr val="0D2E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F53B2BA-9FD0-9464-E8F0-4FD05DD266D7}"/>
              </a:ext>
            </a:extLst>
          </p:cNvPr>
          <p:cNvSpPr/>
          <p:nvPr/>
        </p:nvSpPr>
        <p:spPr>
          <a:xfrm>
            <a:off x="5623560" y="1097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EduConecta ofrece</a:t>
            </a: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F31CF61-1AED-3DC3-54E9-4C5633AAA9F7}"/>
              </a:ext>
            </a:extLst>
          </p:cNvPr>
          <p:cNvSpPr/>
          <p:nvPr/>
        </p:nvSpPr>
        <p:spPr>
          <a:xfrm>
            <a:off x="5623560" y="1600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Módulos offline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B3C9376-B064-FFA3-5C6A-C45690B79C73}"/>
              </a:ext>
            </a:extLst>
          </p:cNvPr>
          <p:cNvSpPr/>
          <p:nvPr/>
        </p:nvSpPr>
        <p:spPr>
          <a:xfrm>
            <a:off x="5623560" y="18745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Descargables, sin internet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70C5EBC-5C78-458A-5973-D607A12324B3}"/>
              </a:ext>
            </a:extLst>
          </p:cNvPr>
          <p:cNvSpPr/>
          <p:nvPr/>
        </p:nvSpPr>
        <p:spPr>
          <a:xfrm>
            <a:off x="5623560" y="2194560"/>
            <a:ext cx="3017520" cy="0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772F040-5DD9-6B22-BADC-2CC5F18031EB}"/>
              </a:ext>
            </a:extLst>
          </p:cNvPr>
          <p:cNvSpPr/>
          <p:nvPr/>
        </p:nvSpPr>
        <p:spPr>
          <a:xfrm>
            <a:off x="5623560" y="2377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Panel docente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65B346D-9031-5E3C-65BE-5514942D0A1C}"/>
              </a:ext>
            </a:extLst>
          </p:cNvPr>
          <p:cNvSpPr/>
          <p:nvPr/>
        </p:nvSpPr>
        <p:spPr>
          <a:xfrm>
            <a:off x="5623560" y="26517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Alertas de inasistencia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2BB0085-7A23-2B44-5D5D-10617C379A6E}"/>
              </a:ext>
            </a:extLst>
          </p:cNvPr>
          <p:cNvSpPr/>
          <p:nvPr/>
        </p:nvSpPr>
        <p:spPr>
          <a:xfrm>
            <a:off x="5623560" y="2971800"/>
            <a:ext cx="3017520" cy="0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BB45CAC-D363-582C-F971-9C36EDB16137}"/>
              </a:ext>
            </a:extLst>
          </p:cNvPr>
          <p:cNvSpPr/>
          <p:nvPr/>
        </p:nvSpPr>
        <p:spPr>
          <a:xfrm>
            <a:off x="5623560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Canal familias</a:t>
            </a:r>
            <a:endParaRPr lang="en-US" sz="1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3DE890A-3DA9-8C55-FA72-CA8F97258B7B}"/>
              </a:ext>
            </a:extLst>
          </p:cNvPr>
          <p:cNvSpPr/>
          <p:nvPr/>
        </p:nvSpPr>
        <p:spPr>
          <a:xfrm>
            <a:off x="5623560" y="3429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SMS o WhatsApp</a:t>
            </a:r>
            <a:endParaRPr lang="en-US" sz="10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1DE1830A-CC50-E218-6AC1-0A8D4B5175F8}"/>
              </a:ext>
            </a:extLst>
          </p:cNvPr>
          <p:cNvSpPr/>
          <p:nvPr/>
        </p:nvSpPr>
        <p:spPr>
          <a:xfrm>
            <a:off x="5623560" y="3749040"/>
            <a:ext cx="3017520" cy="0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4361654-591B-9855-E2CD-898F855C3C9B}"/>
              </a:ext>
            </a:extLst>
          </p:cNvPr>
          <p:cNvSpPr/>
          <p:nvPr/>
        </p:nvSpPr>
        <p:spPr>
          <a:xfrm>
            <a:off x="5623560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Reportes</a:t>
            </a: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53C01F2-2A41-C57B-BEA7-9ECA627F3957}"/>
              </a:ext>
            </a:extLst>
          </p:cNvPr>
          <p:cNvSpPr/>
          <p:nvPr/>
        </p:nvSpPr>
        <p:spPr>
          <a:xfrm>
            <a:off x="5623560" y="42062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Para directivos automáticos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205336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5604D9-552F-D55B-2643-F9F8935AE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1E57060-23CD-DC0A-3484-604211547EE1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A65E23C-841A-8564-2E86-7EBC756F62E3}"/>
              </a:ext>
            </a:extLst>
          </p:cNvPr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Caso EduConecta — Contexto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550F927-083A-2966-A7A8-912A871E5231}"/>
              </a:ext>
            </a:extLst>
          </p:cNvPr>
          <p:cNvSpPr/>
          <p:nvPr/>
        </p:nvSpPr>
        <p:spPr>
          <a:xfrm>
            <a:off x="594360" y="905256"/>
            <a:ext cx="5029200" cy="3749040"/>
          </a:xfrm>
          <a:prstGeom prst="rect">
            <a:avLst/>
          </a:prstGeom>
          <a:solidFill>
            <a:srgbClr val="F4F9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0375C8A-93A4-7367-AC0C-ECF4CE1C3175}"/>
              </a:ext>
            </a:extLst>
          </p:cNvPr>
          <p:cNvSpPr/>
          <p:nvPr/>
        </p:nvSpPr>
        <p:spPr>
          <a:xfrm>
            <a:off x="7185660" y="47777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El desafío de Fe y Alegría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59D3596-E9EB-22A9-5B9F-8871C4429B1D}"/>
              </a:ext>
            </a:extLst>
          </p:cNvPr>
          <p:cNvSpPr/>
          <p:nvPr/>
        </p:nvSpPr>
        <p:spPr>
          <a:xfrm>
            <a:off x="457200" y="150876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cap="all" dirty="0"/>
              <a:t>El problema a analizar</a:t>
            </a:r>
          </a:p>
          <a:p>
            <a:r>
              <a:rPr lang="es-MX" sz="1600" dirty="0"/>
              <a:t>¿Puede </a:t>
            </a:r>
            <a:r>
              <a:rPr lang="es-MX" sz="1600" dirty="0" err="1"/>
              <a:t>EduConecta</a:t>
            </a:r>
            <a:r>
              <a:rPr lang="es-MX" sz="1600" dirty="0"/>
              <a:t> escalar sin perder su impacto social?</a:t>
            </a:r>
          </a:p>
          <a:p>
            <a:r>
              <a:rPr lang="es-MX" sz="1600" dirty="0"/>
              <a:t>Después del piloto exitoso, Fe y Alegría propone expandir </a:t>
            </a:r>
            <a:r>
              <a:rPr lang="es-MX" sz="1600" dirty="0" err="1"/>
              <a:t>EduConecta</a:t>
            </a:r>
            <a:r>
              <a:rPr lang="es-MX" sz="1600" dirty="0"/>
              <a:t> a 80 escuelas en 3 provincias adicionales. Sin embargo, el equipo fundador enfrenta tensiones:</a:t>
            </a:r>
          </a:p>
          <a:p>
            <a:r>
              <a:rPr lang="es-MX" sz="1600" dirty="0"/>
              <a:t>Ampliar requiere $45.000 de inversión en infraestructura y soporte técnico</a:t>
            </a:r>
          </a:p>
          <a:p>
            <a:r>
              <a:rPr lang="es-MX" sz="1600" dirty="0"/>
              <a:t>Fe y Alegría exige que el precio no supere $3/estudiante/mes por sostenibilidad de la fundación</a:t>
            </a:r>
          </a:p>
          <a:p>
            <a:r>
              <a:rPr lang="es-MX" sz="1600" dirty="0"/>
              <a:t>Un fondo privado ofrece financiar la expansión a cambio del 30% de participación accionaria</a:t>
            </a:r>
          </a:p>
          <a:p>
            <a:r>
              <a:rPr lang="es-MX" sz="1600" dirty="0"/>
              <a:t>Dos docentes de las escuelas piloto quieren sumarse al equipo, pero no tienen perfil técnico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0B13B5F-5471-7EE6-F67F-7C7468DF547A}"/>
              </a:ext>
            </a:extLst>
          </p:cNvPr>
          <p:cNvSpPr/>
          <p:nvPr/>
        </p:nvSpPr>
        <p:spPr>
          <a:xfrm>
            <a:off x="5486400" y="960120"/>
            <a:ext cx="3383280" cy="3749040"/>
          </a:xfrm>
          <a:prstGeom prst="rect">
            <a:avLst/>
          </a:prstGeom>
          <a:solidFill>
            <a:srgbClr val="0D2E2A"/>
          </a:solidFill>
          <a:ln w="12700">
            <a:solidFill>
              <a:srgbClr val="0D2E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8A13301-B32E-29CF-E43C-60D8C6424395}"/>
              </a:ext>
            </a:extLst>
          </p:cNvPr>
          <p:cNvSpPr/>
          <p:nvPr/>
        </p:nvSpPr>
        <p:spPr>
          <a:xfrm>
            <a:off x="5623560" y="1097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EduConecta ofrece</a:t>
            </a: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009B0D5-E778-36A3-F161-85C28DDEFD5D}"/>
              </a:ext>
            </a:extLst>
          </p:cNvPr>
          <p:cNvSpPr/>
          <p:nvPr/>
        </p:nvSpPr>
        <p:spPr>
          <a:xfrm>
            <a:off x="5623560" y="1600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Módulos offline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D98471C-F494-7CAF-A360-24A437D2DF00}"/>
              </a:ext>
            </a:extLst>
          </p:cNvPr>
          <p:cNvSpPr/>
          <p:nvPr/>
        </p:nvSpPr>
        <p:spPr>
          <a:xfrm>
            <a:off x="5623560" y="18745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Descargables, sin internet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7EB83B1-33C3-0BF6-B016-A31799CEE934}"/>
              </a:ext>
            </a:extLst>
          </p:cNvPr>
          <p:cNvSpPr/>
          <p:nvPr/>
        </p:nvSpPr>
        <p:spPr>
          <a:xfrm>
            <a:off x="5623560" y="2194560"/>
            <a:ext cx="3017520" cy="0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5F984B8-EE9F-9218-161A-58A1BCB5E34B}"/>
              </a:ext>
            </a:extLst>
          </p:cNvPr>
          <p:cNvSpPr/>
          <p:nvPr/>
        </p:nvSpPr>
        <p:spPr>
          <a:xfrm>
            <a:off x="5623560" y="2377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Panel docente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5FD20A5-4310-9A42-81D6-51CCACBB88E8}"/>
              </a:ext>
            </a:extLst>
          </p:cNvPr>
          <p:cNvSpPr/>
          <p:nvPr/>
        </p:nvSpPr>
        <p:spPr>
          <a:xfrm>
            <a:off x="5623560" y="26517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Alertas de inasistencia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FAD34A1-8DE5-25A1-F03B-90A9AE28F1FD}"/>
              </a:ext>
            </a:extLst>
          </p:cNvPr>
          <p:cNvSpPr/>
          <p:nvPr/>
        </p:nvSpPr>
        <p:spPr>
          <a:xfrm>
            <a:off x="5623560" y="2971800"/>
            <a:ext cx="3017520" cy="0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E019E98-459D-283E-D084-EEBA95DC3099}"/>
              </a:ext>
            </a:extLst>
          </p:cNvPr>
          <p:cNvSpPr/>
          <p:nvPr/>
        </p:nvSpPr>
        <p:spPr>
          <a:xfrm>
            <a:off x="5623560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Canal familias</a:t>
            </a:r>
            <a:endParaRPr lang="en-US" sz="1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24DAD32-479D-A822-7AAC-0E2156CE2768}"/>
              </a:ext>
            </a:extLst>
          </p:cNvPr>
          <p:cNvSpPr/>
          <p:nvPr/>
        </p:nvSpPr>
        <p:spPr>
          <a:xfrm>
            <a:off x="5623560" y="3429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SMS o WhatsApp</a:t>
            </a:r>
            <a:endParaRPr lang="en-US" sz="10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DC83138-1838-797D-A667-F2099ADCB56B}"/>
              </a:ext>
            </a:extLst>
          </p:cNvPr>
          <p:cNvSpPr/>
          <p:nvPr/>
        </p:nvSpPr>
        <p:spPr>
          <a:xfrm>
            <a:off x="5623560" y="3749040"/>
            <a:ext cx="3017520" cy="0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92A44BE-DCD3-7879-9165-EA3BEF66B333}"/>
              </a:ext>
            </a:extLst>
          </p:cNvPr>
          <p:cNvSpPr/>
          <p:nvPr/>
        </p:nvSpPr>
        <p:spPr>
          <a:xfrm>
            <a:off x="5623560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Reportes</a:t>
            </a: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825C30A-D48C-530C-32DD-2B8761F0C83D}"/>
              </a:ext>
            </a:extLst>
          </p:cNvPr>
          <p:cNvSpPr/>
          <p:nvPr/>
        </p:nvSpPr>
        <p:spPr>
          <a:xfrm>
            <a:off x="5623560" y="42062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Para directivos automáticos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397249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2AD0BE-7A0F-0E4E-1C24-E16B288A0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8A01605-59B1-85BC-9652-F1FCCCDF8B21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5EEB6FA-AB71-021D-A864-A21F8790A6E0}"/>
              </a:ext>
            </a:extLst>
          </p:cNvPr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Caso EduConecta — Contexto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143D95F-50A3-FC7B-634E-90A46AE5944F}"/>
              </a:ext>
            </a:extLst>
          </p:cNvPr>
          <p:cNvSpPr/>
          <p:nvPr/>
        </p:nvSpPr>
        <p:spPr>
          <a:xfrm>
            <a:off x="274320" y="960120"/>
            <a:ext cx="5029200" cy="3749040"/>
          </a:xfrm>
          <a:prstGeom prst="rect">
            <a:avLst/>
          </a:prstGeom>
          <a:solidFill>
            <a:srgbClr val="F4F9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6A072B3-85D2-E127-E64A-16746E3CBCFD}"/>
              </a:ext>
            </a:extLst>
          </p:cNvPr>
          <p:cNvSpPr/>
          <p:nvPr/>
        </p:nvSpPr>
        <p:spPr>
          <a:xfrm>
            <a:off x="457200" y="1051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El desafío de Fe y Alegría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C43DB75-5472-B412-A8EB-D00EF71635CB}"/>
              </a:ext>
            </a:extLst>
          </p:cNvPr>
          <p:cNvSpPr/>
          <p:nvPr/>
        </p:nvSpPr>
        <p:spPr>
          <a:xfrm>
            <a:off x="457200" y="150876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2E2A"/>
                </a:solidFill>
              </a:rPr>
              <a:t>38 unidades educativas en zonas rurales y periurbanas del Ecuador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2E2A"/>
                </a:solidFill>
              </a:rPr>
              <a:t>Conectividad limitada e intermitente en muchas escuelas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2E2A"/>
                </a:solidFill>
              </a:rPr>
              <a:t>Alta rotación de estudiantes por factores económicos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2E2A"/>
                </a:solidFill>
              </a:rPr>
              <a:t>Docentes con poca formación digital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D2E2A"/>
                </a:solidFill>
              </a:rPr>
              <a:t>Buscan tecnología hecha por jóvenes que entiendan el contexto local</a:t>
            </a:r>
            <a:endParaRPr lang="en-US" sz="12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1B4EFAB-F896-F3F5-9FB7-7763B821A71B}"/>
              </a:ext>
            </a:extLst>
          </p:cNvPr>
          <p:cNvSpPr/>
          <p:nvPr/>
        </p:nvSpPr>
        <p:spPr>
          <a:xfrm>
            <a:off x="5486400" y="960120"/>
            <a:ext cx="3383280" cy="3749040"/>
          </a:xfrm>
          <a:prstGeom prst="rect">
            <a:avLst/>
          </a:prstGeom>
          <a:solidFill>
            <a:srgbClr val="0D2E2A"/>
          </a:solidFill>
          <a:ln w="12700">
            <a:solidFill>
              <a:srgbClr val="0D2E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6B89946-73F0-0A75-7544-685705D84372}"/>
              </a:ext>
            </a:extLst>
          </p:cNvPr>
          <p:cNvSpPr/>
          <p:nvPr/>
        </p:nvSpPr>
        <p:spPr>
          <a:xfrm>
            <a:off x="5623560" y="1097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EduConecta ofrece</a:t>
            </a: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44A959E-2F95-6D5A-BFD5-DB64489E66F1}"/>
              </a:ext>
            </a:extLst>
          </p:cNvPr>
          <p:cNvSpPr/>
          <p:nvPr/>
        </p:nvSpPr>
        <p:spPr>
          <a:xfrm>
            <a:off x="5623560" y="1600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Módulos offline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76AC089-CD28-4B7E-D173-FB02FA989321}"/>
              </a:ext>
            </a:extLst>
          </p:cNvPr>
          <p:cNvSpPr/>
          <p:nvPr/>
        </p:nvSpPr>
        <p:spPr>
          <a:xfrm>
            <a:off x="5623560" y="18745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Descargables, sin internet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E006800-C7BB-0777-F22F-12D9C5508ED5}"/>
              </a:ext>
            </a:extLst>
          </p:cNvPr>
          <p:cNvSpPr/>
          <p:nvPr/>
        </p:nvSpPr>
        <p:spPr>
          <a:xfrm>
            <a:off x="5623560" y="2194560"/>
            <a:ext cx="3017520" cy="0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3D54B56-D8BE-41D0-D8CF-631BA54D2838}"/>
              </a:ext>
            </a:extLst>
          </p:cNvPr>
          <p:cNvSpPr/>
          <p:nvPr/>
        </p:nvSpPr>
        <p:spPr>
          <a:xfrm>
            <a:off x="5623560" y="2377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Panel docente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55EE28F-7316-3533-0AE4-EBAD8A9B8960}"/>
              </a:ext>
            </a:extLst>
          </p:cNvPr>
          <p:cNvSpPr/>
          <p:nvPr/>
        </p:nvSpPr>
        <p:spPr>
          <a:xfrm>
            <a:off x="5623560" y="26517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Alertas de inasistencia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D32CC90-8338-1B27-2121-FF17B51B187F}"/>
              </a:ext>
            </a:extLst>
          </p:cNvPr>
          <p:cNvSpPr/>
          <p:nvPr/>
        </p:nvSpPr>
        <p:spPr>
          <a:xfrm>
            <a:off x="5623560" y="2971800"/>
            <a:ext cx="3017520" cy="0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1616F5D-B2CB-DE21-6D98-905E79BFBD3D}"/>
              </a:ext>
            </a:extLst>
          </p:cNvPr>
          <p:cNvSpPr/>
          <p:nvPr/>
        </p:nvSpPr>
        <p:spPr>
          <a:xfrm>
            <a:off x="5623560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Canal familias</a:t>
            </a:r>
            <a:endParaRPr lang="en-US" sz="1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11665D5-127D-3638-F53A-96C95F14CDB2}"/>
              </a:ext>
            </a:extLst>
          </p:cNvPr>
          <p:cNvSpPr/>
          <p:nvPr/>
        </p:nvSpPr>
        <p:spPr>
          <a:xfrm>
            <a:off x="5623560" y="3429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SMS o WhatsApp</a:t>
            </a:r>
            <a:endParaRPr lang="en-US" sz="10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EC51969-4ECA-EBF7-7CC0-F2EC29876B62}"/>
              </a:ext>
            </a:extLst>
          </p:cNvPr>
          <p:cNvSpPr/>
          <p:nvPr/>
        </p:nvSpPr>
        <p:spPr>
          <a:xfrm>
            <a:off x="5623560" y="3749040"/>
            <a:ext cx="3017520" cy="0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66163E6-C91C-2ED9-F7D2-3EE37A34CFF0}"/>
              </a:ext>
            </a:extLst>
          </p:cNvPr>
          <p:cNvSpPr/>
          <p:nvPr/>
        </p:nvSpPr>
        <p:spPr>
          <a:xfrm>
            <a:off x="5623560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Reportes</a:t>
            </a: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CDB84F7-1C67-4337-91E2-6791998A2337}"/>
              </a:ext>
            </a:extLst>
          </p:cNvPr>
          <p:cNvSpPr/>
          <p:nvPr/>
        </p:nvSpPr>
        <p:spPr>
          <a:xfrm>
            <a:off x="5623560" y="42062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Para directivos automáticos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20890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</a:rPr>
              <a:t>Resultados del piloto — ¿Qué está validado?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65960" cy="2194560"/>
          </a:xfrm>
          <a:prstGeom prst="rect">
            <a:avLst/>
          </a:prstGeom>
          <a:solidFill>
            <a:srgbClr val="FFFFFF">
              <a:alpha val="94000"/>
            </a:srgbClr>
          </a:solidFill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274320" y="12344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2C39A"/>
                </a:solidFill>
              </a:rPr>
              <a:t>6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74320" y="21945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0000"/>
                </a:solidFill>
              </a:rPr>
              <a:t>Escuelas piloto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254203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0000"/>
                </a:solidFill>
              </a:rPr>
              <a:t>Provincia de Imbabura</a:t>
            </a:r>
          </a:p>
        </p:txBody>
      </p:sp>
      <p:sp>
        <p:nvSpPr>
          <p:cNvPr id="8" name="Shape 6"/>
          <p:cNvSpPr/>
          <p:nvPr/>
        </p:nvSpPr>
        <p:spPr>
          <a:xfrm>
            <a:off x="2450592" y="1005840"/>
            <a:ext cx="1965960" cy="2194560"/>
          </a:xfrm>
          <a:prstGeom prst="rect">
            <a:avLst/>
          </a:prstGeom>
          <a:solidFill>
            <a:srgbClr val="FFFFFF">
              <a:alpha val="94000"/>
            </a:srgbClr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2450592" y="12344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28090"/>
                </a:solidFill>
              </a:rPr>
              <a:t>430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450592" y="21945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0000"/>
                </a:solidFill>
              </a:rPr>
              <a:t>Estudiantes activos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2450592" y="254203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0000"/>
                </a:solidFill>
              </a:rPr>
              <a:t>Ciclo 2024–2025</a:t>
            </a:r>
          </a:p>
        </p:txBody>
      </p:sp>
      <p:sp>
        <p:nvSpPr>
          <p:cNvPr id="12" name="Shape 10"/>
          <p:cNvSpPr/>
          <p:nvPr/>
        </p:nvSpPr>
        <p:spPr>
          <a:xfrm>
            <a:off x="4626864" y="1005840"/>
            <a:ext cx="1965960" cy="2194560"/>
          </a:xfrm>
          <a:prstGeom prst="rect">
            <a:avLst/>
          </a:prstGeom>
          <a:solidFill>
            <a:srgbClr val="FFFFFF">
              <a:alpha val="94000"/>
            </a:srgbClr>
          </a:solidFill>
          <a:ln w="190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4626864" y="12344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F9F27"/>
                </a:solidFill>
              </a:rPr>
              <a:t>18%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626864" y="21945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0000"/>
                </a:solidFill>
              </a:rPr>
              <a:t>Menos deserción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26864" y="254203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0000"/>
                </a:solidFill>
              </a:rPr>
              <a:t>vs año anterior</a:t>
            </a:r>
          </a:p>
        </p:txBody>
      </p:sp>
      <p:sp>
        <p:nvSpPr>
          <p:cNvPr id="16" name="Shape 14"/>
          <p:cNvSpPr/>
          <p:nvPr/>
        </p:nvSpPr>
        <p:spPr>
          <a:xfrm>
            <a:off x="6803136" y="1005840"/>
            <a:ext cx="1965960" cy="2194560"/>
          </a:xfrm>
          <a:prstGeom prst="rect">
            <a:avLst/>
          </a:prstGeom>
          <a:solidFill>
            <a:srgbClr val="FFFFFF">
              <a:alpha val="94000"/>
            </a:srgbClr>
          </a:solidFill>
          <a:ln w="1905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6803136" y="12344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85A30"/>
                </a:solidFill>
              </a:rPr>
              <a:t>$4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803136" y="21945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0000"/>
                </a:solidFill>
              </a:rPr>
              <a:t>Por estudiante/mes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803136" y="254203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0000"/>
                </a:solidFill>
              </a:rPr>
              <a:t>Modelo de ingreso actual</a:t>
            </a:r>
          </a:p>
        </p:txBody>
      </p:sp>
      <p:sp>
        <p:nvSpPr>
          <p:cNvPr id="20" name="Shape 18"/>
          <p:cNvSpPr/>
          <p:nvPr/>
        </p:nvSpPr>
        <p:spPr>
          <a:xfrm>
            <a:off x="274320" y="3429000"/>
            <a:ext cx="8595360" cy="1371600"/>
          </a:xfrm>
          <a:prstGeom prst="rect">
            <a:avLst/>
          </a:prstGeom>
          <a:solidFill>
            <a:srgbClr val="D85A30">
              <a:alpha val="15000"/>
            </a:srgbClr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Text 19"/>
          <p:cNvSpPr/>
          <p:nvPr/>
        </p:nvSpPr>
        <p:spPr>
          <a:xfrm>
            <a:off x="502920" y="35478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85A30"/>
                </a:solidFill>
              </a:rPr>
              <a:t>El problema a analizar: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886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Fe y Alegría quiere expandir a 80 escuelas. El fondo privado ofrece $45.000 a cambio del 30% accionario. ¿Escalan manteniendo la misión social?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60477F9-1BD2-B5AC-2D32-3812C925CE5C}"/>
              </a:ext>
            </a:extLst>
          </p:cNvPr>
          <p:cNvSpPr txBox="1"/>
          <p:nvPr/>
        </p:nvSpPr>
        <p:spPr>
          <a:xfrm>
            <a:off x="320040" y="207000"/>
            <a:ext cx="6537960" cy="3898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s-MX" b="0" i="0" dirty="0">
                <a:solidFill>
                  <a:srgbClr val="0F6E56"/>
                </a:solidFill>
                <a:effectLst/>
                <a:latin typeface="Anthropic Sans"/>
              </a:rPr>
              <a:t>Pregunta 1 — Lean Startup</a:t>
            </a:r>
          </a:p>
          <a:p>
            <a:pPr algn="l">
              <a:buNone/>
            </a:pPr>
            <a:r>
              <a:rPr lang="es-MX" b="0" i="0" dirty="0">
                <a:solidFill>
                  <a:srgbClr val="141413"/>
                </a:solidFill>
                <a:effectLst/>
                <a:latin typeface="Anthropic Sans"/>
              </a:rPr>
              <a:t>Con los datos del piloto (6 escuelas, 18% menos deserción, $4/mes), ¿qué hipótesis del modelo de negocio están validadas y cuáles todavía deben probarse antes de escalar?</a:t>
            </a:r>
          </a:p>
          <a:p>
            <a:pPr algn="l">
              <a:spcBef>
                <a:spcPts val="450"/>
              </a:spcBef>
              <a:buNone/>
            </a:pPr>
            <a:r>
              <a:rPr lang="es-MX" b="0" i="1" dirty="0">
                <a:solidFill>
                  <a:srgbClr val="73726C"/>
                </a:solidFill>
                <a:effectLst/>
                <a:latin typeface="Anthropic Sans"/>
              </a:rPr>
              <a:t>Pista: piensen en la propuesta de valor, el segmento de clientes y las fuentes de ingreso por separado.</a:t>
            </a:r>
          </a:p>
          <a:p>
            <a:pPr algn="l">
              <a:spcAft>
                <a:spcPts val="300"/>
              </a:spcAft>
              <a:buNone/>
            </a:pPr>
            <a:r>
              <a:rPr lang="es-MX" b="0" i="0" dirty="0">
                <a:solidFill>
                  <a:srgbClr val="0F6E56"/>
                </a:solidFill>
                <a:effectLst/>
                <a:latin typeface="Anthropic Sans"/>
              </a:rPr>
              <a:t>Pregunta 2 — Modelo </a:t>
            </a:r>
            <a:r>
              <a:rPr lang="es-MX" b="0" i="0" dirty="0" err="1">
                <a:solidFill>
                  <a:srgbClr val="0F6E56"/>
                </a:solidFill>
                <a:effectLst/>
                <a:latin typeface="Anthropic Sans"/>
              </a:rPr>
              <a:t>Canvas</a:t>
            </a:r>
            <a:endParaRPr lang="es-MX" b="0" i="0" dirty="0">
              <a:solidFill>
                <a:srgbClr val="0F6E56"/>
              </a:solidFill>
              <a:effectLst/>
              <a:latin typeface="Anthropic Sans"/>
            </a:endParaRPr>
          </a:p>
          <a:p>
            <a:pPr algn="l">
              <a:buNone/>
            </a:pPr>
            <a:r>
              <a:rPr lang="es-MX" b="0" i="0" dirty="0">
                <a:solidFill>
                  <a:srgbClr val="141413"/>
                </a:solidFill>
                <a:effectLst/>
                <a:latin typeface="Anthropic Sans"/>
              </a:rPr>
              <a:t>Identifiquen los 3 bloques del </a:t>
            </a:r>
            <a:r>
              <a:rPr lang="es-MX" b="0" i="0" dirty="0" err="1">
                <a:solidFill>
                  <a:srgbClr val="141413"/>
                </a:solidFill>
                <a:effectLst/>
                <a:latin typeface="Anthropic Sans"/>
              </a:rPr>
              <a:t>Canvas</a:t>
            </a:r>
            <a:r>
              <a:rPr lang="es-MX" b="0" i="0" dirty="0">
                <a:solidFill>
                  <a:srgbClr val="141413"/>
                </a:solidFill>
                <a:effectLst/>
                <a:latin typeface="Anthropic Sans"/>
              </a:rPr>
              <a:t> que cambiarían más si </a:t>
            </a:r>
            <a:r>
              <a:rPr lang="es-MX" b="0" i="0" dirty="0" err="1">
                <a:solidFill>
                  <a:srgbClr val="141413"/>
                </a:solidFill>
                <a:effectLst/>
                <a:latin typeface="Anthropic Sans"/>
              </a:rPr>
              <a:t>EduConecta</a:t>
            </a:r>
            <a:r>
              <a:rPr lang="es-MX" b="0" i="0" dirty="0">
                <a:solidFill>
                  <a:srgbClr val="141413"/>
                </a:solidFill>
                <a:effectLst/>
                <a:latin typeface="Anthropic Sans"/>
              </a:rPr>
              <a:t> acepta el fondo privado versus si busca financiamiento público (ej. Ministerio de Educación). ¿Cuál ruta es más sostenible para la misión social?</a:t>
            </a:r>
          </a:p>
          <a:p>
            <a:pPr algn="l">
              <a:spcBef>
                <a:spcPts val="450"/>
              </a:spcBef>
              <a:buNone/>
            </a:pPr>
            <a:r>
              <a:rPr lang="es-MX" b="0" i="1" dirty="0">
                <a:solidFill>
                  <a:srgbClr val="73726C"/>
                </a:solidFill>
                <a:effectLst/>
                <a:latin typeface="Anthropic Sans"/>
              </a:rPr>
              <a:t>Pista: revisen socios clave, estructura de costos y fuentes de ingresos.</a:t>
            </a:r>
          </a:p>
        </p:txBody>
      </p:sp>
    </p:spTree>
    <p:extLst>
      <p:ext uri="{BB962C8B-B14F-4D97-AF65-F5344CB8AC3E}">
        <p14:creationId xmlns:p14="http://schemas.microsoft.com/office/powerpoint/2010/main" val="238821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E2A"/>
          </a:solidFill>
          <a:ln w="12700">
            <a:solidFill>
              <a:srgbClr val="0D2E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Preguntas de análisis — Trabajo en grupos de 3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73152" cy="1645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P1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1051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Lean Startup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435608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D2E2A"/>
                </a:solidFill>
              </a:rPr>
              <a:t>¿Qué hipótesis están validadas con los datos del piloto y cuáles faltan por probar antes de escalar?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74320" y="2788920"/>
            <a:ext cx="4206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10" name="Shape 8"/>
          <p:cNvSpPr/>
          <p:nvPr/>
        </p:nvSpPr>
        <p:spPr>
          <a:xfrm>
            <a:off x="274320" y="2788920"/>
            <a:ext cx="73152" cy="16459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34AB7"/>
                </a:solidFill>
              </a:rPr>
              <a:t>P2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2880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34AB7"/>
                </a:solidFill>
              </a:rPr>
              <a:t>Modelo Canvas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3264408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D2E2A"/>
                </a:solidFill>
              </a:rPr>
              <a:t>¿Qué 3 bloques del Canvas cambian más si aceptan el fondo privado vs. financiamiento público?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709160" y="960120"/>
            <a:ext cx="4206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15" name="Shape 13"/>
          <p:cNvSpPr/>
          <p:nvPr/>
        </p:nvSpPr>
        <p:spPr>
          <a:xfrm>
            <a:off x="4709160" y="960120"/>
            <a:ext cx="73152" cy="164592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16" name="Text 14"/>
          <p:cNvSpPr/>
          <p:nvPr/>
        </p:nvSpPr>
        <p:spPr>
          <a:xfrm>
            <a:off x="4892040" y="10515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9F27"/>
                </a:solidFill>
              </a:rPr>
              <a:t>P3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40680" y="1051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9F27"/>
                </a:solidFill>
              </a:rPr>
              <a:t>Cálculo de sostenibilidad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92040" y="1435608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D2E2A"/>
                </a:solidFill>
              </a:rPr>
              <a:t>Bajando a $3/mes: ¿cuántos estudiantes necesitan para cubrir $45.000 en 18 meses? (80 escuelas × 70 est.)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709160" y="2788920"/>
            <a:ext cx="4206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20" name="Shape 18"/>
          <p:cNvSpPr/>
          <p:nvPr/>
        </p:nvSpPr>
        <p:spPr>
          <a:xfrm>
            <a:off x="4709160" y="2788920"/>
            <a:ext cx="73152" cy="164592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21" name="Text 19"/>
          <p:cNvSpPr/>
          <p:nvPr/>
        </p:nvSpPr>
        <p:spPr>
          <a:xfrm>
            <a:off x="4892040" y="2880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5A30"/>
                </a:solidFill>
              </a:rPr>
              <a:t>P4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40680" y="2880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5A30"/>
                </a:solidFill>
              </a:rPr>
              <a:t>Ventaja competitiva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92040" y="3264408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D2E2A"/>
                </a:solidFill>
              </a:rPr>
              <a:t>¿Qué elemento de EduConecta es más difícil de copiar? ¿Es el modo offline una ventaja duradera?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1847DD0-7AB0-348E-DDC3-5CD20A114BF2}"/>
              </a:ext>
            </a:extLst>
          </p:cNvPr>
          <p:cNvSpPr txBox="1"/>
          <p:nvPr/>
        </p:nvSpPr>
        <p:spPr>
          <a:xfrm>
            <a:off x="640080" y="377560"/>
            <a:ext cx="6217920" cy="3557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s-MX" b="0" i="0" dirty="0">
                <a:solidFill>
                  <a:srgbClr val="0F6E56"/>
                </a:solidFill>
                <a:effectLst/>
                <a:latin typeface="Anthropic Sans"/>
              </a:rPr>
              <a:t>Pregunta 3 — Sostenibilidad del emprendimiento</a:t>
            </a:r>
          </a:p>
          <a:p>
            <a:pPr algn="l">
              <a:buNone/>
            </a:pPr>
            <a:r>
              <a:rPr lang="es-MX" b="0" i="0" dirty="0">
                <a:solidFill>
                  <a:srgbClr val="141413"/>
                </a:solidFill>
                <a:effectLst/>
                <a:latin typeface="Anthropic Sans"/>
              </a:rPr>
              <a:t>El equipo evalúa bajar el precio a $3/mes para cumplir con Fe y Alegría. Calculen: ¿cuántos estudiantes necesita </a:t>
            </a:r>
            <a:r>
              <a:rPr lang="es-MX" b="0" i="0" dirty="0" err="1">
                <a:solidFill>
                  <a:srgbClr val="141413"/>
                </a:solidFill>
                <a:effectLst/>
                <a:latin typeface="Anthropic Sans"/>
              </a:rPr>
              <a:t>EduConecta</a:t>
            </a:r>
            <a:r>
              <a:rPr lang="es-MX" b="0" i="0" dirty="0">
                <a:solidFill>
                  <a:srgbClr val="141413"/>
                </a:solidFill>
                <a:effectLst/>
                <a:latin typeface="Anthropic Sans"/>
              </a:rPr>
              <a:t> para cubrir los $45.000 de inversión en 18 meses con ese precio? ¿Es realista con 80 escuelas?</a:t>
            </a:r>
          </a:p>
          <a:p>
            <a:pPr algn="l">
              <a:spcBef>
                <a:spcPts val="450"/>
              </a:spcBef>
              <a:buNone/>
            </a:pPr>
            <a:r>
              <a:rPr lang="es-MX" b="0" i="1" dirty="0">
                <a:solidFill>
                  <a:srgbClr val="73726C"/>
                </a:solidFill>
                <a:effectLst/>
                <a:latin typeface="Anthropic Sans"/>
              </a:rPr>
              <a:t>Pista: asuman un promedio de 70 estudiantes por escuela. Hagan el cálculo en papel.</a:t>
            </a:r>
          </a:p>
          <a:p>
            <a:pPr algn="l">
              <a:spcAft>
                <a:spcPts val="300"/>
              </a:spcAft>
              <a:buNone/>
            </a:pPr>
            <a:r>
              <a:rPr lang="es-MX" b="0" i="0" dirty="0">
                <a:solidFill>
                  <a:srgbClr val="0F6E56"/>
                </a:solidFill>
                <a:effectLst/>
                <a:latin typeface="Anthropic Sans"/>
              </a:rPr>
              <a:t>Pregunta 4 — Innovación y diferenciación</a:t>
            </a:r>
          </a:p>
          <a:p>
            <a:pPr algn="l">
              <a:buNone/>
            </a:pPr>
            <a:r>
              <a:rPr lang="es-MX" b="0" i="0" dirty="0">
                <a:solidFill>
                  <a:srgbClr val="141413"/>
                </a:solidFill>
                <a:effectLst/>
                <a:latin typeface="Anthropic Sans"/>
              </a:rPr>
              <a:t>¿Qué elemento innovador de </a:t>
            </a:r>
            <a:r>
              <a:rPr lang="es-MX" b="0" i="0" dirty="0" err="1">
                <a:solidFill>
                  <a:srgbClr val="141413"/>
                </a:solidFill>
                <a:effectLst/>
                <a:latin typeface="Anthropic Sans"/>
              </a:rPr>
              <a:t>EduConecta</a:t>
            </a:r>
            <a:r>
              <a:rPr lang="es-MX" b="0" i="0" dirty="0">
                <a:solidFill>
                  <a:srgbClr val="141413"/>
                </a:solidFill>
                <a:effectLst/>
                <a:latin typeface="Anthropic Sans"/>
              </a:rPr>
              <a:t> consideran más difícil de copiar por un competidor grande? ¿Por qué el modo offline y el vínculo con Fe y Alegría son (o no son) ventajas competitivas duraderas?</a:t>
            </a:r>
          </a:p>
        </p:txBody>
      </p:sp>
    </p:spTree>
    <p:extLst>
      <p:ext uri="{BB962C8B-B14F-4D97-AF65-F5344CB8AC3E}">
        <p14:creationId xmlns:p14="http://schemas.microsoft.com/office/powerpoint/2010/main" val="80466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Reflexión — Aprendizaje-Servicio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868680"/>
          </a:xfrm>
          <a:prstGeom prst="rect">
            <a:avLst/>
          </a:prstGeom>
          <a:solidFill>
            <a:srgbClr val="EEEDFE"/>
          </a:solidFill>
          <a:ln w="6350">
            <a:solidFill>
              <a:srgbClr val="AFA9EC"/>
            </a:solidFill>
            <a:prstDash val="solid"/>
          </a:ln>
        </p:spPr>
        <p:txBody>
          <a:bodyPr/>
          <a:lstStyle/>
          <a:p>
            <a:endParaRPr lang="es-EC" sz="240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34AB7"/>
                </a:solidFill>
              </a:rPr>
              <a:t>R1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14400" y="10149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34AB7"/>
                </a:solidFill>
              </a:rPr>
              <a:t>Empatía con la comunidad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36245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2E2A"/>
                </a:solidFill>
              </a:rPr>
              <a:t>¿Qué necesidad de las familias o docentes sientes que EduConecta aún no atiende? ¿Cómo cambiaría el diseño?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965960"/>
            <a:ext cx="8595360" cy="868680"/>
          </a:xfrm>
          <a:prstGeom prst="rect">
            <a:avLst/>
          </a:prstGeom>
          <a:solidFill>
            <a:srgbClr val="EEEDFE"/>
          </a:solidFill>
          <a:ln w="6350">
            <a:solidFill>
              <a:srgbClr val="AFA9EC"/>
            </a:solidFill>
            <a:prstDash val="solid"/>
          </a:ln>
        </p:spPr>
        <p:txBody>
          <a:bodyPr/>
          <a:lstStyle/>
          <a:p>
            <a:endParaRPr lang="es-EC" sz="240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34AB7"/>
                </a:solidFill>
              </a:rPr>
              <a:t>R2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14400" y="20208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34AB7"/>
                </a:solidFill>
              </a:rPr>
              <a:t>Tensión negocio vs impacto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36829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2E2A"/>
                </a:solidFill>
              </a:rPr>
              <a:t>¿Cómo defenderías la misión social ante el fondo privado? ¿Qué cláusulas propondrías como condición?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8595360" cy="868680"/>
          </a:xfrm>
          <a:prstGeom prst="rect">
            <a:avLst/>
          </a:prstGeom>
          <a:solidFill>
            <a:srgbClr val="EEEDFE"/>
          </a:solidFill>
          <a:ln w="6350">
            <a:solidFill>
              <a:srgbClr val="AFA9EC"/>
            </a:solidFill>
            <a:prstDash val="solid"/>
          </a:ln>
        </p:spPr>
        <p:txBody>
          <a:bodyPr/>
          <a:lstStyle/>
          <a:p>
            <a:endParaRPr lang="es-EC" sz="2400"/>
          </a:p>
        </p:txBody>
      </p:sp>
      <p:sp>
        <p:nvSpPr>
          <p:cNvPr id="13" name="Text 11"/>
          <p:cNvSpPr/>
          <p:nvPr/>
        </p:nvSpPr>
        <p:spPr>
          <a:xfrm>
            <a:off x="365760" y="30175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34AB7"/>
                </a:solidFill>
              </a:rPr>
              <a:t>R3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14400" y="30266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34AB7"/>
                </a:solidFill>
              </a:rPr>
              <a:t>Tu rol como ingeniero/a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37413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2E2A"/>
                </a:solidFill>
              </a:rPr>
              <a:t>¿Qué aportarías más allá del código? ¿Cómo conecta con tu visión de impacto social?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3977640"/>
            <a:ext cx="8595360" cy="868680"/>
          </a:xfrm>
          <a:prstGeom prst="rect">
            <a:avLst/>
          </a:prstGeom>
          <a:solidFill>
            <a:srgbClr val="EEEDFE"/>
          </a:solidFill>
          <a:ln w="6350">
            <a:solidFill>
              <a:srgbClr val="AFA9E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365760" y="40233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34AB7"/>
                </a:solidFill>
              </a:rPr>
              <a:t>R4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14400" y="40325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34AB7"/>
                </a:solidFill>
              </a:rPr>
              <a:t>Conexión con tu proyecto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37997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2E2A"/>
                </a:solidFill>
              </a:rPr>
              <a:t>¿Qué aprendizaje de EduConecta puedes aplicar directamente a tu emprendimiento este semestre?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</a:rPr>
              <a:t>Estructura de la sesión — 90 minutos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554480" cy="356616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5544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0–10 min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0000"/>
                </a:solidFill>
              </a:rPr>
              <a:t>1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</a:rPr>
              <a:t>Lectura individual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" y="269748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0000"/>
                </a:solidFill>
              </a:rPr>
              <a:t>Cada estudiante lee el caso en silencio</a:t>
            </a:r>
          </a:p>
        </p:txBody>
      </p:sp>
      <p:sp>
        <p:nvSpPr>
          <p:cNvPr id="10" name="Shape 8"/>
          <p:cNvSpPr/>
          <p:nvPr/>
        </p:nvSpPr>
        <p:spPr>
          <a:xfrm>
            <a:off x="2011680" y="1005840"/>
            <a:ext cx="1554480" cy="356616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11" name="Shape 9"/>
          <p:cNvSpPr/>
          <p:nvPr/>
        </p:nvSpPr>
        <p:spPr>
          <a:xfrm>
            <a:off x="2011680" y="1005840"/>
            <a:ext cx="15544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12" name="Text 10"/>
          <p:cNvSpPr/>
          <p:nvPr/>
        </p:nvSpPr>
        <p:spPr>
          <a:xfrm>
            <a:off x="2011680" y="1005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10–45 min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11680" y="1554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0000"/>
                </a:solidFill>
              </a:rPr>
              <a:t>2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2103120" y="21488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</a:rPr>
              <a:t>Análisis grupal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2103120" y="269748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0000"/>
                </a:solidFill>
              </a:rPr>
              <a:t>Preguntas 1–4 con roles asignados</a:t>
            </a:r>
          </a:p>
        </p:txBody>
      </p:sp>
      <p:sp>
        <p:nvSpPr>
          <p:cNvPr id="16" name="Shape 14"/>
          <p:cNvSpPr/>
          <p:nvPr/>
        </p:nvSpPr>
        <p:spPr>
          <a:xfrm>
            <a:off x="3749040" y="1005840"/>
            <a:ext cx="1554480" cy="356616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17" name="Shape 15"/>
          <p:cNvSpPr/>
          <p:nvPr/>
        </p:nvSpPr>
        <p:spPr>
          <a:xfrm>
            <a:off x="3749040" y="1005840"/>
            <a:ext cx="15544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18" name="Text 16"/>
          <p:cNvSpPr/>
          <p:nvPr/>
        </p:nvSpPr>
        <p:spPr>
          <a:xfrm>
            <a:off x="3749040" y="1005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45–65 min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49040" y="1554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0000"/>
                </a:solidFill>
              </a:rPr>
              <a:t>3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3840480" y="21488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</a:rPr>
              <a:t>Reflexión ApS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3840480" y="269748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0000"/>
                </a:solidFill>
              </a:rPr>
              <a:t>4 preguntas de reflexión en grupo</a:t>
            </a:r>
          </a:p>
        </p:txBody>
      </p:sp>
      <p:sp>
        <p:nvSpPr>
          <p:cNvPr id="22" name="Shape 20"/>
          <p:cNvSpPr/>
          <p:nvPr/>
        </p:nvSpPr>
        <p:spPr>
          <a:xfrm>
            <a:off x="5486400" y="1005840"/>
            <a:ext cx="1554480" cy="356616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23" name="Shape 21"/>
          <p:cNvSpPr/>
          <p:nvPr/>
        </p:nvSpPr>
        <p:spPr>
          <a:xfrm>
            <a:off x="5486400" y="1005840"/>
            <a:ext cx="15544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24" name="Text 22"/>
          <p:cNvSpPr/>
          <p:nvPr/>
        </p:nvSpPr>
        <p:spPr>
          <a:xfrm>
            <a:off x="5486400" y="1005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65–80 min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0" y="1554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0000"/>
                </a:solidFill>
              </a:rPr>
              <a:t>4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5577840" y="21488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</a:rPr>
              <a:t>Naming de proyecto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5577840" y="269748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0000"/>
                </a:solidFill>
              </a:rPr>
              <a:t>Framework de gestión de marca aplicado</a:t>
            </a:r>
          </a:p>
        </p:txBody>
      </p:sp>
      <p:sp>
        <p:nvSpPr>
          <p:cNvPr id="28" name="Shape 26"/>
          <p:cNvSpPr/>
          <p:nvPr/>
        </p:nvSpPr>
        <p:spPr>
          <a:xfrm>
            <a:off x="7223760" y="1005840"/>
            <a:ext cx="1554480" cy="356616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29" name="Shape 27"/>
          <p:cNvSpPr/>
          <p:nvPr/>
        </p:nvSpPr>
        <p:spPr>
          <a:xfrm>
            <a:off x="7223760" y="1005840"/>
            <a:ext cx="15544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30" name="Text 28"/>
          <p:cNvSpPr/>
          <p:nvPr/>
        </p:nvSpPr>
        <p:spPr>
          <a:xfrm>
            <a:off x="7223760" y="1005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80–90 min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23760" y="1554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0000"/>
                </a:solidFill>
              </a:rPr>
              <a:t>5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7315200" y="21488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</a:rPr>
              <a:t>Plenaria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7315200" y="269748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0000"/>
                </a:solidFill>
              </a:rPr>
              <a:t>2 min por grupo: decisión + nombre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E2A"/>
          </a:solidFill>
          <a:ln w="12700">
            <a:solidFill>
              <a:srgbClr val="0D2E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Gestión de Marca — ¿Por qué importa el nombre?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38912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C" sz="240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28090"/>
                </a:solidFill>
              </a:rPr>
              <a:t>¿Qué es el naming?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2E2A"/>
                </a:solidFill>
              </a:rPr>
              <a:t>El nombre de tu emprendimiento es el primer contacto con el mercado. Un buen nombre debe: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212848"/>
            <a:ext cx="40233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D2E2A"/>
                </a:solidFill>
              </a:rPr>
              <a:t>Ser memorable y fácil de pronunciar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D2E2A"/>
                </a:solidFill>
              </a:rPr>
              <a:t>Transmitir la propuesta de valor en segundos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D2E2A"/>
                </a:solidFill>
              </a:rPr>
              <a:t>Diferenciarse de la competencia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D2E2A"/>
                </a:solidFill>
              </a:rPr>
              <a:t>Funcionar en español e inglés (mercado digital)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D2E2A"/>
                </a:solidFill>
              </a:rPr>
              <a:t>Ser registrable como marca y dominio .com / .ec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4023360" cy="3794760"/>
          </a:xfrm>
          <a:prstGeom prst="rect">
            <a:avLst/>
          </a:prstGeom>
          <a:solidFill>
            <a:srgbClr val="0D2E2A"/>
          </a:solidFill>
          <a:ln w="12700">
            <a:solidFill>
              <a:srgbClr val="0D2E2A"/>
            </a:solidFill>
            <a:prstDash val="solid"/>
          </a:ln>
        </p:spPr>
        <p:txBody>
          <a:bodyPr/>
          <a:lstStyle/>
          <a:p>
            <a:endParaRPr lang="es-EC" sz="2400"/>
          </a:p>
        </p:txBody>
      </p:sp>
      <p:sp>
        <p:nvSpPr>
          <p:cNvPr id="9" name="Text 7"/>
          <p:cNvSpPr/>
          <p:nvPr/>
        </p:nvSpPr>
        <p:spPr>
          <a:xfrm>
            <a:off x="502920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</a:rPr>
              <a:t>Nombres que funcionan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</a:rPr>
              <a:t>EduConecta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903720" y="1618488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 sz="2400"/>
          </a:p>
        </p:txBody>
      </p:sp>
      <p:sp>
        <p:nvSpPr>
          <p:cNvPr id="12" name="Text 10"/>
          <p:cNvSpPr/>
          <p:nvPr/>
        </p:nvSpPr>
        <p:spPr>
          <a:xfrm>
            <a:off x="6903720" y="16184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Descriptivo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0" y="1892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Educación + conectar, claro y directo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2221992"/>
            <a:ext cx="3566160" cy="0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 sz="2400"/>
          </a:p>
        </p:txBody>
      </p:sp>
      <p:sp>
        <p:nvSpPr>
          <p:cNvPr id="15" name="Text 13"/>
          <p:cNvSpPr/>
          <p:nvPr/>
        </p:nvSpPr>
        <p:spPr>
          <a:xfrm>
            <a:off x="5029200" y="2359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</a:rPr>
              <a:t>Duolingo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903720" y="2377440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 sz="2400"/>
          </a:p>
        </p:txBody>
      </p:sp>
      <p:sp>
        <p:nvSpPr>
          <p:cNvPr id="17" name="Text 15"/>
          <p:cNvSpPr/>
          <p:nvPr/>
        </p:nvSpPr>
        <p:spPr>
          <a:xfrm>
            <a:off x="6903720" y="23774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Compuesto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Duo (dos) + lingo (lengua), global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2980944"/>
            <a:ext cx="3566160" cy="0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 sz="2400"/>
          </a:p>
        </p:txBody>
      </p:sp>
      <p:sp>
        <p:nvSpPr>
          <p:cNvPr id="20" name="Text 18"/>
          <p:cNvSpPr/>
          <p:nvPr/>
        </p:nvSpPr>
        <p:spPr>
          <a:xfrm>
            <a:off x="5029200" y="3118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</a:rPr>
              <a:t>Canva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903720" y="3136392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 sz="2400"/>
          </a:p>
        </p:txBody>
      </p:sp>
      <p:sp>
        <p:nvSpPr>
          <p:cNvPr id="22" name="Text 20"/>
          <p:cNvSpPr/>
          <p:nvPr/>
        </p:nvSpPr>
        <p:spPr>
          <a:xfrm>
            <a:off x="6903720" y="31363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Evocador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0" y="3410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Canvas simplificado, suena a arte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0" y="3739896"/>
            <a:ext cx="3566160" cy="0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 sz="2400"/>
          </a:p>
        </p:txBody>
      </p:sp>
      <p:sp>
        <p:nvSpPr>
          <p:cNvPr id="25" name="Text 23"/>
          <p:cNvSpPr/>
          <p:nvPr/>
        </p:nvSpPr>
        <p:spPr>
          <a:xfrm>
            <a:off x="5029200" y="38770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</a:rPr>
              <a:t>Zoom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903720" y="3895344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 sz="2400"/>
          </a:p>
        </p:txBody>
      </p:sp>
      <p:sp>
        <p:nvSpPr>
          <p:cNvPr id="27" name="Text 25"/>
          <p:cNvSpPr/>
          <p:nvPr/>
        </p:nvSpPr>
        <p:spPr>
          <a:xfrm>
            <a:off x="6903720" y="38953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Metafórico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0" y="4169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Velocidad, acercamiento, una sola sílaba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Tipos de nombres para emprendimientos tecnológicos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834640" cy="1691640"/>
          </a:xfrm>
          <a:prstGeom prst="rect">
            <a:avLst/>
          </a:prstGeom>
          <a:solidFill>
            <a:srgbClr val="F4F9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83464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6" name="Text 4"/>
          <p:cNvSpPr/>
          <p:nvPr/>
        </p:nvSpPr>
        <p:spPr>
          <a:xfrm>
            <a:off x="338328" y="1097280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Descriptivo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38328" y="141732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Ej: EduConecta, TechSalud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8328" y="173736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2E2A"/>
                </a:solidFill>
              </a:rPr>
              <a:t>✓ Claro, fácil de entender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" y="2039112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✗ Puede ser genérico o difícil de registrar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2834640" cy="1691640"/>
          </a:xfrm>
          <a:prstGeom prst="rect">
            <a:avLst/>
          </a:prstGeom>
          <a:solidFill>
            <a:srgbClr val="F4F9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11" name="Shape 9"/>
          <p:cNvSpPr/>
          <p:nvPr/>
        </p:nvSpPr>
        <p:spPr>
          <a:xfrm>
            <a:off x="3246120" y="960120"/>
            <a:ext cx="283464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12" name="Text 10"/>
          <p:cNvSpPr/>
          <p:nvPr/>
        </p:nvSpPr>
        <p:spPr>
          <a:xfrm>
            <a:off x="3355848" y="1097280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34AB7"/>
                </a:solidFill>
              </a:rPr>
              <a:t>Compuesto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55848" y="141732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Ej: WhatsApp, Facebook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55848" y="173736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2E2A"/>
                </a:solidFill>
              </a:rPr>
              <a:t>✓ Creativo, pegajoso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55848" y="2039112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✗ Puede confundir si la combinación no tiene lógica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63640" y="960120"/>
            <a:ext cx="2834640" cy="1691640"/>
          </a:xfrm>
          <a:prstGeom prst="rect">
            <a:avLst/>
          </a:prstGeom>
          <a:solidFill>
            <a:srgbClr val="F4F9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17" name="Shape 15"/>
          <p:cNvSpPr/>
          <p:nvPr/>
        </p:nvSpPr>
        <p:spPr>
          <a:xfrm>
            <a:off x="6263640" y="960120"/>
            <a:ext cx="283464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18" name="Text 16"/>
          <p:cNvSpPr/>
          <p:nvPr/>
        </p:nvSpPr>
        <p:spPr>
          <a:xfrm>
            <a:off x="6373368" y="1097280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</a:rPr>
              <a:t>Evocador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73368" y="141732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Ej: Amazon, Canva, Apple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73368" y="173736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2E2A"/>
                </a:solidFill>
              </a:rPr>
              <a:t>✓ Memorable, diferente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73368" y="2039112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✗ Requiere inversión en posicionamiento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28600" y="2926080"/>
            <a:ext cx="2834640" cy="1691640"/>
          </a:xfrm>
          <a:prstGeom prst="rect">
            <a:avLst/>
          </a:prstGeom>
          <a:solidFill>
            <a:srgbClr val="F4F9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3" name="Shape 21"/>
          <p:cNvSpPr/>
          <p:nvPr/>
        </p:nvSpPr>
        <p:spPr>
          <a:xfrm>
            <a:off x="228600" y="2926080"/>
            <a:ext cx="2834640" cy="54864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24" name="Text 22"/>
          <p:cNvSpPr/>
          <p:nvPr/>
        </p:nvSpPr>
        <p:spPr>
          <a:xfrm>
            <a:off x="338328" y="3063240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9F27"/>
                </a:solidFill>
              </a:rPr>
              <a:t>Acrónimo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38328" y="338328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Ej: IBM, IKEA, SAP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38328" y="370332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2E2A"/>
                </a:solidFill>
              </a:rPr>
              <a:t>✓ Corto y profesional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38328" y="4005072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✗ Sin contexto no dice nada al inicio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246120" y="2926080"/>
            <a:ext cx="2834640" cy="1691640"/>
          </a:xfrm>
          <a:prstGeom prst="rect">
            <a:avLst/>
          </a:prstGeom>
          <a:solidFill>
            <a:srgbClr val="F4F9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9" name="Shape 27"/>
          <p:cNvSpPr/>
          <p:nvPr/>
        </p:nvSpPr>
        <p:spPr>
          <a:xfrm>
            <a:off x="3246120" y="2926080"/>
            <a:ext cx="2834640" cy="54864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30" name="Text 28"/>
          <p:cNvSpPr/>
          <p:nvPr/>
        </p:nvSpPr>
        <p:spPr>
          <a:xfrm>
            <a:off x="3355848" y="3063240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5A30"/>
                </a:solidFill>
              </a:rPr>
              <a:t>Nombre propio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3355848" y="338328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Ej: Tesla, Cisco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355848" y="370332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2E2A"/>
                </a:solidFill>
              </a:rPr>
              <a:t>✓ Personal, auténtico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355848" y="4005072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✗ Difícil de escalar si la persona se va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263640" y="2926080"/>
            <a:ext cx="2834640" cy="1691640"/>
          </a:xfrm>
          <a:prstGeom prst="rect">
            <a:avLst/>
          </a:prstGeom>
          <a:solidFill>
            <a:srgbClr val="F4F9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5" name="Shape 33"/>
          <p:cNvSpPr/>
          <p:nvPr/>
        </p:nvSpPr>
        <p:spPr>
          <a:xfrm>
            <a:off x="6263640" y="2926080"/>
            <a:ext cx="2834640" cy="54864"/>
          </a:xfrm>
          <a:prstGeom prst="rect">
            <a:avLst/>
          </a:prstGeom>
          <a:solidFill>
            <a:srgbClr val="0D2E2A"/>
          </a:solidFill>
          <a:ln w="12700">
            <a:solidFill>
              <a:srgbClr val="0D2E2A"/>
            </a:solidFill>
            <a:prstDash val="solid"/>
          </a:ln>
        </p:spPr>
        <p:txBody>
          <a:bodyPr/>
          <a:lstStyle/>
          <a:p>
            <a:endParaRPr lang="es-EC" sz="3200"/>
          </a:p>
        </p:txBody>
      </p:sp>
      <p:sp>
        <p:nvSpPr>
          <p:cNvPr id="36" name="Text 34"/>
          <p:cNvSpPr/>
          <p:nvPr/>
        </p:nvSpPr>
        <p:spPr>
          <a:xfrm>
            <a:off x="6373368" y="3063240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2E2A"/>
                </a:solidFill>
              </a:rPr>
              <a:t>Inventado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373368" y="338328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Ej: Google, Kodak, Zoom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373368" y="370332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2E2A"/>
                </a:solidFill>
              </a:rPr>
              <a:t>✓ Único, registrable fácil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373368" y="4005072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✗ Necesita tiempo para generar significado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/>
              <a:t>Framework — 5 pasos para elegir el nombre de tu proyecto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731520"/>
          </a:xfrm>
          <a:prstGeom prst="rect">
            <a:avLst/>
          </a:prstGeom>
          <a:solidFill>
            <a:srgbClr val="1A4A44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 sz="240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57200" cy="7315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 sz="2400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2E2A"/>
                </a:solidFill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1005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Define tu esencia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63240" y="10058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¿Qué problema resuelves? ¿Para quién? ¿Qué te hace diferente?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371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chemeClr val="accent4"/>
                </a:solidFill>
              </a:rPr>
              <a:t>→ Escribe 3 palabras clave que describan tu solución</a:t>
            </a:r>
            <a:endParaRPr lang="en-US" sz="1050" b="1" dirty="0">
              <a:solidFill>
                <a:schemeClr val="accent4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7040880" y="1033272"/>
            <a:ext cx="1828800" cy="566928"/>
          </a:xfrm>
          <a:prstGeom prst="rect">
            <a:avLst/>
          </a:prstGeom>
          <a:solidFill>
            <a:srgbClr val="028090"/>
          </a:solidFill>
          <a:ln w="63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 sz="2400"/>
          </a:p>
        </p:txBody>
      </p:sp>
      <p:sp>
        <p:nvSpPr>
          <p:cNvPr id="11" name="Text 9"/>
          <p:cNvSpPr/>
          <p:nvPr/>
        </p:nvSpPr>
        <p:spPr>
          <a:xfrm>
            <a:off x="7040880" y="103327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Tiempo: 5 min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1783080"/>
            <a:ext cx="8595360" cy="731520"/>
          </a:xfrm>
          <a:prstGeom prst="rect">
            <a:avLst/>
          </a:prstGeom>
          <a:solidFill>
            <a:srgbClr val="1A4A44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 sz="2400"/>
          </a:p>
        </p:txBody>
      </p:sp>
      <p:sp>
        <p:nvSpPr>
          <p:cNvPr id="13" name="Shape 11"/>
          <p:cNvSpPr/>
          <p:nvPr/>
        </p:nvSpPr>
        <p:spPr>
          <a:xfrm>
            <a:off x="274320" y="1783080"/>
            <a:ext cx="457200" cy="7315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 sz="2400"/>
          </a:p>
        </p:txBody>
      </p:sp>
      <p:sp>
        <p:nvSpPr>
          <p:cNvPr id="14" name="Text 12"/>
          <p:cNvSpPr/>
          <p:nvPr/>
        </p:nvSpPr>
        <p:spPr>
          <a:xfrm>
            <a:off x="274320" y="178308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2E2A"/>
                </a:solidFill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68680" y="1828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Genera 10 candidatos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63240" y="1828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Combina palabras clave, usa metáforas, inventá palabras nuevas, prueba acrónimos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21945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2C39A"/>
                </a:solidFill>
              </a:rPr>
              <a:t>→ Sin filtros todavía — lluvia de ideas libre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040880" y="1856232"/>
            <a:ext cx="1828800" cy="566928"/>
          </a:xfrm>
          <a:prstGeom prst="rect">
            <a:avLst/>
          </a:prstGeom>
          <a:solidFill>
            <a:srgbClr val="028090"/>
          </a:solidFill>
          <a:ln w="63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 sz="2400"/>
          </a:p>
        </p:txBody>
      </p:sp>
      <p:sp>
        <p:nvSpPr>
          <p:cNvPr id="19" name="Text 17"/>
          <p:cNvSpPr/>
          <p:nvPr/>
        </p:nvSpPr>
        <p:spPr>
          <a:xfrm>
            <a:off x="7040880" y="185623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Tiempo: 8 min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2606040"/>
            <a:ext cx="8595360" cy="731520"/>
          </a:xfrm>
          <a:prstGeom prst="rect">
            <a:avLst/>
          </a:prstGeom>
          <a:solidFill>
            <a:srgbClr val="1A4A44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 sz="2400"/>
          </a:p>
        </p:txBody>
      </p:sp>
      <p:sp>
        <p:nvSpPr>
          <p:cNvPr id="21" name="Shape 19"/>
          <p:cNvSpPr/>
          <p:nvPr/>
        </p:nvSpPr>
        <p:spPr>
          <a:xfrm>
            <a:off x="274320" y="2606040"/>
            <a:ext cx="457200" cy="7315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 sz="2400"/>
          </a:p>
        </p:txBody>
      </p:sp>
      <p:sp>
        <p:nvSpPr>
          <p:cNvPr id="22" name="Text 20"/>
          <p:cNvSpPr/>
          <p:nvPr/>
        </p:nvSpPr>
        <p:spPr>
          <a:xfrm>
            <a:off x="274320" y="26060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2E2A"/>
                </a:solidFill>
              </a:rPr>
              <a:t>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68680" y="2651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Aplica los 5 filtros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063240" y="26517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Memorable · Pronunciable · Diferente · Funciona en inglés · Registrable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8680" y="3017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2C39A"/>
                </a:solidFill>
              </a:rPr>
              <a:t>→ Descarta los que fallan en 2 o más filtros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040880" y="2679192"/>
            <a:ext cx="1828800" cy="566928"/>
          </a:xfrm>
          <a:prstGeom prst="rect">
            <a:avLst/>
          </a:prstGeom>
          <a:solidFill>
            <a:srgbClr val="028090"/>
          </a:solidFill>
          <a:ln w="63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 sz="2400"/>
          </a:p>
        </p:txBody>
      </p:sp>
      <p:sp>
        <p:nvSpPr>
          <p:cNvPr id="27" name="Text 25"/>
          <p:cNvSpPr/>
          <p:nvPr/>
        </p:nvSpPr>
        <p:spPr>
          <a:xfrm>
            <a:off x="7040880" y="267919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Tiempo: 5 min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74320" y="3429000"/>
            <a:ext cx="8595360" cy="731520"/>
          </a:xfrm>
          <a:prstGeom prst="rect">
            <a:avLst/>
          </a:prstGeom>
          <a:solidFill>
            <a:srgbClr val="1A4A44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 sz="2400"/>
          </a:p>
        </p:txBody>
      </p:sp>
      <p:sp>
        <p:nvSpPr>
          <p:cNvPr id="29" name="Shape 27"/>
          <p:cNvSpPr/>
          <p:nvPr/>
        </p:nvSpPr>
        <p:spPr>
          <a:xfrm>
            <a:off x="274320" y="3429000"/>
            <a:ext cx="457200" cy="7315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 sz="2400"/>
          </a:p>
        </p:txBody>
      </p:sp>
      <p:sp>
        <p:nvSpPr>
          <p:cNvPr id="30" name="Text 28"/>
          <p:cNvSpPr/>
          <p:nvPr/>
        </p:nvSpPr>
        <p:spPr>
          <a:xfrm>
            <a:off x="274320" y="34290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2E2A"/>
                </a:solidFill>
              </a:rPr>
              <a:t>4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868680" y="3474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Prueba con usuarios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063240" y="34747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Muestra los 3 finalistas a personas de tu segmento objetivo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68680" y="3840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2C39A"/>
                </a:solidFill>
              </a:rPr>
              <a:t>→ Pregunta: ¿Qué te transmite? ¿Lo recuerdas mañana?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040880" y="3502152"/>
            <a:ext cx="1828800" cy="566928"/>
          </a:xfrm>
          <a:prstGeom prst="rect">
            <a:avLst/>
          </a:prstGeom>
          <a:solidFill>
            <a:srgbClr val="028090"/>
          </a:solidFill>
          <a:ln w="63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 sz="2400"/>
          </a:p>
        </p:txBody>
      </p:sp>
      <p:sp>
        <p:nvSpPr>
          <p:cNvPr id="35" name="Text 33"/>
          <p:cNvSpPr/>
          <p:nvPr/>
        </p:nvSpPr>
        <p:spPr>
          <a:xfrm>
            <a:off x="7040880" y="350215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Tiempo: 5 min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74320" y="4251960"/>
            <a:ext cx="8595360" cy="731520"/>
          </a:xfrm>
          <a:prstGeom prst="rect">
            <a:avLst/>
          </a:prstGeom>
          <a:solidFill>
            <a:srgbClr val="1A4A44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 sz="2400"/>
          </a:p>
        </p:txBody>
      </p:sp>
      <p:sp>
        <p:nvSpPr>
          <p:cNvPr id="37" name="Shape 35"/>
          <p:cNvSpPr/>
          <p:nvPr/>
        </p:nvSpPr>
        <p:spPr>
          <a:xfrm>
            <a:off x="274320" y="4251960"/>
            <a:ext cx="457200" cy="7315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 sz="2400"/>
          </a:p>
        </p:txBody>
      </p:sp>
      <p:sp>
        <p:nvSpPr>
          <p:cNvPr id="38" name="Text 36"/>
          <p:cNvSpPr/>
          <p:nvPr/>
        </p:nvSpPr>
        <p:spPr>
          <a:xfrm>
            <a:off x="274320" y="42519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2E2A"/>
                </a:solidFill>
              </a:rPr>
              <a:t>5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868680" y="4297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Valida disponibilidad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063240" y="42976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Busca el dominio, Instagram, TikTok y si alguien ya lo usa comercialmente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68680" y="4663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2C39A"/>
                </a:solidFill>
              </a:rPr>
              <a:t>→ Herramienta: namecheckr.com · registro.gob.ec (marcas)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040880" y="4325112"/>
            <a:ext cx="1828800" cy="566928"/>
          </a:xfrm>
          <a:prstGeom prst="rect">
            <a:avLst/>
          </a:prstGeom>
          <a:solidFill>
            <a:srgbClr val="028090"/>
          </a:solidFill>
          <a:ln w="63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 sz="2400"/>
          </a:p>
        </p:txBody>
      </p:sp>
      <p:sp>
        <p:nvSpPr>
          <p:cNvPr id="43" name="Text 41"/>
          <p:cNvSpPr/>
          <p:nvPr/>
        </p:nvSpPr>
        <p:spPr>
          <a:xfrm>
            <a:off x="7040880" y="432511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Tiempo: 2 min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E2A"/>
          </a:solidFill>
          <a:ln w="12700">
            <a:solidFill>
              <a:srgbClr val="0D2E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Actividad — Naming de su proyecto (15 min en grupos)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9768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Canvas de naming — Completen en grupo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</a:rPr>
              <a:t>Problema que resuelvo: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755648"/>
            <a:ext cx="3840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</a:rPr>
              <a:t>Mi comunidad / usuario objetivo: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304288"/>
            <a:ext cx="3840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</a:rPr>
              <a:t>3 palabras clave de mi solución: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852928"/>
            <a:ext cx="3840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12" name="Text 10"/>
          <p:cNvSpPr/>
          <p:nvPr/>
        </p:nvSpPr>
        <p:spPr>
          <a:xfrm>
            <a:off x="457200" y="3108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</a:rPr>
              <a:t>5 nombres candidatos: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401568"/>
            <a:ext cx="3840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</a:rPr>
              <a:t>Nombre finalista elegido: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950208"/>
            <a:ext cx="3840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</a:rPr>
              <a:t>¿Por qué ese nombre? (1 frase):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4498848"/>
            <a:ext cx="3840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C" sz="2800"/>
          </a:p>
        </p:txBody>
      </p:sp>
      <p:sp>
        <p:nvSpPr>
          <p:cNvPr id="18" name="Shape 16"/>
          <p:cNvSpPr/>
          <p:nvPr/>
        </p:nvSpPr>
        <p:spPr>
          <a:xfrm>
            <a:off x="4754880" y="914400"/>
            <a:ext cx="4114800" cy="3886200"/>
          </a:xfrm>
          <a:prstGeom prst="rect">
            <a:avLst/>
          </a:prstGeom>
          <a:solidFill>
            <a:srgbClr val="0D2E2A"/>
          </a:solidFill>
          <a:ln w="12700">
            <a:solidFill>
              <a:srgbClr val="0D2E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Text 17"/>
          <p:cNvSpPr/>
          <p:nvPr/>
        </p:nvSpPr>
        <p:spPr>
          <a:xfrm>
            <a:off x="4937760" y="1005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Criterios de evaluación del nombre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1481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✓ Memorable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23760" y="1499616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02C39A">
              <a:alpha val="25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7223760" y="14996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20 pts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17830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¿Lo recordarías mañana?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21396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✓ Diferente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23760" y="2157984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02C39A">
              <a:alpha val="25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7223760" y="21579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20 pts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24414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¿No confunde con otros?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27980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✓ Relevante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223760" y="2816352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02C39A">
              <a:alpha val="25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7223760" y="28163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20 pts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37760" y="30998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¿Transmite la propuesta de valor?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3456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✓ Registrable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223760" y="3474720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02C39A">
              <a:alpha val="25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" name="Text 32"/>
          <p:cNvSpPr/>
          <p:nvPr/>
        </p:nvSpPr>
        <p:spPr>
          <a:xfrm>
            <a:off x="7223760" y="34747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20 pts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37760" y="37581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¿Dominio y marca disponibles?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37760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✓ Defensa oral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223760" y="4133088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02C39A">
              <a:alpha val="25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" name="Text 36"/>
          <p:cNvSpPr/>
          <p:nvPr/>
        </p:nvSpPr>
        <p:spPr>
          <a:xfrm>
            <a:off x="7223760" y="41330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20 pts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37760" y="44165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¿Saben explicar por qué ese nombre?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Entregables al final de la clase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164592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 sz="240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</a:rPr>
              <a:t>01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097280" y="11155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</a:rPr>
              <a:t>Canvas actualizado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</a:rPr>
              <a:t>Escenario elegido (con/sin fondo privado) con los 3 bloques más afectados justificados</a:t>
            </a:r>
          </a:p>
        </p:txBody>
      </p:sp>
      <p:sp>
        <p:nvSpPr>
          <p:cNvPr id="8" name="Shape 6"/>
          <p:cNvSpPr/>
          <p:nvPr/>
        </p:nvSpPr>
        <p:spPr>
          <a:xfrm>
            <a:off x="274320" y="2880360"/>
            <a:ext cx="4206240" cy="164592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s-EC" sz="2400">
              <a:solidFill>
                <a:srgbClr val="FF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</a:rPr>
              <a:t>02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097280" y="29900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</a:rPr>
              <a:t>Cálculo de viabilidad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</a:rPr>
              <a:t>Resolución escrita de la Pregunta 3: estudiantes necesarios para cubrir $45.000 en 18 meses a $3/mes</a:t>
            </a:r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206240" cy="164592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s-EC" sz="2400">
              <a:solidFill>
                <a:srgbClr val="FF000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37760" y="10972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</a:rPr>
              <a:t>03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5577840" y="11155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</a:rPr>
              <a:t>2 aprendizajes ApS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937760" y="16002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</a:rPr>
              <a:t>Escritos: ¿Qué del caso conecta con su propio proyecto? ¿Qué riesgo ya están viviendo?</a:t>
            </a:r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4206240" cy="164592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s-EC" sz="2400">
              <a:solidFill>
                <a:srgbClr val="FF0000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937760" y="2971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</a:rPr>
              <a:t>04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5577840" y="29900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</a:rPr>
              <a:t>Nombre del proyecto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937760" y="34747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</a:rPr>
              <a:t>Canvas de naming completado + nombre finalista con su justificación en una frase</a:t>
            </a:r>
          </a:p>
        </p:txBody>
      </p:sp>
      <p:sp>
        <p:nvSpPr>
          <p:cNvPr id="20" name="Text 18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</a:rPr>
              <a:t>Presentación oral: 2 minutos por grupo — decisión de negocio + nombre del proyecto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4572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914400" y="1005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C39A"/>
                </a:solidFill>
              </a:rPr>
              <a:t>Para la próxima semana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Semana 10 — Canvas real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 una startup local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14400" y="3063240"/>
            <a:ext cx="777240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Traer el Canvas de su proyecto actualizado con los cambios de hoy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Confirmar el nombre de su emprendimiento (verificar dominio y redes)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Identificar una startup o negocio local que puedan contactar para Semana 10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663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frodriguez@puce.edu.ec  ·  Tutoría: lunes 8h00–9h00  ·  Tel: 2991700 ext 1213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98080" y="457200"/>
            <a:ext cx="2011680" cy="201168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Shape 8"/>
          <p:cNvSpPr/>
          <p:nvPr/>
        </p:nvSpPr>
        <p:spPr>
          <a:xfrm>
            <a:off x="7863840" y="822960"/>
            <a:ext cx="1280160" cy="1280160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1781</Words>
  <Application>Microsoft Office PowerPoint</Application>
  <PresentationFormat>Presentación en pantalla (16:9)</PresentationFormat>
  <Paragraphs>289</Paragraphs>
  <Slides>18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1" baseType="lpstr">
      <vt:lpstr>Anthropic Sans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Emprendimiento Tecnológico S.I — Semana 9</dc:title>
  <dc:subject>PptxGenJS Presentation</dc:subject>
  <dc:creator>PptxGenJS</dc:creator>
  <cp:lastModifiedBy>RODRIGUEZ CLAVIJO FRANCISCO</cp:lastModifiedBy>
  <cp:revision>4</cp:revision>
  <dcterms:created xsi:type="dcterms:W3CDTF">2026-05-14T13:01:37Z</dcterms:created>
  <dcterms:modified xsi:type="dcterms:W3CDTF">2026-05-14T16:01:43Z</dcterms:modified>
</cp:coreProperties>
</file>