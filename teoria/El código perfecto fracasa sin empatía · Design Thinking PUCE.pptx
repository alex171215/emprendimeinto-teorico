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8288000" cy="10287000"/>
  <p:notesSz cx="10287000" cy="18288000"/>
  <p:embeddedFontLst>
    <p:embeddedFont>
      <p:font typeface="Rubik Medium"/>
      <p:regular r:id="rId47"/>
      <p:italic r:id="rId53"/>
    </p:embeddedFont>
    <p:embeddedFont>
      <p:font typeface="Rubik"/>
      <p:regular r:id="rId52"/>
      <p:bold r:id="rId48"/>
    </p:embeddedFont>
    <p:embeddedFont>
      <p:font typeface="Open Sans"/>
      <p:regular r:id="rId49"/>
      <p:bold r:id="rId50"/>
      <p:italic r:id="rId54"/>
    </p:embeddedFont>
    <p:embeddedFont>
      <p:font typeface="Rubik SemiBold"/>
      <p:regular r:id="rId5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Relationship Id="rId47" Type="http://schemas.openxmlformats.org/officeDocument/2006/relationships/font" Target="fonts/font1.fntdata"/><Relationship Id="rId48" Type="http://schemas.openxmlformats.org/officeDocument/2006/relationships/font" Target="fonts/font2.fntdata"/><Relationship Id="rId49" Type="http://schemas.openxmlformats.org/officeDocument/2006/relationships/font" Target="fonts/font3.fntdata"/><Relationship Id="rId50" Type="http://schemas.openxmlformats.org/officeDocument/2006/relationships/font" Target="fonts/font4.fntdata"/><Relationship Id="rId51" Type="http://schemas.openxmlformats.org/officeDocument/2006/relationships/font" Target="fonts/font5.fntdata"/><Relationship Id="rId52" Type="http://schemas.openxmlformats.org/officeDocument/2006/relationships/font" Target="fonts/font6.fntdata"/><Relationship Id="rId53" Type="http://schemas.openxmlformats.org/officeDocument/2006/relationships/font" Target="fonts/font7.fntdata"/><Relationship Id="rId5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rect-1792683824579-536473775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61219">
                  <a:alpha val="94000"/>
                </a:srgbClr>
              </a:gs>
              <a:gs pos="50000">
                <a:srgbClr val="061219">
                  <a:alpha val="80000"/>
                </a:srgbClr>
              </a:gs>
              <a:gs pos="100000">
                <a:srgbClr val="061219">
                  <a:alpha val="10000"/>
                </a:srgbClr>
              </a:gs>
            </a:gsLst>
            <a:lin ang="0" scaled="0"/>
          </a:gradFill>
          <a:ln/>
        </p:spPr>
      </p:sp>
      <p:pic>
        <p:nvPicPr>
          <p:cNvPr id="3" name="Moda image rect-1792683825060-814438332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43000" y="860120"/>
            <a:ext cx="4191000" cy="11563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2857500"/>
            <a:ext cx="1143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spc="301" kern="0" dirty="0">
                <a:solidFill>
                  <a:srgbClr val="0693E3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DESIGN</a:t>
            </a:r>
            <a:r>
              <a:rPr lang="en-US" sz="2550" spc="300" kern="0" dirty="0">
                <a:solidFill>
                  <a:srgbClr val="0693E3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THINKING</a:t>
            </a:r>
            <a:r>
              <a:rPr lang="en-US" sz="2550" spc="299" kern="0" dirty="0">
                <a:solidFill>
                  <a:srgbClr val="0693E3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·</a:t>
            </a:r>
            <a:r>
              <a:rPr lang="en-US" sz="2550" spc="296" kern="0" dirty="0">
                <a:solidFill>
                  <a:srgbClr val="0693E3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TECNOLOGÍA</a:t>
            </a:r>
            <a:r>
              <a:rPr lang="en-US" sz="2550" spc="300" kern="0" dirty="0">
                <a:solidFill>
                  <a:srgbClr val="0693E3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E IA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1143000" y="3524250"/>
            <a:ext cx="11906250" cy="3810000"/>
          </a:xfrm>
          <a:prstGeom prst="rect">
            <a:avLst/>
          </a:prstGeom>
          <a:noFill/>
          <a:ln/>
        </p:spPr>
        <p:txBody>
          <a:bodyPr wrap="square" lIns="0" tIns="90530" rIns="0" bIns="-90530" rtlCol="0" anchor="t"/>
          <a:lstStyle/>
          <a:p>
            <a:pPr algn="l" indent="0" marL="0">
              <a:lnSpc>
                <a:spcPts val="8485"/>
              </a:lnSpc>
              <a:buNone/>
            </a:pPr>
            <a:r>
              <a:rPr lang="en-US" sz="8319" b="1" dirty="0" spc="4" kern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El</a:t>
            </a:r>
            <a:r>
              <a:rPr lang="en-US" sz="8319" b="1" dirty="0" spc="-2" kern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código</a:t>
            </a:r>
            <a:r>
              <a:rPr lang="en-US" sz="8319" b="1" dirty="0" spc="-7" kern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perfecto</a:t>
            </a:r>
            <a:r>
              <a:rPr lang="en-US" sz="8319" b="1" dirty="0" spc="-12" kern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fracasa</a:t>
            </a:r>
            <a:r>
              <a:rPr lang="en-US" sz="8319" b="1" dirty="0" spc="0" kern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sin</a:t>
            </a:r>
            <a:r>
              <a:rPr lang="en-US" sz="8319" b="1" dirty="0" spc="-6" kern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empatía</a:t>
            </a:r>
            <a:endParaRPr lang="en-US" sz="8319" dirty="0"/>
          </a:p>
        </p:txBody>
      </p:sp>
      <p:sp>
        <p:nvSpPr>
          <p:cNvPr id="6" name="Text 3"/>
          <p:cNvSpPr/>
          <p:nvPr/>
        </p:nvSpPr>
        <p:spPr>
          <a:xfrm>
            <a:off x="1143000" y="7524750"/>
            <a:ext cx="10477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BFC8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Design</a:t>
            </a:r>
            <a:r>
              <a:rPr lang="en-US" sz="2700" dirty="0" spc="2" kern="0">
                <a:solidFill>
                  <a:srgbClr val="BFC8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Thinking para</a:t>
            </a:r>
            <a:r>
              <a:rPr lang="en-US" sz="2700" dirty="0" spc="3" kern="0">
                <a:solidFill>
                  <a:srgbClr val="BFC8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emprender</a:t>
            </a:r>
            <a:r>
              <a:rPr lang="en-US" sz="2700" dirty="0" spc="2" kern="0">
                <a:solidFill>
                  <a:srgbClr val="BFC8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</a:t>
            </a:r>
            <a:r>
              <a:rPr lang="en-US" sz="2700" dirty="0" spc="1" kern="0">
                <a:solidFill>
                  <a:srgbClr val="BFC8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tecnología e</a:t>
            </a:r>
            <a:r>
              <a:rPr lang="en-US" sz="2700" dirty="0" spc="0" kern="0">
                <a:solidFill>
                  <a:srgbClr val="BFC8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IA,</a:t>
            </a:r>
            <a:r>
              <a:rPr lang="en-US" sz="2700" dirty="0" spc="2" kern="0">
                <a:solidFill>
                  <a:srgbClr val="BFC8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contado</a:t>
            </a:r>
            <a:r>
              <a:rPr lang="en-US" sz="2700" dirty="0" spc="-1" kern="0">
                <a:solidFill>
                  <a:srgbClr val="BFC8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</a:t>
            </a:r>
            <a:r>
              <a:rPr lang="en-US" sz="2700" dirty="0" spc="1" kern="0">
                <a:solidFill>
                  <a:srgbClr val="BFC8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partir</a:t>
            </a:r>
            <a:r>
              <a:rPr lang="en-US" sz="2700" dirty="0" spc="0" kern="0">
                <a:solidFill>
                  <a:srgbClr val="BFC8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del audio</a:t>
            </a:r>
            <a:r>
              <a:rPr lang="en-US" sz="2700" dirty="0" spc="3" kern="0">
                <a:solidFill>
                  <a:srgbClr val="BFC8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</a:t>
            </a:r>
            <a:r>
              <a:rPr lang="en-US" sz="2700" dirty="0" spc="-4" kern="0">
                <a:solidFill>
                  <a:srgbClr val="BFC8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17</a:t>
            </a:r>
            <a:r>
              <a:rPr lang="en-US" sz="2700" dirty="0" spc="1" kern="0">
                <a:solidFill>
                  <a:srgbClr val="BFC8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minutos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1143000" y="8905875"/>
            <a:ext cx="13335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Francisco</a:t>
            </a:r>
            <a:r>
              <a:rPr lang="en-US" sz="2100" b="1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Rodríguez</a:t>
            </a:r>
            <a:pPr algn="l" indent="0" marL="0">
              <a:buNone/>
            </a:pPr>
            <a:r>
              <a:rPr lang="en-US" sz="210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·</a:t>
            </a:r>
            <a:r>
              <a:rPr lang="en-US" sz="210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Docente Principal 1</a:t>
            </a:r>
            <a:r>
              <a:rPr lang="en-US" sz="2100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·</a:t>
            </a:r>
            <a:r>
              <a:rPr lang="en-US" sz="210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Ingeniería</a:t>
            </a:r>
            <a:r>
              <a:rPr lang="en-US" sz="2100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en</a:t>
            </a:r>
            <a:r>
              <a:rPr lang="en-US" sz="210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Sistemas</a:t>
            </a:r>
            <a:r>
              <a:rPr lang="en-US" sz="2100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</a:t>
            </a:r>
            <a:r>
              <a:rPr lang="en-US" sz="210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Información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Pontificia</a:t>
            </a:r>
            <a:r>
              <a:rPr lang="en-US" sz="210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Universidad</a:t>
            </a:r>
            <a:r>
              <a:rPr lang="en-US" sz="210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Católica</a:t>
            </a:r>
            <a:r>
              <a:rPr lang="en-US" sz="210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del</a:t>
            </a:r>
            <a:r>
              <a:rPr lang="en-US" sz="210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Ecuador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oda image rect-1792683848739-852014090" descr="">    </p:cNvPr>
          <p:cNvPicPr>
            <a:picLocks noChangeAspect="1"/>
          </p:cNvPicPr>
          <p:nvPr/>
        </p:nvPicPr>
        <p:blipFill>
          <a:blip r:embed="rId1"/>
          <a:srcRect l="24420" r="24420" t="0" b="0"/>
          <a:stretch/>
        </p:blipFill>
        <p:spPr>
          <a:xfrm>
            <a:off x="11239500" y="0"/>
            <a:ext cx="70485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47750" y="762000"/>
            <a:ext cx="9525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2" kern="0">
                <a:solidFill>
                  <a:srgbClr val="0693E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</a:t>
            </a:r>
            <a:r>
              <a:rPr lang="en-US" sz="1950" b="1" dirty="0" spc="0" kern="0">
                <a:solidFill>
                  <a:srgbClr val="0693E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QUE APRENDERÁS</a:t>
            </a:r>
            <a:pPr algn="l" indent="0" marL="0">
              <a:buNone/>
            </a:pPr>
            <a:r>
              <a:rPr lang="en-US" sz="1950" dirty="0" spc="-3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Reconocer</a:t>
            </a:r>
            <a:r>
              <a:rPr lang="en-US" sz="1950" dirty="0" spc="-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por</a:t>
            </a:r>
            <a:r>
              <a:rPr lang="en-US" sz="1950" dirty="0" spc="-3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qué</a:t>
            </a:r>
            <a:r>
              <a:rPr lang="en-US" sz="1950" dirty="0" spc="-5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un</a:t>
            </a:r>
            <a:r>
              <a:rPr lang="en-US" sz="1950" dirty="0" spc="-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producto</a:t>
            </a:r>
            <a:r>
              <a:rPr lang="en-US" sz="1950" dirty="0" spc="-3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técnicamente</a:t>
            </a:r>
            <a:r>
              <a:rPr lang="en-US" sz="195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impecable</a:t>
            </a:r>
            <a:r>
              <a:rPr lang="en-US" sz="1950" dirty="0" spc="-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puede fracasar.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1047750" y="1714500"/>
            <a:ext cx="95250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00" b="1" dirty="0" spc="2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Seis</a:t>
            </a:r>
            <a:r>
              <a:rPr lang="en-US" sz="5700" b="1" dirty="0" spc="0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meses</a:t>
            </a:r>
            <a:r>
              <a:rPr lang="en-US" sz="5700" b="1" dirty="0" spc="-1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de código</a:t>
            </a:r>
            <a:r>
              <a:rPr lang="en-US" sz="5700" b="1" dirty="0" spc="-5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perfecto</a:t>
            </a:r>
            <a:r>
              <a:rPr lang="en-US" sz="5700" b="1" dirty="0" spc="1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y</a:t>
            </a:r>
            <a:r>
              <a:rPr lang="en-US" sz="5700" b="1" dirty="0" spc="-5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cero</a:t>
            </a:r>
            <a:r>
              <a:rPr lang="en-US" sz="5700" b="1" dirty="0" spc="-3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descargas</a:t>
            </a:r>
            <a:endParaRPr lang="en-US" sz="5700" dirty="0"/>
          </a:p>
        </p:txBody>
      </p:sp>
      <p:sp>
        <p:nvSpPr>
          <p:cNvPr id="5" name="Text 2"/>
          <p:cNvSpPr/>
          <p:nvPr/>
        </p:nvSpPr>
        <p:spPr>
          <a:xfrm>
            <a:off x="1047750" y="3810000"/>
            <a:ext cx="9525000" cy="36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6" dirty="0" spc="3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La</a:t>
            </a:r>
            <a:r>
              <a:rPr lang="en-US" sz="2306" dirty="0" spc="-1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escena</a:t>
            </a:r>
            <a:endParaRPr lang="en-US" sz="2306" dirty="0"/>
          </a:p>
        </p:txBody>
      </p:sp>
      <p:sp>
        <p:nvSpPr>
          <p:cNvPr id="6" name="Text 3"/>
          <p:cNvSpPr/>
          <p:nvPr/>
        </p:nvSpPr>
        <p:spPr>
          <a:xfrm>
            <a:off x="1047750" y="4342255"/>
            <a:ext cx="9525000" cy="686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3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</a:t>
            </a:r>
            <a:r>
              <a:rPr lang="en-US" sz="210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ingeniero</a:t>
            </a:r>
            <a:r>
              <a:rPr lang="en-US" sz="2100" dirty="0" spc="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brillante</a:t>
            </a:r>
            <a:r>
              <a:rPr lang="en-US" sz="2100" dirty="0" spc="-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</a:t>
            </a:r>
            <a:r>
              <a:rPr lang="en-US" sz="210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encierra</a:t>
            </a:r>
            <a:r>
              <a:rPr lang="en-US" sz="2100" dirty="0" spc="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seis</a:t>
            </a:r>
            <a:r>
              <a:rPr lang="en-US" sz="210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meses,</a:t>
            </a:r>
            <a:r>
              <a:rPr lang="en-US" sz="210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trabaja de sol</a:t>
            </a:r>
            <a:r>
              <a:rPr lang="en-US" sz="210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</a:t>
            </a:r>
            <a:r>
              <a:rPr lang="en-US" sz="210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sol</a:t>
            </a:r>
            <a:r>
              <a:rPr lang="en-US" sz="2100" dirty="0" spc="-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</a:t>
            </a:r>
            <a:r>
              <a:rPr lang="en-US" sz="210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lanza una</a:t>
            </a:r>
            <a:r>
              <a:rPr lang="en-US" sz="2100" dirty="0" spc="-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app</a:t>
            </a:r>
            <a:r>
              <a:rPr lang="en-US" sz="210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sin</a:t>
            </a:r>
            <a:r>
              <a:rPr lang="en-US" sz="2100" dirty="0" spc="-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un</a:t>
            </a:r>
            <a:r>
              <a:rPr lang="en-US" sz="210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solo</a:t>
            </a:r>
            <a:r>
              <a:rPr lang="en-US" sz="2100" dirty="0" spc="-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error.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047750" y="5200732"/>
            <a:ext cx="9525000" cy="36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6" dirty="0" spc="0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El</a:t>
            </a:r>
            <a:r>
              <a:rPr lang="en-US" sz="2306" dirty="0" spc="-2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resultado</a:t>
            </a:r>
            <a:endParaRPr lang="en-US" sz="2306" dirty="0"/>
          </a:p>
        </p:txBody>
      </p:sp>
      <p:sp>
        <p:nvSpPr>
          <p:cNvPr id="8" name="Text 5"/>
          <p:cNvSpPr/>
          <p:nvPr/>
        </p:nvSpPr>
        <p:spPr>
          <a:xfrm>
            <a:off x="1047750" y="5732987"/>
            <a:ext cx="9525000" cy="686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4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Silencio</a:t>
            </a:r>
            <a:r>
              <a:rPr lang="en-US" sz="210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absoluto:</a:t>
            </a:r>
            <a:r>
              <a:rPr lang="en-US" sz="210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cero descargas. Resolvía</a:t>
            </a:r>
            <a:r>
              <a:rPr lang="en-US" sz="210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un</a:t>
            </a:r>
            <a:r>
              <a:rPr lang="en-US" sz="2100" dirty="0" spc="-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problema</a:t>
            </a:r>
            <a:r>
              <a:rPr lang="en-US" sz="210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que</a:t>
            </a:r>
            <a:r>
              <a:rPr lang="en-US" sz="210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nadie</a:t>
            </a:r>
            <a:r>
              <a:rPr lang="en-US" sz="2100" dirty="0" spc="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tenía.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047750" y="6591464"/>
            <a:ext cx="9525000" cy="36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6" dirty="0" spc="3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La</a:t>
            </a:r>
            <a:r>
              <a:rPr lang="en-US" sz="2306" dirty="0" spc="-2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lección</a:t>
            </a:r>
            <a:endParaRPr lang="en-US" sz="2306" dirty="0"/>
          </a:p>
        </p:txBody>
      </p:sp>
      <p:sp>
        <p:nvSpPr>
          <p:cNvPr id="10" name="Text 7"/>
          <p:cNvSpPr/>
          <p:nvPr/>
        </p:nvSpPr>
        <p:spPr>
          <a:xfrm>
            <a:off x="1047750" y="7123719"/>
            <a:ext cx="9525000" cy="686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3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</a:t>
            </a:r>
            <a:r>
              <a:rPr lang="en-US" sz="2100" dirty="0" spc="-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producto</a:t>
            </a:r>
            <a:r>
              <a:rPr lang="en-US" sz="2100" dirty="0" spc="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técnicamente</a:t>
            </a:r>
            <a:r>
              <a:rPr lang="en-US" sz="2100" dirty="0" spc="-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perfecto</a:t>
            </a:r>
            <a:r>
              <a:rPr lang="en-US" sz="210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es inútil si</a:t>
            </a:r>
            <a:r>
              <a:rPr lang="en-US" sz="2100" dirty="0" spc="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le</a:t>
            </a:r>
            <a:r>
              <a:rPr lang="en-US" sz="210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falta</a:t>
            </a:r>
            <a:r>
              <a:rPr lang="en-US" sz="210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empatía</a:t>
            </a:r>
            <a:r>
              <a:rPr lang="en-US" sz="2100" dirty="0" spc="-3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por</a:t>
            </a:r>
            <a:r>
              <a:rPr lang="en-US" sz="210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las</a:t>
            </a:r>
            <a:r>
              <a:rPr lang="en-US" sz="210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personas que debería ayudar.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1047750" y="8191500"/>
            <a:ext cx="9525000" cy="1524000"/>
          </a:xfrm>
          <a:prstGeom prst="roundRect">
            <a:avLst>
              <a:gd name="adj" fmla="val 10000"/>
            </a:avLst>
          </a:prstGeom>
          <a:solidFill>
            <a:srgbClr val="EAF5FE"/>
          </a:solidFill>
          <a:ln/>
        </p:spPr>
      </p:sp>
      <p:sp>
        <p:nvSpPr>
          <p:cNvPr id="12" name="Text 9"/>
          <p:cNvSpPr/>
          <p:nvPr/>
        </p:nvSpPr>
        <p:spPr>
          <a:xfrm>
            <a:off x="1352550" y="8420100"/>
            <a:ext cx="8915400" cy="734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6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«Por</a:t>
            </a:r>
            <a:r>
              <a:rPr lang="en-US" sz="2400" dirty="0" spc="-1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qué</a:t>
            </a:r>
            <a:r>
              <a:rPr lang="en-US" sz="2400" dirty="0" spc="0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un</a:t>
            </a:r>
            <a:r>
              <a:rPr lang="en-US" sz="2400" dirty="0" spc="-3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producto técnicamente</a:t>
            </a:r>
            <a:r>
              <a:rPr lang="en-US" sz="2400" dirty="0" spc="-2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perfecto</a:t>
            </a:r>
            <a:r>
              <a:rPr lang="en-US" sz="2400" dirty="0" spc="0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es</a:t>
            </a:r>
            <a:r>
              <a:rPr lang="en-US" sz="2400" dirty="0" spc="-2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completamente</a:t>
            </a:r>
            <a:r>
              <a:rPr lang="en-US" sz="2400" dirty="0" spc="-1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inútil</a:t>
            </a:r>
            <a:r>
              <a:rPr lang="en-US" sz="2400" dirty="0" spc="-2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si</a:t>
            </a:r>
            <a:r>
              <a:rPr lang="en-US" sz="2400" dirty="0" spc="-5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carece</a:t>
            </a:r>
            <a:r>
              <a:rPr lang="en-US" sz="2400" dirty="0" spc="-2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de</a:t>
            </a:r>
            <a:r>
              <a:rPr lang="en-US" sz="2400" dirty="0" spc="-3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empatía</a:t>
            </a:r>
            <a:r>
              <a:rPr lang="en-US" sz="2400" dirty="0" spc="-1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humana»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762000"/>
            <a:ext cx="16002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2" kern="0">
                <a:solidFill>
                  <a:srgbClr val="0693E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 QUE</a:t>
            </a:r>
            <a:r>
              <a:rPr lang="en-US" sz="2100" b="1" dirty="0" spc="-1" kern="0">
                <a:solidFill>
                  <a:srgbClr val="0693E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APRENDERÁS</a:t>
            </a:r>
            <a:pPr algn="l" indent="0" marL="0">
              <a:buNone/>
            </a:pPr>
            <a:r>
              <a:rPr lang="en-US" sz="210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Distinguir el placer</a:t>
            </a:r>
            <a:r>
              <a:rPr lang="en-US" sz="2100" dirty="0" spc="-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 programar</a:t>
            </a:r>
            <a:r>
              <a:rPr lang="en-US" sz="2100" dirty="0" spc="-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</a:t>
            </a:r>
            <a:r>
              <a:rPr lang="en-US" sz="210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 creación</a:t>
            </a:r>
            <a:r>
              <a:rPr lang="en-US" sz="2100" dirty="0" spc="-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</a:t>
            </a:r>
            <a:r>
              <a:rPr lang="en-US" sz="210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valor</a:t>
            </a:r>
            <a:r>
              <a:rPr lang="en-US" sz="2100" dirty="0" spc="-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para</a:t>
            </a:r>
            <a:r>
              <a:rPr lang="en-US" sz="210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alguien.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143000" y="1428750"/>
            <a:ext cx="1600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83" b="1" dirty="0" spc="-7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Programar</a:t>
            </a:r>
            <a:r>
              <a:rPr lang="en-US" sz="5183" b="1" dirty="0" spc="-1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sin</a:t>
            </a:r>
            <a:r>
              <a:rPr lang="en-US" sz="5183" b="1" dirty="0" spc="-19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investigar</a:t>
            </a:r>
            <a:r>
              <a:rPr lang="en-US" sz="5183" b="1" dirty="0" spc="3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es</a:t>
            </a:r>
            <a:r>
              <a:rPr lang="en-US" sz="5183" b="1" dirty="0" spc="-3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recetar</a:t>
            </a:r>
            <a:r>
              <a:rPr lang="en-US" sz="5183" b="1" dirty="0" spc="0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sin</a:t>
            </a:r>
            <a:r>
              <a:rPr lang="en-US" sz="5183" b="1" dirty="0" spc="-1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escuchar</a:t>
            </a:r>
            <a:endParaRPr lang="en-US" sz="5183" dirty="0"/>
          </a:p>
        </p:txBody>
      </p:sp>
      <p:sp>
        <p:nvSpPr>
          <p:cNvPr id="4" name="Shape 2"/>
          <p:cNvSpPr/>
          <p:nvPr/>
        </p:nvSpPr>
        <p:spPr>
          <a:xfrm>
            <a:off x="1143000" y="3048000"/>
            <a:ext cx="5130800" cy="4191000"/>
          </a:xfrm>
          <a:prstGeom prst="roundRect">
            <a:avLst>
              <a:gd name="adj" fmla="val 4545"/>
            </a:avLst>
          </a:prstGeom>
          <a:solidFill>
            <a:srgbClr val="EAF5FE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3429000"/>
            <a:ext cx="4368800" cy="65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89" b="1" dirty="0" spc="-1" kern="0">
                <a:solidFill>
                  <a:srgbClr val="5E90C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01</a:t>
            </a:r>
            <a:endParaRPr lang="en-US" sz="4289" dirty="0"/>
          </a:p>
        </p:txBody>
      </p:sp>
      <p:sp>
        <p:nvSpPr>
          <p:cNvPr id="6" name="Text 4"/>
          <p:cNvSpPr/>
          <p:nvPr/>
        </p:nvSpPr>
        <p:spPr>
          <a:xfrm>
            <a:off x="1524000" y="4272197"/>
            <a:ext cx="4368800" cy="899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4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El</a:t>
            </a:r>
            <a:r>
              <a:rPr lang="en-US" sz="2850" dirty="0" spc="0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síndrome</a:t>
            </a:r>
            <a:r>
              <a:rPr lang="en-US" sz="2850" dirty="0" spc="1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del</a:t>
            </a:r>
            <a:r>
              <a:rPr lang="en-US" sz="2850" dirty="0" spc="-3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programador</a:t>
            </a:r>
            <a:r>
              <a:rPr lang="en-US" sz="2850" dirty="0" spc="2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solitario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1524000" y="5358984"/>
            <a:ext cx="4368800" cy="1499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16" dirty="0" spc="-5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</a:t>
            </a:r>
            <a:r>
              <a:rPr lang="en-US" sz="2216" dirty="0" spc="-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ingeniería</a:t>
            </a:r>
            <a:r>
              <a:rPr lang="en-US" sz="2216" dirty="0" spc="-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tendemos a aislarnos,</a:t>
            </a:r>
            <a:r>
              <a:rPr lang="en-US" sz="2216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porque</a:t>
            </a:r>
            <a:r>
              <a:rPr lang="en-US" sz="2216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construir</a:t>
            </a:r>
            <a:r>
              <a:rPr lang="en-US" sz="2216" dirty="0" spc="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es</a:t>
            </a:r>
            <a:r>
              <a:rPr lang="en-US" sz="2216" dirty="0" spc="-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intelectualmente estimulante.</a:t>
            </a:r>
            <a:endParaRPr lang="en-US" sz="2216" dirty="0"/>
          </a:p>
        </p:txBody>
      </p:sp>
      <p:sp>
        <p:nvSpPr>
          <p:cNvPr id="8" name="Shape 6"/>
          <p:cNvSpPr/>
          <p:nvPr/>
        </p:nvSpPr>
        <p:spPr>
          <a:xfrm>
            <a:off x="6578600" y="3048000"/>
            <a:ext cx="5130800" cy="4191000"/>
          </a:xfrm>
          <a:prstGeom prst="roundRect">
            <a:avLst>
              <a:gd name="adj" fmla="val 4545"/>
            </a:avLst>
          </a:prstGeom>
          <a:solidFill>
            <a:srgbClr val="EAF5FE"/>
          </a:solidFill>
          <a:ln/>
        </p:spPr>
      </p:sp>
      <p:sp>
        <p:nvSpPr>
          <p:cNvPr id="9" name="Text 7"/>
          <p:cNvSpPr/>
          <p:nvPr/>
        </p:nvSpPr>
        <p:spPr>
          <a:xfrm>
            <a:off x="6959600" y="3429000"/>
            <a:ext cx="4368800" cy="65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89" b="1" dirty="0" spc="2" kern="0">
                <a:solidFill>
                  <a:srgbClr val="5E90C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02</a:t>
            </a:r>
            <a:endParaRPr lang="en-US" sz="4289" dirty="0"/>
          </a:p>
        </p:txBody>
      </p:sp>
      <p:sp>
        <p:nvSpPr>
          <p:cNvPr id="10" name="Text 8"/>
          <p:cNvSpPr/>
          <p:nvPr/>
        </p:nvSpPr>
        <p:spPr>
          <a:xfrm>
            <a:off x="6959600" y="4272197"/>
            <a:ext cx="4368800" cy="899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2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La</a:t>
            </a:r>
            <a:r>
              <a:rPr lang="en-US" sz="2850" dirty="0" spc="-1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confusión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6959600" y="5358984"/>
            <a:ext cx="4368800" cy="1499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16" dirty="0" spc="-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 confunde</a:t>
            </a:r>
            <a:r>
              <a:rPr lang="en-US" sz="2216" dirty="0" spc="-3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el</a:t>
            </a:r>
            <a:r>
              <a:rPr lang="en-US" sz="2216" dirty="0" spc="-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placer</a:t>
            </a:r>
            <a:r>
              <a:rPr lang="en-US" sz="2216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 programar</a:t>
            </a:r>
            <a:r>
              <a:rPr lang="en-US" sz="2216" dirty="0" spc="-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</a:t>
            </a:r>
            <a:r>
              <a:rPr lang="en-US" sz="2216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crear</a:t>
            </a:r>
            <a:r>
              <a:rPr lang="en-US" sz="2216" dirty="0" spc="-3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valor</a:t>
            </a:r>
            <a:r>
              <a:rPr lang="en-US" sz="2216" dirty="0" spc="-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comercial.</a:t>
            </a:r>
            <a:endParaRPr lang="en-US" sz="2216" dirty="0"/>
          </a:p>
        </p:txBody>
      </p:sp>
      <p:sp>
        <p:nvSpPr>
          <p:cNvPr id="12" name="Shape 10"/>
          <p:cNvSpPr/>
          <p:nvPr/>
        </p:nvSpPr>
        <p:spPr>
          <a:xfrm>
            <a:off x="12014200" y="3048000"/>
            <a:ext cx="5130800" cy="4191000"/>
          </a:xfrm>
          <a:prstGeom prst="roundRect">
            <a:avLst>
              <a:gd name="adj" fmla="val 4545"/>
            </a:avLst>
          </a:prstGeom>
          <a:solidFill>
            <a:srgbClr val="EAF5FE"/>
          </a:solidFill>
          <a:ln/>
        </p:spPr>
      </p:sp>
      <p:sp>
        <p:nvSpPr>
          <p:cNvPr id="13" name="Text 11"/>
          <p:cNvSpPr/>
          <p:nvPr/>
        </p:nvSpPr>
        <p:spPr>
          <a:xfrm>
            <a:off x="12395200" y="3429000"/>
            <a:ext cx="4368800" cy="591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67" b="1" dirty="0" spc="1" kern="0">
                <a:solidFill>
                  <a:srgbClr val="5E90C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03</a:t>
            </a:r>
            <a:endParaRPr lang="en-US" sz="3867" dirty="0"/>
          </a:p>
        </p:txBody>
      </p:sp>
      <p:sp>
        <p:nvSpPr>
          <p:cNvPr id="14" name="Text 12"/>
          <p:cNvSpPr/>
          <p:nvPr/>
        </p:nvSpPr>
        <p:spPr>
          <a:xfrm>
            <a:off x="12395200" y="4189123"/>
            <a:ext cx="4368800" cy="810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2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La analogía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12395200" y="5168837"/>
            <a:ext cx="4368800" cy="1689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16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</a:t>
            </a:r>
            <a:r>
              <a:rPr lang="en-US" sz="2216" dirty="0" spc="-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médico que receta</a:t>
            </a:r>
            <a:r>
              <a:rPr lang="en-US" sz="2216" dirty="0" spc="-3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un</a:t>
            </a:r>
            <a:r>
              <a:rPr lang="en-US" sz="2216" dirty="0" spc="-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tratamiento</a:t>
            </a:r>
            <a:r>
              <a:rPr lang="en-US" sz="2216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carísimo</a:t>
            </a:r>
            <a:r>
              <a:rPr lang="en-US" sz="2216" dirty="0" spc="-5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</a:t>
            </a:r>
            <a:r>
              <a:rPr lang="en-US" sz="2216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los</a:t>
            </a:r>
            <a:r>
              <a:rPr lang="en-US" sz="2216" dirty="0" spc="3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30</a:t>
            </a:r>
            <a:r>
              <a:rPr lang="en-US" sz="2216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segundos,</a:t>
            </a:r>
            <a:r>
              <a:rPr lang="en-US" sz="2216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sin</a:t>
            </a:r>
            <a:r>
              <a:rPr lang="en-US" sz="2216" dirty="0" spc="-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escuchar</a:t>
            </a:r>
            <a:r>
              <a:rPr lang="en-US" sz="2216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los síntomas,</a:t>
            </a:r>
            <a:r>
              <a:rPr lang="en-US" sz="2216" dirty="0" spc="-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comete</a:t>
            </a:r>
            <a:r>
              <a:rPr lang="en-US" sz="2216" dirty="0" spc="-3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negligencia.</a:t>
            </a:r>
            <a:r>
              <a:rPr lang="en-US" sz="2216" dirty="0" spc="-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En</a:t>
            </a:r>
            <a:r>
              <a:rPr lang="en-US" sz="2216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software pasa</a:t>
            </a:r>
            <a:r>
              <a:rPr lang="en-US" sz="2216" dirty="0" spc="-3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lo</a:t>
            </a:r>
            <a:r>
              <a:rPr lang="en-US" sz="2216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mismo.</a:t>
            </a:r>
            <a:endParaRPr lang="en-US" sz="2216" dirty="0"/>
          </a:p>
        </p:txBody>
      </p:sp>
      <p:sp>
        <p:nvSpPr>
          <p:cNvPr id="16" name="Shape 14"/>
          <p:cNvSpPr/>
          <p:nvPr/>
        </p:nvSpPr>
        <p:spPr>
          <a:xfrm>
            <a:off x="1143000" y="7715250"/>
            <a:ext cx="16002000" cy="1809750"/>
          </a:xfrm>
          <a:prstGeom prst="roundRect">
            <a:avLst>
              <a:gd name="adj" fmla="val 10526"/>
            </a:avLst>
          </a:prstGeom>
          <a:solidFill>
            <a:srgbClr val="061219"/>
          </a:solidFill>
          <a:ln/>
        </p:spPr>
      </p:sp>
      <p:sp>
        <p:nvSpPr>
          <p:cNvPr id="17" name="Text 15"/>
          <p:cNvSpPr/>
          <p:nvPr/>
        </p:nvSpPr>
        <p:spPr>
          <a:xfrm>
            <a:off x="1600200" y="8020050"/>
            <a:ext cx="15087600" cy="84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72" dirty="0" spc="0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«El</a:t>
            </a:r>
            <a:r>
              <a:rPr lang="en-US" sz="2772" dirty="0" spc="-2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problema</a:t>
            </a:r>
            <a:r>
              <a:rPr lang="en-US" sz="2772" dirty="0" spc="-5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surge</a:t>
            </a:r>
            <a:r>
              <a:rPr lang="en-US" sz="2772" dirty="0" spc="-1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cuando se</a:t>
            </a:r>
            <a:r>
              <a:rPr lang="en-US" sz="2772" dirty="0" spc="-2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confunde</a:t>
            </a:r>
            <a:r>
              <a:rPr lang="en-US" sz="2772" dirty="0" spc="-3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el</a:t>
            </a:r>
            <a:r>
              <a:rPr lang="en-US" sz="2772" dirty="0" spc="-1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placer</a:t>
            </a:r>
            <a:r>
              <a:rPr lang="en-US" sz="2772" dirty="0" spc="-2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de</a:t>
            </a:r>
            <a:r>
              <a:rPr lang="en-US" sz="2772" dirty="0" spc="-3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programar</a:t>
            </a:r>
            <a:r>
              <a:rPr lang="en-US" sz="2772" dirty="0" spc="-1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con</a:t>
            </a:r>
            <a:r>
              <a:rPr lang="en-US" sz="2772" dirty="0" spc="-3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la creación</a:t>
            </a:r>
            <a:r>
              <a:rPr lang="en-US" sz="2772" dirty="0" spc="-2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de</a:t>
            </a:r>
            <a:r>
              <a:rPr lang="en-US" sz="2772" dirty="0" spc="-9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valor</a:t>
            </a:r>
            <a:r>
              <a:rPr lang="en-US" sz="2772" dirty="0" spc="-3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comercial»</a:t>
            </a:r>
            <a:endParaRPr lang="en-US" sz="277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5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762000"/>
            <a:ext cx="16002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2" kern="0">
                <a:solidFill>
                  <a:srgbClr val="0693E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 QUE</a:t>
            </a:r>
            <a:r>
              <a:rPr lang="en-US" sz="2100" b="1" dirty="0" spc="-1" kern="0">
                <a:solidFill>
                  <a:srgbClr val="0693E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APRENDERÁS</a:t>
            </a:r>
            <a:pPr algn="l" indent="0" marL="0">
              <a:buNone/>
            </a:pPr>
            <a:r>
              <a:rPr lang="en-US" sz="210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Entender</a:t>
            </a:r>
            <a:r>
              <a:rPr lang="en-US" sz="2100" dirty="0" spc="-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por</a:t>
            </a:r>
            <a:r>
              <a:rPr lang="en-US" sz="2100" dirty="0" spc="-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qué</a:t>
            </a:r>
            <a:r>
              <a:rPr lang="en-US" sz="210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hoy</a:t>
            </a:r>
            <a:r>
              <a:rPr lang="en-US" sz="210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el</a:t>
            </a:r>
            <a:r>
              <a:rPr lang="en-US" sz="2100" dirty="0" spc="-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mayor</a:t>
            </a:r>
            <a:r>
              <a:rPr lang="en-US" sz="210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peligro</a:t>
            </a:r>
            <a:r>
              <a:rPr lang="en-US" sz="2100" dirty="0" spc="-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es</a:t>
            </a:r>
            <a:r>
              <a:rPr lang="en-US" sz="210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construir lo</a:t>
            </a:r>
            <a:r>
              <a:rPr lang="en-US" sz="210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equivocado.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143000" y="1428750"/>
            <a:ext cx="1600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 spc="-1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Con</a:t>
            </a:r>
            <a:r>
              <a:rPr lang="en-US" sz="6000" b="1" dirty="0" spc="0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IA,</a:t>
            </a:r>
            <a:r>
              <a:rPr lang="en-US" sz="6000" b="1" dirty="0" spc="3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el riesgo</a:t>
            </a:r>
            <a:r>
              <a:rPr lang="en-US" sz="6000" b="1" dirty="0" spc="2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dejó</a:t>
            </a:r>
            <a:r>
              <a:rPr lang="en-US" sz="6000" b="1" dirty="0" spc="1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de</a:t>
            </a:r>
            <a:r>
              <a:rPr lang="en-US" sz="6000" b="1" dirty="0" spc="2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ser técnico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1143000" y="2952750"/>
            <a:ext cx="5130800" cy="43815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3333750"/>
            <a:ext cx="43688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125" b="1" dirty="0" spc="-1" kern="0">
                <a:solidFill>
                  <a:srgbClr val="5E90C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Antes</a:t>
            </a:r>
            <a:endParaRPr lang="en-US" sz="4125" dirty="0"/>
          </a:p>
        </p:txBody>
      </p:sp>
      <p:sp>
        <p:nvSpPr>
          <p:cNvPr id="6" name="Text 4"/>
          <p:cNvSpPr/>
          <p:nvPr/>
        </p:nvSpPr>
        <p:spPr>
          <a:xfrm>
            <a:off x="1524000" y="4133850"/>
            <a:ext cx="436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3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Hace</a:t>
            </a:r>
            <a:r>
              <a:rPr lang="en-US" sz="2850" dirty="0" spc="2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una década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1524000" y="4762500"/>
            <a:ext cx="43688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Levantar</a:t>
            </a:r>
            <a:r>
              <a:rPr lang="en-US" sz="2250" dirty="0" spc="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una</a:t>
            </a:r>
            <a:r>
              <a:rPr lang="en-US" sz="225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plataforma</a:t>
            </a:r>
            <a:r>
              <a:rPr lang="en-US" sz="225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exigía un</a:t>
            </a:r>
            <a:r>
              <a:rPr lang="en-US" sz="2250" dirty="0" spc="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equipo inmenso.</a:t>
            </a:r>
            <a:r>
              <a:rPr lang="en-US" sz="225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El</a:t>
            </a:r>
            <a:r>
              <a:rPr lang="en-US" sz="2250" dirty="0" spc="-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gran</a:t>
            </a:r>
            <a:r>
              <a:rPr lang="en-US" sz="225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riesgo</a:t>
            </a:r>
            <a:r>
              <a:rPr lang="en-US" sz="2250" dirty="0" spc="-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era saber</a:t>
            </a:r>
            <a:r>
              <a:rPr lang="en-US" sz="225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si</a:t>
            </a:r>
            <a:r>
              <a:rPr lang="en-US" sz="2250" dirty="0" spc="-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</a:t>
            </a:r>
            <a:r>
              <a:rPr lang="en-US" sz="2250" dirty="0" spc="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podía</a:t>
            </a:r>
            <a:r>
              <a:rPr lang="en-US" sz="225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construir.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6578600" y="2952750"/>
            <a:ext cx="5130800" cy="43815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959600" y="3333750"/>
            <a:ext cx="43688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125" b="1" dirty="0" spc="-10" kern="0">
                <a:solidFill>
                  <a:srgbClr val="5E90C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Ahora</a:t>
            </a:r>
            <a:endParaRPr lang="en-US" sz="4125" dirty="0"/>
          </a:p>
        </p:txBody>
      </p:sp>
      <p:sp>
        <p:nvSpPr>
          <p:cNvPr id="10" name="Text 8"/>
          <p:cNvSpPr/>
          <p:nvPr/>
        </p:nvSpPr>
        <p:spPr>
          <a:xfrm>
            <a:off x="6959600" y="4133850"/>
            <a:ext cx="436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19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Hoy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6959600" y="4762500"/>
            <a:ext cx="43688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3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Una</a:t>
            </a:r>
            <a:r>
              <a:rPr lang="en-US" sz="225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persona</a:t>
            </a:r>
            <a:r>
              <a:rPr lang="en-US" sz="2250" dirty="0" spc="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</a:t>
            </a:r>
            <a:r>
              <a:rPr lang="en-US" sz="2250" dirty="0" spc="-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IA</a:t>
            </a:r>
            <a:r>
              <a:rPr lang="en-US" sz="225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monta un</a:t>
            </a:r>
            <a:r>
              <a:rPr lang="en-US" sz="2250" dirty="0" spc="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prototipo</a:t>
            </a:r>
            <a:r>
              <a:rPr lang="en-US" sz="2250" dirty="0" spc="-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en</a:t>
            </a:r>
            <a:r>
              <a:rPr lang="en-US" sz="2250" dirty="0" spc="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una</a:t>
            </a:r>
            <a:r>
              <a:rPr lang="en-US" sz="225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tarde.</a:t>
            </a:r>
            <a:r>
              <a:rPr lang="en-US" sz="2250" dirty="0" spc="-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</a:t>
            </a:r>
            <a:r>
              <a:rPr lang="en-US" sz="2250" dirty="0" spc="-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barrera</a:t>
            </a:r>
            <a:r>
              <a:rPr lang="en-US" sz="225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 entrada</a:t>
            </a:r>
            <a:r>
              <a:rPr lang="en-US" sz="225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desapareció.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12014200" y="2952750"/>
            <a:ext cx="5130800" cy="4381500"/>
          </a:xfrm>
          <a:prstGeom prst="roundRect">
            <a:avLst>
              <a:gd name="adj" fmla="val 4348"/>
            </a:avLst>
          </a:prstGeom>
          <a:solidFill>
            <a:srgbClr val="0693E3"/>
          </a:solidFill>
          <a:ln/>
        </p:spPr>
      </p:sp>
      <p:sp>
        <p:nvSpPr>
          <p:cNvPr id="13" name="Text 11"/>
          <p:cNvSpPr/>
          <p:nvPr/>
        </p:nvSpPr>
        <p:spPr>
          <a:xfrm>
            <a:off x="12395200" y="3333750"/>
            <a:ext cx="43688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125" b="1" dirty="0" spc="2" kern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Riesgo</a:t>
            </a:r>
            <a:endParaRPr lang="en-US" sz="4125" dirty="0"/>
          </a:p>
        </p:txBody>
      </p:sp>
      <p:sp>
        <p:nvSpPr>
          <p:cNvPr id="14" name="Text 12"/>
          <p:cNvSpPr/>
          <p:nvPr/>
        </p:nvSpPr>
        <p:spPr>
          <a:xfrm>
            <a:off x="12395200" y="4133850"/>
            <a:ext cx="436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2" kern="0">
                <a:solidFill>
                  <a:srgbClr val="FFFFFF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La</a:t>
            </a:r>
            <a:r>
              <a:rPr lang="en-US" sz="2850" dirty="0" spc="3" kern="0">
                <a:solidFill>
                  <a:srgbClr val="FFFFFF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consecuencia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12395200" y="4762500"/>
            <a:ext cx="43688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</a:t>
            </a:r>
            <a:r>
              <a:rPr lang="en-US" sz="225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riesgo</a:t>
            </a:r>
            <a:r>
              <a:rPr lang="en-US" sz="225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pasó</a:t>
            </a:r>
            <a:r>
              <a:rPr lang="en-US" sz="225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</a:t>
            </a:r>
            <a:r>
              <a:rPr lang="en-US" sz="2250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ser</a:t>
            </a:r>
            <a:r>
              <a:rPr lang="en-US" sz="225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</a:t>
            </a:r>
            <a:r>
              <a:rPr lang="en-US" sz="225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mercado: si</a:t>
            </a:r>
            <a:r>
              <a:rPr lang="en-US" sz="225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construir</a:t>
            </a:r>
            <a:r>
              <a:rPr lang="en-US" sz="2250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es</a:t>
            </a:r>
            <a:r>
              <a:rPr lang="en-US" sz="225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tan</a:t>
            </a:r>
            <a:r>
              <a:rPr lang="en-US" sz="225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fácil,</a:t>
            </a:r>
            <a:r>
              <a:rPr lang="en-US" sz="225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lo difícil</a:t>
            </a:r>
            <a:r>
              <a:rPr lang="en-US" sz="225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es</a:t>
            </a:r>
            <a:r>
              <a:rPr lang="en-US" sz="2250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saber</a:t>
            </a:r>
            <a:r>
              <a:rPr lang="en-US" sz="225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qué</a:t>
            </a:r>
            <a:r>
              <a:rPr lang="en-US" sz="225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construir.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143000" y="7810500"/>
            <a:ext cx="16002000" cy="1714500"/>
          </a:xfrm>
          <a:prstGeom prst="roundRect">
            <a:avLst>
              <a:gd name="adj" fmla="val 11111"/>
            </a:avLst>
          </a:prstGeom>
          <a:solidFill>
            <a:srgbClr val="061219"/>
          </a:solidFill>
          <a:ln/>
        </p:spPr>
      </p:sp>
      <p:sp>
        <p:nvSpPr>
          <p:cNvPr id="17" name="Text 15"/>
          <p:cNvSpPr/>
          <p:nvPr/>
        </p:nvSpPr>
        <p:spPr>
          <a:xfrm>
            <a:off x="1600200" y="8077200"/>
            <a:ext cx="15087600" cy="833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«Como</a:t>
            </a:r>
            <a:r>
              <a:rPr lang="en-US" sz="2700" dirty="0" spc="0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construir</a:t>
            </a:r>
            <a:r>
              <a:rPr lang="en-US" sz="2700" dirty="0" spc="-1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es</a:t>
            </a:r>
            <a:r>
              <a:rPr lang="en-US" sz="2700" dirty="0" spc="1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tan</a:t>
            </a:r>
            <a:r>
              <a:rPr lang="en-US" sz="2700" dirty="0" spc="-2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absurdamente</a:t>
            </a:r>
            <a:r>
              <a:rPr lang="en-US" sz="2700" dirty="0" spc="0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fácil,</a:t>
            </a:r>
            <a:r>
              <a:rPr lang="en-US" sz="2700" dirty="0" spc="2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el</a:t>
            </a:r>
            <a:r>
              <a:rPr lang="en-US" sz="2700" dirty="0" spc="-8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verdadero</a:t>
            </a:r>
            <a:r>
              <a:rPr lang="en-US" sz="2700" dirty="0" spc="-3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peligro</a:t>
            </a:r>
            <a:r>
              <a:rPr lang="en-US" sz="2700" dirty="0" spc="1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es</a:t>
            </a:r>
            <a:r>
              <a:rPr lang="en-US" sz="2700" dirty="0" spc="0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construir</a:t>
            </a:r>
            <a:r>
              <a:rPr lang="en-US" sz="2700" dirty="0" spc="2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lo</a:t>
            </a:r>
            <a:r>
              <a:rPr lang="en-US" sz="2700" dirty="0" spc="-4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equivocado»</a:t>
            </a:r>
            <a:endParaRPr lang="en-US" sz="2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66750"/>
            <a:ext cx="16002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2" kern="0">
                <a:solidFill>
                  <a:srgbClr val="0693E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 QUE</a:t>
            </a:r>
            <a:r>
              <a:rPr lang="en-US" sz="2100" b="1" dirty="0" spc="-1" kern="0">
                <a:solidFill>
                  <a:srgbClr val="0693E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APRENDERÁS</a:t>
            </a:r>
            <a:pPr algn="l" indent="0" marL="0">
              <a:buNone/>
            </a:pPr>
            <a:r>
              <a:rPr lang="en-US" sz="210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Conocer</a:t>
            </a:r>
            <a:r>
              <a:rPr lang="en-US" sz="210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el</a:t>
            </a:r>
            <a:r>
              <a:rPr lang="en-US" sz="210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modelo del doble diamante</a:t>
            </a:r>
            <a:r>
              <a:rPr lang="en-US" sz="210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 las</a:t>
            </a:r>
            <a:r>
              <a:rPr lang="en-US" sz="2100" dirty="0" spc="3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cinco</a:t>
            </a:r>
            <a:r>
              <a:rPr lang="en-US" sz="2100" dirty="0" spc="-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fases</a:t>
            </a:r>
            <a:r>
              <a:rPr lang="en-US" sz="210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del Design Thinking.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143000" y="1238250"/>
            <a:ext cx="1600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25" b="1" dirty="0" spc="1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Abrir</a:t>
            </a:r>
            <a:r>
              <a:rPr lang="en-US" sz="5925" b="1" dirty="0" spc="0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y</a:t>
            </a:r>
            <a:r>
              <a:rPr lang="en-US" sz="5925" b="1" dirty="0" spc="-9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cerrar</a:t>
            </a:r>
            <a:r>
              <a:rPr lang="en-US" sz="5925" b="1" dirty="0" spc="0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dos</a:t>
            </a:r>
            <a:r>
              <a:rPr lang="en-US" sz="5925" b="1" dirty="0" spc="-22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veces</a:t>
            </a:r>
            <a:r>
              <a:rPr lang="en-US" sz="5925" b="1" dirty="0" spc="-6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antes</a:t>
            </a:r>
            <a:r>
              <a:rPr lang="en-US" sz="5925" b="1" dirty="0" spc="-2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de construir</a:t>
            </a:r>
            <a:endParaRPr lang="en-US" sz="5925" dirty="0"/>
          </a:p>
        </p:txBody>
      </p:sp>
      <p:sp>
        <p:nvSpPr>
          <p:cNvPr id="4" name="Shape 2"/>
          <p:cNvSpPr/>
          <p:nvPr/>
        </p:nvSpPr>
        <p:spPr>
          <a:xfrm>
            <a:off x="1524000" y="3048000"/>
            <a:ext cx="7429500" cy="3429000"/>
          </a:xfrm>
          <a:custGeom>
            <a:avLst/>
            <a:gdLst/>
            <a:ahLst/>
            <a:cxnLst/>
            <a:rect l="l" t="t" r="r" b="b"/>
            <a:pathLst>
              <a:path w="7429500" h="3429000">
                <a:moveTo>
                  <a:pt x="3714750" y="0"/>
                </a:moveTo>
                <a:lnTo>
                  <a:pt x="7429500" y="1714500"/>
                </a:lnTo>
                <a:lnTo>
                  <a:pt x="3714750" y="3429000"/>
                </a:lnTo>
                <a:lnTo>
                  <a:pt x="0" y="1714500"/>
                </a:lnTo>
                <a:lnTo>
                  <a:pt x="3714750" y="0"/>
                </a:lnTo>
                <a:close/>
              </a:path>
            </a:pathLst>
          </a:custGeom>
          <a:solidFill>
            <a:srgbClr val="EAF5FE"/>
          </a:solidFill>
          <a:ln w="28575">
            <a:solidFill>
              <a:srgbClr val="5E90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34500" y="3048000"/>
            <a:ext cx="7429500" cy="3429000"/>
          </a:xfrm>
          <a:custGeom>
            <a:avLst/>
            <a:gdLst/>
            <a:ahLst/>
            <a:cxnLst/>
            <a:rect l="l" t="t" r="r" b="b"/>
            <a:pathLst>
              <a:path w="7429500" h="3429000">
                <a:moveTo>
                  <a:pt x="3714750" y="0"/>
                </a:moveTo>
                <a:lnTo>
                  <a:pt x="7429500" y="1714500"/>
                </a:lnTo>
                <a:lnTo>
                  <a:pt x="3714750" y="3429000"/>
                </a:lnTo>
                <a:lnTo>
                  <a:pt x="0" y="1714500"/>
                </a:lnTo>
                <a:lnTo>
                  <a:pt x="3714750" y="0"/>
                </a:lnTo>
                <a:close/>
              </a:path>
            </a:pathLst>
          </a:custGeom>
          <a:solidFill>
            <a:srgbClr val="0693E3"/>
          </a:solidFill>
          <a:ln/>
        </p:spPr>
      </p:sp>
      <p:sp>
        <p:nvSpPr>
          <p:cNvPr id="6" name="Text 4"/>
          <p:cNvSpPr/>
          <p:nvPr/>
        </p:nvSpPr>
        <p:spPr>
          <a:xfrm>
            <a:off x="3333750" y="4000500"/>
            <a:ext cx="381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20" b="1" dirty="0" spc="-2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1. El problema</a:t>
            </a:r>
            <a:r>
              <a:rPr lang="en-US" sz="2620" b="1" dirty="0" spc="-3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correcto</a:t>
            </a:r>
            <a:endParaRPr lang="en-US" sz="2620" dirty="0"/>
          </a:p>
        </p:txBody>
      </p:sp>
      <p:sp>
        <p:nvSpPr>
          <p:cNvPr id="7" name="Text 5"/>
          <p:cNvSpPr/>
          <p:nvPr/>
        </p:nvSpPr>
        <p:spPr>
          <a:xfrm>
            <a:off x="1905000" y="4572000"/>
            <a:ext cx="3333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3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Abrir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investigar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238750" y="4572000"/>
            <a:ext cx="3333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3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Cerrar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definir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1144250" y="4000500"/>
            <a:ext cx="381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42" b="1" dirty="0" spc="3" kern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2.</a:t>
            </a:r>
            <a:r>
              <a:rPr lang="en-US" sz="2642" b="1" dirty="0" spc="-1" kern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La</a:t>
            </a:r>
            <a:r>
              <a:rPr lang="en-US" sz="2642" b="1" dirty="0" spc="2" kern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solución</a:t>
            </a:r>
            <a:r>
              <a:rPr lang="en-US" sz="2642" b="1" dirty="0" spc="-4" kern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correcta</a:t>
            </a:r>
            <a:endParaRPr lang="en-US" sz="2642" dirty="0"/>
          </a:p>
        </p:txBody>
      </p:sp>
      <p:sp>
        <p:nvSpPr>
          <p:cNvPr id="10" name="Text 8"/>
          <p:cNvSpPr/>
          <p:nvPr/>
        </p:nvSpPr>
        <p:spPr>
          <a:xfrm>
            <a:off x="9715500" y="4572000"/>
            <a:ext cx="3333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Abrir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idear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3049250" y="4572000"/>
            <a:ext cx="3333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Cerrar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prototipar</a:t>
            </a:r>
            <a:r>
              <a:rPr lang="en-US" sz="210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</a:t>
            </a:r>
            <a:r>
              <a:rPr lang="en-US" sz="210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testear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143000" y="6858000"/>
            <a:ext cx="3078480" cy="762000"/>
          </a:xfrm>
          <a:prstGeom prst="roundRect">
            <a:avLst>
              <a:gd name="adj" fmla="val 50000"/>
            </a:avLst>
          </a:prstGeom>
          <a:solidFill>
            <a:srgbClr val="06121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1" kern="0">
                <a:solidFill>
                  <a:srgbClr val="FFFFFF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Empatizar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4373880" y="6858000"/>
            <a:ext cx="3078480" cy="762000"/>
          </a:xfrm>
          <a:prstGeom prst="roundRect">
            <a:avLst>
              <a:gd name="adj" fmla="val 50000"/>
            </a:avLst>
          </a:prstGeom>
          <a:solidFill>
            <a:srgbClr val="06121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18" kern="0">
                <a:solidFill>
                  <a:srgbClr val="FFFFFF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Definir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7604760" y="6858000"/>
            <a:ext cx="3078480" cy="762000"/>
          </a:xfrm>
          <a:prstGeom prst="roundRect">
            <a:avLst>
              <a:gd name="adj" fmla="val 50000"/>
            </a:avLst>
          </a:prstGeom>
          <a:solidFill>
            <a:srgbClr val="0693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2" kern="0">
                <a:solidFill>
                  <a:srgbClr val="FFFFFF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Idear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0835640" y="6858000"/>
            <a:ext cx="3078480" cy="762000"/>
          </a:xfrm>
          <a:prstGeom prst="roundRect">
            <a:avLst>
              <a:gd name="adj" fmla="val 50000"/>
            </a:avLst>
          </a:prstGeom>
          <a:solidFill>
            <a:srgbClr val="0693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1" kern="0">
                <a:solidFill>
                  <a:srgbClr val="FFFFFF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Prototipar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4066520" y="6858000"/>
            <a:ext cx="3078480" cy="762000"/>
          </a:xfrm>
          <a:prstGeom prst="roundRect">
            <a:avLst>
              <a:gd name="adj" fmla="val 50000"/>
            </a:avLst>
          </a:prstGeom>
          <a:solidFill>
            <a:srgbClr val="0693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29" kern="0">
                <a:solidFill>
                  <a:srgbClr val="FFFFFF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Testear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143000" y="8096250"/>
            <a:ext cx="1600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i="1" dirty="0" spc="1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«El primer</a:t>
            </a:r>
            <a:r>
              <a:rPr lang="en-US" sz="2550" i="1" dirty="0" spc="-2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diamante</a:t>
            </a:r>
            <a:r>
              <a:rPr lang="en-US" sz="2550" i="1" dirty="0" spc="-1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te</a:t>
            </a:r>
            <a:r>
              <a:rPr lang="en-US" sz="2550" i="1" dirty="0" spc="-5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exige</a:t>
            </a:r>
            <a:r>
              <a:rPr lang="en-US" sz="2550" i="1" dirty="0" spc="0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abrir</a:t>
            </a:r>
            <a:r>
              <a:rPr lang="en-US" sz="2550" i="1" dirty="0" spc="-1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mucho</a:t>
            </a:r>
            <a:r>
              <a:rPr lang="en-US" sz="2550" i="1" dirty="0" spc="-2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la</a:t>
            </a:r>
            <a:r>
              <a:rPr lang="en-US" sz="2550" i="1" dirty="0" spc="-1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mente,</a:t>
            </a:r>
            <a:r>
              <a:rPr lang="en-US" sz="2550" i="1" dirty="0" spc="-10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investigar</a:t>
            </a:r>
            <a:r>
              <a:rPr lang="en-US" sz="2550" i="1" dirty="0" spc="-4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a</a:t>
            </a:r>
            <a:r>
              <a:rPr lang="en-US" sz="2550" i="1" dirty="0" spc="-6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fondo,</a:t>
            </a:r>
            <a:r>
              <a:rPr lang="en-US" sz="2550" i="1" dirty="0" spc="-2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para</a:t>
            </a:r>
            <a:r>
              <a:rPr lang="en-US" sz="2550" i="1" dirty="0" spc="-1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luego reducir</a:t>
            </a:r>
            <a:r>
              <a:rPr lang="en-US" sz="2550" i="1" dirty="0" spc="-4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las</a:t>
            </a:r>
            <a:r>
              <a:rPr lang="en-US" sz="2550" i="1" dirty="0" spc="-2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opciones</a:t>
            </a:r>
            <a:r>
              <a:rPr lang="en-US" sz="2550" i="1" dirty="0" spc="0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y</a:t>
            </a:r>
            <a:r>
              <a:rPr lang="en-US" sz="2550" i="1" dirty="0" spc="-22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definir</a:t>
            </a:r>
            <a:r>
              <a:rPr lang="en-US" sz="2550" i="1" dirty="0" spc="-3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un</a:t>
            </a:r>
            <a:r>
              <a:rPr lang="en-US" sz="2550" i="1" dirty="0" spc="-2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único</a:t>
            </a:r>
            <a:r>
              <a:rPr lang="en-US" sz="2550" i="1" dirty="0" spc="-1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problema»</a:t>
            </a:r>
            <a:endParaRPr lang="en-US" sz="2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oda image rect-1792683893514-553301809" descr="">    </p:cNvPr>
          <p:cNvPicPr>
            <a:picLocks noChangeAspect="1"/>
          </p:cNvPicPr>
          <p:nvPr/>
        </p:nvPicPr>
        <p:blipFill>
          <a:blip r:embed="rId1"/>
          <a:srcRect l="23728" r="23728" t="0" b="0"/>
          <a:stretch/>
        </p:blipFill>
        <p:spPr>
          <a:xfrm>
            <a:off x="0" y="0"/>
            <a:ext cx="7239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05750" y="666750"/>
            <a:ext cx="9334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2" kern="0">
                <a:solidFill>
                  <a:srgbClr val="0693E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</a:t>
            </a:r>
            <a:r>
              <a:rPr lang="en-US" sz="1950" b="1" dirty="0" spc="0" kern="0">
                <a:solidFill>
                  <a:srgbClr val="0693E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QUE APRENDERÁS</a:t>
            </a:r>
            <a:pPr algn="l" indent="0" marL="0">
              <a:buNone/>
            </a:pPr>
            <a:r>
              <a:rPr lang="en-US" sz="1950" dirty="0" spc="-3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Entender</a:t>
            </a:r>
            <a:r>
              <a:rPr lang="en-US" sz="1950" dirty="0" spc="-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por</a:t>
            </a:r>
            <a:r>
              <a:rPr lang="en-US" sz="1950" dirty="0" spc="-3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qué preguntar</a:t>
            </a:r>
            <a:r>
              <a:rPr lang="en-US" sz="1950" dirty="0" spc="-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directamente</a:t>
            </a:r>
            <a:r>
              <a:rPr lang="en-US" sz="1950" dirty="0" spc="-4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qué</a:t>
            </a:r>
            <a:r>
              <a:rPr lang="en-US" sz="1950" dirty="0" spc="-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quieren</a:t>
            </a:r>
            <a:r>
              <a:rPr lang="en-US" sz="195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las</a:t>
            </a:r>
            <a:r>
              <a:rPr lang="en-US" sz="1950" dirty="0" spc="-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personas</a:t>
            </a:r>
            <a:r>
              <a:rPr lang="en-US" sz="1950" dirty="0" spc="-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da</a:t>
            </a:r>
            <a:r>
              <a:rPr lang="en-US" sz="1950" dirty="0" spc="-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respuestas</a:t>
            </a:r>
            <a:r>
              <a:rPr lang="en-US" sz="195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falsas.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7905750" y="1619250"/>
            <a:ext cx="9334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33" b="1" dirty="0" spc="3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La</a:t>
            </a:r>
            <a:r>
              <a:rPr lang="en-US" sz="5133" b="1" dirty="0" spc="-3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gente miente</a:t>
            </a:r>
            <a:r>
              <a:rPr lang="en-US" sz="5133" b="1" dirty="0" spc="3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por</a:t>
            </a:r>
            <a:r>
              <a:rPr lang="en-US" sz="5133" b="1" dirty="0" spc="2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cortesía</a:t>
            </a:r>
            <a:endParaRPr lang="en-US" sz="5133" dirty="0"/>
          </a:p>
        </p:txBody>
      </p:sp>
      <p:sp>
        <p:nvSpPr>
          <p:cNvPr id="5" name="Text 2"/>
          <p:cNvSpPr/>
          <p:nvPr/>
        </p:nvSpPr>
        <p:spPr>
          <a:xfrm>
            <a:off x="7905750" y="2857500"/>
            <a:ext cx="9334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El</a:t>
            </a:r>
            <a:r>
              <a:rPr lang="en-US" sz="2400" dirty="0" spc="0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riesgo</a:t>
            </a:r>
            <a:r>
              <a:rPr lang="en-US" sz="2400" dirty="0" spc="6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de</a:t>
            </a:r>
            <a:r>
              <a:rPr lang="en-US" sz="2400" dirty="0" spc="2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complacencia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905750" y="3390900"/>
            <a:ext cx="9334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3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</a:t>
            </a:r>
            <a:r>
              <a:rPr lang="en-US" sz="210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el enemigo</a:t>
            </a:r>
            <a:r>
              <a:rPr lang="en-US" sz="2100" dirty="0" spc="-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número uno de</a:t>
            </a:r>
            <a:r>
              <a:rPr lang="en-US" sz="210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</a:t>
            </a:r>
            <a:r>
              <a:rPr lang="en-US" sz="2100" dirty="0" spc="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investigación:</a:t>
            </a:r>
            <a:r>
              <a:rPr lang="en-US" sz="210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te</a:t>
            </a:r>
            <a:r>
              <a:rPr lang="en-US" sz="210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dicen lo</a:t>
            </a:r>
            <a:r>
              <a:rPr lang="en-US" sz="2100" dirty="0" spc="-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que</a:t>
            </a:r>
            <a:r>
              <a:rPr lang="en-US" sz="210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quieres escuchar.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7905750" y="4305300"/>
            <a:ext cx="9334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5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Por</a:t>
            </a:r>
            <a:r>
              <a:rPr lang="en-US" sz="2400" dirty="0" spc="4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qué pasa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905750" y="4838700"/>
            <a:ext cx="9334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3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Nadie</a:t>
            </a:r>
            <a:r>
              <a:rPr lang="en-US" sz="210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quiere</a:t>
            </a:r>
            <a:r>
              <a:rPr lang="en-US" sz="2100" dirty="0" spc="-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ofender a</a:t>
            </a:r>
            <a:r>
              <a:rPr lang="en-US" sz="210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quien</a:t>
            </a:r>
            <a:r>
              <a:rPr lang="en-US" sz="2100" dirty="0" spc="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le</a:t>
            </a:r>
            <a:r>
              <a:rPr lang="en-US" sz="2100" dirty="0" spc="-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muestra</a:t>
            </a:r>
            <a:r>
              <a:rPr lang="en-US" sz="210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una idea con entusiasmo.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7905750" y="5753100"/>
            <a:ext cx="9334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Qué</a:t>
            </a:r>
            <a:r>
              <a:rPr lang="en-US" sz="2400" dirty="0" spc="1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hacer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905750" y="6286500"/>
            <a:ext cx="9334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Observar</a:t>
            </a:r>
            <a:r>
              <a:rPr lang="en-US" sz="210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lo</a:t>
            </a:r>
            <a:r>
              <a:rPr lang="en-US" sz="2100" dirty="0" spc="-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que</a:t>
            </a:r>
            <a:r>
              <a:rPr lang="en-US" sz="2100" dirty="0" spc="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las</a:t>
            </a:r>
            <a:r>
              <a:rPr lang="en-US" sz="210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personas</a:t>
            </a:r>
            <a:r>
              <a:rPr lang="en-US" sz="2100" dirty="0" spc="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hacen</a:t>
            </a:r>
            <a:r>
              <a:rPr lang="en-US" sz="2100" dirty="0" spc="-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</a:t>
            </a:r>
            <a:r>
              <a:rPr lang="en-US" sz="210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pedirles</a:t>
            </a:r>
            <a:r>
              <a:rPr lang="en-US" sz="210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relatos</a:t>
            </a:r>
            <a:r>
              <a:rPr lang="en-US" sz="2100" dirty="0" spc="-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</a:t>
            </a:r>
            <a:r>
              <a:rPr lang="en-US" sz="210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hechos</a:t>
            </a:r>
            <a:r>
              <a:rPr lang="en-US" sz="2100" dirty="0" spc="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reales,</a:t>
            </a:r>
            <a:r>
              <a:rPr lang="en-US" sz="210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no</a:t>
            </a:r>
            <a:r>
              <a:rPr lang="en-US" sz="210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opiniones.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7905750" y="8191500"/>
            <a:ext cx="9334500" cy="1428750"/>
          </a:xfrm>
          <a:prstGeom prst="roundRect">
            <a:avLst>
              <a:gd name="adj" fmla="val 10667"/>
            </a:avLst>
          </a:prstGeom>
          <a:solidFill>
            <a:srgbClr val="EAF5FE"/>
          </a:solidFill>
          <a:ln/>
        </p:spPr>
      </p:sp>
      <p:sp>
        <p:nvSpPr>
          <p:cNvPr id="12" name="Text 9"/>
          <p:cNvSpPr/>
          <p:nvPr/>
        </p:nvSpPr>
        <p:spPr>
          <a:xfrm>
            <a:off x="8210550" y="8420100"/>
            <a:ext cx="8724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2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«Las</a:t>
            </a:r>
            <a:r>
              <a:rPr lang="en-US" sz="2550" dirty="0" spc="-1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personas</a:t>
            </a:r>
            <a:r>
              <a:rPr lang="en-US" sz="2550" dirty="0" spc="-3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mienten</a:t>
            </a:r>
            <a:r>
              <a:rPr lang="en-US" sz="2550" dirty="0" spc="-1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por cortesía</a:t>
            </a:r>
            <a:r>
              <a:rPr lang="en-US" sz="2550" dirty="0" spc="-3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constantemente»</a:t>
            </a:r>
            <a:endParaRPr lang="en-US" sz="2550" dirty="0"/>
          </a:p>
        </p:txBody>
      </p:sp>
      <p:sp>
        <p:nvSpPr>
          <p:cNvPr id="13" name="Text 10"/>
          <p:cNvSpPr/>
          <p:nvPr/>
        </p:nvSpPr>
        <p:spPr>
          <a:xfrm>
            <a:off x="381000" y="381000"/>
            <a:ext cx="2476500" cy="533400"/>
          </a:xfrm>
          <a:prstGeom prst="roundRect">
            <a:avLst>
              <a:gd name="adj" fmla="val 14286"/>
            </a:avLst>
          </a:prstGeom>
          <a:solidFill>
            <a:srgbClr val="0693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26" kern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EMPATIZAR</a:t>
            </a:r>
            <a:endParaRPr lang="en-US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66750"/>
            <a:ext cx="16002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2" kern="0">
                <a:solidFill>
                  <a:srgbClr val="0693E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 QUE</a:t>
            </a:r>
            <a:r>
              <a:rPr lang="en-US" sz="2100" b="1" dirty="0" spc="-1" kern="0">
                <a:solidFill>
                  <a:srgbClr val="0693E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APRENDERÁS</a:t>
            </a:r>
            <a:pPr algn="l" indent="0" marL="0">
              <a:buNone/>
            </a:pPr>
            <a:r>
              <a:rPr lang="en-US" sz="2100" dirty="0" spc="-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Ver</a:t>
            </a:r>
            <a:r>
              <a:rPr lang="en-US" sz="210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cómo una</a:t>
            </a:r>
            <a:r>
              <a:rPr lang="en-US" sz="210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solución</a:t>
            </a:r>
            <a:r>
              <a:rPr lang="en-US" sz="210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brillante</a:t>
            </a:r>
            <a:r>
              <a:rPr lang="en-US" sz="2100" dirty="0" spc="-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puede</a:t>
            </a:r>
            <a:r>
              <a:rPr lang="en-US" sz="210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estar buscando un</a:t>
            </a:r>
            <a:r>
              <a:rPr lang="en-US" sz="2100" dirty="0" spc="-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problema</a:t>
            </a:r>
            <a:r>
              <a:rPr lang="en-US" sz="210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que</a:t>
            </a:r>
            <a:r>
              <a:rPr lang="en-US" sz="2100" dirty="0" spc="-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no</a:t>
            </a:r>
            <a:r>
              <a:rPr lang="en-US" sz="210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existe.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143000" y="1238250"/>
            <a:ext cx="1600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 spc="-9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Rosa</a:t>
            </a:r>
            <a:r>
              <a:rPr lang="en-US" sz="6000" b="1" dirty="0" spc="1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no</a:t>
            </a:r>
            <a:r>
              <a:rPr lang="en-US" sz="6000" b="1" dirty="0" spc="2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necesitaba</a:t>
            </a:r>
            <a:r>
              <a:rPr lang="en-US" sz="6000" b="1" dirty="0" spc="-2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una</a:t>
            </a:r>
            <a:r>
              <a:rPr lang="en-US" sz="6000" b="1" dirty="0" spc="1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app de</a:t>
            </a:r>
            <a:r>
              <a:rPr lang="en-US" sz="6000" b="1" dirty="0" spc="2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pedidos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1143000" y="2667000"/>
            <a:ext cx="5130800" cy="1714500"/>
          </a:xfrm>
          <a:prstGeom prst="roundRect">
            <a:avLst>
              <a:gd name="adj" fmla="val 11111"/>
            </a:avLst>
          </a:prstGeom>
          <a:solidFill>
            <a:srgbClr val="061219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2895600"/>
            <a:ext cx="4673600" cy="933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123" b="1" dirty="0" spc="-2" kern="0">
                <a:solidFill>
                  <a:srgbClr val="0693E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40</a:t>
            </a:r>
            <a:endParaRPr lang="en-US" sz="6123" dirty="0"/>
          </a:p>
        </p:txBody>
      </p:sp>
      <p:sp>
        <p:nvSpPr>
          <p:cNvPr id="6" name="Text 4"/>
          <p:cNvSpPr/>
          <p:nvPr/>
        </p:nvSpPr>
        <p:spPr>
          <a:xfrm>
            <a:off x="1371600" y="3829594"/>
            <a:ext cx="4673600" cy="323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mesas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578600" y="2667000"/>
            <a:ext cx="5130800" cy="1714500"/>
          </a:xfrm>
          <a:prstGeom prst="roundRect">
            <a:avLst>
              <a:gd name="adj" fmla="val 11111"/>
            </a:avLst>
          </a:prstGeom>
          <a:solidFill>
            <a:srgbClr val="061219"/>
          </a:solidFill>
          <a:ln/>
        </p:spPr>
      </p:sp>
      <p:sp>
        <p:nvSpPr>
          <p:cNvPr id="8" name="Text 6"/>
          <p:cNvSpPr/>
          <p:nvPr/>
        </p:nvSpPr>
        <p:spPr>
          <a:xfrm>
            <a:off x="6807200" y="2895600"/>
            <a:ext cx="4673600" cy="933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123" b="1" dirty="0" spc="-1" kern="0">
                <a:solidFill>
                  <a:srgbClr val="0693E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6</a:t>
            </a:r>
            <a:endParaRPr lang="en-US" sz="6123" dirty="0"/>
          </a:p>
        </p:txBody>
      </p:sp>
      <p:sp>
        <p:nvSpPr>
          <p:cNvPr id="9" name="Text 7"/>
          <p:cNvSpPr/>
          <p:nvPr/>
        </p:nvSpPr>
        <p:spPr>
          <a:xfrm>
            <a:off x="6807200" y="3829594"/>
            <a:ext cx="4673600" cy="323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empleados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2014200" y="2667000"/>
            <a:ext cx="5130800" cy="1714500"/>
          </a:xfrm>
          <a:prstGeom prst="roundRect">
            <a:avLst>
              <a:gd name="adj" fmla="val 11111"/>
            </a:avLst>
          </a:prstGeom>
          <a:solidFill>
            <a:srgbClr val="061219"/>
          </a:solidFill>
          <a:ln/>
        </p:spPr>
      </p:sp>
      <p:sp>
        <p:nvSpPr>
          <p:cNvPr id="11" name="Text 9"/>
          <p:cNvSpPr/>
          <p:nvPr/>
        </p:nvSpPr>
        <p:spPr>
          <a:xfrm>
            <a:off x="12242800" y="2895600"/>
            <a:ext cx="4673600" cy="933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123" b="1" dirty="0" spc="3" kern="0">
                <a:solidFill>
                  <a:srgbClr val="0693E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10</a:t>
            </a:r>
            <a:r>
              <a:rPr lang="en-US" sz="6123" b="1" dirty="0" spc="2" kern="0">
                <a:solidFill>
                  <a:srgbClr val="0693E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s</a:t>
            </a:r>
            <a:endParaRPr lang="en-US" sz="6123" dirty="0"/>
          </a:p>
        </p:txBody>
      </p:sp>
      <p:sp>
        <p:nvSpPr>
          <p:cNvPr id="12" name="Text 10"/>
          <p:cNvSpPr/>
          <p:nvPr/>
        </p:nvSpPr>
        <p:spPr>
          <a:xfrm>
            <a:off x="12242800" y="3829594"/>
            <a:ext cx="4673600" cy="323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tardaba pedir</a:t>
            </a:r>
            <a:r>
              <a:rPr lang="en-US" sz="210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al</a:t>
            </a:r>
            <a:r>
              <a:rPr lang="en-US" sz="210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mesero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143000" y="4762500"/>
            <a:ext cx="51308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3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El</a:t>
            </a:r>
            <a:r>
              <a:rPr lang="en-US" sz="2700" dirty="0" spc="0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caso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1143000" y="5314950"/>
            <a:ext cx="51308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Rosa</a:t>
            </a:r>
            <a:r>
              <a:rPr lang="en-US" sz="2250" dirty="0" spc="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tiene</a:t>
            </a:r>
            <a:r>
              <a:rPr lang="en-US" sz="225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un</a:t>
            </a:r>
            <a:r>
              <a:rPr lang="en-US" sz="225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restaurante de almuerzos</a:t>
            </a:r>
            <a:r>
              <a:rPr lang="en-US" sz="2250" dirty="0" spc="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ejecutivos</a:t>
            </a:r>
            <a:r>
              <a:rPr lang="en-US" sz="225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en Quito,</a:t>
            </a:r>
            <a:r>
              <a:rPr lang="en-US" sz="2250" dirty="0" spc="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</a:t>
            </a:r>
            <a:r>
              <a:rPr lang="en-US" sz="2250" dirty="0" spc="-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40</a:t>
            </a:r>
            <a:r>
              <a:rPr lang="en-US" sz="2250" dirty="0" spc="-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mesas</a:t>
            </a:r>
            <a:r>
              <a:rPr lang="en-US" sz="225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</a:t>
            </a:r>
            <a:r>
              <a:rPr lang="en-US" sz="2250" dirty="0" spc="-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6</a:t>
            </a:r>
            <a:r>
              <a:rPr lang="en-US" sz="225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empleados.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6578600" y="4762500"/>
            <a:ext cx="51308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2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La</a:t>
            </a:r>
            <a:r>
              <a:rPr lang="en-US" sz="2700" dirty="0" spc="1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suposición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6578600" y="5314950"/>
            <a:ext cx="51308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4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</a:t>
            </a:r>
            <a:r>
              <a:rPr lang="en-US" sz="225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ingeniero</a:t>
            </a:r>
            <a:r>
              <a:rPr lang="en-US" sz="2250" dirty="0" spc="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vio</a:t>
            </a:r>
            <a:r>
              <a:rPr lang="en-US" sz="225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el</a:t>
            </a:r>
            <a:r>
              <a:rPr lang="en-US" sz="2250" dirty="0" spc="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volumen</a:t>
            </a:r>
            <a:r>
              <a:rPr lang="en-US" sz="2250" dirty="0" spc="-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</a:t>
            </a:r>
            <a:r>
              <a:rPr lang="en-US" sz="2250" dirty="0" spc="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clientes</a:t>
            </a:r>
            <a:r>
              <a:rPr lang="en-US" sz="2250" dirty="0" spc="-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</a:t>
            </a:r>
            <a:r>
              <a:rPr lang="en-US" sz="2250" dirty="0" spc="3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concluyó:</a:t>
            </a:r>
            <a:r>
              <a:rPr lang="en-US" sz="2250" dirty="0" spc="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«necesita</a:t>
            </a:r>
            <a:r>
              <a:rPr lang="en-US" sz="225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una</a:t>
            </a:r>
            <a:r>
              <a:rPr lang="en-US" sz="225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app</a:t>
            </a:r>
            <a:r>
              <a:rPr lang="en-US" sz="2250" dirty="0" spc="-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para</a:t>
            </a:r>
            <a:r>
              <a:rPr lang="en-US" sz="2250" dirty="0" spc="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que pidan</a:t>
            </a:r>
            <a:r>
              <a:rPr lang="en-US" sz="2250" dirty="0" spc="-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desde</a:t>
            </a:r>
            <a:r>
              <a:rPr lang="en-US" sz="2250" dirty="0" spc="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</a:t>
            </a:r>
            <a:r>
              <a:rPr lang="en-US" sz="225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mesa».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2014200" y="4762500"/>
            <a:ext cx="51308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2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La</a:t>
            </a:r>
            <a:r>
              <a:rPr lang="en-US" sz="2700" dirty="0" spc="-4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observación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12014200" y="5314950"/>
            <a:ext cx="51308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Pedir al</a:t>
            </a:r>
            <a:r>
              <a:rPr lang="en-US" sz="2250" dirty="0" spc="-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mesero</a:t>
            </a:r>
            <a:r>
              <a:rPr lang="en-US" sz="225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tomaba</a:t>
            </a:r>
            <a:r>
              <a:rPr lang="en-US" sz="225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unos</a:t>
            </a:r>
            <a:r>
              <a:rPr lang="en-US" sz="2250" dirty="0" spc="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diez</a:t>
            </a:r>
            <a:r>
              <a:rPr lang="en-US" sz="225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segundos. Una</a:t>
            </a:r>
            <a:r>
              <a:rPr lang="en-US" sz="225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app</a:t>
            </a:r>
            <a:r>
              <a:rPr lang="en-US" sz="225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solo habría</a:t>
            </a:r>
            <a:r>
              <a:rPr lang="en-US" sz="2250" dirty="0" spc="-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agregado</a:t>
            </a:r>
            <a:r>
              <a:rPr lang="en-US" sz="225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fricción,</a:t>
            </a:r>
            <a:r>
              <a:rPr lang="en-US" sz="2250" dirty="0" spc="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sin</a:t>
            </a:r>
            <a:r>
              <a:rPr lang="en-US" sz="225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valor.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1143000" y="8001000"/>
            <a:ext cx="16002000" cy="1524000"/>
          </a:xfrm>
          <a:prstGeom prst="roundRect">
            <a:avLst>
              <a:gd name="adj" fmla="val 12500"/>
            </a:avLst>
          </a:prstGeom>
          <a:solidFill>
            <a:srgbClr val="EAF5FE"/>
          </a:solidFill>
          <a:ln/>
        </p:spPr>
      </p:sp>
      <p:sp>
        <p:nvSpPr>
          <p:cNvPr id="20" name="Text 18"/>
          <p:cNvSpPr/>
          <p:nvPr/>
        </p:nvSpPr>
        <p:spPr>
          <a:xfrm>
            <a:off x="1600200" y="8267700"/>
            <a:ext cx="150876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«Una</a:t>
            </a:r>
            <a:r>
              <a:rPr lang="en-US" sz="2700" dirty="0" spc="1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solución</a:t>
            </a:r>
            <a:r>
              <a:rPr lang="en-US" sz="2700" dirty="0" spc="-1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brillante,</a:t>
            </a:r>
            <a:r>
              <a:rPr lang="en-US" sz="2700" dirty="0" spc="3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buscando</a:t>
            </a:r>
            <a:r>
              <a:rPr lang="en-US" sz="2700" dirty="0" spc="-3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desesperadamente</a:t>
            </a:r>
            <a:r>
              <a:rPr lang="en-US" sz="2700" dirty="0" spc="1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un</a:t>
            </a:r>
            <a:r>
              <a:rPr lang="en-US" sz="2700" dirty="0" spc="-1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problema</a:t>
            </a:r>
            <a:r>
              <a:rPr lang="en-US" sz="2700" dirty="0" spc="-2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que</a:t>
            </a:r>
            <a:r>
              <a:rPr lang="en-US" sz="2700" dirty="0" spc="5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la</a:t>
            </a:r>
            <a:r>
              <a:rPr lang="en-US" sz="2700" dirty="0" spc="-15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justifique»</a:t>
            </a:r>
            <a:endParaRPr lang="en-US" sz="2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rect-1792683919466-691756075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61219">
                  <a:alpha val="95000"/>
                </a:srgbClr>
              </a:gs>
              <a:gs pos="48000">
                <a:srgbClr val="061219">
                  <a:alpha val="88000"/>
                </a:srgbClr>
              </a:gs>
              <a:gs pos="85000">
                <a:srgbClr val="061219">
                  <a:alpha val="10000"/>
                </a:srgbClr>
              </a:gs>
              <a:gs pos="100000">
                <a:srgbClr val="061219">
                  <a:alpha val="10000"/>
                </a:srgbClr>
              </a:gs>
            </a:gsLst>
            <a:lin ang="108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572500" y="666750"/>
            <a:ext cx="8572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2" kern="0">
                <a:solidFill>
                  <a:srgbClr val="0693E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</a:t>
            </a:r>
            <a:r>
              <a:rPr lang="en-US" sz="1950" b="1" dirty="0" spc="0" kern="0">
                <a:solidFill>
                  <a:srgbClr val="0693E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QUE APRENDERÁS</a:t>
            </a:r>
            <a:pPr algn="l" indent="0" marL="0">
              <a:buNone/>
            </a:pPr>
            <a:r>
              <a:rPr lang="en-US" sz="1950" dirty="0" spc="-2" kern="0">
                <a:solidFill>
                  <a:srgbClr val="BFC8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Aprender</a:t>
            </a:r>
            <a:r>
              <a:rPr lang="en-US" sz="1950" dirty="0" spc="-6" kern="0">
                <a:solidFill>
                  <a:srgbClr val="BFC8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</a:t>
            </a:r>
            <a:r>
              <a:rPr lang="en-US" sz="1950" dirty="0" spc="-1" kern="0">
                <a:solidFill>
                  <a:srgbClr val="BFC8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buscar</a:t>
            </a:r>
            <a:r>
              <a:rPr lang="en-US" sz="1950" dirty="0" spc="-3" kern="0">
                <a:solidFill>
                  <a:srgbClr val="BFC8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el</a:t>
            </a:r>
            <a:r>
              <a:rPr lang="en-US" sz="1950" dirty="0" spc="0" kern="0">
                <a:solidFill>
                  <a:srgbClr val="BFC8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problema</a:t>
            </a:r>
            <a:r>
              <a:rPr lang="en-US" sz="1950" dirty="0" spc="-1" kern="0">
                <a:solidFill>
                  <a:srgbClr val="BFC8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donde nadie mira:</a:t>
            </a:r>
            <a:r>
              <a:rPr lang="en-US" sz="1950" dirty="0" spc="-5" kern="0">
                <a:solidFill>
                  <a:srgbClr val="BFC8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en</a:t>
            </a:r>
            <a:r>
              <a:rPr lang="en-US" sz="1950" dirty="0" spc="-1" kern="0">
                <a:solidFill>
                  <a:srgbClr val="BFC8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lo</a:t>
            </a:r>
            <a:r>
              <a:rPr lang="en-US" sz="1950" dirty="0" spc="-2" kern="0">
                <a:solidFill>
                  <a:srgbClr val="BFC8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que la persona</a:t>
            </a:r>
            <a:r>
              <a:rPr lang="en-US" sz="1950" dirty="0" spc="-4" kern="0">
                <a:solidFill>
                  <a:srgbClr val="BFC8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hace</a:t>
            </a:r>
            <a:r>
              <a:rPr lang="en-US" sz="1950" dirty="0" spc="-3" kern="0">
                <a:solidFill>
                  <a:srgbClr val="BFC8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cada</a:t>
            </a:r>
            <a:r>
              <a:rPr lang="en-US" sz="1950" dirty="0" spc="1" kern="0">
                <a:solidFill>
                  <a:srgbClr val="BFC8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día.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8572500" y="1619250"/>
            <a:ext cx="85725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00" b="1" dirty="0" spc="5" kern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El</a:t>
            </a:r>
            <a:r>
              <a:rPr lang="en-US" sz="5700" b="1" dirty="0" spc="-1" kern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dolor</a:t>
            </a:r>
            <a:r>
              <a:rPr lang="en-US" sz="5700" b="1" dirty="0" spc="-3" kern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real</a:t>
            </a:r>
            <a:r>
              <a:rPr lang="en-US" sz="5700" b="1" dirty="0" spc="-2" kern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estaba</a:t>
            </a:r>
            <a:r>
              <a:rPr lang="en-US" sz="5700" b="1" dirty="0" spc="1" kern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en</a:t>
            </a:r>
            <a:r>
              <a:rPr lang="en-US" sz="5700" b="1" dirty="0" spc="2" kern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la</a:t>
            </a:r>
            <a:r>
              <a:rPr lang="en-US" sz="5700" b="1" dirty="0" spc="-5" kern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trastienda</a:t>
            </a:r>
            <a:endParaRPr lang="en-US" sz="5700" dirty="0"/>
          </a:p>
        </p:txBody>
      </p:sp>
      <p:sp>
        <p:nvSpPr>
          <p:cNvPr id="5" name="Text 3"/>
          <p:cNvSpPr/>
          <p:nvPr/>
        </p:nvSpPr>
        <p:spPr>
          <a:xfrm>
            <a:off x="8572500" y="3714750"/>
            <a:ext cx="8572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0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Lo</a:t>
            </a:r>
            <a:r>
              <a:rPr lang="en-US" sz="2550" dirty="0" spc="0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que</a:t>
            </a:r>
            <a:r>
              <a:rPr lang="en-US" sz="2550" dirty="0" spc="3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hacía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8572500" y="4229100"/>
            <a:ext cx="8572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4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</a:t>
            </a:r>
            <a:r>
              <a:rPr lang="en-US" sz="210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cerrar, perdía</a:t>
            </a:r>
            <a:r>
              <a:rPr lang="en-US" sz="2100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casi</a:t>
            </a:r>
            <a:r>
              <a:rPr lang="en-US" sz="210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una</a:t>
            </a:r>
            <a:r>
              <a:rPr lang="en-US" sz="210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hora</a:t>
            </a:r>
            <a:r>
              <a:rPr lang="en-US" sz="210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diaria</a:t>
            </a:r>
            <a:r>
              <a:rPr lang="en-US" sz="210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frente</a:t>
            </a:r>
            <a:r>
              <a:rPr lang="en-US" sz="210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</a:t>
            </a:r>
            <a:r>
              <a:rPr lang="en-US" sz="210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un</a:t>
            </a:r>
            <a:r>
              <a:rPr lang="en-US" sz="210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cuaderno</a:t>
            </a:r>
            <a:r>
              <a:rPr lang="en-US" sz="210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arrugado,</a:t>
            </a:r>
            <a:r>
              <a:rPr lang="en-US" sz="210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anotando a</a:t>
            </a:r>
            <a:r>
              <a:rPr lang="en-US" sz="210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mano.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572500" y="5105400"/>
            <a:ext cx="8572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0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Lo</a:t>
            </a:r>
            <a:r>
              <a:rPr lang="en-US" sz="2550" dirty="0" spc="0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que</a:t>
            </a:r>
            <a:r>
              <a:rPr lang="en-US" sz="2550" dirty="0" spc="1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cruzaba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8572500" y="5619750"/>
            <a:ext cx="8572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Las</a:t>
            </a:r>
            <a:r>
              <a:rPr lang="en-US" sz="210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compras</a:t>
            </a:r>
            <a:r>
              <a:rPr lang="en-US" sz="210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</a:t>
            </a:r>
            <a:r>
              <a:rPr lang="en-US" sz="210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los</a:t>
            </a:r>
            <a:r>
              <a:rPr lang="en-US" sz="210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menús</a:t>
            </a:r>
            <a:r>
              <a:rPr lang="en-US" sz="210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vendidos y</a:t>
            </a:r>
            <a:r>
              <a:rPr lang="en-US" sz="210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</a:t>
            </a:r>
            <a:r>
              <a:rPr lang="en-US" sz="210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comida que terminaba en</a:t>
            </a:r>
            <a:r>
              <a:rPr lang="en-US" sz="210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</a:t>
            </a:r>
            <a:r>
              <a:rPr lang="en-US" sz="210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basura.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572500" y="6496050"/>
            <a:ext cx="8572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0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Lo</a:t>
            </a:r>
            <a:r>
              <a:rPr lang="en-US" sz="2550" dirty="0" spc="0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que</a:t>
            </a:r>
            <a:r>
              <a:rPr lang="en-US" sz="2550" dirty="0" spc="-1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sentía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8572500" y="7010400"/>
            <a:ext cx="8572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Navegaba</a:t>
            </a:r>
            <a:r>
              <a:rPr lang="en-US" sz="210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</a:t>
            </a:r>
            <a:r>
              <a:rPr lang="en-US" sz="2100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ciegas:</a:t>
            </a:r>
            <a:r>
              <a:rPr lang="en-US" sz="2100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no</a:t>
            </a:r>
            <a:r>
              <a:rPr lang="en-US" sz="210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sabía si ganaba</a:t>
            </a:r>
            <a:r>
              <a:rPr lang="en-US" sz="210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</a:t>
            </a:r>
            <a:r>
              <a:rPr lang="en-US" sz="210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perdía dinero hasta</a:t>
            </a:r>
            <a:r>
              <a:rPr lang="en-US" sz="210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el</a:t>
            </a:r>
            <a:r>
              <a:rPr lang="en-US" sz="210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día</a:t>
            </a:r>
            <a:r>
              <a:rPr lang="en-US" sz="210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30.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572500" y="8286750"/>
            <a:ext cx="857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i="1" dirty="0" spc="-4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«Encontrar</a:t>
            </a:r>
            <a:r>
              <a:rPr lang="en-US" sz="2700" i="1" dirty="0" spc="2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esa</a:t>
            </a:r>
            <a:r>
              <a:rPr lang="en-US" sz="2700" i="1" dirty="0" spc="-1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angustia</a:t>
            </a:r>
            <a:r>
              <a:rPr lang="en-US" sz="2700" i="1" dirty="0" spc="-16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financiera</a:t>
            </a:r>
            <a:r>
              <a:rPr lang="en-US" sz="2700" i="1" dirty="0" spc="2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es</a:t>
            </a:r>
            <a:r>
              <a:rPr lang="en-US" sz="2700" i="1" dirty="0" spc="0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descubrir</a:t>
            </a:r>
            <a:r>
              <a:rPr lang="en-US" sz="2700" i="1" dirty="0" spc="1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una mina</a:t>
            </a:r>
            <a:r>
              <a:rPr lang="en-US" sz="2700" i="1" dirty="0" spc="2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de</a:t>
            </a:r>
            <a:r>
              <a:rPr lang="en-US" sz="2700" i="1" dirty="0" spc="-5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oro»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8572500" y="9286875"/>
            <a:ext cx="571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1" kern="0">
                <a:solidFill>
                  <a:srgbClr val="0693E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Audio,</a:t>
            </a:r>
            <a:r>
              <a:rPr lang="en-US" sz="1800" dirty="0" spc="3" kern="0">
                <a:solidFill>
                  <a:srgbClr val="0693E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minuto</a:t>
            </a:r>
            <a:r>
              <a:rPr lang="en-US" sz="1800" dirty="0" spc="4" kern="0">
                <a:solidFill>
                  <a:srgbClr val="0693E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5:12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66750"/>
            <a:ext cx="16002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2" kern="0">
                <a:solidFill>
                  <a:srgbClr val="0693E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 QUE</a:t>
            </a:r>
            <a:r>
              <a:rPr lang="en-US" sz="2100" b="1" dirty="0" spc="-1" kern="0">
                <a:solidFill>
                  <a:srgbClr val="0693E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APRENDERÁS</a:t>
            </a:r>
            <a:pPr algn="l" indent="0" marL="0">
              <a:buNone/>
            </a:pPr>
            <a:r>
              <a:rPr lang="en-US" sz="2100" dirty="0" spc="-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Formular</a:t>
            </a:r>
            <a:r>
              <a:rPr lang="en-US" sz="210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preguntas</a:t>
            </a:r>
            <a:r>
              <a:rPr lang="en-US" sz="2100" dirty="0" spc="-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</a:t>
            </a:r>
            <a:r>
              <a:rPr lang="en-US" sz="210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entrevista</a:t>
            </a:r>
            <a:r>
              <a:rPr lang="en-US" sz="2100" dirty="0" spc="-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que</a:t>
            </a:r>
            <a:r>
              <a:rPr lang="en-US" sz="2100" dirty="0" spc="-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no</a:t>
            </a:r>
            <a:r>
              <a:rPr lang="en-US" sz="210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inviten</a:t>
            </a:r>
            <a:r>
              <a:rPr lang="en-US" sz="210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</a:t>
            </a:r>
            <a:r>
              <a:rPr lang="en-US" sz="2100" dirty="0" spc="-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mentir</a:t>
            </a:r>
            <a:r>
              <a:rPr lang="en-US" sz="2100" dirty="0" spc="-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(The Mom Test).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143000" y="1238250"/>
            <a:ext cx="1600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94" b="1" dirty="0" spc="-5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Pregunta</a:t>
            </a:r>
            <a:r>
              <a:rPr lang="en-US" sz="5194" b="1" dirty="0" spc="-2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por</a:t>
            </a:r>
            <a:r>
              <a:rPr lang="en-US" sz="5194" b="1" dirty="0" spc="-1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hechos</a:t>
            </a:r>
            <a:r>
              <a:rPr lang="en-US" sz="5194" b="1" dirty="0" spc="-3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del pasado, no</a:t>
            </a:r>
            <a:r>
              <a:rPr lang="en-US" sz="5194" b="1" dirty="0" spc="-2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por</a:t>
            </a:r>
            <a:r>
              <a:rPr lang="en-US" sz="5194" b="1" dirty="0" spc="-4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el</a:t>
            </a:r>
            <a:r>
              <a:rPr lang="en-US" sz="5194" b="1" dirty="0" spc="-3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futuro</a:t>
            </a:r>
            <a:endParaRPr lang="en-US" sz="5194" dirty="0"/>
          </a:p>
        </p:txBody>
      </p:sp>
      <p:sp>
        <p:nvSpPr>
          <p:cNvPr id="4" name="Shape 2"/>
          <p:cNvSpPr/>
          <p:nvPr/>
        </p:nvSpPr>
        <p:spPr>
          <a:xfrm>
            <a:off x="1143000" y="2762250"/>
            <a:ext cx="16002000" cy="1428750"/>
          </a:xfrm>
          <a:prstGeom prst="roundRect">
            <a:avLst>
              <a:gd name="adj" fmla="val 13333"/>
            </a:avLst>
          </a:prstGeom>
          <a:solidFill>
            <a:srgbClr val="EAF5FE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3028950"/>
            <a:ext cx="15240000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4" dirty="0" spc="-3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La regla</a:t>
            </a:r>
            <a:r>
              <a:rPr lang="en-US" sz="1954" dirty="0" spc="1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de</a:t>
            </a:r>
            <a:r>
              <a:rPr lang="en-US" sz="1954" dirty="0" spc="-5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oro</a:t>
            </a:r>
            <a:endParaRPr lang="en-US" sz="1954" dirty="0"/>
          </a:p>
        </p:txBody>
      </p:sp>
      <p:sp>
        <p:nvSpPr>
          <p:cNvPr id="6" name="Text 4"/>
          <p:cNvSpPr/>
          <p:nvPr/>
        </p:nvSpPr>
        <p:spPr>
          <a:xfrm>
            <a:off x="1524000" y="3381664"/>
            <a:ext cx="15240000" cy="542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35" dirty="0" spc="-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Según Rob</a:t>
            </a:r>
            <a:r>
              <a:rPr lang="en-US" sz="1935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Fitzpatrick,</a:t>
            </a:r>
            <a:r>
              <a:rPr lang="en-US" sz="1935" dirty="0" spc="-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las</a:t>
            </a:r>
            <a:r>
              <a:rPr lang="en-US" sz="1935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entrevistas</a:t>
            </a:r>
            <a:r>
              <a:rPr lang="en-US" sz="1935" dirty="0" spc="-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</a:t>
            </a:r>
            <a:r>
              <a:rPr lang="en-US" sz="1935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centran en el</a:t>
            </a:r>
            <a:r>
              <a:rPr lang="en-US" sz="1935" dirty="0" spc="-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pasado y</a:t>
            </a:r>
            <a:r>
              <a:rPr lang="en-US" sz="1935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en hechos</a:t>
            </a:r>
            <a:r>
              <a:rPr lang="en-US" sz="1935" dirty="0" spc="-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que</a:t>
            </a:r>
            <a:r>
              <a:rPr lang="en-US" sz="1935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</a:t>
            </a:r>
            <a:r>
              <a:rPr lang="en-US" sz="1935" dirty="0" spc="-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pueden</a:t>
            </a:r>
            <a:r>
              <a:rPr lang="en-US" sz="1935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contar, nunca</a:t>
            </a:r>
            <a:r>
              <a:rPr lang="en-US" sz="1935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en opiniones sobre</a:t>
            </a:r>
            <a:r>
              <a:rPr lang="en-US" sz="1935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el</a:t>
            </a:r>
            <a:r>
              <a:rPr lang="en-US" sz="1935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futuro.</a:t>
            </a:r>
            <a:endParaRPr lang="en-US" sz="1935" dirty="0"/>
          </a:p>
        </p:txBody>
      </p:sp>
      <p:sp>
        <p:nvSpPr>
          <p:cNvPr id="7" name="Shape 5"/>
          <p:cNvSpPr/>
          <p:nvPr/>
        </p:nvSpPr>
        <p:spPr>
          <a:xfrm>
            <a:off x="1143000" y="4572000"/>
            <a:ext cx="7848600" cy="3048000"/>
          </a:xfrm>
          <a:prstGeom prst="roundRect">
            <a:avLst>
              <a:gd name="adj" fmla="val 6250"/>
            </a:avLst>
          </a:prstGeom>
          <a:solidFill>
            <a:srgbClr val="FDECEA"/>
          </a:solidFill>
          <a:ln/>
        </p:spPr>
      </p:sp>
      <p:sp>
        <p:nvSpPr>
          <p:cNvPr id="8" name="Text 6"/>
          <p:cNvSpPr/>
          <p:nvPr/>
        </p:nvSpPr>
        <p:spPr>
          <a:xfrm>
            <a:off x="1524000" y="4953000"/>
            <a:ext cx="70866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✕  Lo que hay que evitar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524000" y="5581650"/>
            <a:ext cx="70866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«¿Usarías</a:t>
            </a:r>
            <a:r>
              <a:rPr lang="en-US" sz="2400" dirty="0" spc="-3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una</a:t>
            </a:r>
            <a:r>
              <a:rPr lang="en-US" sz="240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app?»</a:t>
            </a:r>
            <a:r>
              <a:rPr lang="en-US" sz="2400" dirty="0" spc="-3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</a:t>
            </a:r>
            <a:r>
              <a:rPr lang="en-US" sz="240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«¿pagarías $10?».</a:t>
            </a:r>
            <a:r>
              <a:rPr lang="en-US" sz="2400" dirty="0" spc="-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</a:t>
            </a:r>
            <a:r>
              <a:rPr lang="en-US" sz="2400" dirty="0" spc="-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respuesta casi</a:t>
            </a:r>
            <a:r>
              <a:rPr lang="en-US" sz="240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siempre</a:t>
            </a:r>
            <a:r>
              <a:rPr lang="en-US" sz="2400" dirty="0" spc="-3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es</a:t>
            </a:r>
            <a:r>
              <a:rPr lang="en-US" sz="2400" dirty="0" spc="-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sí,</a:t>
            </a:r>
            <a:r>
              <a:rPr lang="en-US" sz="240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por</a:t>
            </a:r>
            <a:r>
              <a:rPr lang="en-US" sz="240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pena.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296400" y="4572000"/>
            <a:ext cx="7848600" cy="3048000"/>
          </a:xfrm>
          <a:prstGeom prst="roundRect">
            <a:avLst>
              <a:gd name="adj" fmla="val 6250"/>
            </a:avLst>
          </a:prstGeom>
          <a:solidFill>
            <a:srgbClr val="0693E3"/>
          </a:solidFill>
          <a:ln/>
        </p:spPr>
      </p:sp>
      <p:sp>
        <p:nvSpPr>
          <p:cNvPr id="11" name="Text 9"/>
          <p:cNvSpPr/>
          <p:nvPr/>
        </p:nvSpPr>
        <p:spPr>
          <a:xfrm>
            <a:off x="9677400" y="4953000"/>
            <a:ext cx="70866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✓  Lo que hay que pedir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677400" y="5581650"/>
            <a:ext cx="70866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Relatos</a:t>
            </a:r>
            <a:r>
              <a:rPr lang="en-US" sz="240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reales:</a:t>
            </a:r>
            <a:r>
              <a:rPr lang="en-US" sz="240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«Cuénteme</a:t>
            </a:r>
            <a:r>
              <a:rPr lang="en-US" sz="240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</a:t>
            </a:r>
            <a:r>
              <a:rPr lang="en-US" sz="240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última</a:t>
            </a:r>
            <a:r>
              <a:rPr lang="en-US" sz="2400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vez</a:t>
            </a:r>
            <a:r>
              <a:rPr lang="en-US" sz="240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que</a:t>
            </a:r>
            <a:r>
              <a:rPr lang="en-US" sz="240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tuvo que</a:t>
            </a:r>
            <a:r>
              <a:rPr lang="en-US" sz="240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cuadrar</a:t>
            </a:r>
            <a:r>
              <a:rPr lang="en-US" sz="240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 caja».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143000" y="8096250"/>
            <a:ext cx="16002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i="1" dirty="0" spc="-1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«Si</a:t>
            </a:r>
            <a:r>
              <a:rPr lang="en-US" sz="3000" i="1" dirty="0" spc="-5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preguntas eso,</a:t>
            </a:r>
            <a:r>
              <a:rPr lang="en-US" sz="3000" i="1" dirty="0" spc="-2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te</a:t>
            </a:r>
            <a:r>
              <a:rPr lang="en-US" sz="3000" i="1" dirty="0" spc="0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dicen que</a:t>
            </a:r>
            <a:r>
              <a:rPr lang="en-US" sz="3000" i="1" dirty="0" spc="-1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sí</a:t>
            </a:r>
            <a:r>
              <a:rPr lang="en-US" sz="3000" i="1" dirty="0" spc="-2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por</a:t>
            </a:r>
            <a:r>
              <a:rPr lang="en-US" sz="3000" i="1" dirty="0" spc="-1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pena»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143000" y="8715375"/>
            <a:ext cx="952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1" kern="0">
                <a:solidFill>
                  <a:srgbClr val="0693E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Audio,</a:t>
            </a:r>
            <a:r>
              <a:rPr lang="en-US" sz="1800" dirty="0" spc="3" kern="0">
                <a:solidFill>
                  <a:srgbClr val="0693E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minuto</a:t>
            </a:r>
            <a:r>
              <a:rPr lang="en-US" sz="1800" dirty="0" spc="4" kern="0">
                <a:solidFill>
                  <a:srgbClr val="0693E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5:33</a:t>
            </a:r>
            <a:r>
              <a:rPr lang="en-US" sz="1800" dirty="0" spc="0" kern="0">
                <a:solidFill>
                  <a:srgbClr val="0693E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·</a:t>
            </a:r>
            <a:r>
              <a:rPr lang="en-US" sz="1800" dirty="0" spc="1" kern="0">
                <a:solidFill>
                  <a:srgbClr val="0693E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Formato</a:t>
            </a:r>
            <a:r>
              <a:rPr lang="en-US" sz="1800" dirty="0" spc="2" kern="0">
                <a:solidFill>
                  <a:srgbClr val="0693E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1:</a:t>
            </a:r>
            <a:r>
              <a:rPr lang="en-US" sz="1800" dirty="0" spc="3" kern="0">
                <a:solidFill>
                  <a:srgbClr val="0693E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guion</a:t>
            </a:r>
            <a:r>
              <a:rPr lang="en-US" sz="1800" dirty="0" spc="1" kern="0">
                <a:solidFill>
                  <a:srgbClr val="0693E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 entrevista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12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66750"/>
            <a:ext cx="16002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2" kern="0">
                <a:solidFill>
                  <a:srgbClr val="0693E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 QUE</a:t>
            </a:r>
            <a:r>
              <a:rPr lang="en-US" sz="2100" b="1" dirty="0" spc="-1" kern="0">
                <a:solidFill>
                  <a:srgbClr val="0693E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APRENDERÁS</a:t>
            </a:r>
            <a:pPr algn="l" indent="0" marL="0">
              <a:buNone/>
            </a:pPr>
            <a:r>
              <a:rPr lang="en-US" sz="2100" dirty="0" spc="0" kern="0">
                <a:solidFill>
                  <a:srgbClr val="BFC8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Saber</a:t>
            </a:r>
            <a:r>
              <a:rPr lang="en-US" sz="2100" dirty="0" spc="-1" kern="0">
                <a:solidFill>
                  <a:srgbClr val="BFC8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qué</a:t>
            </a:r>
            <a:r>
              <a:rPr lang="en-US" sz="2100" dirty="0" spc="1" kern="0">
                <a:solidFill>
                  <a:srgbClr val="BFC8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tareas</a:t>
            </a:r>
            <a:r>
              <a:rPr lang="en-US" sz="2100" dirty="0" spc="-2" kern="0">
                <a:solidFill>
                  <a:srgbClr val="BFC8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</a:t>
            </a:r>
            <a:r>
              <a:rPr lang="en-US" sz="2100" dirty="0" spc="2" kern="0">
                <a:solidFill>
                  <a:srgbClr val="BFC8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investigación</a:t>
            </a:r>
            <a:r>
              <a:rPr lang="en-US" sz="2100" dirty="0" spc="0" kern="0">
                <a:solidFill>
                  <a:srgbClr val="BFC8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 pueden</a:t>
            </a:r>
            <a:r>
              <a:rPr lang="en-US" sz="2100" dirty="0" spc="1" kern="0">
                <a:solidFill>
                  <a:srgbClr val="BFC8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delegar</a:t>
            </a:r>
            <a:r>
              <a:rPr lang="en-US" sz="2100" dirty="0" spc="0" kern="0">
                <a:solidFill>
                  <a:srgbClr val="BFC8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</a:t>
            </a:r>
            <a:r>
              <a:rPr lang="en-US" sz="2100" dirty="0" spc="2" kern="0">
                <a:solidFill>
                  <a:srgbClr val="BFC8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</a:t>
            </a:r>
            <a:r>
              <a:rPr lang="en-US" sz="2100" dirty="0" spc="-1" kern="0">
                <a:solidFill>
                  <a:srgbClr val="BFC8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IA y</a:t>
            </a:r>
            <a:r>
              <a:rPr lang="en-US" sz="2100" dirty="0" spc="2" kern="0">
                <a:solidFill>
                  <a:srgbClr val="BFC8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cuál</a:t>
            </a:r>
            <a:r>
              <a:rPr lang="en-US" sz="2100" dirty="0" spc="1" kern="0">
                <a:solidFill>
                  <a:srgbClr val="BFC8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nunca.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143000" y="1238250"/>
            <a:ext cx="1600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81" b="1" dirty="0" spc="0" kern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La</a:t>
            </a:r>
            <a:r>
              <a:rPr lang="en-US" sz="5981" b="1" dirty="0" spc="-2" kern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IA</a:t>
            </a:r>
            <a:r>
              <a:rPr lang="en-US" sz="5981" b="1" dirty="0" spc="-4" kern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acelera,</a:t>
            </a:r>
            <a:r>
              <a:rPr lang="en-US" sz="5981" b="1" dirty="0" spc="-3" kern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pero</a:t>
            </a:r>
            <a:r>
              <a:rPr lang="en-US" sz="5981" b="1" dirty="0" spc="-1" kern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no reemplaza</a:t>
            </a:r>
            <a:r>
              <a:rPr lang="en-US" sz="5981" b="1" dirty="0" spc="0" kern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a la</a:t>
            </a:r>
            <a:r>
              <a:rPr lang="en-US" sz="5981" b="1" dirty="0" spc="-3" kern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gente</a:t>
            </a:r>
            <a:endParaRPr lang="en-US" sz="5981" dirty="0"/>
          </a:p>
        </p:txBody>
      </p:sp>
      <p:sp>
        <p:nvSpPr>
          <p:cNvPr id="4" name="Shape 2"/>
          <p:cNvSpPr/>
          <p:nvPr/>
        </p:nvSpPr>
        <p:spPr>
          <a:xfrm>
            <a:off x="1143000" y="2762250"/>
            <a:ext cx="5130800" cy="4762500"/>
          </a:xfrm>
          <a:prstGeom prst="roundRect">
            <a:avLst>
              <a:gd name="adj" fmla="val 4000"/>
            </a:avLst>
          </a:prstGeom>
          <a:solidFill>
            <a:srgbClr val="0693E3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3143250"/>
            <a:ext cx="4368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✓ Sí se puede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524000" y="3867150"/>
            <a:ext cx="43688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Whisper</a:t>
            </a:r>
            <a:r>
              <a:rPr lang="en-US" sz="225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transcribe las horas</a:t>
            </a:r>
            <a:r>
              <a:rPr lang="en-US" sz="225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</a:t>
            </a:r>
            <a:r>
              <a:rPr lang="en-US" sz="225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entrevista</a:t>
            </a:r>
            <a:r>
              <a:rPr lang="en-US" sz="2250" dirty="0" spc="-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</a:t>
            </a:r>
            <a:r>
              <a:rPr lang="en-US" sz="225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Claude</a:t>
            </a:r>
            <a:r>
              <a:rPr lang="en-US" sz="225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agrupa</a:t>
            </a:r>
            <a:r>
              <a:rPr lang="en-US" sz="225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los</a:t>
            </a:r>
            <a:r>
              <a:rPr lang="en-US" sz="225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momentos</a:t>
            </a:r>
            <a:r>
              <a:rPr lang="en-US" sz="225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donde</a:t>
            </a:r>
            <a:r>
              <a:rPr lang="en-US" sz="225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</a:t>
            </a:r>
            <a:r>
              <a:rPr lang="en-US" sz="225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persona</a:t>
            </a:r>
            <a:r>
              <a:rPr lang="en-US" sz="225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muestra</a:t>
            </a:r>
            <a:r>
              <a:rPr lang="en-US" sz="2250" dirty="0" spc="-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más</a:t>
            </a:r>
            <a:r>
              <a:rPr lang="en-US" sz="225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estrés.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6578600" y="2762250"/>
            <a:ext cx="5130800" cy="4762500"/>
          </a:xfrm>
          <a:prstGeom prst="roundRect">
            <a:avLst>
              <a:gd name="adj" fmla="val 4000"/>
            </a:avLst>
          </a:prstGeom>
          <a:solidFill>
            <a:srgbClr val="141D23"/>
          </a:solidFill>
          <a:ln w="28575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59600" y="3143250"/>
            <a:ext cx="4368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6B5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✕ Nunca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6959600" y="3867150"/>
            <a:ext cx="43688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Usar</a:t>
            </a:r>
            <a:r>
              <a:rPr lang="en-US" sz="225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</a:t>
            </a:r>
            <a:r>
              <a:rPr lang="en-US" sz="225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IA para generar</a:t>
            </a:r>
            <a:r>
              <a:rPr lang="en-US" sz="225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usuarios</a:t>
            </a:r>
            <a:r>
              <a:rPr lang="en-US" sz="225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inventados</a:t>
            </a:r>
            <a:r>
              <a:rPr lang="en-US" sz="2250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</a:t>
            </a:r>
            <a:r>
              <a:rPr lang="en-US" sz="225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avatares</a:t>
            </a:r>
            <a:r>
              <a:rPr lang="en-US" sz="225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sintéticos</a:t>
            </a:r>
            <a:r>
              <a:rPr lang="en-US" sz="2250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</a:t>
            </a:r>
            <a:r>
              <a:rPr lang="en-US" sz="225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tomarlos como</a:t>
            </a:r>
            <a:r>
              <a:rPr lang="en-US" sz="225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evidencia.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2014200" y="2762250"/>
            <a:ext cx="5130800" cy="4762500"/>
          </a:xfrm>
          <a:prstGeom prst="roundRect">
            <a:avLst>
              <a:gd name="adj" fmla="val 4000"/>
            </a:avLst>
          </a:prstGeom>
          <a:solidFill>
            <a:srgbClr val="141D23"/>
          </a:solidFill>
          <a:ln/>
        </p:spPr>
      </p:sp>
      <p:sp>
        <p:nvSpPr>
          <p:cNvPr id="11" name="Text 9"/>
          <p:cNvSpPr/>
          <p:nvPr/>
        </p:nvSpPr>
        <p:spPr>
          <a:xfrm>
            <a:off x="12395200" y="3143250"/>
            <a:ext cx="4368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4" kern="0">
                <a:solidFill>
                  <a:srgbClr val="5E90C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Por</a:t>
            </a:r>
            <a:r>
              <a:rPr lang="en-US" sz="3300" b="1" dirty="0" spc="0" kern="0">
                <a:solidFill>
                  <a:srgbClr val="5E90C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qué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12395200" y="3867150"/>
            <a:ext cx="43688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4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</a:t>
            </a:r>
            <a:r>
              <a:rPr lang="en-US" sz="225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avatar</a:t>
            </a:r>
            <a:r>
              <a:rPr lang="en-US" sz="225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no</a:t>
            </a:r>
            <a:r>
              <a:rPr lang="en-US" sz="2250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paga,</a:t>
            </a:r>
            <a:r>
              <a:rPr lang="en-US" sz="225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no tiene</a:t>
            </a:r>
            <a:r>
              <a:rPr lang="en-US" sz="225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tarjeta</a:t>
            </a:r>
            <a:r>
              <a:rPr lang="en-US" sz="225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 crédito</a:t>
            </a:r>
            <a:r>
              <a:rPr lang="en-US" sz="225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ni</a:t>
            </a:r>
            <a:r>
              <a:rPr lang="en-US" sz="225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siente</a:t>
            </a:r>
            <a:r>
              <a:rPr lang="en-US" sz="225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frustración</a:t>
            </a:r>
            <a:r>
              <a:rPr lang="en-US" sz="225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real.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143000" y="8096250"/>
            <a:ext cx="1600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i="1" dirty="0" spc="0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«Simular usuarios</a:t>
            </a:r>
            <a:r>
              <a:rPr lang="en-US" sz="3300" i="1" dirty="0" spc="-2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es</a:t>
            </a:r>
            <a:r>
              <a:rPr lang="en-US" sz="3300" i="1" dirty="0" spc="0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hacerse</a:t>
            </a:r>
            <a:r>
              <a:rPr lang="en-US" sz="3300" i="1" dirty="0" spc="-2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trampas</a:t>
            </a:r>
            <a:r>
              <a:rPr lang="en-US" sz="3300" i="1" dirty="0" spc="-1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al solitario»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1143000" y="8810625"/>
            <a:ext cx="571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1" kern="0">
                <a:solidFill>
                  <a:srgbClr val="0693E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Audio,</a:t>
            </a:r>
            <a:r>
              <a:rPr lang="en-US" sz="1800" dirty="0" spc="3" kern="0">
                <a:solidFill>
                  <a:srgbClr val="0693E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minuto</a:t>
            </a:r>
            <a:r>
              <a:rPr lang="en-US" sz="1800" dirty="0" spc="4" kern="0">
                <a:solidFill>
                  <a:srgbClr val="0693E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6:05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2857500"/>
          </a:xfrm>
          <a:prstGeom prst="rect">
            <a:avLst/>
          </a:prstGeom>
          <a:solidFill>
            <a:srgbClr val="EAF5FE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666750"/>
            <a:ext cx="16002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1" kern="0">
                <a:solidFill>
                  <a:srgbClr val="0693E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DEFINIR</a:t>
            </a:r>
            <a:r>
              <a:rPr lang="en-US" sz="2100" b="1" dirty="0" spc="-3" kern="0">
                <a:solidFill>
                  <a:srgbClr val="0693E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· LO</a:t>
            </a:r>
            <a:r>
              <a:rPr lang="en-US" sz="2100" b="1" dirty="0" spc="-2" kern="0">
                <a:solidFill>
                  <a:srgbClr val="0693E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QUE</a:t>
            </a:r>
            <a:r>
              <a:rPr lang="en-US" sz="2100" b="1" dirty="0" spc="-1" kern="0">
                <a:solidFill>
                  <a:srgbClr val="0693E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APRENDERÁS</a:t>
            </a:r>
            <a:pPr algn="l" indent="0" marL="0">
              <a:buNone/>
            </a:pPr>
            <a:r>
              <a:rPr lang="en-US" sz="210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Diferenciar</a:t>
            </a:r>
            <a:r>
              <a:rPr lang="en-US" sz="2100" dirty="0" spc="-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un</a:t>
            </a:r>
            <a:r>
              <a:rPr lang="en-US" sz="2100" dirty="0" spc="-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dato</a:t>
            </a:r>
            <a:r>
              <a:rPr lang="en-US" sz="210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observado</a:t>
            </a:r>
            <a:r>
              <a:rPr lang="en-US" sz="2100" dirty="0" spc="-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</a:t>
            </a:r>
            <a:r>
              <a:rPr lang="en-US" sz="210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 explicación</a:t>
            </a:r>
            <a:r>
              <a:rPr lang="en-US" sz="210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que</a:t>
            </a:r>
            <a:r>
              <a:rPr lang="en-US" sz="210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hace única</a:t>
            </a:r>
            <a:r>
              <a:rPr lang="en-US" sz="2100" dirty="0" spc="-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tu</a:t>
            </a:r>
            <a:r>
              <a:rPr lang="en-US" sz="210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solución.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143000" y="1333500"/>
            <a:ext cx="1600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b="1" dirty="0" spc="-1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Del</a:t>
            </a:r>
            <a:r>
              <a:rPr lang="en-US" sz="6600" b="1" dirty="0" spc="-5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hallazgo</a:t>
            </a:r>
            <a:r>
              <a:rPr lang="en-US" sz="6600" b="1" dirty="0" spc="0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al</a:t>
            </a:r>
            <a:r>
              <a:rPr lang="en-US" sz="6600" b="1" dirty="0" spc="-5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insight</a:t>
            </a:r>
            <a:endParaRPr lang="en-US" sz="6600" dirty="0"/>
          </a:p>
        </p:txBody>
      </p:sp>
      <p:sp>
        <p:nvSpPr>
          <p:cNvPr id="5" name="Shape 3"/>
          <p:cNvSpPr/>
          <p:nvPr/>
        </p:nvSpPr>
        <p:spPr>
          <a:xfrm>
            <a:off x="1143000" y="4000500"/>
            <a:ext cx="4191000" cy="28575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C1CE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85900" y="4343400"/>
            <a:ext cx="350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1" kern="0">
                <a:solidFill>
                  <a:srgbClr val="5E90C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El</a:t>
            </a:r>
            <a:r>
              <a:rPr lang="en-US" sz="2700" b="1" dirty="0" spc="0" kern="0">
                <a:solidFill>
                  <a:srgbClr val="5E90C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hallazgo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485900" y="4953000"/>
            <a:ext cx="35052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4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</a:t>
            </a:r>
            <a:r>
              <a:rPr lang="en-US" sz="225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dato:</a:t>
            </a:r>
            <a:r>
              <a:rPr lang="en-US" sz="225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Rosa usa</a:t>
            </a:r>
            <a:r>
              <a:rPr lang="en-US" sz="2250" dirty="0" spc="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un</a:t>
            </a:r>
            <a:r>
              <a:rPr lang="en-US" sz="225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cuaderno.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5334000" y="5048250"/>
            <a:ext cx="952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693E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→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6286500" y="3429000"/>
            <a:ext cx="10858500" cy="4000500"/>
          </a:xfrm>
          <a:prstGeom prst="roundRect">
            <a:avLst>
              <a:gd name="adj" fmla="val 4762"/>
            </a:avLst>
          </a:prstGeom>
          <a:solidFill>
            <a:srgbClr val="0693E3"/>
          </a:solidFill>
          <a:ln/>
        </p:spPr>
      </p:sp>
      <p:sp>
        <p:nvSpPr>
          <p:cNvPr id="10" name="Text 8"/>
          <p:cNvSpPr/>
          <p:nvPr/>
        </p:nvSpPr>
        <p:spPr>
          <a:xfrm>
            <a:off x="6667500" y="3810000"/>
            <a:ext cx="10096500" cy="455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83" b="1" dirty="0" spc="5" kern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El</a:t>
            </a:r>
            <a:r>
              <a:rPr lang="en-US" sz="2983" b="1" dirty="0" spc="1" kern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insight</a:t>
            </a:r>
            <a:endParaRPr lang="en-US" sz="2983" dirty="0"/>
          </a:p>
        </p:txBody>
      </p:sp>
      <p:sp>
        <p:nvSpPr>
          <p:cNvPr id="11" name="Text 9"/>
          <p:cNvSpPr/>
          <p:nvPr/>
        </p:nvSpPr>
        <p:spPr>
          <a:xfrm>
            <a:off x="6667500" y="4405184"/>
            <a:ext cx="10096500" cy="1312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 razón</a:t>
            </a:r>
            <a:r>
              <a:rPr lang="en-US" sz="2400" dirty="0" spc="-4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no</a:t>
            </a:r>
            <a:r>
              <a:rPr lang="en-US" sz="240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obvia:</a:t>
            </a:r>
            <a:r>
              <a:rPr lang="en-US" sz="2400" dirty="0" spc="-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no usa</a:t>
            </a:r>
            <a:r>
              <a:rPr lang="en-US" sz="2400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software</a:t>
            </a:r>
            <a:r>
              <a:rPr lang="en-US" sz="240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contable</a:t>
            </a:r>
            <a:r>
              <a:rPr lang="en-US" sz="240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porque</a:t>
            </a:r>
            <a:r>
              <a:rPr lang="en-US" sz="2400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desconfía</a:t>
            </a:r>
            <a:r>
              <a:rPr lang="en-US" sz="240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</a:t>
            </a:r>
            <a:r>
              <a:rPr lang="en-US" sz="2400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números</a:t>
            </a:r>
            <a:r>
              <a:rPr lang="en-US" sz="240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que</a:t>
            </a:r>
            <a:r>
              <a:rPr lang="en-US" sz="2400" dirty="0" spc="-4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no</a:t>
            </a:r>
            <a:r>
              <a:rPr lang="en-US" sz="240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puede</a:t>
            </a:r>
            <a:r>
              <a:rPr lang="en-US" sz="240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ver y tocar línea</a:t>
            </a:r>
            <a:r>
              <a:rPr lang="en-US" sz="240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por línea.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667500" y="5858132"/>
            <a:ext cx="10096500" cy="350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kern="0">
                <a:solidFill>
                  <a:srgbClr val="061219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Dónde buscarlo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6667500" y="6348284"/>
            <a:ext cx="10096500" cy="700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 la contradicción:</a:t>
            </a:r>
            <a:r>
              <a:rPr lang="en-US" sz="2100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Rosa</a:t>
            </a:r>
            <a:r>
              <a:rPr lang="en-US" sz="210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quiere</a:t>
            </a:r>
            <a:r>
              <a:rPr lang="en-US" sz="210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control</a:t>
            </a:r>
            <a:r>
              <a:rPr lang="en-US" sz="2100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</a:t>
            </a:r>
            <a:r>
              <a:rPr lang="en-US" sz="210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sus números,</a:t>
            </a:r>
            <a:r>
              <a:rPr lang="en-US" sz="2100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pero</a:t>
            </a:r>
            <a:r>
              <a:rPr lang="en-US" sz="210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odia el</a:t>
            </a:r>
            <a:r>
              <a:rPr lang="en-US" sz="210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software.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143000" y="8096250"/>
            <a:ext cx="1600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i="1" dirty="0" spc="2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«Me</a:t>
            </a:r>
            <a:r>
              <a:rPr lang="en-US" sz="3300" i="1" dirty="0" spc="-11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convences,</a:t>
            </a:r>
            <a:r>
              <a:rPr lang="en-US" sz="3300" i="1" dirty="0" spc="-4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el</a:t>
            </a:r>
            <a:r>
              <a:rPr lang="en-US" sz="3300" i="1" dirty="0" spc="-1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valor</a:t>
            </a:r>
            <a:r>
              <a:rPr lang="en-US" sz="3300" i="1" dirty="0" spc="-3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está</a:t>
            </a:r>
            <a:r>
              <a:rPr lang="en-US" sz="3300" i="1" dirty="0" spc="-4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en</a:t>
            </a:r>
            <a:r>
              <a:rPr lang="en-US" sz="3300" i="1" dirty="0" spc="-3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la</a:t>
            </a:r>
            <a:r>
              <a:rPr lang="en-US" sz="3300" i="1" dirty="0" spc="-2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contradicción»</a:t>
            </a:r>
            <a:endParaRPr lang="en-US" sz="3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AF5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66750"/>
            <a:ext cx="16002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2" kern="0">
                <a:solidFill>
                  <a:srgbClr val="0693E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 QUE</a:t>
            </a:r>
            <a:r>
              <a:rPr lang="en-US" sz="2100" b="1" dirty="0" spc="-1" kern="0">
                <a:solidFill>
                  <a:srgbClr val="0693E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APRENDERÁS</a:t>
            </a:r>
            <a:pPr algn="l" indent="0" marL="0">
              <a:buNone/>
            </a:pPr>
            <a:r>
              <a:rPr lang="en-US" sz="2100" dirty="0" spc="-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Formular</a:t>
            </a:r>
            <a:r>
              <a:rPr lang="en-US" sz="210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el</a:t>
            </a:r>
            <a:r>
              <a:rPr lang="en-US" sz="210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trabajo</a:t>
            </a:r>
            <a:r>
              <a:rPr lang="en-US" sz="2100" dirty="0" spc="-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por</a:t>
            </a:r>
            <a:r>
              <a:rPr lang="en-US" sz="210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hacer</a:t>
            </a:r>
            <a:r>
              <a:rPr lang="en-US" sz="2100" dirty="0" spc="-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</a:t>
            </a:r>
            <a:r>
              <a:rPr lang="en-US" sz="210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una pregunta</a:t>
            </a:r>
            <a:r>
              <a:rPr lang="en-US" sz="2100" dirty="0" spc="-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</a:t>
            </a:r>
            <a:r>
              <a:rPr lang="en-US" sz="210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diseño</a:t>
            </a:r>
            <a:r>
              <a:rPr lang="en-US" sz="210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sin</a:t>
            </a:r>
            <a:r>
              <a:rPr lang="en-US" sz="210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mencionar</a:t>
            </a:r>
            <a:r>
              <a:rPr lang="en-US" sz="210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tecnología.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143000" y="1238250"/>
            <a:ext cx="1600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98" b="1" dirty="0" spc="-5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El</a:t>
            </a:r>
            <a:r>
              <a:rPr lang="en-US" sz="5098" b="1" dirty="0" spc="15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trabajo</a:t>
            </a:r>
            <a:r>
              <a:rPr lang="en-US" sz="5098" b="1" dirty="0" spc="2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de</a:t>
            </a:r>
            <a:r>
              <a:rPr lang="en-US" sz="5098" b="1" dirty="0" spc="-9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Rosa</a:t>
            </a:r>
            <a:r>
              <a:rPr lang="en-US" sz="5098" b="1" dirty="0" spc="1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no</a:t>
            </a:r>
            <a:r>
              <a:rPr lang="en-US" sz="5098" b="1" dirty="0" spc="-2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es digitalizar su</a:t>
            </a:r>
            <a:r>
              <a:rPr lang="en-US" sz="5098" b="1" dirty="0" spc="-7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restaurante</a:t>
            </a:r>
            <a:endParaRPr lang="en-US" sz="5098" dirty="0"/>
          </a:p>
        </p:txBody>
      </p:sp>
      <p:sp>
        <p:nvSpPr>
          <p:cNvPr id="4" name="Shape 2"/>
          <p:cNvSpPr/>
          <p:nvPr/>
        </p:nvSpPr>
        <p:spPr>
          <a:xfrm>
            <a:off x="1143000" y="2762250"/>
            <a:ext cx="7848600" cy="28575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3143250"/>
            <a:ext cx="7086600" cy="429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Jobs</a:t>
            </a:r>
            <a:r>
              <a:rPr lang="en-US" sz="2700" dirty="0" spc="-3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to</a:t>
            </a:r>
            <a:r>
              <a:rPr lang="en-US" sz="2700" dirty="0" spc="2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be</a:t>
            </a:r>
            <a:r>
              <a:rPr lang="en-US" sz="2700" dirty="0" spc="0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Done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524000" y="3716378"/>
            <a:ext cx="7086600" cy="1522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3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Clayton</a:t>
            </a:r>
            <a:r>
              <a:rPr lang="en-US" sz="2250" dirty="0" spc="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Christensen:</a:t>
            </a:r>
            <a:r>
              <a:rPr lang="en-US" sz="2250" dirty="0" spc="-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</a:t>
            </a:r>
            <a:r>
              <a:rPr lang="en-US" sz="225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gente</a:t>
            </a:r>
            <a:r>
              <a:rPr lang="en-US" sz="225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«contrata» productos</a:t>
            </a:r>
            <a:r>
              <a:rPr lang="en-US" sz="2250" dirty="0" spc="-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para</a:t>
            </a:r>
            <a:r>
              <a:rPr lang="en-US" sz="225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hacer</a:t>
            </a:r>
            <a:r>
              <a:rPr lang="en-US" sz="2250" dirty="0" spc="3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un</a:t>
            </a:r>
            <a:r>
              <a:rPr lang="en-US" sz="225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trabajo</a:t>
            </a:r>
            <a:r>
              <a:rPr lang="en-US" sz="2250" dirty="0" spc="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en</a:t>
            </a:r>
            <a:r>
              <a:rPr lang="en-US" sz="225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su</a:t>
            </a:r>
            <a:r>
              <a:rPr lang="en-US" sz="225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vida.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296400" y="2762250"/>
            <a:ext cx="7848600" cy="28575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9677400" y="3143250"/>
            <a:ext cx="7086600" cy="429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3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El</a:t>
            </a:r>
            <a:r>
              <a:rPr lang="en-US" sz="2700" dirty="0" spc="6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trabajo</a:t>
            </a:r>
            <a:r>
              <a:rPr lang="en-US" sz="2700" dirty="0" spc="1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de</a:t>
            </a:r>
            <a:r>
              <a:rPr lang="en-US" sz="2700" dirty="0" spc="-3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Rosa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9677400" y="3716378"/>
            <a:ext cx="7086600" cy="1522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3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Cuando</a:t>
            </a:r>
            <a:r>
              <a:rPr lang="en-US" sz="225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cierra el</a:t>
            </a:r>
            <a:r>
              <a:rPr lang="en-US" sz="225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local, quiere</a:t>
            </a:r>
            <a:r>
              <a:rPr lang="en-US" sz="2250" dirty="0" spc="-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saber</a:t>
            </a:r>
            <a:r>
              <a:rPr lang="en-US" sz="225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en</a:t>
            </a:r>
            <a:r>
              <a:rPr lang="en-US" sz="225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dos</a:t>
            </a:r>
            <a:r>
              <a:rPr lang="en-US" sz="225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minutos</a:t>
            </a:r>
            <a:r>
              <a:rPr lang="en-US" sz="2250" dirty="0" spc="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cuánto</a:t>
            </a:r>
            <a:r>
              <a:rPr lang="en-US" sz="225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ganó</a:t>
            </a:r>
            <a:r>
              <a:rPr lang="en-US" sz="2250" dirty="0" spc="-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</a:t>
            </a:r>
            <a:r>
              <a:rPr lang="en-US" sz="225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qué</a:t>
            </a:r>
            <a:r>
              <a:rPr lang="en-US" sz="2250" dirty="0" spc="-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comprar</a:t>
            </a:r>
            <a:r>
              <a:rPr lang="en-US" sz="225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mañana.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143000" y="5905500"/>
            <a:ext cx="16002000" cy="2000250"/>
          </a:xfrm>
          <a:prstGeom prst="roundRect">
            <a:avLst>
              <a:gd name="adj" fmla="val 9524"/>
            </a:avLst>
          </a:prstGeom>
          <a:solidFill>
            <a:srgbClr val="0693E3"/>
          </a:solidFill>
          <a:ln/>
        </p:spPr>
      </p:sp>
      <p:sp>
        <p:nvSpPr>
          <p:cNvPr id="11" name="Text 9"/>
          <p:cNvSpPr/>
          <p:nvPr/>
        </p:nvSpPr>
        <p:spPr>
          <a:xfrm>
            <a:off x="1600200" y="6248400"/>
            <a:ext cx="15087600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83" dirty="0" spc="-4" kern="0">
                <a:solidFill>
                  <a:srgbClr val="061219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La</a:t>
            </a:r>
            <a:r>
              <a:rPr lang="en-US" sz="2583" dirty="0" spc="-5" kern="0">
                <a:solidFill>
                  <a:srgbClr val="061219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pregunta</a:t>
            </a:r>
            <a:r>
              <a:rPr lang="en-US" sz="2583" dirty="0" spc="-4" kern="0">
                <a:solidFill>
                  <a:srgbClr val="061219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de</a:t>
            </a:r>
            <a:r>
              <a:rPr lang="en-US" sz="2583" dirty="0" spc="-3" kern="0">
                <a:solidFill>
                  <a:srgbClr val="061219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diseño</a:t>
            </a:r>
            <a:endParaRPr lang="en-US" sz="2583" dirty="0"/>
          </a:p>
        </p:txBody>
      </p:sp>
      <p:sp>
        <p:nvSpPr>
          <p:cNvPr id="12" name="Text 10"/>
          <p:cNvSpPr/>
          <p:nvPr/>
        </p:nvSpPr>
        <p:spPr>
          <a:xfrm>
            <a:off x="1600200" y="6741319"/>
            <a:ext cx="15087600" cy="821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4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¿Cómo</a:t>
            </a:r>
            <a:r>
              <a:rPr lang="en-US" sz="240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podríamos</a:t>
            </a:r>
            <a:r>
              <a:rPr lang="en-US" sz="240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hacer que</a:t>
            </a:r>
            <a:r>
              <a:rPr lang="en-US" sz="2400" dirty="0" spc="-5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Rosa</a:t>
            </a:r>
            <a:r>
              <a:rPr lang="en-US" sz="240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sepa</a:t>
            </a:r>
            <a:r>
              <a:rPr lang="en-US" sz="2400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cuánto ganó</a:t>
            </a:r>
            <a:r>
              <a:rPr lang="en-US" sz="2400" dirty="0" spc="-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hoy</a:t>
            </a:r>
            <a:r>
              <a:rPr lang="en-US" sz="240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sin</a:t>
            </a:r>
            <a:r>
              <a:rPr lang="en-US" sz="240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escribir</a:t>
            </a:r>
            <a:r>
              <a:rPr lang="en-US" sz="240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nada extra?</a:t>
            </a:r>
            <a:r>
              <a:rPr lang="en-US" sz="2400" dirty="0" spc="-4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No</a:t>
            </a:r>
            <a:r>
              <a:rPr lang="en-US" sz="240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dice</a:t>
            </a:r>
            <a:r>
              <a:rPr lang="en-US" sz="240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«app» ni</a:t>
            </a:r>
            <a:r>
              <a:rPr lang="en-US" sz="240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«dashboard</a:t>
            </a:r>
            <a:r>
              <a:rPr lang="en-US" sz="2400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en</a:t>
            </a:r>
            <a:r>
              <a:rPr lang="en-US" sz="240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React».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143000" y="8286750"/>
            <a:ext cx="1600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i="1" dirty="0" spc="1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«El</a:t>
            </a:r>
            <a:r>
              <a:rPr lang="en-US" sz="2850" i="1" dirty="0" spc="-1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trabajo</a:t>
            </a:r>
            <a:r>
              <a:rPr lang="en-US" sz="2850" i="1" dirty="0" spc="0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de</a:t>
            </a:r>
            <a:r>
              <a:rPr lang="en-US" sz="2850" i="1" dirty="0" spc="-2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Rosa</a:t>
            </a:r>
            <a:r>
              <a:rPr lang="en-US" sz="2850" i="1" dirty="0" spc="1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no</a:t>
            </a:r>
            <a:r>
              <a:rPr lang="en-US" sz="2850" i="1" dirty="0" spc="2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es</a:t>
            </a:r>
            <a:r>
              <a:rPr lang="en-US" sz="2850" i="1" dirty="0" spc="1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digitalizar</a:t>
            </a:r>
            <a:r>
              <a:rPr lang="en-US" sz="2850" i="1" dirty="0" spc="2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el</a:t>
            </a:r>
            <a:r>
              <a:rPr lang="en-US" sz="2850" i="1" dirty="0" spc="-2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restaurante.</a:t>
            </a:r>
            <a:r>
              <a:rPr lang="en-US" sz="2850" i="1" dirty="0" spc="0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Esa</a:t>
            </a:r>
            <a:r>
              <a:rPr lang="en-US" sz="2850" i="1" dirty="0" spc="3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es la</a:t>
            </a:r>
            <a:r>
              <a:rPr lang="en-US" sz="2850" i="1" dirty="0" spc="1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visión</a:t>
            </a:r>
            <a:r>
              <a:rPr lang="en-US" sz="2850" i="1" dirty="0" spc="0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del ingeniero»</a:t>
            </a:r>
            <a:endParaRPr lang="en-US" sz="2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66750"/>
            <a:ext cx="16002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2" kern="0">
                <a:solidFill>
                  <a:srgbClr val="0693E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 QUE</a:t>
            </a:r>
            <a:r>
              <a:rPr lang="en-US" sz="2100" b="1" dirty="0" spc="-1" kern="0">
                <a:solidFill>
                  <a:srgbClr val="0693E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APRENDERÁS</a:t>
            </a:r>
            <a:pPr algn="l" indent="0" marL="0">
              <a:buNone/>
            </a:pPr>
            <a:r>
              <a:rPr lang="en-US" sz="210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Decidir con</a:t>
            </a:r>
            <a:r>
              <a:rPr lang="en-US" sz="210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evidencia</a:t>
            </a:r>
            <a:r>
              <a:rPr lang="en-US" sz="210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si</a:t>
            </a:r>
            <a:r>
              <a:rPr lang="en-US" sz="2100" dirty="0" spc="-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un problema</a:t>
            </a:r>
            <a:r>
              <a:rPr lang="en-US" sz="210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merece</a:t>
            </a:r>
            <a:r>
              <a:rPr lang="en-US" sz="210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una</a:t>
            </a:r>
            <a:r>
              <a:rPr lang="en-US" sz="210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solución,</a:t>
            </a:r>
            <a:r>
              <a:rPr lang="en-US" sz="210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</a:t>
            </a:r>
            <a:r>
              <a:rPr lang="en-US" sz="2100" dirty="0" spc="-3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por</a:t>
            </a:r>
            <a:r>
              <a:rPr lang="en-US" sz="210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qué</a:t>
            </a:r>
            <a:r>
              <a:rPr lang="en-US" sz="210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</a:t>
            </a:r>
            <a:r>
              <a:rPr lang="en-US" sz="2100" dirty="0" spc="-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IA no</a:t>
            </a:r>
            <a:r>
              <a:rPr lang="en-US" sz="210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lo</a:t>
            </a:r>
            <a:r>
              <a:rPr lang="en-US" sz="210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define</a:t>
            </a:r>
            <a:r>
              <a:rPr lang="en-US" sz="2100" dirty="0" spc="-3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por</a:t>
            </a:r>
            <a:r>
              <a:rPr lang="en-US" sz="210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ti.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143000" y="1238250"/>
            <a:ext cx="1600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23" b="1" dirty="0" spc="-7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Cuatro</a:t>
            </a:r>
            <a:r>
              <a:rPr lang="en-US" sz="5523" b="1" dirty="0" spc="-38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filtros</a:t>
            </a:r>
            <a:r>
              <a:rPr lang="en-US" sz="5523" b="1" dirty="0" spc="1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dicen</a:t>
            </a:r>
            <a:r>
              <a:rPr lang="en-US" sz="5523" b="1" dirty="0" spc="3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si el</a:t>
            </a:r>
            <a:r>
              <a:rPr lang="en-US" sz="5523" b="1" dirty="0" spc="-3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problema</a:t>
            </a:r>
            <a:r>
              <a:rPr lang="en-US" sz="5523" b="1" dirty="0" spc="-24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vale</a:t>
            </a:r>
            <a:r>
              <a:rPr lang="en-US" sz="5523" b="1" dirty="0" spc="0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la</a:t>
            </a:r>
            <a:r>
              <a:rPr lang="en-US" sz="5523" b="1" dirty="0" spc="1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pena</a:t>
            </a:r>
            <a:endParaRPr lang="en-US" sz="5523" dirty="0"/>
          </a:p>
        </p:txBody>
      </p:sp>
      <p:sp>
        <p:nvSpPr>
          <p:cNvPr id="4" name="Shape 2"/>
          <p:cNvSpPr/>
          <p:nvPr/>
        </p:nvSpPr>
        <p:spPr>
          <a:xfrm>
            <a:off x="1143000" y="2667000"/>
            <a:ext cx="3829050" cy="1619250"/>
          </a:xfrm>
          <a:prstGeom prst="roundRect">
            <a:avLst>
              <a:gd name="adj" fmla="val 11765"/>
            </a:avLst>
          </a:prstGeom>
          <a:solidFill>
            <a:srgbClr val="061219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067050"/>
            <a:ext cx="33718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6" kern="0">
                <a:solidFill>
                  <a:srgbClr val="0693E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Frecuencia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371600" y="3543300"/>
            <a:ext cx="33718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r>
              <a:rPr lang="en-US" sz="1950" dirty="0" spc="-5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</a:t>
            </a:r>
            <a:r>
              <a:rPr lang="en-US" sz="195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5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5200650" y="2667000"/>
            <a:ext cx="3829050" cy="1619250"/>
          </a:xfrm>
          <a:prstGeom prst="roundRect">
            <a:avLst>
              <a:gd name="adj" fmla="val 11765"/>
            </a:avLst>
          </a:prstGeom>
          <a:solidFill>
            <a:srgbClr val="061219"/>
          </a:solidFill>
          <a:ln/>
        </p:spPr>
      </p:sp>
      <p:sp>
        <p:nvSpPr>
          <p:cNvPr id="8" name="Text 6"/>
          <p:cNvSpPr/>
          <p:nvPr/>
        </p:nvSpPr>
        <p:spPr>
          <a:xfrm>
            <a:off x="5429250" y="3067050"/>
            <a:ext cx="33718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2" kern="0">
                <a:solidFill>
                  <a:srgbClr val="0693E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Intensidad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29250" y="3543300"/>
            <a:ext cx="33718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r>
              <a:rPr lang="en-US" sz="1950" dirty="0" spc="-5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</a:t>
            </a:r>
            <a:r>
              <a:rPr lang="en-US" sz="195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5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258300" y="2667000"/>
            <a:ext cx="3829050" cy="1619250"/>
          </a:xfrm>
          <a:prstGeom prst="roundRect">
            <a:avLst>
              <a:gd name="adj" fmla="val 11765"/>
            </a:avLst>
          </a:prstGeom>
          <a:solidFill>
            <a:srgbClr val="061219"/>
          </a:solidFill>
          <a:ln/>
        </p:spPr>
      </p:sp>
      <p:sp>
        <p:nvSpPr>
          <p:cNvPr id="11" name="Text 9"/>
          <p:cNvSpPr/>
          <p:nvPr/>
        </p:nvSpPr>
        <p:spPr>
          <a:xfrm>
            <a:off x="9486900" y="3067050"/>
            <a:ext cx="33718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4" kern="0">
                <a:solidFill>
                  <a:srgbClr val="0693E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Gasto</a:t>
            </a:r>
            <a:r>
              <a:rPr lang="en-US" sz="3000" b="1" dirty="0" spc="-3" kern="0">
                <a:solidFill>
                  <a:srgbClr val="0693E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actual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486900" y="3543300"/>
            <a:ext cx="33718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r>
              <a:rPr lang="en-US" sz="1950" dirty="0" spc="-5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</a:t>
            </a:r>
            <a:r>
              <a:rPr lang="en-US" sz="195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5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3315950" y="2667000"/>
            <a:ext cx="3829050" cy="1619250"/>
          </a:xfrm>
          <a:prstGeom prst="roundRect">
            <a:avLst>
              <a:gd name="adj" fmla="val 11765"/>
            </a:avLst>
          </a:prstGeom>
          <a:solidFill>
            <a:srgbClr val="061219"/>
          </a:solidFill>
          <a:ln/>
        </p:spPr>
      </p:sp>
      <p:sp>
        <p:nvSpPr>
          <p:cNvPr id="14" name="Text 12"/>
          <p:cNvSpPr/>
          <p:nvPr/>
        </p:nvSpPr>
        <p:spPr>
          <a:xfrm>
            <a:off x="13544550" y="3067050"/>
            <a:ext cx="33718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3" kern="0">
                <a:solidFill>
                  <a:srgbClr val="0693E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Alcance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3544550" y="3543300"/>
            <a:ext cx="33718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r>
              <a:rPr lang="en-US" sz="1950" dirty="0" spc="-5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</a:t>
            </a:r>
            <a:r>
              <a:rPr lang="en-US" sz="195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5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143000" y="4667250"/>
            <a:ext cx="7848600" cy="3048000"/>
          </a:xfrm>
          <a:prstGeom prst="roundRect">
            <a:avLst>
              <a:gd name="adj" fmla="val 6250"/>
            </a:avLst>
          </a:prstGeom>
          <a:solidFill>
            <a:srgbClr val="E6F6EA"/>
          </a:solidFill>
          <a:ln/>
        </p:spPr>
      </p:sp>
      <p:sp>
        <p:nvSpPr>
          <p:cNvPr id="17" name="Text 15"/>
          <p:cNvSpPr/>
          <p:nvPr/>
        </p:nvSpPr>
        <p:spPr>
          <a:xfrm>
            <a:off x="1524000" y="5048250"/>
            <a:ext cx="7086600" cy="4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1E8A44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Rosa:</a:t>
            </a:r>
            <a:r>
              <a:rPr lang="en-US" sz="2700" dirty="0" spc="1" kern="0">
                <a:solidFill>
                  <a:srgbClr val="1E8A44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luz</a:t>
            </a:r>
            <a:r>
              <a:rPr lang="en-US" sz="2700" dirty="0" spc="-10" kern="0">
                <a:solidFill>
                  <a:srgbClr val="1E8A44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verde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1524000" y="5624250"/>
            <a:ext cx="7086600" cy="17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Pasa</a:t>
            </a:r>
            <a:r>
              <a:rPr lang="en-US" sz="2250" dirty="0" spc="-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</a:t>
            </a:r>
            <a:r>
              <a:rPr lang="en-US" sz="225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diario,</a:t>
            </a:r>
            <a:r>
              <a:rPr lang="en-US" sz="2250" dirty="0" spc="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le</a:t>
            </a:r>
            <a:r>
              <a:rPr lang="en-US" sz="225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duele,</a:t>
            </a:r>
            <a:r>
              <a:rPr lang="en-US" sz="2250" dirty="0" spc="-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ya</a:t>
            </a:r>
            <a:r>
              <a:rPr lang="en-US" sz="2250" dirty="0" spc="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le</a:t>
            </a:r>
            <a:r>
              <a:rPr lang="en-US" sz="225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dedica tiempo</a:t>
            </a:r>
            <a:r>
              <a:rPr lang="en-US" sz="225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</a:t>
            </a:r>
            <a:r>
              <a:rPr lang="en-US" sz="225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hay</a:t>
            </a:r>
            <a:r>
              <a:rPr lang="en-US" sz="225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miles de restaurantes</a:t>
            </a:r>
            <a:r>
              <a:rPr lang="en-US" sz="225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iguales:</a:t>
            </a:r>
            <a:r>
              <a:rPr lang="en-US" sz="2250" dirty="0" spc="3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luz</a:t>
            </a:r>
            <a:r>
              <a:rPr lang="en-US" sz="225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verde.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9296400" y="4667250"/>
            <a:ext cx="7848600" cy="3048000"/>
          </a:xfrm>
          <a:prstGeom prst="roundRect">
            <a:avLst>
              <a:gd name="adj" fmla="val 6250"/>
            </a:avLst>
          </a:prstGeom>
          <a:solidFill>
            <a:srgbClr val="EAF5FE"/>
          </a:solidFill>
          <a:ln/>
        </p:spPr>
      </p:sp>
      <p:sp>
        <p:nvSpPr>
          <p:cNvPr id="20" name="Text 18"/>
          <p:cNvSpPr/>
          <p:nvPr/>
        </p:nvSpPr>
        <p:spPr>
          <a:xfrm>
            <a:off x="9677400" y="5048250"/>
            <a:ext cx="7086600" cy="4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111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¿Y</a:t>
            </a:r>
            <a:r>
              <a:rPr lang="en-US" sz="2700" dirty="0" spc="0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si</a:t>
            </a:r>
            <a:r>
              <a:rPr lang="en-US" sz="2700" dirty="0" spc="2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la</a:t>
            </a:r>
            <a:r>
              <a:rPr lang="en-US" sz="2700" dirty="0" spc="-1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IA</a:t>
            </a:r>
            <a:r>
              <a:rPr lang="en-US" sz="2700" dirty="0" spc="-22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define</a:t>
            </a:r>
            <a:r>
              <a:rPr lang="en-US" sz="2700" dirty="0" spc="3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el</a:t>
            </a:r>
            <a:r>
              <a:rPr lang="en-US" sz="2700" dirty="0" spc="-4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problema?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9677400" y="5624250"/>
            <a:ext cx="7086600" cy="17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</a:t>
            </a:r>
            <a:r>
              <a:rPr lang="en-US" sz="2250" dirty="0" spc="-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su</a:t>
            </a:r>
            <a:r>
              <a:rPr lang="en-US" sz="225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naturaleza estadística</a:t>
            </a:r>
            <a:r>
              <a:rPr lang="en-US" sz="225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sugiere</a:t>
            </a:r>
            <a:r>
              <a:rPr lang="en-US" sz="2250" dirty="0" spc="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el</a:t>
            </a:r>
            <a:r>
              <a:rPr lang="en-US" sz="225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promedio.</a:t>
            </a:r>
            <a:r>
              <a:rPr lang="en-US" sz="225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El</a:t>
            </a:r>
            <a:r>
              <a:rPr lang="en-US" sz="2250" dirty="0" spc="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insight</a:t>
            </a:r>
            <a:r>
              <a:rPr lang="en-US" sz="225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que</a:t>
            </a:r>
            <a:r>
              <a:rPr lang="en-US" sz="2250" dirty="0" spc="-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te</a:t>
            </a:r>
            <a:r>
              <a:rPr lang="en-US" sz="225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diferencia solo</a:t>
            </a:r>
            <a:r>
              <a:rPr lang="en-US" sz="225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sale de</a:t>
            </a:r>
            <a:r>
              <a:rPr lang="en-US" sz="225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 entrevista.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143000" y="8191500"/>
            <a:ext cx="1600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i="1" dirty="0" spc="-1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«La</a:t>
            </a:r>
            <a:r>
              <a:rPr lang="en-US" sz="3000" i="1" dirty="0" spc="0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IA</a:t>
            </a:r>
            <a:r>
              <a:rPr lang="en-US" sz="3000" i="1" dirty="0" spc="-1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tiende</a:t>
            </a:r>
            <a:r>
              <a:rPr lang="en-US" sz="3000" i="1" dirty="0" spc="-3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por</a:t>
            </a:r>
            <a:r>
              <a:rPr lang="en-US" sz="3000" i="1" dirty="0" spc="-1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naturaleza estadística</a:t>
            </a:r>
            <a:r>
              <a:rPr lang="en-US" sz="3000" i="1" dirty="0" spc="1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a</a:t>
            </a:r>
            <a:r>
              <a:rPr lang="en-US" sz="3000" i="1" dirty="0" spc="-1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sugerir el</a:t>
            </a:r>
            <a:r>
              <a:rPr lang="en-US" sz="3000" i="1" dirty="0" spc="-3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promedio»</a:t>
            </a:r>
            <a:endParaRPr lang="en-US" sz="3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oda image rect-1792683967736-995806796" descr="">    </p:cNvPr>
          <p:cNvPicPr>
            <a:picLocks noChangeAspect="1"/>
          </p:cNvPicPr>
          <p:nvPr/>
        </p:nvPicPr>
        <p:blipFill>
          <a:blip r:embed="rId1"/>
          <a:srcRect l="23728" r="23728" t="0" b="0"/>
          <a:stretch/>
        </p:blipFill>
        <p:spPr>
          <a:xfrm>
            <a:off x="11049000" y="0"/>
            <a:ext cx="7239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0" y="381000"/>
            <a:ext cx="3619500" cy="533400"/>
          </a:xfrm>
          <a:prstGeom prst="roundRect">
            <a:avLst>
              <a:gd name="adj" fmla="val 14286"/>
            </a:avLst>
          </a:prstGeom>
          <a:solidFill>
            <a:srgbClr val="0693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4" kern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IDEAR</a:t>
            </a:r>
            <a:r>
              <a:rPr lang="en-US" sz="1950" b="1" dirty="0" spc="3" kern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Y</a:t>
            </a:r>
            <a:r>
              <a:rPr lang="en-US" sz="1950" b="1" dirty="0" spc="-14" kern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PROTOTIPAR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1047750" y="666750"/>
            <a:ext cx="9334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2" kern="0">
                <a:solidFill>
                  <a:srgbClr val="0693E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</a:t>
            </a:r>
            <a:r>
              <a:rPr lang="en-US" sz="1950" b="1" dirty="0" spc="0" kern="0">
                <a:solidFill>
                  <a:srgbClr val="0693E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QUE APRENDERÁS</a:t>
            </a:r>
            <a:pPr algn="l" indent="0" marL="0">
              <a:buNone/>
            </a:pPr>
            <a:r>
              <a:rPr lang="en-US" sz="1950" dirty="0" spc="-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Aplicar</a:t>
            </a:r>
            <a:r>
              <a:rPr lang="en-US" sz="1950" dirty="0" spc="-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técnicas</a:t>
            </a:r>
            <a:r>
              <a:rPr lang="en-US" sz="1950" dirty="0" spc="-3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para</a:t>
            </a:r>
            <a:r>
              <a:rPr lang="en-US" sz="195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salir</a:t>
            </a:r>
            <a:r>
              <a:rPr lang="en-US" sz="1950" dirty="0" spc="-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</a:t>
            </a:r>
            <a:r>
              <a:rPr lang="en-US" sz="195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las ideas obvias.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1047750" y="1333500"/>
            <a:ext cx="95250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 spc="-6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Cantidad</a:t>
            </a:r>
            <a:r>
              <a:rPr lang="en-US" sz="5400" b="1" dirty="0" spc="-4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primero:</a:t>
            </a:r>
            <a:r>
              <a:rPr lang="en-US" sz="5400" b="1" dirty="0" spc="-2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las</a:t>
            </a:r>
            <a:r>
              <a:rPr lang="en-US" sz="5400" b="1" dirty="0" spc="-8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primeras</a:t>
            </a:r>
            <a:r>
              <a:rPr lang="en-US" sz="5400" b="1" dirty="0" spc="-2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ideas son copias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1047750" y="3429000"/>
            <a:ext cx="952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La</a:t>
            </a:r>
            <a:r>
              <a:rPr lang="en-US" sz="2400" dirty="0" spc="-2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regla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047750" y="3962400"/>
            <a:ext cx="9525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Cantidad</a:t>
            </a:r>
            <a:r>
              <a:rPr lang="en-US" sz="2100" dirty="0" spc="-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sobre</a:t>
            </a:r>
            <a:r>
              <a:rPr lang="en-US" sz="2100" dirty="0" spc="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calidad:</a:t>
            </a:r>
            <a:r>
              <a:rPr lang="en-US" sz="2100" dirty="0" spc="-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permitir</a:t>
            </a:r>
            <a:r>
              <a:rPr lang="en-US" sz="210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ideas</a:t>
            </a:r>
            <a:r>
              <a:rPr lang="en-US" sz="2100" dirty="0" spc="-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absurdas</a:t>
            </a:r>
            <a:r>
              <a:rPr lang="en-US" sz="210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</a:t>
            </a:r>
            <a:r>
              <a:rPr lang="en-US" sz="2100" dirty="0" spc="-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no</a:t>
            </a:r>
            <a:r>
              <a:rPr lang="en-US" sz="210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criticar nada</a:t>
            </a:r>
            <a:r>
              <a:rPr lang="en-US" sz="210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mientras</a:t>
            </a:r>
            <a:r>
              <a:rPr lang="en-US" sz="2100" dirty="0" spc="-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</a:t>
            </a:r>
            <a:r>
              <a:rPr lang="en-US" sz="2100" dirty="0" spc="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idea.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047750" y="4876800"/>
            <a:ext cx="952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Las</a:t>
            </a:r>
            <a:r>
              <a:rPr lang="en-US" sz="2400" dirty="0" spc="2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técnicas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047750" y="5410200"/>
            <a:ext cx="9525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Crazy</a:t>
            </a:r>
            <a:r>
              <a:rPr lang="en-US" sz="210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8s</a:t>
            </a:r>
            <a:r>
              <a:rPr lang="en-US" sz="2100" dirty="0" spc="-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(ocho</a:t>
            </a:r>
            <a:r>
              <a:rPr lang="en-US" sz="2100" dirty="0" spc="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ideas</a:t>
            </a:r>
            <a:r>
              <a:rPr lang="en-US" sz="2100" dirty="0" spc="-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en</a:t>
            </a:r>
            <a:r>
              <a:rPr lang="en-US" sz="210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ocho</a:t>
            </a:r>
            <a:r>
              <a:rPr lang="en-US" sz="210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minutos), SCAMPER,</a:t>
            </a:r>
            <a:r>
              <a:rPr lang="en-US" sz="2100" dirty="0" spc="3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analogías,</a:t>
            </a:r>
            <a:r>
              <a:rPr lang="en-US" sz="210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</a:t>
            </a:r>
            <a:r>
              <a:rPr lang="en-US" sz="2100" dirty="0" spc="-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peor</a:t>
            </a:r>
            <a:r>
              <a:rPr lang="en-US" sz="210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idea posible</a:t>
            </a:r>
            <a:r>
              <a:rPr lang="en-US" sz="2100" dirty="0" spc="-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</a:t>
            </a:r>
            <a:r>
              <a:rPr lang="en-US" sz="210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restricciones</a:t>
            </a:r>
            <a:r>
              <a:rPr lang="en-US" sz="210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forzadas.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1047750" y="6324600"/>
            <a:ext cx="952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La</a:t>
            </a:r>
            <a:r>
              <a:rPr lang="en-US" sz="2400" dirty="0" spc="-1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ganadora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047750" y="6858000"/>
            <a:ext cx="9525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</a:t>
            </a:r>
            <a:r>
              <a:rPr lang="en-US" sz="2100" dirty="0" spc="-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34</a:t>
            </a:r>
            <a:r>
              <a:rPr lang="en-US" sz="2100" dirty="0" spc="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ideas,</a:t>
            </a:r>
            <a:r>
              <a:rPr lang="en-US" sz="210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ganó la</a:t>
            </a:r>
            <a:r>
              <a:rPr lang="en-US" sz="210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que</a:t>
            </a:r>
            <a:r>
              <a:rPr lang="en-US" sz="2100" dirty="0" spc="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salió</a:t>
            </a:r>
            <a:r>
              <a:rPr lang="en-US" sz="2100" dirty="0" spc="-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</a:t>
            </a:r>
            <a:r>
              <a:rPr lang="en-US" sz="210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una</a:t>
            </a:r>
            <a:r>
              <a:rPr lang="en-US" sz="210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restricción:</a:t>
            </a:r>
            <a:r>
              <a:rPr lang="en-US" sz="210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«¿y si</a:t>
            </a:r>
            <a:r>
              <a:rPr lang="en-US" sz="210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funcionara</a:t>
            </a:r>
            <a:r>
              <a:rPr lang="en-US" sz="210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solo</a:t>
            </a:r>
            <a:r>
              <a:rPr lang="en-US" sz="2100" dirty="0" spc="-3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por</a:t>
            </a:r>
            <a:r>
              <a:rPr lang="en-US" sz="210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WhatsApp?»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1047750" y="8096250"/>
            <a:ext cx="9525000" cy="1619250"/>
          </a:xfrm>
          <a:prstGeom prst="roundRect">
            <a:avLst>
              <a:gd name="adj" fmla="val 9412"/>
            </a:avLst>
          </a:prstGeom>
          <a:solidFill>
            <a:srgbClr val="EAF5FE"/>
          </a:solidFill>
          <a:ln/>
        </p:spPr>
      </p:sp>
      <p:sp>
        <p:nvSpPr>
          <p:cNvPr id="13" name="Text 10"/>
          <p:cNvSpPr/>
          <p:nvPr/>
        </p:nvSpPr>
        <p:spPr>
          <a:xfrm>
            <a:off x="1352550" y="8305800"/>
            <a:ext cx="89154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«Las</a:t>
            </a:r>
            <a:r>
              <a:rPr lang="en-US" sz="2400" dirty="0" spc="-3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primeras cinco ideas siempre</a:t>
            </a:r>
            <a:r>
              <a:rPr lang="en-US" sz="2400" dirty="0" spc="-13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van</a:t>
            </a:r>
            <a:r>
              <a:rPr lang="en-US" sz="2400" dirty="0" spc="-3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a</a:t>
            </a:r>
            <a:r>
              <a:rPr lang="en-US" sz="2400" dirty="0" spc="0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ser</a:t>
            </a:r>
            <a:r>
              <a:rPr lang="en-US" sz="2400" dirty="0" spc="-3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copias</a:t>
            </a:r>
            <a:r>
              <a:rPr lang="en-US" sz="2400" dirty="0" spc="-1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de</a:t>
            </a:r>
            <a:r>
              <a:rPr lang="en-US" sz="2400" dirty="0" spc="-2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lo</a:t>
            </a:r>
            <a:r>
              <a:rPr lang="en-US" sz="2400" dirty="0" spc="-1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que</a:t>
            </a:r>
            <a:r>
              <a:rPr lang="en-US" sz="2400" dirty="0" spc="-17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ya</a:t>
            </a:r>
            <a:r>
              <a:rPr lang="en-US" sz="2400" dirty="0" spc="-5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existe»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1352550" y="9220200"/>
            <a:ext cx="8915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2" kern="0">
                <a:solidFill>
                  <a:srgbClr val="5E90C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Audio, minuto</a:t>
            </a:r>
            <a:r>
              <a:rPr lang="en-US" sz="1650" dirty="0" spc="4" kern="0">
                <a:solidFill>
                  <a:srgbClr val="5E90C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8:48</a:t>
            </a:r>
            <a:r>
              <a:rPr lang="en-US" sz="1650" dirty="0" spc="-1" kern="0">
                <a:solidFill>
                  <a:srgbClr val="5E90C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·</a:t>
            </a:r>
            <a:r>
              <a:rPr lang="en-US" sz="1650" dirty="0" spc="2" kern="0">
                <a:solidFill>
                  <a:srgbClr val="5E90C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Formatos</a:t>
            </a:r>
            <a:r>
              <a:rPr lang="en-US" sz="1650" dirty="0" spc="7" kern="0">
                <a:solidFill>
                  <a:srgbClr val="5E90C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7</a:t>
            </a:r>
            <a:r>
              <a:rPr lang="en-US" sz="1650" dirty="0" spc="2" kern="0">
                <a:solidFill>
                  <a:srgbClr val="5E90C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</a:t>
            </a:r>
            <a:r>
              <a:rPr lang="en-US" sz="1650" dirty="0" spc="5" kern="0">
                <a:solidFill>
                  <a:srgbClr val="5E90C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8</a:t>
            </a:r>
            <a:endParaRPr lang="en-US" sz="1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AF5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66750"/>
            <a:ext cx="16002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2" kern="0">
                <a:solidFill>
                  <a:srgbClr val="0693E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 QUE</a:t>
            </a:r>
            <a:r>
              <a:rPr lang="en-US" sz="2100" b="1" dirty="0" spc="-1" kern="0">
                <a:solidFill>
                  <a:srgbClr val="0693E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APRENDERÁS</a:t>
            </a:r>
            <a:pPr algn="l" indent="0" marL="0">
              <a:buNone/>
            </a:pPr>
            <a:r>
              <a:rPr lang="en-US" sz="210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Usar</a:t>
            </a:r>
            <a:r>
              <a:rPr lang="en-US" sz="210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</a:t>
            </a:r>
            <a:r>
              <a:rPr lang="en-US" sz="210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IA</a:t>
            </a:r>
            <a:r>
              <a:rPr lang="en-US" sz="2100" dirty="0" spc="-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como</a:t>
            </a:r>
            <a:r>
              <a:rPr lang="en-US" sz="210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apoyo para idear</a:t>
            </a:r>
            <a:r>
              <a:rPr lang="en-US" sz="210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sin</a:t>
            </a:r>
            <a:r>
              <a:rPr lang="en-US" sz="2100" dirty="0" spc="-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perder</a:t>
            </a:r>
            <a:r>
              <a:rPr lang="en-US" sz="2100" dirty="0" spc="3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el</a:t>
            </a:r>
            <a:r>
              <a:rPr lang="en-US" sz="210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criterio</a:t>
            </a:r>
            <a:r>
              <a:rPr lang="en-US" sz="2100" dirty="0" spc="-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humano.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143000" y="1238250"/>
            <a:ext cx="1600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 spc="-1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Idear</a:t>
            </a:r>
            <a:r>
              <a:rPr lang="en-US" sz="6000" b="1" dirty="0" spc="1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con</a:t>
            </a:r>
            <a:r>
              <a:rPr lang="en-US" sz="6000" b="1" dirty="0" spc="-2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IA</a:t>
            </a:r>
            <a:r>
              <a:rPr lang="en-US" sz="6000" b="1" dirty="0" spc="3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es</a:t>
            </a:r>
            <a:r>
              <a:rPr lang="en-US" sz="6000" b="1" dirty="0" spc="2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como</a:t>
            </a:r>
            <a:r>
              <a:rPr lang="en-US" sz="6000" b="1" dirty="0" spc="-12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improvisar</a:t>
            </a:r>
            <a:r>
              <a:rPr lang="en-US" sz="6000" b="1" dirty="0" spc="4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jazz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1143000" y="2667000"/>
            <a:ext cx="3829050" cy="5143500"/>
          </a:xfrm>
          <a:prstGeom prst="roundRect">
            <a:avLst>
              <a:gd name="adj" fmla="val 4975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485900" y="3009900"/>
            <a:ext cx="3143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2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La</a:t>
            </a:r>
            <a:r>
              <a:rPr lang="en-US" sz="2550" dirty="0" spc="0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IA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485900" y="3581400"/>
            <a:ext cx="314325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</a:t>
            </a:r>
            <a:r>
              <a:rPr lang="en-US" sz="210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las</a:t>
            </a:r>
            <a:r>
              <a:rPr lang="en-US" sz="210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notas</a:t>
            </a:r>
            <a:r>
              <a:rPr lang="en-US" sz="2100" dirty="0" spc="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básicas:</a:t>
            </a:r>
            <a:r>
              <a:rPr lang="en-US" sz="2100" dirty="0" spc="-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30</a:t>
            </a:r>
            <a:r>
              <a:rPr lang="en-US" sz="210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ideas</a:t>
            </a:r>
            <a:r>
              <a:rPr lang="en-US" sz="2100" dirty="0" spc="-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</a:t>
            </a:r>
            <a:r>
              <a:rPr lang="en-US" sz="210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SCAMPER para</a:t>
            </a:r>
            <a:r>
              <a:rPr lang="en-US" sz="210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salir</a:t>
            </a:r>
            <a:r>
              <a:rPr lang="en-US" sz="2100" dirty="0" spc="-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</a:t>
            </a:r>
            <a:r>
              <a:rPr lang="en-US" sz="2100" dirty="0" spc="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</a:t>
            </a:r>
            <a:r>
              <a:rPr lang="en-US" sz="210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hoja en blanco.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200650" y="2667000"/>
            <a:ext cx="3829050" cy="5143500"/>
          </a:xfrm>
          <a:prstGeom prst="roundRect">
            <a:avLst>
              <a:gd name="adj" fmla="val 4975"/>
            </a:avLst>
          </a:prstGeom>
          <a:solidFill>
            <a:srgbClr val="0693E3"/>
          </a:solidFill>
          <a:ln/>
        </p:spPr>
      </p:sp>
      <p:sp>
        <p:nvSpPr>
          <p:cNvPr id="8" name="Text 6"/>
          <p:cNvSpPr/>
          <p:nvPr/>
        </p:nvSpPr>
        <p:spPr>
          <a:xfrm>
            <a:off x="5543550" y="3009900"/>
            <a:ext cx="3143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75" kern="0">
                <a:solidFill>
                  <a:srgbClr val="FFFFFF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Tú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5543550" y="3581400"/>
            <a:ext cx="314325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Eres</a:t>
            </a:r>
            <a:r>
              <a:rPr lang="en-US" sz="210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el</a:t>
            </a:r>
            <a:r>
              <a:rPr lang="en-US" sz="210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solista</a:t>
            </a:r>
            <a:r>
              <a:rPr lang="en-US" sz="210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que pone</a:t>
            </a:r>
            <a:r>
              <a:rPr lang="en-US" sz="210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el insight.</a:t>
            </a:r>
            <a:r>
              <a:rPr lang="en-US" sz="210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WhatsApp</a:t>
            </a:r>
            <a:r>
              <a:rPr lang="en-US" sz="210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encajaba</a:t>
            </a:r>
            <a:r>
              <a:rPr lang="en-US" sz="210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porque</a:t>
            </a:r>
            <a:r>
              <a:rPr lang="en-US" sz="210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Rosa</a:t>
            </a:r>
            <a:r>
              <a:rPr lang="en-US" sz="210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ya</a:t>
            </a:r>
            <a:r>
              <a:rPr lang="en-US" sz="210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pasaba horas</a:t>
            </a:r>
            <a:r>
              <a:rPr lang="en-US" sz="210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ahí con</a:t>
            </a:r>
            <a:r>
              <a:rPr lang="en-US" sz="210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sus</a:t>
            </a:r>
            <a:r>
              <a:rPr lang="en-US" sz="210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proveedores.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258300" y="2667000"/>
            <a:ext cx="3829050" cy="5143500"/>
          </a:xfrm>
          <a:prstGeom prst="roundRect">
            <a:avLst>
              <a:gd name="adj" fmla="val 4975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0" y="3009900"/>
            <a:ext cx="3143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El</a:t>
            </a:r>
            <a:r>
              <a:rPr lang="en-US" sz="2550" dirty="0" spc="-4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error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9601200" y="3581400"/>
            <a:ext cx="314325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Quedarse</a:t>
            </a:r>
            <a:r>
              <a:rPr lang="en-US" sz="210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</a:t>
            </a:r>
            <a:r>
              <a:rPr lang="en-US" sz="2100" dirty="0" spc="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</a:t>
            </a:r>
            <a:r>
              <a:rPr lang="en-US" sz="2100" dirty="0" spc="-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primera</a:t>
            </a:r>
            <a:r>
              <a:rPr lang="en-US" sz="2100" dirty="0" spc="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lista</a:t>
            </a:r>
            <a:r>
              <a:rPr lang="en-US" sz="2100" dirty="0" spc="-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que</a:t>
            </a:r>
            <a:r>
              <a:rPr lang="en-US" sz="210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suelta</a:t>
            </a:r>
            <a:r>
              <a:rPr lang="en-US" sz="2100" dirty="0" spc="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el</a:t>
            </a:r>
            <a:r>
              <a:rPr lang="en-US" sz="210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modelo. Hay</a:t>
            </a:r>
            <a:r>
              <a:rPr lang="en-US" sz="2100" dirty="0" spc="-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que</a:t>
            </a:r>
            <a:r>
              <a:rPr lang="en-US" sz="210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iterar e</a:t>
            </a:r>
            <a:r>
              <a:rPr lang="en-US" sz="210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insistir.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3315950" y="2667000"/>
            <a:ext cx="3829050" cy="5143500"/>
          </a:xfrm>
          <a:prstGeom prst="roundRect">
            <a:avLst>
              <a:gd name="adj" fmla="val 4975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3658850" y="3009900"/>
            <a:ext cx="3143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1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Para</a:t>
            </a:r>
            <a:r>
              <a:rPr lang="en-US" sz="2550" dirty="0" spc="0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elegir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3658850" y="3581400"/>
            <a:ext cx="314325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Matriz impacto-esfuerzo</a:t>
            </a:r>
            <a:r>
              <a:rPr lang="en-US" sz="2100" dirty="0" spc="-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 tres</a:t>
            </a:r>
            <a:r>
              <a:rPr lang="en-US" sz="210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lentes:</a:t>
            </a:r>
            <a:r>
              <a:rPr lang="en-US" sz="2100" dirty="0" spc="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deseable,</a:t>
            </a:r>
            <a:r>
              <a:rPr lang="en-US" sz="210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factible</a:t>
            </a:r>
            <a:r>
              <a:rPr lang="en-US" sz="210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</a:t>
            </a:r>
            <a:r>
              <a:rPr lang="en-US" sz="2100" dirty="0" spc="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viable.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143000" y="8191500"/>
            <a:ext cx="1600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i="1" dirty="0" spc="1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«La IA</a:t>
            </a:r>
            <a:r>
              <a:rPr lang="en-US" sz="2850" i="1" dirty="0" spc="3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te</a:t>
            </a:r>
            <a:r>
              <a:rPr lang="en-US" sz="2850" i="1" dirty="0" spc="-1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da</a:t>
            </a:r>
            <a:r>
              <a:rPr lang="en-US" sz="2850" i="1" dirty="0" spc="3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las</a:t>
            </a:r>
            <a:r>
              <a:rPr lang="en-US" sz="2850" i="1" dirty="0" spc="-1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notas</a:t>
            </a:r>
            <a:r>
              <a:rPr lang="en-US" sz="2850" i="1" dirty="0" spc="2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básicas.</a:t>
            </a:r>
            <a:r>
              <a:rPr lang="en-US" sz="2850" i="1" dirty="0" spc="-2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Pero</a:t>
            </a:r>
            <a:r>
              <a:rPr lang="en-US" sz="2850" i="1" dirty="0" spc="2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el</a:t>
            </a:r>
            <a:r>
              <a:rPr lang="en-US" sz="2850" i="1" dirty="0" spc="0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humano</a:t>
            </a:r>
            <a:r>
              <a:rPr lang="en-US" sz="2850" i="1" dirty="0" spc="3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es el</a:t>
            </a:r>
            <a:r>
              <a:rPr lang="en-US" sz="2850" i="1" dirty="0" spc="2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solista</a:t>
            </a:r>
            <a:r>
              <a:rPr lang="en-US" sz="2850" i="1" dirty="0" spc="-2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que</a:t>
            </a:r>
            <a:r>
              <a:rPr lang="en-US" sz="2850" i="1" dirty="0" spc="0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pone</a:t>
            </a:r>
            <a:r>
              <a:rPr lang="en-US" sz="2850" i="1" dirty="0" spc="2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el</a:t>
            </a:r>
            <a:r>
              <a:rPr lang="en-US" sz="2850" i="1" dirty="0" spc="0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ritmo»</a:t>
            </a:r>
            <a:endParaRPr lang="en-US" sz="2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12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66750"/>
            <a:ext cx="16002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2" kern="0">
                <a:solidFill>
                  <a:srgbClr val="0693E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 QUE</a:t>
            </a:r>
            <a:r>
              <a:rPr lang="en-US" sz="2100" b="1" dirty="0" spc="-1" kern="0">
                <a:solidFill>
                  <a:srgbClr val="0693E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APRENDERÁS</a:t>
            </a:r>
            <a:pPr algn="l" indent="0" marL="0">
              <a:buNone/>
            </a:pPr>
            <a:r>
              <a:rPr lang="en-US" sz="2100" dirty="0" spc="1" kern="0">
                <a:solidFill>
                  <a:srgbClr val="BFC8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Validar</a:t>
            </a:r>
            <a:r>
              <a:rPr lang="en-US" sz="2100" dirty="0" spc="0" kern="0">
                <a:solidFill>
                  <a:srgbClr val="BFC8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que</a:t>
            </a:r>
            <a:r>
              <a:rPr lang="en-US" sz="2100" dirty="0" spc="1" kern="0">
                <a:solidFill>
                  <a:srgbClr val="BFC8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</a:t>
            </a:r>
            <a:r>
              <a:rPr lang="en-US" sz="2100" dirty="0" spc="2" kern="0">
                <a:solidFill>
                  <a:srgbClr val="BFC8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solución</a:t>
            </a:r>
            <a:r>
              <a:rPr lang="en-US" sz="2100" dirty="0" spc="1" kern="0">
                <a:solidFill>
                  <a:srgbClr val="BFC8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genera</a:t>
            </a:r>
            <a:r>
              <a:rPr lang="en-US" sz="2100" dirty="0" spc="0" kern="0">
                <a:solidFill>
                  <a:srgbClr val="BFC8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valor sin</a:t>
            </a:r>
            <a:r>
              <a:rPr lang="en-US" sz="2100" dirty="0" spc="1" kern="0">
                <a:solidFill>
                  <a:srgbClr val="BFC8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escribir código: el Mago</a:t>
            </a:r>
            <a:r>
              <a:rPr lang="en-US" sz="2100" dirty="0" spc="-1" kern="0">
                <a:solidFill>
                  <a:srgbClr val="BFC8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</a:t>
            </a:r>
            <a:r>
              <a:rPr lang="en-US" sz="2100" dirty="0" spc="-2" kern="0">
                <a:solidFill>
                  <a:srgbClr val="BFC8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Oz.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143000" y="1238250"/>
            <a:ext cx="1600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56" b="1" dirty="0" spc="-2" kern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Fingir ser</a:t>
            </a:r>
            <a:r>
              <a:rPr lang="en-US" sz="5756" b="1" dirty="0" spc="-3" kern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el</a:t>
            </a:r>
            <a:r>
              <a:rPr lang="en-US" sz="5756" b="1" dirty="0" spc="0" kern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algoritmo</a:t>
            </a:r>
            <a:r>
              <a:rPr lang="en-US" sz="5756" b="1" dirty="0" spc="-7" kern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antes</a:t>
            </a:r>
            <a:r>
              <a:rPr lang="en-US" sz="5756" b="1" dirty="0" spc="-4" kern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de</a:t>
            </a:r>
            <a:r>
              <a:rPr lang="en-US" sz="5756" b="1" dirty="0" spc="-7" kern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programarlo</a:t>
            </a:r>
            <a:endParaRPr lang="en-US" sz="5756" dirty="0"/>
          </a:p>
        </p:txBody>
      </p:sp>
      <p:sp>
        <p:nvSpPr>
          <p:cNvPr id="4" name="Shape 2"/>
          <p:cNvSpPr/>
          <p:nvPr/>
        </p:nvSpPr>
        <p:spPr>
          <a:xfrm>
            <a:off x="1143000" y="2857500"/>
            <a:ext cx="4762500" cy="4381500"/>
          </a:xfrm>
          <a:prstGeom prst="roundRect">
            <a:avLst>
              <a:gd name="adj" fmla="val 4348"/>
            </a:avLst>
          </a:prstGeom>
          <a:solidFill>
            <a:srgbClr val="0693E3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3238500"/>
            <a:ext cx="4000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3" kern="0">
                <a:solidFill>
                  <a:srgbClr val="061219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FRENTE</a:t>
            </a:r>
            <a:r>
              <a:rPr lang="en-US" sz="1950" dirty="0" spc="0" kern="0">
                <a:solidFill>
                  <a:srgbClr val="061219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AL</a:t>
            </a:r>
            <a:r>
              <a:rPr lang="en-US" sz="1950" dirty="0" spc="-2" kern="0">
                <a:solidFill>
                  <a:srgbClr val="061219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TELÓN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524000" y="3714750"/>
            <a:ext cx="4000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4" kern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Lo</a:t>
            </a:r>
            <a:r>
              <a:rPr lang="en-US" sz="2850" b="1" dirty="0" spc="0" kern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que</a:t>
            </a:r>
            <a:r>
              <a:rPr lang="en-US" sz="2850" b="1" dirty="0" spc="-3" kern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hacía</a:t>
            </a:r>
            <a:r>
              <a:rPr lang="en-US" sz="2850" b="1" dirty="0" spc="-7" kern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Rosa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1524000" y="4343400"/>
            <a:ext cx="4000500" cy="2190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Mandaba</a:t>
            </a:r>
            <a:r>
              <a:rPr lang="en-US" sz="225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por</a:t>
            </a:r>
            <a:r>
              <a:rPr lang="en-US" sz="225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WhatsApp una</a:t>
            </a:r>
            <a:r>
              <a:rPr lang="en-US" sz="225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foto de</a:t>
            </a:r>
            <a:r>
              <a:rPr lang="en-US" sz="225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</a:t>
            </a:r>
            <a:r>
              <a:rPr lang="en-US" sz="225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factura</a:t>
            </a:r>
            <a:r>
              <a:rPr lang="en-US" sz="225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</a:t>
            </a:r>
            <a:r>
              <a:rPr lang="en-US" sz="225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una</a:t>
            </a:r>
            <a:r>
              <a:rPr lang="en-US" sz="225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nota de voz</a:t>
            </a:r>
            <a:r>
              <a:rPr lang="en-US" sz="225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</a:t>
            </a:r>
            <a:r>
              <a:rPr lang="en-US" sz="225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los</a:t>
            </a:r>
            <a:r>
              <a:rPr lang="en-US" sz="225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menús</a:t>
            </a:r>
            <a:r>
              <a:rPr lang="en-US" sz="225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vendidos.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5905500" y="2857500"/>
            <a:ext cx="857250" cy="438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>
                <a:solidFill>
                  <a:srgbClr val="0693E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⇄</a:t>
            </a:r>
            <a:endParaRPr lang="en-US" sz="4500" dirty="0"/>
          </a:p>
        </p:txBody>
      </p:sp>
      <p:sp>
        <p:nvSpPr>
          <p:cNvPr id="9" name="Shape 7"/>
          <p:cNvSpPr/>
          <p:nvPr/>
        </p:nvSpPr>
        <p:spPr>
          <a:xfrm>
            <a:off x="6762750" y="2857500"/>
            <a:ext cx="4762500" cy="4381500"/>
          </a:xfrm>
          <a:prstGeom prst="roundRect">
            <a:avLst>
              <a:gd name="adj" fmla="val 4348"/>
            </a:avLst>
          </a:prstGeom>
          <a:solidFill>
            <a:srgbClr val="141D23"/>
          </a:solidFill>
          <a:ln/>
        </p:spPr>
      </p:sp>
      <p:sp>
        <p:nvSpPr>
          <p:cNvPr id="10" name="Text 8"/>
          <p:cNvSpPr/>
          <p:nvPr/>
        </p:nvSpPr>
        <p:spPr>
          <a:xfrm>
            <a:off x="7143750" y="3238500"/>
            <a:ext cx="4000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3" kern="0">
                <a:solidFill>
                  <a:srgbClr val="5E90C4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DETRÁS</a:t>
            </a:r>
            <a:r>
              <a:rPr lang="en-US" sz="1950" dirty="0" spc="0" kern="0">
                <a:solidFill>
                  <a:srgbClr val="5E90C4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DEL</a:t>
            </a:r>
            <a:r>
              <a:rPr lang="en-US" sz="1950" dirty="0" spc="-2" kern="0">
                <a:solidFill>
                  <a:srgbClr val="5E90C4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TELÓN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143750" y="3714750"/>
            <a:ext cx="4000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4" kern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Lo</a:t>
            </a:r>
            <a:r>
              <a:rPr lang="en-US" sz="2850" b="1" dirty="0" spc="0" kern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que</a:t>
            </a:r>
            <a:r>
              <a:rPr lang="en-US" sz="2850" b="1" dirty="0" spc="-4" kern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pasaba</a:t>
            </a:r>
            <a:r>
              <a:rPr lang="en-US" sz="2850" b="1" dirty="0" spc="-5" kern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detrás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7143750" y="4343400"/>
            <a:ext cx="4000500" cy="2190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</a:t>
            </a:r>
            <a:r>
              <a:rPr lang="en-US" sz="225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había</a:t>
            </a:r>
            <a:r>
              <a:rPr lang="en-US" sz="225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una</a:t>
            </a:r>
            <a:r>
              <a:rPr lang="en-US" sz="225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IA</a:t>
            </a:r>
            <a:r>
              <a:rPr lang="en-US" sz="225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integrada:</a:t>
            </a:r>
            <a:r>
              <a:rPr lang="en-US" sz="225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el</a:t>
            </a:r>
            <a:r>
              <a:rPr lang="en-US" sz="225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ingeniero,</a:t>
            </a:r>
            <a:r>
              <a:rPr lang="en-US" sz="225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desde</a:t>
            </a:r>
            <a:r>
              <a:rPr lang="en-US" sz="225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su</a:t>
            </a:r>
            <a:r>
              <a:rPr lang="en-US" sz="2250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sofá,</a:t>
            </a:r>
            <a:r>
              <a:rPr lang="en-US" sz="225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calculaba con Claude</a:t>
            </a:r>
            <a:r>
              <a:rPr lang="en-US" sz="225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</a:t>
            </a:r>
            <a:r>
              <a:rPr lang="en-US" sz="225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le respondía</a:t>
            </a:r>
            <a:r>
              <a:rPr lang="en-US" sz="2250" dirty="0" spc="-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</a:t>
            </a:r>
            <a:r>
              <a:rPr lang="en-US" sz="225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las</a:t>
            </a:r>
            <a:r>
              <a:rPr lang="en-US" sz="2250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9</a:t>
            </a:r>
            <a:r>
              <a:rPr lang="en-US" sz="225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p.</a:t>
            </a:r>
            <a:r>
              <a:rPr lang="en-US" sz="225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m.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1525250" y="2857500"/>
            <a:ext cx="857250" cy="438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 spc="2" kern="0">
                <a:solidFill>
                  <a:srgbClr val="0693E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=</a:t>
            </a:r>
            <a:endParaRPr lang="en-US" sz="4500" dirty="0"/>
          </a:p>
        </p:txBody>
      </p:sp>
      <p:sp>
        <p:nvSpPr>
          <p:cNvPr id="14" name="Shape 12"/>
          <p:cNvSpPr/>
          <p:nvPr/>
        </p:nvSpPr>
        <p:spPr>
          <a:xfrm>
            <a:off x="12382500" y="2857500"/>
            <a:ext cx="4762500" cy="4381500"/>
          </a:xfrm>
          <a:prstGeom prst="roundRect">
            <a:avLst>
              <a:gd name="adj" fmla="val 4348"/>
            </a:avLst>
          </a:prstGeom>
          <a:solidFill>
            <a:srgbClr val="141D23"/>
          </a:solidFill>
          <a:ln/>
        </p:spPr>
      </p:sp>
      <p:sp>
        <p:nvSpPr>
          <p:cNvPr id="15" name="Text 13"/>
          <p:cNvSpPr/>
          <p:nvPr/>
        </p:nvSpPr>
        <p:spPr>
          <a:xfrm>
            <a:off x="12763500" y="3238500"/>
            <a:ext cx="4000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0" kern="0">
                <a:solidFill>
                  <a:srgbClr val="5E90C4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EL</a:t>
            </a:r>
            <a:r>
              <a:rPr lang="en-US" sz="1950" dirty="0" spc="-6" kern="0">
                <a:solidFill>
                  <a:srgbClr val="5E90C4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COSTO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763500" y="3714750"/>
            <a:ext cx="4000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46" b="1" dirty="0" spc="-3" kern="0">
                <a:solidFill>
                  <a:srgbClr val="0693E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$0</a:t>
            </a:r>
            <a:endParaRPr lang="en-US" sz="6246" dirty="0"/>
          </a:p>
        </p:txBody>
      </p:sp>
      <p:sp>
        <p:nvSpPr>
          <p:cNvPr id="17" name="Text 15"/>
          <p:cNvSpPr/>
          <p:nvPr/>
        </p:nvSpPr>
        <p:spPr>
          <a:xfrm>
            <a:off x="12763500" y="4819650"/>
            <a:ext cx="4000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Cero</a:t>
            </a:r>
            <a:r>
              <a:rPr lang="en-US" sz="225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dólares y</a:t>
            </a:r>
            <a:r>
              <a:rPr lang="en-US" sz="225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una</a:t>
            </a:r>
            <a:r>
              <a:rPr lang="en-US" sz="225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tarde</a:t>
            </a:r>
            <a:r>
              <a:rPr lang="en-US" sz="225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 trabajo, antes de</a:t>
            </a:r>
            <a:r>
              <a:rPr lang="en-US" sz="2250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gastar</a:t>
            </a:r>
            <a:r>
              <a:rPr lang="en-US" sz="225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en</a:t>
            </a:r>
            <a:r>
              <a:rPr lang="en-US" sz="225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servidores</a:t>
            </a:r>
            <a:r>
              <a:rPr lang="en-US" sz="225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</a:t>
            </a:r>
            <a:r>
              <a:rPr lang="en-US" sz="225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integraciones.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143000" y="7905750"/>
            <a:ext cx="1600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i="1" dirty="0" spc="3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«Es</a:t>
            </a:r>
            <a:r>
              <a:rPr lang="en-US" sz="3300" i="1" dirty="0" spc="-2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la</a:t>
            </a:r>
            <a:r>
              <a:rPr lang="en-US" sz="3300" i="1" dirty="0" spc="-1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audacia técnica</a:t>
            </a:r>
            <a:r>
              <a:rPr lang="en-US" sz="3300" i="1" dirty="0" spc="-6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de</a:t>
            </a:r>
            <a:r>
              <a:rPr lang="en-US" sz="3300" i="1" dirty="0" spc="-33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fingir</a:t>
            </a:r>
            <a:r>
              <a:rPr lang="en-US" sz="3300" i="1" dirty="0" spc="-3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ser un</a:t>
            </a:r>
            <a:r>
              <a:rPr lang="en-US" sz="3300" i="1" dirty="0" spc="-1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algoritmo»</a:t>
            </a:r>
            <a:endParaRPr lang="en-US" sz="3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144500" y="762000"/>
            <a:ext cx="4000500" cy="4000500"/>
          </a:xfrm>
          <a:prstGeom prst="ellipse">
            <a:avLst/>
          </a:prstGeom>
          <a:solidFill>
            <a:srgbClr val="EAF5FE"/>
          </a:solidFill>
          <a:ln/>
        </p:spPr>
      </p:sp>
      <p:sp>
        <p:nvSpPr>
          <p:cNvPr id="3" name="Text 1"/>
          <p:cNvSpPr/>
          <p:nvPr/>
        </p:nvSpPr>
        <p:spPr>
          <a:xfrm>
            <a:off x="13144500" y="1905000"/>
            <a:ext cx="4000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50" b="1" dirty="0" spc="4" kern="0">
                <a:solidFill>
                  <a:srgbClr val="0693E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</a:t>
            </a:r>
            <a:endParaRPr lang="en-US" sz="11250" dirty="0"/>
          </a:p>
        </p:txBody>
      </p:sp>
      <p:sp>
        <p:nvSpPr>
          <p:cNvPr id="4" name="Text 2"/>
          <p:cNvSpPr/>
          <p:nvPr/>
        </p:nvSpPr>
        <p:spPr>
          <a:xfrm>
            <a:off x="13144500" y="3619500"/>
            <a:ext cx="4000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1" kern="0">
                <a:solidFill>
                  <a:srgbClr val="2E363C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función</a:t>
            </a:r>
            <a:r>
              <a:rPr lang="en-US" sz="2250" dirty="0" spc="-4" kern="0">
                <a:solidFill>
                  <a:srgbClr val="2E363C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central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143000" y="666750"/>
            <a:ext cx="1143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2" kern="0">
                <a:solidFill>
                  <a:srgbClr val="0693E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 QUE</a:t>
            </a:r>
            <a:r>
              <a:rPr lang="en-US" sz="2100" b="1" dirty="0" spc="-1" kern="0">
                <a:solidFill>
                  <a:srgbClr val="0693E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APRENDERÁS</a:t>
            </a:r>
            <a:pPr algn="l" indent="0" marL="0">
              <a:buNone/>
            </a:pPr>
            <a:r>
              <a:rPr lang="en-US" sz="210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Definir</a:t>
            </a:r>
            <a:r>
              <a:rPr lang="en-US" sz="2100" dirty="0" spc="-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qué</a:t>
            </a:r>
            <a:r>
              <a:rPr lang="en-US" sz="210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significa</a:t>
            </a:r>
            <a:r>
              <a:rPr lang="en-US" sz="210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«mínimo» en</a:t>
            </a:r>
            <a:r>
              <a:rPr lang="en-US" sz="2100" dirty="0" spc="-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un producto</a:t>
            </a:r>
            <a:r>
              <a:rPr lang="en-US" sz="210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mínimo</a:t>
            </a:r>
            <a:r>
              <a:rPr lang="en-US" sz="210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viable.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143000" y="1333500"/>
            <a:ext cx="11430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41" b="1" dirty="0" spc="0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Un</a:t>
            </a:r>
            <a:r>
              <a:rPr lang="en-US" sz="6241" b="1" dirty="0" spc="1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MVP</a:t>
            </a:r>
            <a:r>
              <a:rPr lang="en-US" sz="6241" b="1" dirty="0" spc="-1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tiene</a:t>
            </a:r>
            <a:r>
              <a:rPr lang="en-US" sz="6241" b="1" dirty="0" spc="0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una sola función</a:t>
            </a:r>
            <a:r>
              <a:rPr lang="en-US" sz="6241" b="1" dirty="0" spc="-13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central</a:t>
            </a:r>
            <a:endParaRPr lang="en-US" sz="6241" dirty="0"/>
          </a:p>
        </p:txBody>
      </p:sp>
      <p:sp>
        <p:nvSpPr>
          <p:cNvPr id="7" name="Text 5"/>
          <p:cNvSpPr/>
          <p:nvPr/>
        </p:nvSpPr>
        <p:spPr>
          <a:xfrm>
            <a:off x="1143000" y="5143500"/>
            <a:ext cx="51308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2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La</a:t>
            </a:r>
            <a:r>
              <a:rPr lang="en-US" sz="2700" dirty="0" spc="-14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definición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143000" y="5715000"/>
            <a:ext cx="51308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Eric Ries:</a:t>
            </a:r>
            <a:r>
              <a:rPr lang="en-US" sz="225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 versión</a:t>
            </a:r>
            <a:r>
              <a:rPr lang="en-US" sz="2250" dirty="0" spc="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que</a:t>
            </a:r>
            <a:r>
              <a:rPr lang="en-US" sz="225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permite</a:t>
            </a:r>
            <a:r>
              <a:rPr lang="en-US" sz="2250" dirty="0" spc="-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aprender</a:t>
            </a:r>
            <a:r>
              <a:rPr lang="en-US" sz="2250" dirty="0" spc="3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lo</a:t>
            </a:r>
            <a:r>
              <a:rPr lang="en-US" sz="225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máximo</a:t>
            </a:r>
            <a:r>
              <a:rPr lang="en-US" sz="2250" dirty="0" spc="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</a:t>
            </a:r>
            <a:r>
              <a:rPr lang="en-US" sz="225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el mínimo</a:t>
            </a:r>
            <a:r>
              <a:rPr lang="en-US" sz="225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esfuerzo.</a:t>
            </a:r>
            <a:r>
              <a:rPr lang="en-US" sz="2250" dirty="0" spc="-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</a:t>
            </a:r>
            <a:r>
              <a:rPr lang="en-US" sz="225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construye</a:t>
            </a:r>
            <a:r>
              <a:rPr lang="en-US" sz="225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después de</a:t>
            </a:r>
            <a:r>
              <a:rPr lang="en-US" sz="225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validar con el</a:t>
            </a:r>
            <a:r>
              <a:rPr lang="en-US" sz="2250" dirty="0" spc="-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Mago</a:t>
            </a:r>
            <a:r>
              <a:rPr lang="en-US" sz="225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</a:t>
            </a:r>
            <a:r>
              <a:rPr lang="en-US" sz="2250" dirty="0" spc="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Oz.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6578600" y="5143500"/>
            <a:ext cx="51308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2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La prueba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6578600" y="5715000"/>
            <a:ext cx="51308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</a:t>
            </a:r>
            <a:r>
              <a:rPr lang="en-US" sz="2250" dirty="0" spc="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tiene</a:t>
            </a:r>
            <a:r>
              <a:rPr lang="en-US" sz="225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modo</a:t>
            </a:r>
            <a:r>
              <a:rPr lang="en-US" sz="225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oscuro</a:t>
            </a:r>
            <a:r>
              <a:rPr lang="en-US" sz="2250" dirty="0" spc="-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</a:t>
            </a:r>
            <a:r>
              <a:rPr lang="en-US" sz="2250" dirty="0" spc="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login con</a:t>
            </a:r>
            <a:r>
              <a:rPr lang="en-US" sz="225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Google</a:t>
            </a:r>
            <a:r>
              <a:rPr lang="en-US" sz="225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antes</a:t>
            </a:r>
            <a:r>
              <a:rPr lang="en-US" sz="2250" dirty="0" spc="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del</a:t>
            </a:r>
            <a:r>
              <a:rPr lang="en-US" sz="2250" dirty="0" spc="-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primer</a:t>
            </a:r>
            <a:r>
              <a:rPr lang="en-US" sz="225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usuario,</a:t>
            </a:r>
            <a:r>
              <a:rPr lang="en-US" sz="225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no</a:t>
            </a:r>
            <a:r>
              <a:rPr lang="en-US" sz="2250" dirty="0" spc="-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es</a:t>
            </a:r>
            <a:r>
              <a:rPr lang="en-US" sz="225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mínimo.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2014200" y="5143500"/>
            <a:ext cx="51308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2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Las</a:t>
            </a:r>
            <a:r>
              <a:rPr lang="en-US" sz="2700" dirty="0" spc="-2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herramientas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2014200" y="5715000"/>
            <a:ext cx="51308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n8n,</a:t>
            </a:r>
            <a:r>
              <a:rPr lang="en-US" sz="2250" dirty="0" spc="-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Make</a:t>
            </a:r>
            <a:r>
              <a:rPr lang="en-US" sz="225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 Supabase</a:t>
            </a:r>
            <a:r>
              <a:rPr lang="en-US" sz="2250" dirty="0" spc="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conectan</a:t>
            </a:r>
            <a:r>
              <a:rPr lang="en-US" sz="225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 API</a:t>
            </a:r>
            <a:r>
              <a:rPr lang="en-US" sz="2250" dirty="0" spc="-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</a:t>
            </a:r>
            <a:r>
              <a:rPr lang="en-US" sz="225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WhatsApp con</a:t>
            </a:r>
            <a:r>
              <a:rPr lang="en-US" sz="2250" dirty="0" spc="3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un</a:t>
            </a:r>
            <a:r>
              <a:rPr lang="en-US" sz="225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modelo</a:t>
            </a:r>
            <a:r>
              <a:rPr lang="en-US" sz="225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</a:t>
            </a:r>
            <a:r>
              <a:rPr lang="en-US" sz="225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voz</a:t>
            </a:r>
            <a:r>
              <a:rPr lang="en-US" sz="2250" dirty="0" spc="-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</a:t>
            </a:r>
            <a:r>
              <a:rPr lang="en-US" sz="225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texto</a:t>
            </a:r>
            <a:r>
              <a:rPr lang="en-US" sz="2250" dirty="0" spc="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sin</a:t>
            </a:r>
            <a:r>
              <a:rPr lang="en-US" sz="2250" dirty="0" spc="-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programar.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1143000" y="8001000"/>
            <a:ext cx="16002000" cy="1619250"/>
          </a:xfrm>
          <a:prstGeom prst="roundRect">
            <a:avLst>
              <a:gd name="adj" fmla="val 11765"/>
            </a:avLst>
          </a:prstGeom>
          <a:solidFill>
            <a:srgbClr val="061219"/>
          </a:solidFill>
          <a:ln/>
        </p:spPr>
      </p:sp>
      <p:sp>
        <p:nvSpPr>
          <p:cNvPr id="14" name="Text 12"/>
          <p:cNvSpPr/>
          <p:nvPr/>
        </p:nvSpPr>
        <p:spPr>
          <a:xfrm>
            <a:off x="1600200" y="8229600"/>
            <a:ext cx="15087600" cy="830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«Si</a:t>
            </a:r>
            <a:r>
              <a:rPr lang="en-US" sz="2400" dirty="0" spc="2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tu</a:t>
            </a:r>
            <a:r>
              <a:rPr lang="en-US" sz="2400" dirty="0" spc="-3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primera</a:t>
            </a:r>
            <a:r>
              <a:rPr lang="en-US" sz="2400" dirty="0" spc="-7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versión</a:t>
            </a:r>
            <a:r>
              <a:rPr lang="en-US" sz="2400" dirty="0" spc="-1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tiene</a:t>
            </a:r>
            <a:r>
              <a:rPr lang="en-US" sz="2400" dirty="0" spc="-3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modo oscuro</a:t>
            </a:r>
            <a:r>
              <a:rPr lang="en-US" sz="2400" dirty="0" spc="0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y</a:t>
            </a:r>
            <a:r>
              <a:rPr lang="en-US" sz="2400" dirty="0" spc="-1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login</a:t>
            </a:r>
            <a:r>
              <a:rPr lang="en-US" sz="2400" dirty="0" spc="-3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con</a:t>
            </a:r>
            <a:r>
              <a:rPr lang="en-US" sz="2400" dirty="0" spc="-1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Google</a:t>
            </a:r>
            <a:r>
              <a:rPr lang="en-US" sz="2400" dirty="0" spc="-3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antes</a:t>
            </a:r>
            <a:r>
              <a:rPr lang="en-US" sz="2400" dirty="0" spc="-2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de</a:t>
            </a:r>
            <a:r>
              <a:rPr lang="en-US" sz="2400" dirty="0" spc="-1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tener</a:t>
            </a:r>
            <a:r>
              <a:rPr lang="en-US" sz="2400" dirty="0" spc="1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un</a:t>
            </a:r>
            <a:r>
              <a:rPr lang="en-US" sz="2400" dirty="0" spc="-2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solo</a:t>
            </a:r>
            <a:r>
              <a:rPr lang="en-US" sz="2400" dirty="0" spc="-3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usuario,</a:t>
            </a:r>
            <a:r>
              <a:rPr lang="en-US" sz="2400" dirty="0" spc="1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es</a:t>
            </a:r>
            <a:r>
              <a:rPr lang="en-US" sz="2400" dirty="0" spc="-1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que</a:t>
            </a:r>
            <a:r>
              <a:rPr lang="en-US" sz="2400" dirty="0" spc="-2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no</a:t>
            </a:r>
            <a:r>
              <a:rPr lang="en-US" sz="2400" dirty="0" spc="0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es</a:t>
            </a:r>
            <a:r>
              <a:rPr lang="en-US" sz="2400" dirty="0" spc="-1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mínimo»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600200" y="9114971"/>
            <a:ext cx="15087600" cy="276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2" kern="0">
                <a:solidFill>
                  <a:srgbClr val="0693E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Audio, minuto</a:t>
            </a:r>
            <a:r>
              <a:rPr lang="en-US" sz="1650" dirty="0" spc="4" kern="0">
                <a:solidFill>
                  <a:srgbClr val="0693E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11:28</a:t>
            </a:r>
            <a:endParaRPr lang="en-US" sz="16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oda image rect-1792683999002-797655542" descr="">    </p:cNvPr>
          <p:cNvPicPr>
            <a:picLocks noChangeAspect="1"/>
          </p:cNvPicPr>
          <p:nvPr/>
        </p:nvPicPr>
        <p:blipFill>
          <a:blip r:embed="rId1"/>
          <a:srcRect l="23728" r="23728" t="0" b="0"/>
          <a:stretch/>
        </p:blipFill>
        <p:spPr>
          <a:xfrm>
            <a:off x="0" y="0"/>
            <a:ext cx="7239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381000"/>
            <a:ext cx="3429000" cy="533400"/>
          </a:xfrm>
          <a:prstGeom prst="roundRect">
            <a:avLst>
              <a:gd name="adj" fmla="val 14286"/>
            </a:avLst>
          </a:prstGeom>
          <a:solidFill>
            <a:srgbClr val="0693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2" kern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TESTEAR</a:t>
            </a:r>
            <a:r>
              <a:rPr lang="en-US" sz="1950" b="1" dirty="0" spc="2" kern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Y</a:t>
            </a:r>
            <a:r>
              <a:rPr lang="en-US" sz="1950" b="1" dirty="0" spc="-2" kern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COBRAR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7905750" y="666750"/>
            <a:ext cx="9334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2" kern="0">
                <a:solidFill>
                  <a:srgbClr val="0693E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</a:t>
            </a:r>
            <a:r>
              <a:rPr lang="en-US" sz="1950" b="1" dirty="0" spc="0" kern="0">
                <a:solidFill>
                  <a:srgbClr val="0693E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QUE APRENDERÁS</a:t>
            </a:r>
            <a:pPr algn="l" indent="0" marL="0">
              <a:buNone/>
            </a:pPr>
            <a:r>
              <a:rPr lang="en-US" sz="1950" dirty="0" spc="-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Aprender de</a:t>
            </a:r>
            <a:r>
              <a:rPr lang="en-US" sz="1950" dirty="0" spc="-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lo</a:t>
            </a:r>
            <a:r>
              <a:rPr lang="en-US" sz="1950" dirty="0" spc="-3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que</a:t>
            </a:r>
            <a:r>
              <a:rPr lang="en-US" sz="1950" dirty="0" spc="-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</a:t>
            </a:r>
            <a:r>
              <a:rPr lang="en-US" sz="1950" dirty="0" spc="-5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gente</a:t>
            </a:r>
            <a:r>
              <a:rPr lang="en-US" sz="1950" dirty="0" spc="-4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hace con</a:t>
            </a:r>
            <a:r>
              <a:rPr lang="en-US" sz="1950" dirty="0" spc="-3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el</a:t>
            </a:r>
            <a:r>
              <a:rPr lang="en-US" sz="195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prototipo,</a:t>
            </a:r>
            <a:r>
              <a:rPr lang="en-US" sz="1950" dirty="0" spc="-5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no</a:t>
            </a:r>
            <a:r>
              <a:rPr lang="en-US" sz="1950" dirty="0" spc="-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</a:t>
            </a:r>
            <a:r>
              <a:rPr lang="en-US" sz="1950" dirty="0" spc="-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lo</a:t>
            </a:r>
            <a:r>
              <a:rPr lang="en-US" sz="1950" dirty="0" spc="-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que</a:t>
            </a:r>
            <a:r>
              <a:rPr lang="en-US" sz="1950" dirty="0" spc="-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opina.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7905750" y="1524000"/>
            <a:ext cx="93345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0" b="1" dirty="0" spc="-13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Observar</a:t>
            </a:r>
            <a:r>
              <a:rPr lang="en-US" sz="5100" b="1" dirty="0" spc="-4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a</a:t>
            </a:r>
            <a:r>
              <a:rPr lang="en-US" sz="5100" b="1" dirty="0" spc="-1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los</a:t>
            </a:r>
            <a:r>
              <a:rPr lang="en-US" sz="5100" b="1" dirty="0" spc="-3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usuarios</a:t>
            </a:r>
            <a:r>
              <a:rPr lang="en-US" sz="5100" b="1" dirty="0" spc="-31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reveló</a:t>
            </a:r>
            <a:r>
              <a:rPr lang="en-US" sz="5100" b="1" dirty="0" spc="0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el</a:t>
            </a:r>
            <a:r>
              <a:rPr lang="en-US" sz="5100" b="1" dirty="0" spc="-4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giro</a:t>
            </a:r>
            <a:r>
              <a:rPr lang="en-US" sz="5100" b="1" dirty="0" spc="2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de</a:t>
            </a:r>
            <a:r>
              <a:rPr lang="en-US" sz="5100" b="1" dirty="0" spc="-3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las</a:t>
            </a:r>
            <a:r>
              <a:rPr lang="en-US" sz="5100" b="1" dirty="0" spc="0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10</a:t>
            </a:r>
            <a:r>
              <a:rPr lang="en-US" sz="5100" b="1" dirty="0" spc="-5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p.</a:t>
            </a:r>
            <a:r>
              <a:rPr lang="en-US" sz="5100" b="1" dirty="0" spc="-3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m.</a:t>
            </a:r>
            <a:endParaRPr lang="en-US" sz="5100" dirty="0"/>
          </a:p>
        </p:txBody>
      </p:sp>
      <p:sp>
        <p:nvSpPr>
          <p:cNvPr id="6" name="Text 3"/>
          <p:cNvSpPr/>
          <p:nvPr/>
        </p:nvSpPr>
        <p:spPr>
          <a:xfrm>
            <a:off x="7905750" y="3619500"/>
            <a:ext cx="9334500" cy="41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La</a:t>
            </a:r>
            <a:r>
              <a:rPr lang="en-US" sz="2400" dirty="0" spc="3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prueba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905750" y="4148095"/>
            <a:ext cx="9334500" cy="792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5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</a:t>
            </a:r>
            <a:r>
              <a:rPr lang="en-US" sz="2100" dirty="0" spc="-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prototipo</a:t>
            </a:r>
            <a:r>
              <a:rPr lang="en-US" sz="210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</a:t>
            </a:r>
            <a:r>
              <a:rPr lang="en-US" sz="2100" dirty="0" spc="-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probó</a:t>
            </a:r>
            <a:r>
              <a:rPr lang="en-US" sz="210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 once</a:t>
            </a:r>
            <a:r>
              <a:rPr lang="en-US" sz="210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restaurantes</a:t>
            </a:r>
            <a:r>
              <a:rPr lang="en-US" sz="210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más,</a:t>
            </a:r>
            <a:r>
              <a:rPr lang="en-US" sz="210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observando el comportamiento.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7905750" y="5054257"/>
            <a:ext cx="9334500" cy="41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El</a:t>
            </a:r>
            <a:r>
              <a:rPr lang="en-US" sz="2400" dirty="0" spc="0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hallazgo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905750" y="5582851"/>
            <a:ext cx="9334500" cy="792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3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</a:t>
            </a:r>
            <a:r>
              <a:rPr lang="en-US" sz="210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las</a:t>
            </a:r>
            <a:r>
              <a:rPr lang="en-US" sz="2100" dirty="0" spc="-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9</a:t>
            </a:r>
            <a:r>
              <a:rPr lang="en-US" sz="2100" dirty="0" spc="-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p.</a:t>
            </a:r>
            <a:r>
              <a:rPr lang="en-US" sz="2100" dirty="0" spc="-3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m.</a:t>
            </a:r>
            <a:r>
              <a:rPr lang="en-US" sz="210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los</a:t>
            </a:r>
            <a:r>
              <a:rPr lang="en-US" sz="210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dueños</a:t>
            </a:r>
            <a:r>
              <a:rPr lang="en-US" sz="210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seguían limpiando la</a:t>
            </a:r>
            <a:r>
              <a:rPr lang="en-US" sz="2100" dirty="0" spc="3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cocina.</a:t>
            </a:r>
            <a:r>
              <a:rPr lang="en-US" sz="210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Querían</a:t>
            </a:r>
            <a:r>
              <a:rPr lang="en-US" sz="210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el mensaje</a:t>
            </a:r>
            <a:r>
              <a:rPr lang="en-US" sz="210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</a:t>
            </a:r>
            <a:r>
              <a:rPr lang="en-US" sz="2100" dirty="0" spc="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las</a:t>
            </a:r>
            <a:r>
              <a:rPr lang="en-US" sz="210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10,</a:t>
            </a:r>
            <a:r>
              <a:rPr lang="en-US" sz="210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ya</a:t>
            </a:r>
            <a:r>
              <a:rPr lang="en-US" sz="210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en</a:t>
            </a:r>
            <a:r>
              <a:rPr lang="en-US" sz="2100" dirty="0" spc="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casa.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7905750" y="6489014"/>
            <a:ext cx="9334500" cy="41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El</a:t>
            </a:r>
            <a:r>
              <a:rPr lang="en-US" sz="2400" dirty="0" spc="3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pedido</a:t>
            </a:r>
            <a:r>
              <a:rPr lang="en-US" sz="2400" dirty="0" spc="-7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extra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7905750" y="7017608"/>
            <a:ext cx="9334500" cy="792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</a:t>
            </a:r>
            <a:r>
              <a:rPr lang="en-US" sz="2100" dirty="0" spc="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el</a:t>
            </a:r>
            <a:r>
              <a:rPr lang="en-US" sz="2100" dirty="0" spc="-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resumen</a:t>
            </a:r>
            <a:r>
              <a:rPr lang="en-US" sz="2100" dirty="0" spc="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llegara</a:t>
            </a:r>
            <a:r>
              <a:rPr lang="en-US" sz="210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también</a:t>
            </a:r>
            <a:r>
              <a:rPr lang="en-US" sz="2100" dirty="0" spc="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</a:t>
            </a:r>
            <a:r>
              <a:rPr lang="en-US" sz="2100" dirty="0" spc="-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su</a:t>
            </a:r>
            <a:r>
              <a:rPr lang="en-US" sz="210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contador.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7905750" y="8191500"/>
            <a:ext cx="9334500" cy="1524000"/>
          </a:xfrm>
          <a:prstGeom prst="roundRect">
            <a:avLst>
              <a:gd name="adj" fmla="val 10000"/>
            </a:avLst>
          </a:prstGeom>
          <a:solidFill>
            <a:srgbClr val="EAF5FE"/>
          </a:solidFill>
          <a:ln/>
        </p:spPr>
      </p:sp>
      <p:sp>
        <p:nvSpPr>
          <p:cNvPr id="13" name="Text 10"/>
          <p:cNvSpPr/>
          <p:nvPr/>
        </p:nvSpPr>
        <p:spPr>
          <a:xfrm>
            <a:off x="8210550" y="8401050"/>
            <a:ext cx="8724900" cy="773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3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«Ajustes</a:t>
            </a:r>
            <a:r>
              <a:rPr lang="en-US" sz="2400" dirty="0" spc="0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que</a:t>
            </a:r>
            <a:r>
              <a:rPr lang="en-US" sz="2400" dirty="0" spc="-1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sin salir</a:t>
            </a:r>
            <a:r>
              <a:rPr lang="en-US" sz="2400" dirty="0" spc="-4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a</a:t>
            </a:r>
            <a:r>
              <a:rPr lang="en-US" sz="2400" dirty="0" spc="-2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la</a:t>
            </a:r>
            <a:r>
              <a:rPr lang="en-US" sz="2400" dirty="0" spc="-3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calle</a:t>
            </a:r>
            <a:r>
              <a:rPr lang="en-US" sz="2400" dirty="0" spc="-1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jamás</a:t>
            </a:r>
            <a:r>
              <a:rPr lang="en-US" sz="2400" dirty="0" spc="-3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habrían</a:t>
            </a:r>
            <a:r>
              <a:rPr lang="en-US" sz="2400" dirty="0" spc="-1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descubierto»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8210550" y="9229725"/>
            <a:ext cx="87249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2" kern="0">
                <a:solidFill>
                  <a:srgbClr val="5E90C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Audio, minuto</a:t>
            </a:r>
            <a:r>
              <a:rPr lang="en-US" sz="1650" dirty="0" spc="4" kern="0">
                <a:solidFill>
                  <a:srgbClr val="5E90C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12:19</a:t>
            </a:r>
            <a:r>
              <a:rPr lang="en-US" sz="1650" dirty="0" spc="0" kern="0">
                <a:solidFill>
                  <a:srgbClr val="5E90C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·</a:t>
            </a:r>
            <a:r>
              <a:rPr lang="en-US" sz="1650" dirty="0" spc="3" kern="0">
                <a:solidFill>
                  <a:srgbClr val="5E90C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Formato</a:t>
            </a:r>
            <a:r>
              <a:rPr lang="en-US" sz="1650" dirty="0" spc="5" kern="0">
                <a:solidFill>
                  <a:srgbClr val="5E90C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11</a:t>
            </a:r>
            <a:endParaRPr lang="en-US" sz="16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AF5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66750"/>
            <a:ext cx="16002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2" kern="0">
                <a:solidFill>
                  <a:srgbClr val="0693E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 QUE</a:t>
            </a:r>
            <a:r>
              <a:rPr lang="en-US" sz="2100" b="1" dirty="0" spc="-1" kern="0">
                <a:solidFill>
                  <a:srgbClr val="0693E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APRENDERÁS</a:t>
            </a:r>
            <a:pPr algn="l" indent="0" marL="0">
              <a:buNone/>
            </a:pPr>
            <a:r>
              <a:rPr lang="en-US" sz="210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Calcular</a:t>
            </a:r>
            <a:r>
              <a:rPr lang="en-US" sz="2100" dirty="0" spc="-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un</a:t>
            </a:r>
            <a:r>
              <a:rPr lang="en-US" sz="210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precio</a:t>
            </a:r>
            <a:r>
              <a:rPr lang="en-US" sz="210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</a:t>
            </a:r>
            <a:r>
              <a:rPr lang="en-US" sz="2100" dirty="0" spc="-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partir</a:t>
            </a:r>
            <a:r>
              <a:rPr lang="en-US" sz="210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del valor que</a:t>
            </a:r>
            <a:r>
              <a:rPr lang="en-US" sz="210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recibe el</a:t>
            </a:r>
            <a:r>
              <a:rPr lang="en-US" sz="210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cliente.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143000" y="1238250"/>
            <a:ext cx="1600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94" b="1" dirty="0" spc="-10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Cobra</a:t>
            </a:r>
            <a:r>
              <a:rPr lang="en-US" sz="5194" b="1" dirty="0" spc="-3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por el</a:t>
            </a:r>
            <a:r>
              <a:rPr lang="en-US" sz="5194" b="1" dirty="0" spc="-22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valor</a:t>
            </a:r>
            <a:r>
              <a:rPr lang="en-US" sz="5194" b="1" dirty="0" spc="0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que</a:t>
            </a:r>
            <a:r>
              <a:rPr lang="en-US" sz="5194" b="1" dirty="0" spc="-7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generas,</a:t>
            </a:r>
            <a:r>
              <a:rPr lang="en-US" sz="5194" b="1" dirty="0" spc="-1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no</a:t>
            </a:r>
            <a:r>
              <a:rPr lang="en-US" sz="5194" b="1" dirty="0" spc="-2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por</a:t>
            </a:r>
            <a:r>
              <a:rPr lang="en-US" sz="5194" b="1" dirty="0" spc="-1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tus</a:t>
            </a:r>
            <a:r>
              <a:rPr lang="en-US" sz="5194" b="1" dirty="0" spc="-3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costos</a:t>
            </a:r>
            <a:endParaRPr lang="en-US" sz="5194" dirty="0"/>
          </a:p>
        </p:txBody>
      </p:sp>
      <p:sp>
        <p:nvSpPr>
          <p:cNvPr id="4" name="Shape 2"/>
          <p:cNvSpPr/>
          <p:nvPr/>
        </p:nvSpPr>
        <p:spPr>
          <a:xfrm>
            <a:off x="1143000" y="2762250"/>
            <a:ext cx="5130800" cy="45720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3143250"/>
            <a:ext cx="4368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1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La</a:t>
            </a:r>
            <a:r>
              <a:rPr lang="en-US" sz="2250" dirty="0" spc="-3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regla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524000" y="3638550"/>
            <a:ext cx="4368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17" b="1" dirty="0" spc="-44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10–20</a:t>
            </a:r>
            <a:r>
              <a:rPr lang="en-US" sz="8117" b="1" dirty="0" spc="1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%</a:t>
            </a:r>
            <a:endParaRPr lang="en-US" sz="8117" dirty="0"/>
          </a:p>
        </p:txBody>
      </p:sp>
      <p:sp>
        <p:nvSpPr>
          <p:cNvPr id="7" name="Text 5"/>
          <p:cNvSpPr/>
          <p:nvPr/>
        </p:nvSpPr>
        <p:spPr>
          <a:xfrm>
            <a:off x="1524000" y="4991100"/>
            <a:ext cx="43688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Cobrar entre</a:t>
            </a:r>
            <a:r>
              <a:rPr lang="en-US" sz="210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el</a:t>
            </a:r>
            <a:r>
              <a:rPr lang="en-US" sz="2100" dirty="0" spc="-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10</a:t>
            </a:r>
            <a:r>
              <a:rPr lang="en-US" sz="2100" dirty="0" spc="-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% y</a:t>
            </a:r>
            <a:r>
              <a:rPr lang="en-US" sz="210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el</a:t>
            </a:r>
            <a:r>
              <a:rPr lang="en-US" sz="2100" dirty="0" spc="-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20</a:t>
            </a:r>
            <a:r>
              <a:rPr lang="en-US" sz="2100" dirty="0" spc="-3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%</a:t>
            </a:r>
            <a:r>
              <a:rPr lang="en-US" sz="210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del valor</a:t>
            </a:r>
            <a:r>
              <a:rPr lang="en-US" sz="210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económico</a:t>
            </a:r>
            <a:r>
              <a:rPr lang="en-US" sz="2100" dirty="0" spc="-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que</a:t>
            </a:r>
            <a:r>
              <a:rPr lang="en-US" sz="210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generas</a:t>
            </a:r>
            <a:r>
              <a:rPr lang="en-US" sz="210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al cliente.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578600" y="2762250"/>
            <a:ext cx="5130800" cy="45720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959600" y="3143250"/>
            <a:ext cx="4368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El</a:t>
            </a:r>
            <a:r>
              <a:rPr lang="en-US" sz="2250" dirty="0" spc="-8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valor</a:t>
            </a:r>
            <a:r>
              <a:rPr lang="en-US" sz="2250" dirty="0" spc="-1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para</a:t>
            </a:r>
            <a:r>
              <a:rPr lang="en-US" sz="2250" dirty="0" spc="-4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Rosa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6959600" y="3638550"/>
            <a:ext cx="4368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17" b="1" dirty="0" spc="-3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$120</a:t>
            </a:r>
            <a:endParaRPr lang="en-US" sz="8117" dirty="0"/>
          </a:p>
        </p:txBody>
      </p:sp>
      <p:sp>
        <p:nvSpPr>
          <p:cNvPr id="11" name="Text 9"/>
          <p:cNvSpPr/>
          <p:nvPr/>
        </p:nvSpPr>
        <p:spPr>
          <a:xfrm>
            <a:off x="6959600" y="4991100"/>
            <a:ext cx="43688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$120 al</a:t>
            </a:r>
            <a:r>
              <a:rPr lang="en-US" sz="2100" dirty="0" spc="-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mes</a:t>
            </a:r>
            <a:r>
              <a:rPr lang="en-US" sz="210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en comida que</a:t>
            </a:r>
            <a:r>
              <a:rPr lang="en-US" sz="210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ya</a:t>
            </a:r>
            <a:r>
              <a:rPr lang="en-US" sz="2100" dirty="0" spc="-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no</a:t>
            </a:r>
            <a:r>
              <a:rPr lang="en-US" sz="210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tira</a:t>
            </a:r>
            <a:r>
              <a:rPr lang="en-US" sz="2100" dirty="0" spc="-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</a:t>
            </a:r>
            <a:r>
              <a:rPr lang="en-US" sz="2100" dirty="0" spc="-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25</a:t>
            </a:r>
            <a:r>
              <a:rPr lang="en-US" sz="210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horas</a:t>
            </a:r>
            <a:r>
              <a:rPr lang="en-US" sz="2100" dirty="0" spc="-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</a:t>
            </a:r>
            <a:r>
              <a:rPr lang="en-US" sz="210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trabajo ahorradas.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2014200" y="2762250"/>
            <a:ext cx="5130800" cy="4572000"/>
          </a:xfrm>
          <a:prstGeom prst="roundRect">
            <a:avLst>
              <a:gd name="adj" fmla="val 4167"/>
            </a:avLst>
          </a:prstGeom>
          <a:solidFill>
            <a:srgbClr val="0693E3"/>
          </a:solidFill>
          <a:ln/>
        </p:spPr>
      </p:sp>
      <p:sp>
        <p:nvSpPr>
          <p:cNvPr id="13" name="Text 11"/>
          <p:cNvSpPr/>
          <p:nvPr/>
        </p:nvSpPr>
        <p:spPr>
          <a:xfrm>
            <a:off x="12395200" y="3143250"/>
            <a:ext cx="4368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061219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El</a:t>
            </a:r>
            <a:r>
              <a:rPr lang="en-US" sz="2250" dirty="0" spc="0" kern="0">
                <a:solidFill>
                  <a:srgbClr val="061219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precio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2395200" y="3638550"/>
            <a:ext cx="4368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78" b="1" dirty="0" spc="-61" kern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$15/mes</a:t>
            </a:r>
            <a:endParaRPr lang="en-US" sz="7878" dirty="0"/>
          </a:p>
        </p:txBody>
      </p:sp>
      <p:sp>
        <p:nvSpPr>
          <p:cNvPr id="15" name="Text 13"/>
          <p:cNvSpPr/>
          <p:nvPr/>
        </p:nvSpPr>
        <p:spPr>
          <a:xfrm>
            <a:off x="12395200" y="4991100"/>
            <a:ext cx="43688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$15 al</a:t>
            </a:r>
            <a:r>
              <a:rPr lang="en-US" sz="210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mes: una</a:t>
            </a:r>
            <a:r>
              <a:rPr lang="en-US" sz="210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ganga</a:t>
            </a:r>
            <a:r>
              <a:rPr lang="en-US" sz="210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para</a:t>
            </a:r>
            <a:r>
              <a:rPr lang="en-US" sz="2100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ella.</a:t>
            </a:r>
            <a:r>
              <a:rPr lang="en-US" sz="210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El</a:t>
            </a:r>
            <a:r>
              <a:rPr lang="en-US" sz="2100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cálculo</a:t>
            </a:r>
            <a:r>
              <a:rPr lang="en-US" sz="210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paso</a:t>
            </a:r>
            <a:r>
              <a:rPr lang="en-US" sz="210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</a:t>
            </a:r>
            <a:r>
              <a:rPr lang="en-US" sz="210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paso está</a:t>
            </a:r>
            <a:r>
              <a:rPr lang="en-US" sz="210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en el</a:t>
            </a:r>
            <a:r>
              <a:rPr lang="en-US" sz="210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capítulo</a:t>
            </a:r>
            <a:r>
              <a:rPr lang="en-US" sz="2100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10</a:t>
            </a:r>
            <a:r>
              <a:rPr lang="en-US" sz="210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del libro.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143000" y="8001000"/>
            <a:ext cx="1600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i="1" dirty="0" spc="-1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«Cobrarle</a:t>
            </a:r>
            <a:r>
              <a:rPr lang="en-US" sz="3150" i="1" dirty="0" spc="0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quince</a:t>
            </a:r>
            <a:r>
              <a:rPr lang="en-US" sz="3150" i="1" dirty="0" spc="-4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dólares</a:t>
            </a:r>
            <a:r>
              <a:rPr lang="en-US" sz="3150" i="1" dirty="0" spc="-1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mensuales</a:t>
            </a:r>
            <a:r>
              <a:rPr lang="en-US" sz="3150" i="1" dirty="0" spc="0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es una</a:t>
            </a:r>
            <a:r>
              <a:rPr lang="en-US" sz="3150" i="1" dirty="0" spc="-2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ganga</a:t>
            </a:r>
            <a:r>
              <a:rPr lang="en-US" sz="3150" i="1" dirty="0" spc="-3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para</a:t>
            </a:r>
            <a:r>
              <a:rPr lang="en-US" sz="3150" i="1" dirty="0" spc="-2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ella»</a:t>
            </a:r>
            <a:endParaRPr lang="en-US" sz="3150" dirty="0"/>
          </a:p>
        </p:txBody>
      </p:sp>
      <p:sp>
        <p:nvSpPr>
          <p:cNvPr id="17" name="Text 15"/>
          <p:cNvSpPr/>
          <p:nvPr/>
        </p:nvSpPr>
        <p:spPr>
          <a:xfrm>
            <a:off x="1143000" y="8715375"/>
            <a:ext cx="952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1" kern="0">
                <a:solidFill>
                  <a:srgbClr val="0693E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Audio,</a:t>
            </a:r>
            <a:r>
              <a:rPr lang="en-US" sz="1800" dirty="0" spc="3" kern="0">
                <a:solidFill>
                  <a:srgbClr val="0693E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minuto</a:t>
            </a:r>
            <a:r>
              <a:rPr lang="en-US" sz="1800" dirty="0" spc="4" kern="0">
                <a:solidFill>
                  <a:srgbClr val="0693E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13:05</a:t>
            </a:r>
            <a:r>
              <a:rPr lang="en-US" sz="1800" dirty="0" spc="1" kern="0">
                <a:solidFill>
                  <a:srgbClr val="0693E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· Formato</a:t>
            </a:r>
            <a:r>
              <a:rPr lang="en-US" sz="1800" dirty="0" spc="4" kern="0">
                <a:solidFill>
                  <a:srgbClr val="0693E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13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66750"/>
            <a:ext cx="16002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2" kern="0">
                <a:solidFill>
                  <a:srgbClr val="0693E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 QUE</a:t>
            </a:r>
            <a:r>
              <a:rPr lang="en-US" sz="2100" b="1" dirty="0" spc="-1" kern="0">
                <a:solidFill>
                  <a:srgbClr val="0693E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APRENDERÁS</a:t>
            </a:r>
            <a:pPr algn="l" indent="0" marL="0">
              <a:buNone/>
            </a:pPr>
            <a:r>
              <a:rPr lang="en-US" sz="2100" dirty="0" spc="-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Comprobar</a:t>
            </a:r>
            <a:r>
              <a:rPr lang="en-US" sz="210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</a:t>
            </a:r>
            <a:r>
              <a:rPr lang="en-US" sz="2100" dirty="0" spc="-4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LTV</a:t>
            </a:r>
            <a:r>
              <a:rPr lang="en-US" sz="210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</a:t>
            </a:r>
            <a:r>
              <a:rPr lang="en-US" sz="2100" dirty="0" spc="-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CAC</a:t>
            </a:r>
            <a:r>
              <a:rPr lang="en-US" sz="210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si</a:t>
            </a:r>
            <a:r>
              <a:rPr lang="en-US" sz="210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el negocio</a:t>
            </a:r>
            <a:r>
              <a:rPr lang="en-US" sz="2100" dirty="0" spc="-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es</a:t>
            </a:r>
            <a:r>
              <a:rPr lang="en-US" sz="210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rentable.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143000" y="1238250"/>
            <a:ext cx="1600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63" b="1" dirty="0" spc="2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Cada</a:t>
            </a:r>
            <a:r>
              <a:rPr lang="en-US" sz="5663" b="1" dirty="0" spc="-4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cliente</a:t>
            </a:r>
            <a:r>
              <a:rPr lang="en-US" sz="5663" b="1" dirty="0" spc="2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debe</a:t>
            </a:r>
            <a:r>
              <a:rPr lang="en-US" sz="5663" b="1" dirty="0" spc="1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dejar más</a:t>
            </a:r>
            <a:r>
              <a:rPr lang="en-US" sz="5663" b="1" dirty="0" spc="2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de</a:t>
            </a:r>
            <a:r>
              <a:rPr lang="en-US" sz="5663" b="1" dirty="0" spc="0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lo</a:t>
            </a:r>
            <a:r>
              <a:rPr lang="en-US" sz="5663" b="1" dirty="0" spc="2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que</a:t>
            </a:r>
            <a:r>
              <a:rPr lang="en-US" sz="5663" b="1" dirty="0" spc="0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cuesta</a:t>
            </a:r>
            <a:endParaRPr lang="en-US" sz="5663" dirty="0"/>
          </a:p>
        </p:txBody>
      </p:sp>
      <p:sp>
        <p:nvSpPr>
          <p:cNvPr id="4" name="Shape 2"/>
          <p:cNvSpPr/>
          <p:nvPr/>
        </p:nvSpPr>
        <p:spPr>
          <a:xfrm>
            <a:off x="1143000" y="2762250"/>
            <a:ext cx="7239000" cy="2857500"/>
          </a:xfrm>
          <a:prstGeom prst="roundRect">
            <a:avLst>
              <a:gd name="adj" fmla="val 6667"/>
            </a:avLst>
          </a:prstGeom>
          <a:solidFill>
            <a:srgbClr val="EAF5FE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3143250"/>
            <a:ext cx="6477000" cy="849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69" b="1" dirty="0" spc="-47" kern="0">
                <a:solidFill>
                  <a:srgbClr val="5E90C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CAC</a:t>
            </a:r>
            <a:endParaRPr lang="en-US" sz="5569" dirty="0"/>
          </a:p>
        </p:txBody>
      </p:sp>
      <p:sp>
        <p:nvSpPr>
          <p:cNvPr id="6" name="Text 4"/>
          <p:cNvSpPr/>
          <p:nvPr/>
        </p:nvSpPr>
        <p:spPr>
          <a:xfrm>
            <a:off x="1524000" y="4106047"/>
            <a:ext cx="6477000" cy="1132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 que</a:t>
            </a:r>
            <a:r>
              <a:rPr lang="en-US" sz="225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te</a:t>
            </a:r>
            <a:r>
              <a:rPr lang="en-US" sz="225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cuesta</a:t>
            </a:r>
            <a:r>
              <a:rPr lang="en-US" sz="225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captar</a:t>
            </a:r>
            <a:r>
              <a:rPr lang="en-US" sz="225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un</a:t>
            </a:r>
            <a:r>
              <a:rPr lang="en-US" sz="2250" dirty="0" spc="3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cliente:</a:t>
            </a:r>
            <a:r>
              <a:rPr lang="en-US" sz="2250" dirty="0" spc="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publicidad,</a:t>
            </a:r>
            <a:r>
              <a:rPr lang="en-US" sz="2250" dirty="0" spc="-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visitas,</a:t>
            </a:r>
            <a:r>
              <a:rPr lang="en-US" sz="2250" dirty="0" spc="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tu</a:t>
            </a:r>
            <a:r>
              <a:rPr lang="en-US" sz="225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tiempo.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8382000" y="3619500"/>
            <a:ext cx="152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50" b="1" dirty="0" spc="2" kern="0">
                <a:solidFill>
                  <a:srgbClr val="0693E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&lt;</a:t>
            </a:r>
            <a:endParaRPr lang="en-US" sz="6750" dirty="0"/>
          </a:p>
        </p:txBody>
      </p:sp>
      <p:sp>
        <p:nvSpPr>
          <p:cNvPr id="8" name="Shape 6"/>
          <p:cNvSpPr/>
          <p:nvPr/>
        </p:nvSpPr>
        <p:spPr>
          <a:xfrm>
            <a:off x="9906000" y="2762250"/>
            <a:ext cx="7239000" cy="2857500"/>
          </a:xfrm>
          <a:prstGeom prst="roundRect">
            <a:avLst>
              <a:gd name="adj" fmla="val 6667"/>
            </a:avLst>
          </a:prstGeom>
          <a:solidFill>
            <a:srgbClr val="0693E3"/>
          </a:solidFill>
          <a:ln/>
        </p:spPr>
      </p:sp>
      <p:sp>
        <p:nvSpPr>
          <p:cNvPr id="9" name="Text 7"/>
          <p:cNvSpPr/>
          <p:nvPr/>
        </p:nvSpPr>
        <p:spPr>
          <a:xfrm>
            <a:off x="10287000" y="3143250"/>
            <a:ext cx="6477000" cy="849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69" b="1" dirty="0" spc="-201" kern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LTV</a:t>
            </a:r>
            <a:endParaRPr lang="en-US" sz="5569" dirty="0"/>
          </a:p>
        </p:txBody>
      </p:sp>
      <p:sp>
        <p:nvSpPr>
          <p:cNvPr id="10" name="Text 8"/>
          <p:cNvSpPr/>
          <p:nvPr/>
        </p:nvSpPr>
        <p:spPr>
          <a:xfrm>
            <a:off x="10287000" y="4106047"/>
            <a:ext cx="6477000" cy="1132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 que</a:t>
            </a:r>
            <a:r>
              <a:rPr lang="en-US" sz="225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te</a:t>
            </a:r>
            <a:r>
              <a:rPr lang="en-US" sz="225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deja</a:t>
            </a:r>
            <a:r>
              <a:rPr lang="en-US" sz="225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ese</a:t>
            </a:r>
            <a:r>
              <a:rPr lang="en-US" sz="2250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cliente</a:t>
            </a:r>
            <a:r>
              <a:rPr lang="en-US" sz="225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durante</a:t>
            </a:r>
            <a:r>
              <a:rPr lang="en-US" sz="225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todo</a:t>
            </a:r>
            <a:r>
              <a:rPr lang="en-US" sz="225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el tiempo que</a:t>
            </a:r>
            <a:r>
              <a:rPr lang="en-US" sz="225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</a:t>
            </a:r>
            <a:r>
              <a:rPr lang="en-US" sz="225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queda.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1143000" y="6000750"/>
            <a:ext cx="16002000" cy="1809750"/>
          </a:xfrm>
          <a:prstGeom prst="roundRect">
            <a:avLst>
              <a:gd name="adj" fmla="val 10526"/>
            </a:avLst>
          </a:prstGeom>
          <a:solidFill>
            <a:srgbClr val="061219"/>
          </a:solidFill>
          <a:ln/>
        </p:spPr>
      </p:sp>
      <p:sp>
        <p:nvSpPr>
          <p:cNvPr id="12" name="Text 10"/>
          <p:cNvSpPr/>
          <p:nvPr/>
        </p:nvSpPr>
        <p:spPr>
          <a:xfrm>
            <a:off x="1600200" y="6305550"/>
            <a:ext cx="150876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1" dirty="0" spc="2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La</a:t>
            </a:r>
            <a:r>
              <a:rPr lang="en-US" sz="2401" dirty="0" spc="-1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regla</a:t>
            </a:r>
            <a:endParaRPr lang="en-US" sz="2401" dirty="0"/>
          </a:p>
        </p:txBody>
      </p:sp>
      <p:sp>
        <p:nvSpPr>
          <p:cNvPr id="13" name="Text 11"/>
          <p:cNvSpPr/>
          <p:nvPr/>
        </p:nvSpPr>
        <p:spPr>
          <a:xfrm>
            <a:off x="1600200" y="6755606"/>
            <a:ext cx="15087600" cy="750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</a:t>
            </a:r>
            <a:r>
              <a:rPr lang="en-US" sz="225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captar cuesta</a:t>
            </a:r>
            <a:r>
              <a:rPr lang="en-US" sz="225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$50</a:t>
            </a:r>
            <a:r>
              <a:rPr lang="en-US" sz="225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</a:t>
            </a:r>
            <a:r>
              <a:rPr lang="en-US" sz="225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el</a:t>
            </a:r>
            <a:r>
              <a:rPr lang="en-US" sz="2250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cliente</a:t>
            </a:r>
            <a:r>
              <a:rPr lang="en-US" sz="2250" dirty="0" spc="-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</a:t>
            </a:r>
            <a:r>
              <a:rPr lang="en-US" sz="225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va</a:t>
            </a:r>
            <a:r>
              <a:rPr lang="en-US" sz="2250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tras pagar $40,</a:t>
            </a:r>
            <a:r>
              <a:rPr lang="en-US" sz="225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estás</a:t>
            </a:r>
            <a:r>
              <a:rPr lang="en-US" sz="225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muerto.</a:t>
            </a:r>
            <a:r>
              <a:rPr lang="en-US" sz="225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El LTV</a:t>
            </a:r>
            <a:r>
              <a:rPr lang="en-US" sz="225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debe</a:t>
            </a:r>
            <a:r>
              <a:rPr lang="en-US" sz="2250" dirty="0" spc="-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ser</a:t>
            </a:r>
            <a:r>
              <a:rPr lang="en-US" sz="225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al</a:t>
            </a:r>
            <a:r>
              <a:rPr lang="en-US" sz="225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menos</a:t>
            </a:r>
            <a:r>
              <a:rPr lang="en-US" sz="2250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tres</a:t>
            </a:r>
            <a:r>
              <a:rPr lang="en-US" sz="225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veces el</a:t>
            </a:r>
            <a:r>
              <a:rPr lang="en-US" sz="225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CAC;</a:t>
            </a:r>
            <a:r>
              <a:rPr lang="en-US" sz="225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Rosa</a:t>
            </a:r>
            <a:r>
              <a:rPr lang="en-US" sz="225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llega</a:t>
            </a:r>
            <a:r>
              <a:rPr lang="en-US" sz="2250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</a:t>
            </a:r>
            <a:r>
              <a:rPr lang="en-US" sz="225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seis.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143000" y="8191500"/>
            <a:ext cx="1600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i="1" dirty="0" spc="0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«Esto</a:t>
            </a:r>
            <a:r>
              <a:rPr lang="en-US" sz="2850" i="1" dirty="0" spc="1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nos</a:t>
            </a:r>
            <a:r>
              <a:rPr lang="en-US" sz="2850" i="1" dirty="0" spc="-9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lleva</a:t>
            </a:r>
            <a:r>
              <a:rPr lang="en-US" sz="2850" i="1" dirty="0" spc="1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a</a:t>
            </a:r>
            <a:r>
              <a:rPr lang="en-US" sz="2850" i="1" dirty="0" spc="0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un</a:t>
            </a:r>
            <a:r>
              <a:rPr lang="en-US" sz="2850" i="1" dirty="0" spc="1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cálculo</a:t>
            </a:r>
            <a:r>
              <a:rPr lang="en-US" sz="2850" i="1" dirty="0" spc="-2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de</a:t>
            </a:r>
            <a:r>
              <a:rPr lang="en-US" sz="2850" i="1" dirty="0" spc="-1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vida</a:t>
            </a:r>
            <a:r>
              <a:rPr lang="en-US" sz="2850" i="1" dirty="0" spc="0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o muerte</a:t>
            </a:r>
            <a:r>
              <a:rPr lang="en-US" sz="2850" i="1" dirty="0" spc="-2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para</a:t>
            </a:r>
            <a:r>
              <a:rPr lang="en-US" sz="2850" i="1" dirty="0" spc="-1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cualquier</a:t>
            </a:r>
            <a:r>
              <a:rPr lang="en-US" sz="2850" i="1" dirty="0" spc="1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negocio</a:t>
            </a:r>
            <a:r>
              <a:rPr lang="en-US" sz="2850" i="1" dirty="0" spc="-2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de</a:t>
            </a:r>
            <a:r>
              <a:rPr lang="en-US" sz="2850" i="1" dirty="0" spc="2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este</a:t>
            </a:r>
            <a:r>
              <a:rPr lang="en-US" sz="2850" i="1" dirty="0" spc="0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tipo»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1143000" y="8905875"/>
            <a:ext cx="952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1" kern="0">
                <a:solidFill>
                  <a:srgbClr val="0693E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Audio,</a:t>
            </a:r>
            <a:r>
              <a:rPr lang="en-US" sz="1800" dirty="0" spc="3" kern="0">
                <a:solidFill>
                  <a:srgbClr val="0693E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minuto</a:t>
            </a:r>
            <a:r>
              <a:rPr lang="en-US" sz="1800" dirty="0" spc="4" kern="0">
                <a:solidFill>
                  <a:srgbClr val="0693E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13:11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AF5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66750"/>
            <a:ext cx="16002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2" kern="0">
                <a:solidFill>
                  <a:srgbClr val="0693E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 QUE</a:t>
            </a:r>
            <a:r>
              <a:rPr lang="en-US" sz="2100" b="1" dirty="0" spc="-1" kern="0">
                <a:solidFill>
                  <a:srgbClr val="0693E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APRENDERÁS</a:t>
            </a:r>
            <a:pPr algn="l" indent="0" marL="0">
              <a:buNone/>
            </a:pPr>
            <a:r>
              <a:rPr lang="en-US" sz="210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Elegir</a:t>
            </a:r>
            <a:r>
              <a:rPr lang="en-US" sz="210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una</a:t>
            </a:r>
            <a:r>
              <a:rPr lang="en-US" sz="2100" dirty="0" spc="-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ruta para empezar</a:t>
            </a:r>
            <a:r>
              <a:rPr lang="en-US" sz="210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</a:t>
            </a:r>
            <a:r>
              <a:rPr lang="en-US" sz="210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ganar dinero como</a:t>
            </a:r>
            <a:r>
              <a:rPr lang="en-US" sz="210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ingeniero</a:t>
            </a:r>
            <a:r>
              <a:rPr lang="en-US" sz="210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</a:t>
            </a:r>
            <a:r>
              <a:rPr lang="en-US" sz="210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sistemas.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143000" y="1238250"/>
            <a:ext cx="1600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 spc="1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Cinco rutas</a:t>
            </a:r>
            <a:r>
              <a:rPr lang="en-US" sz="6000" b="1" dirty="0" spc="-9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para</a:t>
            </a:r>
            <a:r>
              <a:rPr lang="en-US" sz="6000" b="1" dirty="0" spc="-11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facturar</a:t>
            </a:r>
            <a:r>
              <a:rPr lang="en-US" sz="6000" b="1" dirty="0" spc="0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con</a:t>
            </a:r>
            <a:r>
              <a:rPr lang="en-US" sz="6000" b="1" dirty="0" spc="-2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IA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1143000" y="2762250"/>
            <a:ext cx="5130800" cy="45720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</p:spPr>
      </p:sp>
      <p:pic>
        <p:nvPicPr>
          <p:cNvPr id="5" name="Moda image rect-1792684013853-5671640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24000" y="3143250"/>
            <a:ext cx="1047750" cy="10477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24000" y="4343400"/>
            <a:ext cx="436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12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Para</a:t>
            </a:r>
            <a:r>
              <a:rPr lang="en-US" sz="2700" dirty="0" spc="-4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facturar</a:t>
            </a:r>
            <a:r>
              <a:rPr lang="en-US" sz="2700" dirty="0" spc="-2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rápido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1524000" y="4953000"/>
            <a:ext cx="43688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</a:t>
            </a:r>
            <a:r>
              <a:rPr lang="en-US" sz="2250" dirty="0" spc="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Automatizaciones</a:t>
            </a:r>
            <a:r>
              <a:rPr lang="en-US" sz="2250" dirty="0" spc="-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para</a:t>
            </a:r>
            <a:r>
              <a:rPr lang="en-US" sz="2250" dirty="0" spc="-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pymes y</a:t>
            </a:r>
            <a:r>
              <a:rPr lang="en-US" sz="225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2.</a:t>
            </a:r>
            <a:r>
              <a:rPr lang="en-US" sz="2250" dirty="0" spc="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un</a:t>
            </a:r>
            <a:r>
              <a:rPr lang="en-US" sz="225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servicio productizado,</a:t>
            </a:r>
            <a:r>
              <a:rPr lang="en-US" sz="2250" dirty="0" spc="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 alcance</a:t>
            </a:r>
            <a:r>
              <a:rPr lang="en-US" sz="2250" dirty="0" spc="-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</a:t>
            </a:r>
            <a:r>
              <a:rPr lang="en-US" sz="225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precio fijos.</a:t>
            </a:r>
            <a:endParaRPr lang="en-US" sz="2250" dirty="0"/>
          </a:p>
        </p:txBody>
      </p:sp>
      <p:sp>
        <p:nvSpPr>
          <p:cNvPr id="8" name="Shape 5"/>
          <p:cNvSpPr/>
          <p:nvPr/>
        </p:nvSpPr>
        <p:spPr>
          <a:xfrm>
            <a:off x="6578600" y="2762250"/>
            <a:ext cx="5130800" cy="45720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</p:spPr>
      </p:sp>
      <p:pic>
        <p:nvPicPr>
          <p:cNvPr id="9" name="Moda image rect-1792684014373-657802475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959600" y="3143250"/>
            <a:ext cx="1047750" cy="10477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59600" y="4343400"/>
            <a:ext cx="436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12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Para</a:t>
            </a:r>
            <a:r>
              <a:rPr lang="en-US" sz="2700" dirty="0" spc="2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escalar</a:t>
            </a:r>
            <a:endParaRPr lang="en-US" sz="2700" dirty="0"/>
          </a:p>
        </p:txBody>
      </p:sp>
      <p:sp>
        <p:nvSpPr>
          <p:cNvPr id="11" name="Text 7"/>
          <p:cNvSpPr/>
          <p:nvPr/>
        </p:nvSpPr>
        <p:spPr>
          <a:xfrm>
            <a:off x="6959600" y="4953000"/>
            <a:ext cx="43688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</a:t>
            </a:r>
            <a:r>
              <a:rPr lang="en-US" sz="225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Micro-SaaS:</a:t>
            </a:r>
            <a:r>
              <a:rPr lang="en-US" sz="2250" dirty="0" spc="-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software</a:t>
            </a:r>
            <a:r>
              <a:rPr lang="en-US" sz="225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por</a:t>
            </a:r>
            <a:r>
              <a:rPr lang="en-US" sz="225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suscripción</a:t>
            </a:r>
            <a:r>
              <a:rPr lang="en-US" sz="225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para</a:t>
            </a:r>
            <a:r>
              <a:rPr lang="en-US" sz="2250" dirty="0" spc="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un</a:t>
            </a:r>
            <a:r>
              <a:rPr lang="en-US" sz="2250" dirty="0" spc="3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nicho</a:t>
            </a:r>
            <a:r>
              <a:rPr lang="en-US" sz="225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pequeño, como el</a:t>
            </a:r>
            <a:r>
              <a:rPr lang="en-US" sz="225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caso de Rosa.</a:t>
            </a:r>
            <a:endParaRPr lang="en-US" sz="2250" dirty="0"/>
          </a:p>
        </p:txBody>
      </p:sp>
      <p:sp>
        <p:nvSpPr>
          <p:cNvPr id="12" name="Shape 8"/>
          <p:cNvSpPr/>
          <p:nvPr/>
        </p:nvSpPr>
        <p:spPr>
          <a:xfrm>
            <a:off x="12014200" y="2762250"/>
            <a:ext cx="5130800" cy="45720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</p:spPr>
      </p:sp>
      <p:pic>
        <p:nvPicPr>
          <p:cNvPr id="13" name="Moda image rect-1792684014799-44442640" descr="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2395200" y="3143250"/>
            <a:ext cx="1047750" cy="10477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95200" y="4343400"/>
            <a:ext cx="436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5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Otras</a:t>
            </a:r>
            <a:r>
              <a:rPr lang="en-US" sz="2700" dirty="0" spc="0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rutas</a:t>
            </a:r>
            <a:endParaRPr lang="en-US" sz="2700" dirty="0"/>
          </a:p>
        </p:txBody>
      </p:sp>
      <p:sp>
        <p:nvSpPr>
          <p:cNvPr id="15" name="Text 10"/>
          <p:cNvSpPr/>
          <p:nvPr/>
        </p:nvSpPr>
        <p:spPr>
          <a:xfrm>
            <a:off x="12395200" y="4953000"/>
            <a:ext cx="43688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4.</a:t>
            </a:r>
            <a:r>
              <a:rPr lang="en-US" sz="225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Agentes</a:t>
            </a:r>
            <a:r>
              <a:rPr lang="en-US" sz="2250" dirty="0" spc="-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</a:t>
            </a:r>
            <a:r>
              <a:rPr lang="en-US" sz="225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medida</a:t>
            </a:r>
            <a:r>
              <a:rPr lang="en-US" sz="2250" dirty="0" spc="-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para</a:t>
            </a:r>
            <a:r>
              <a:rPr lang="en-US" sz="2250" dirty="0" spc="-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empresas</a:t>
            </a:r>
            <a:r>
              <a:rPr lang="en-US" sz="225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</a:t>
            </a:r>
            <a:r>
              <a:rPr lang="en-US" sz="225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5.</a:t>
            </a:r>
            <a:r>
              <a:rPr lang="en-US" sz="225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formación.</a:t>
            </a:r>
            <a:endParaRPr lang="en-US" sz="2250" dirty="0"/>
          </a:p>
        </p:txBody>
      </p:sp>
      <p:sp>
        <p:nvSpPr>
          <p:cNvPr id="16" name="Text 11"/>
          <p:cNvSpPr/>
          <p:nvPr/>
        </p:nvSpPr>
        <p:spPr>
          <a:xfrm>
            <a:off x="1143000" y="8001000"/>
            <a:ext cx="1600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i="1" dirty="0" spc="-3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«La</a:t>
            </a:r>
            <a:r>
              <a:rPr lang="en-US" sz="3150" i="1" dirty="0" spc="-2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guía</a:t>
            </a:r>
            <a:r>
              <a:rPr lang="en-US" sz="3150" i="1" dirty="0" spc="-4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plantea</a:t>
            </a:r>
            <a:r>
              <a:rPr lang="en-US" sz="3150" i="1" dirty="0" spc="-3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cinco</a:t>
            </a:r>
            <a:r>
              <a:rPr lang="en-US" sz="3150" i="1" dirty="0" spc="-2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rutas</a:t>
            </a:r>
            <a:r>
              <a:rPr lang="en-US" sz="3150" i="1" dirty="0" spc="-4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clarísimas</a:t>
            </a:r>
            <a:r>
              <a:rPr lang="en-US" sz="3150" i="1" dirty="0" spc="-2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para</a:t>
            </a:r>
            <a:r>
              <a:rPr lang="en-US" sz="3150" i="1" dirty="0" spc="-3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facturar</a:t>
            </a:r>
            <a:r>
              <a:rPr lang="en-US" sz="3150" i="1" dirty="0" spc="1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usando</a:t>
            </a:r>
            <a:r>
              <a:rPr lang="en-US" sz="3150" i="1" dirty="0" spc="-2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IA»</a:t>
            </a:r>
            <a:endParaRPr lang="en-US" sz="3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612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66750"/>
            <a:ext cx="16002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2" kern="0">
                <a:solidFill>
                  <a:srgbClr val="0693E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 QUE</a:t>
            </a:r>
            <a:r>
              <a:rPr lang="en-US" sz="2100" b="1" dirty="0" spc="-1" kern="0">
                <a:solidFill>
                  <a:srgbClr val="0693E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APRENDERÁS</a:t>
            </a:r>
            <a:pPr algn="l" indent="0" marL="0">
              <a:buNone/>
            </a:pPr>
            <a:r>
              <a:rPr lang="en-US" sz="2100" dirty="0" spc="0" kern="0">
                <a:solidFill>
                  <a:srgbClr val="BFC8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Conocer</a:t>
            </a:r>
            <a:r>
              <a:rPr lang="en-US" sz="2100" dirty="0" spc="-1" kern="0">
                <a:solidFill>
                  <a:srgbClr val="BFC8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un</a:t>
            </a:r>
            <a:r>
              <a:rPr lang="en-US" sz="2100" dirty="0" spc="0" kern="0">
                <a:solidFill>
                  <a:srgbClr val="BFC8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proyecto</a:t>
            </a:r>
            <a:r>
              <a:rPr lang="en-US" sz="2100" dirty="0" spc="1" kern="0">
                <a:solidFill>
                  <a:srgbClr val="BFC8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concreto</a:t>
            </a:r>
            <a:r>
              <a:rPr lang="en-US" sz="2100" dirty="0" spc="-1" kern="0">
                <a:solidFill>
                  <a:srgbClr val="BFC8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que</a:t>
            </a:r>
            <a:r>
              <a:rPr lang="en-US" sz="2100" dirty="0" spc="1" kern="0">
                <a:solidFill>
                  <a:srgbClr val="BFC8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combina servicio</a:t>
            </a:r>
            <a:r>
              <a:rPr lang="en-US" sz="2100" dirty="0" spc="0" kern="0">
                <a:solidFill>
                  <a:srgbClr val="BFC8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productizado</a:t>
            </a:r>
            <a:r>
              <a:rPr lang="en-US" sz="2100" dirty="0" spc="-3" kern="0">
                <a:solidFill>
                  <a:srgbClr val="BFC8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</a:t>
            </a:r>
            <a:r>
              <a:rPr lang="en-US" sz="2100" dirty="0" spc="1" kern="0">
                <a:solidFill>
                  <a:srgbClr val="BFC8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micro-SaaS.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143000" y="1238250"/>
            <a:ext cx="1600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913" b="1" dirty="0" spc="-4" kern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CitaClara: un</a:t>
            </a:r>
            <a:r>
              <a:rPr lang="en-US" sz="4913" b="1" dirty="0" spc="-26" kern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proyecto</a:t>
            </a:r>
            <a:r>
              <a:rPr lang="en-US" sz="4913" b="1" dirty="0" spc="-8" kern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para</a:t>
            </a:r>
            <a:r>
              <a:rPr lang="en-US" sz="4913" b="1" dirty="0" spc="1" kern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ejecutar</a:t>
            </a:r>
            <a:r>
              <a:rPr lang="en-US" sz="4913" b="1" dirty="0" spc="-2" kern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en</a:t>
            </a:r>
            <a:r>
              <a:rPr lang="en-US" sz="4913" b="1" dirty="0" spc="3" kern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12</a:t>
            </a:r>
            <a:r>
              <a:rPr lang="en-US" sz="4913" b="1" dirty="0" spc="1" kern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semanas</a:t>
            </a:r>
            <a:endParaRPr lang="en-US" sz="4913" dirty="0"/>
          </a:p>
        </p:txBody>
      </p:sp>
      <p:sp>
        <p:nvSpPr>
          <p:cNvPr id="4" name="Shape 2"/>
          <p:cNvSpPr/>
          <p:nvPr/>
        </p:nvSpPr>
        <p:spPr>
          <a:xfrm>
            <a:off x="1143000" y="2762250"/>
            <a:ext cx="5130800" cy="2095500"/>
          </a:xfrm>
          <a:prstGeom prst="roundRect">
            <a:avLst>
              <a:gd name="adj" fmla="val 9091"/>
            </a:avLst>
          </a:prstGeom>
          <a:solidFill>
            <a:srgbClr val="0693E3"/>
          </a:solidFill>
          <a:ln/>
        </p:spPr>
      </p:sp>
      <p:sp>
        <p:nvSpPr>
          <p:cNvPr id="5" name="Text 3"/>
          <p:cNvSpPr/>
          <p:nvPr/>
        </p:nvSpPr>
        <p:spPr>
          <a:xfrm>
            <a:off x="1409700" y="3048000"/>
            <a:ext cx="459740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45" b="1" dirty="0" spc="2" kern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10</a:t>
            </a:r>
            <a:endParaRPr lang="en-US" sz="7745" dirty="0"/>
          </a:p>
        </p:txBody>
      </p:sp>
      <p:sp>
        <p:nvSpPr>
          <p:cNvPr id="6" name="Text 4"/>
          <p:cNvSpPr/>
          <p:nvPr/>
        </p:nvSpPr>
        <p:spPr>
          <a:xfrm>
            <a:off x="1409700" y="4229100"/>
            <a:ext cx="4597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consultorios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578600" y="2762250"/>
            <a:ext cx="5130800" cy="2095500"/>
          </a:xfrm>
          <a:prstGeom prst="roundRect">
            <a:avLst>
              <a:gd name="adj" fmla="val 9091"/>
            </a:avLst>
          </a:prstGeom>
          <a:solidFill>
            <a:srgbClr val="141D23"/>
          </a:solidFill>
          <a:ln/>
        </p:spPr>
      </p:sp>
      <p:sp>
        <p:nvSpPr>
          <p:cNvPr id="8" name="Text 6"/>
          <p:cNvSpPr/>
          <p:nvPr/>
        </p:nvSpPr>
        <p:spPr>
          <a:xfrm>
            <a:off x="6845300" y="3048000"/>
            <a:ext cx="459740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45" b="1" dirty="0" spc="2" kern="0">
                <a:solidFill>
                  <a:srgbClr val="0693E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$50</a:t>
            </a:r>
            <a:endParaRPr lang="en-US" sz="7745" dirty="0"/>
          </a:p>
        </p:txBody>
      </p:sp>
      <p:sp>
        <p:nvSpPr>
          <p:cNvPr id="9" name="Text 7"/>
          <p:cNvSpPr/>
          <p:nvPr/>
        </p:nvSpPr>
        <p:spPr>
          <a:xfrm>
            <a:off x="6845300" y="4229100"/>
            <a:ext cx="4597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5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</a:t>
            </a:r>
            <a:r>
              <a:rPr lang="en-US" sz="210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mes</a:t>
            </a:r>
            <a:r>
              <a:rPr lang="en-US" sz="210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cada</a:t>
            </a:r>
            <a:r>
              <a:rPr lang="en-US" sz="210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uno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2014200" y="2762250"/>
            <a:ext cx="5130800" cy="2095500"/>
          </a:xfrm>
          <a:prstGeom prst="roundRect">
            <a:avLst>
              <a:gd name="adj" fmla="val 9091"/>
            </a:avLst>
          </a:prstGeom>
          <a:solidFill>
            <a:srgbClr val="141D23"/>
          </a:solidFill>
          <a:ln/>
        </p:spPr>
      </p:sp>
      <p:sp>
        <p:nvSpPr>
          <p:cNvPr id="11" name="Text 9"/>
          <p:cNvSpPr/>
          <p:nvPr/>
        </p:nvSpPr>
        <p:spPr>
          <a:xfrm>
            <a:off x="12280900" y="3048000"/>
            <a:ext cx="459740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45" b="1" dirty="0" spc="4" kern="0">
                <a:solidFill>
                  <a:srgbClr val="0693E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3</a:t>
            </a:r>
            <a:endParaRPr lang="en-US" sz="7745" dirty="0"/>
          </a:p>
        </p:txBody>
      </p:sp>
      <p:sp>
        <p:nvSpPr>
          <p:cNvPr id="12" name="Text 10"/>
          <p:cNvSpPr/>
          <p:nvPr/>
        </p:nvSpPr>
        <p:spPr>
          <a:xfrm>
            <a:off x="12280900" y="4229100"/>
            <a:ext cx="4597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meses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143000" y="5238750"/>
            <a:ext cx="51308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2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Qué</a:t>
            </a:r>
            <a:r>
              <a:rPr lang="en-US" sz="2700" dirty="0" spc="1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es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1143000" y="5791200"/>
            <a:ext cx="51308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4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</a:t>
            </a:r>
            <a:r>
              <a:rPr lang="en-US" sz="225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asistente</a:t>
            </a:r>
            <a:r>
              <a:rPr lang="en-US" sz="225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 IA por</a:t>
            </a:r>
            <a:r>
              <a:rPr lang="en-US" sz="225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WhatsApp</a:t>
            </a:r>
            <a:r>
              <a:rPr lang="en-US" sz="2250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para</a:t>
            </a:r>
            <a:r>
              <a:rPr lang="en-US" sz="225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consultorios</a:t>
            </a:r>
            <a:r>
              <a:rPr lang="en-US" sz="225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médicos y</a:t>
            </a:r>
            <a:r>
              <a:rPr lang="en-US" sz="225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clínicas dentales.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6578600" y="5238750"/>
            <a:ext cx="51308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2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Qué</a:t>
            </a:r>
            <a:r>
              <a:rPr lang="en-US" sz="2700" dirty="0" spc="-5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resuelve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6578600" y="5791200"/>
            <a:ext cx="51308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Las</a:t>
            </a:r>
            <a:r>
              <a:rPr lang="en-US" sz="225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inasistencias</a:t>
            </a:r>
            <a:r>
              <a:rPr lang="en-US" sz="2250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</a:t>
            </a:r>
            <a:r>
              <a:rPr lang="en-US" sz="225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pacientes, un</a:t>
            </a:r>
            <a:r>
              <a:rPr lang="en-US" sz="225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agujero</a:t>
            </a:r>
            <a:r>
              <a:rPr lang="en-US" sz="225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 dinero</a:t>
            </a:r>
            <a:r>
              <a:rPr lang="en-US" sz="225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 entre</a:t>
            </a:r>
            <a:r>
              <a:rPr lang="en-US" sz="225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el</a:t>
            </a:r>
            <a:r>
              <a:rPr lang="en-US" sz="2250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10 %</a:t>
            </a:r>
            <a:r>
              <a:rPr lang="en-US" sz="225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</a:t>
            </a:r>
            <a:r>
              <a:rPr lang="en-US" sz="225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el</a:t>
            </a:r>
            <a:r>
              <a:rPr lang="en-US" sz="225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20</a:t>
            </a:r>
            <a:r>
              <a:rPr lang="en-US" sz="2250" dirty="0" spc="-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%</a:t>
            </a:r>
            <a:r>
              <a:rPr lang="en-US" sz="225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 las</a:t>
            </a:r>
            <a:r>
              <a:rPr lang="en-US" sz="225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citas.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2014200" y="5238750"/>
            <a:ext cx="51308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2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La</a:t>
            </a:r>
            <a:r>
              <a:rPr lang="en-US" sz="2700" dirty="0" spc="0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meta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12014200" y="5791200"/>
            <a:ext cx="51308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Diez consultorios</a:t>
            </a:r>
            <a:r>
              <a:rPr lang="en-US" sz="225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pagando</a:t>
            </a:r>
            <a:r>
              <a:rPr lang="en-US" sz="2250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$50</a:t>
            </a:r>
            <a:r>
              <a:rPr lang="en-US" sz="225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al</a:t>
            </a:r>
            <a:r>
              <a:rPr lang="en-US" sz="2250" dirty="0" spc="-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mes</a:t>
            </a:r>
            <a:r>
              <a:rPr lang="en-US" sz="225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en</a:t>
            </a:r>
            <a:r>
              <a:rPr lang="en-US" sz="225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tres meses.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143000" y="7905750"/>
            <a:ext cx="1600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i="1" dirty="0" spc="-1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«La meta</a:t>
            </a:r>
            <a:r>
              <a:rPr lang="en-US" sz="2700" i="1" dirty="0" spc="2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es</a:t>
            </a:r>
            <a:r>
              <a:rPr lang="en-US" sz="2700" i="1" dirty="0" spc="1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súper</a:t>
            </a:r>
            <a:r>
              <a:rPr lang="en-US" sz="2700" i="1" dirty="0" spc="-3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concreta,</a:t>
            </a:r>
            <a:r>
              <a:rPr lang="en-US" sz="2700" i="1" dirty="0" spc="0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llegar</a:t>
            </a:r>
            <a:r>
              <a:rPr lang="en-US" sz="2700" i="1" dirty="0" spc="3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a</a:t>
            </a:r>
            <a:r>
              <a:rPr lang="en-US" sz="2700" i="1" dirty="0" spc="1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diez</a:t>
            </a:r>
            <a:r>
              <a:rPr lang="en-US" sz="2700" i="1" dirty="0" spc="-1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consultorios</a:t>
            </a:r>
            <a:r>
              <a:rPr lang="en-US" sz="2700" i="1" dirty="0" spc="0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pagando</a:t>
            </a:r>
            <a:r>
              <a:rPr lang="en-US" sz="2700" i="1" dirty="0" spc="-1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cincuenta</a:t>
            </a:r>
            <a:r>
              <a:rPr lang="en-US" sz="2700" i="1" dirty="0" spc="-2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dólares</a:t>
            </a:r>
            <a:r>
              <a:rPr lang="en-US" sz="2700" i="1" dirty="0" spc="3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al</a:t>
            </a:r>
            <a:r>
              <a:rPr lang="en-US" sz="2700" i="1" dirty="0" spc="1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mes</a:t>
            </a:r>
            <a:r>
              <a:rPr lang="en-US" sz="2700" i="1" dirty="0" spc="2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en</a:t>
            </a:r>
            <a:r>
              <a:rPr lang="en-US" sz="2700" i="1" dirty="0" spc="-2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tres</a:t>
            </a:r>
            <a:r>
              <a:rPr lang="en-US" sz="2700" i="1" dirty="0" spc="1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meses»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1143000" y="9001125"/>
            <a:ext cx="952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1" kern="0">
                <a:solidFill>
                  <a:srgbClr val="0693E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Audio,</a:t>
            </a:r>
            <a:r>
              <a:rPr lang="en-US" sz="1800" dirty="0" spc="3" kern="0">
                <a:solidFill>
                  <a:srgbClr val="0693E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minuto</a:t>
            </a:r>
            <a:r>
              <a:rPr lang="en-US" sz="1800" dirty="0" spc="4" kern="0">
                <a:solidFill>
                  <a:srgbClr val="0693E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14:26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66750"/>
            <a:ext cx="16002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2" kern="0">
                <a:solidFill>
                  <a:srgbClr val="0693E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 QUE</a:t>
            </a:r>
            <a:r>
              <a:rPr lang="en-US" sz="2100" b="1" dirty="0" spc="-1" kern="0">
                <a:solidFill>
                  <a:srgbClr val="0693E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APRENDERÁS</a:t>
            </a:r>
            <a:pPr algn="l" indent="0" marL="0">
              <a:buNone/>
            </a:pPr>
            <a:r>
              <a:rPr lang="en-US" sz="210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Anticipar los riesgos</a:t>
            </a:r>
            <a:r>
              <a:rPr lang="en-US" sz="210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técnicos</a:t>
            </a:r>
            <a:r>
              <a:rPr lang="en-US" sz="2100" dirty="0" spc="-3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</a:t>
            </a:r>
            <a:r>
              <a:rPr lang="en-US" sz="2100" dirty="0" spc="3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legales</a:t>
            </a:r>
            <a:r>
              <a:rPr lang="en-US" sz="2100" dirty="0" spc="-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</a:t>
            </a:r>
            <a:r>
              <a:rPr lang="en-US" sz="210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depender</a:t>
            </a:r>
            <a:r>
              <a:rPr lang="en-US" sz="2100" dirty="0" spc="-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</a:t>
            </a:r>
            <a:r>
              <a:rPr lang="en-US" sz="210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terceros</a:t>
            </a:r>
            <a:r>
              <a:rPr lang="en-US" sz="2100" dirty="0" spc="-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 de</a:t>
            </a:r>
            <a:r>
              <a:rPr lang="en-US" sz="210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</a:t>
            </a:r>
            <a:r>
              <a:rPr lang="en-US" sz="210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IA.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143000" y="1238250"/>
            <a:ext cx="1600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 spc="-1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Cortafuegos</a:t>
            </a:r>
            <a:r>
              <a:rPr lang="en-US" sz="6000" b="1" dirty="0" spc="1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desde</a:t>
            </a:r>
            <a:r>
              <a:rPr lang="en-US" sz="6000" b="1" dirty="0" spc="3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el</a:t>
            </a:r>
            <a:r>
              <a:rPr lang="en-US" sz="6000" b="1" dirty="0" spc="0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minuto uno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1143000" y="2667000"/>
            <a:ext cx="16002000" cy="1401792"/>
          </a:xfrm>
          <a:prstGeom prst="roundRect">
            <a:avLst>
              <a:gd name="adj" fmla="val 13590"/>
            </a:avLst>
          </a:prstGeom>
          <a:solidFill>
            <a:srgbClr val="EAF5FE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2895600"/>
            <a:ext cx="304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6" kern="0">
                <a:solidFill>
                  <a:srgbClr val="0693E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Plataforma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953000" y="2895600"/>
            <a:ext cx="11811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Meta</a:t>
            </a:r>
            <a:r>
              <a:rPr lang="en-US" sz="225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puede bloquear</a:t>
            </a:r>
            <a:r>
              <a:rPr lang="en-US" sz="2250" dirty="0" spc="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el</a:t>
            </a:r>
            <a:r>
              <a:rPr lang="en-US" sz="225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número</a:t>
            </a:r>
            <a:r>
              <a:rPr lang="en-US" sz="225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</a:t>
            </a:r>
            <a:r>
              <a:rPr lang="en-US" sz="225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WhatsApp por</a:t>
            </a:r>
            <a:r>
              <a:rPr lang="en-US" sz="2250" dirty="0" spc="-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sus</a:t>
            </a:r>
            <a:r>
              <a:rPr lang="en-US" sz="2250" dirty="0" spc="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políticas.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143000" y="4255698"/>
            <a:ext cx="16002000" cy="1588698"/>
          </a:xfrm>
          <a:prstGeom prst="roundRect">
            <a:avLst>
              <a:gd name="adj" fmla="val 11991"/>
            </a:avLst>
          </a:prstGeom>
          <a:solidFill>
            <a:srgbClr val="EAF5FE"/>
          </a:solidFill>
          <a:ln/>
        </p:spPr>
      </p:sp>
      <p:sp>
        <p:nvSpPr>
          <p:cNvPr id="8" name="Text 6"/>
          <p:cNvSpPr/>
          <p:nvPr/>
        </p:nvSpPr>
        <p:spPr>
          <a:xfrm>
            <a:off x="1524000" y="4484298"/>
            <a:ext cx="304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1" kern="0">
                <a:solidFill>
                  <a:srgbClr val="0693E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La IA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953000" y="4484298"/>
            <a:ext cx="1181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Puede alucinar un consejo</a:t>
            </a:r>
            <a:r>
              <a:rPr lang="en-US" sz="225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médico.</a:t>
            </a:r>
            <a:r>
              <a:rPr lang="en-US" sz="2250" dirty="0" spc="-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</a:t>
            </a:r>
            <a:r>
              <a:rPr lang="en-US" sz="225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acota</a:t>
            </a:r>
            <a:r>
              <a:rPr lang="en-US" sz="2250" dirty="0" spc="-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</a:t>
            </a:r>
            <a:r>
              <a:rPr lang="en-US" sz="2250" dirty="0" spc="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un documento</a:t>
            </a:r>
            <a:r>
              <a:rPr lang="en-US" sz="2250" dirty="0" spc="-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base</a:t>
            </a:r>
            <a:r>
              <a:rPr lang="en-US" sz="225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 horarios</a:t>
            </a:r>
            <a:r>
              <a:rPr lang="en-US" sz="2250" dirty="0" spc="-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</a:t>
            </a:r>
            <a:r>
              <a:rPr lang="en-US" sz="2250" dirty="0" spc="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cancelaciones;</a:t>
            </a:r>
            <a:r>
              <a:rPr lang="en-US" sz="2250" dirty="0" spc="3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lo clínico</a:t>
            </a:r>
            <a:r>
              <a:rPr lang="en-US" sz="225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pasa</a:t>
            </a:r>
            <a:r>
              <a:rPr lang="en-US" sz="2250" dirty="0" spc="-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</a:t>
            </a:r>
            <a:r>
              <a:rPr lang="en-US" sz="225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 recepcionista.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143000" y="6031302"/>
            <a:ext cx="16002000" cy="1588698"/>
          </a:xfrm>
          <a:prstGeom prst="roundRect">
            <a:avLst>
              <a:gd name="adj" fmla="val 11991"/>
            </a:avLst>
          </a:prstGeom>
          <a:solidFill>
            <a:srgbClr val="EAF5FE"/>
          </a:solidFill>
          <a:ln/>
        </p:spPr>
      </p:sp>
      <p:sp>
        <p:nvSpPr>
          <p:cNvPr id="11" name="Text 9"/>
          <p:cNvSpPr/>
          <p:nvPr/>
        </p:nvSpPr>
        <p:spPr>
          <a:xfrm>
            <a:off x="1524000" y="6259902"/>
            <a:ext cx="304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8" kern="0">
                <a:solidFill>
                  <a:srgbClr val="0693E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Lo</a:t>
            </a:r>
            <a:r>
              <a:rPr lang="en-US" sz="3000" b="1" dirty="0" spc="-3" kern="0">
                <a:solidFill>
                  <a:srgbClr val="0693E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legal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953000" y="6259902"/>
            <a:ext cx="1181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3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</a:t>
            </a:r>
            <a:r>
              <a:rPr lang="en-US" sz="225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RUC</a:t>
            </a:r>
            <a:r>
              <a:rPr lang="en-US" sz="225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</a:t>
            </a:r>
            <a:r>
              <a:rPr lang="en-US" sz="225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</a:t>
            </a:r>
            <a:r>
              <a:rPr lang="en-US" sz="225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Ley de</a:t>
            </a:r>
            <a:r>
              <a:rPr lang="en-US" sz="2250" dirty="0" spc="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Protección</a:t>
            </a:r>
            <a:r>
              <a:rPr lang="en-US" sz="2250" dirty="0" spc="-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 Datos</a:t>
            </a:r>
            <a:r>
              <a:rPr lang="en-US" sz="225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Personales</a:t>
            </a:r>
            <a:r>
              <a:rPr lang="en-US" sz="2250" dirty="0" spc="-3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</a:t>
            </a:r>
            <a:r>
              <a:rPr lang="en-US" sz="225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tramitan desde</a:t>
            </a:r>
            <a:r>
              <a:rPr lang="en-US" sz="2250" dirty="0" spc="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el</a:t>
            </a:r>
            <a:r>
              <a:rPr lang="en-US" sz="2250" dirty="0" spc="3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inicio:</a:t>
            </a:r>
            <a:r>
              <a:rPr lang="en-US" sz="2250" dirty="0" spc="1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manejas teléfonos</a:t>
            </a:r>
            <a:r>
              <a:rPr lang="en-US" sz="2250" dirty="0" spc="-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</a:t>
            </a:r>
            <a:r>
              <a:rPr lang="en-US" sz="2250" dirty="0" spc="0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datos de</a:t>
            </a:r>
            <a:r>
              <a:rPr lang="en-US" sz="2250" dirty="0" spc="2" kern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pacientes.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143000" y="8001000"/>
            <a:ext cx="1600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i="1" dirty="0" spc="1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«Si</a:t>
            </a:r>
            <a:r>
              <a:rPr lang="en-US" sz="2700" i="1" dirty="0" spc="2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la</a:t>
            </a:r>
            <a:r>
              <a:rPr lang="en-US" sz="2700" i="1" dirty="0" spc="-9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conversación</a:t>
            </a:r>
            <a:r>
              <a:rPr lang="en-US" sz="2700" i="1" dirty="0" spc="-7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roza</a:t>
            </a:r>
            <a:r>
              <a:rPr lang="en-US" sz="2700" i="1" dirty="0" spc="1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lo</a:t>
            </a:r>
            <a:r>
              <a:rPr lang="en-US" sz="2700" i="1" dirty="0" spc="-1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clínico,</a:t>
            </a:r>
            <a:r>
              <a:rPr lang="en-US" sz="2700" i="1" dirty="0" spc="2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la</a:t>
            </a:r>
            <a:r>
              <a:rPr lang="en-US" sz="2700" i="1" dirty="0" spc="-2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IA</a:t>
            </a:r>
            <a:r>
              <a:rPr lang="en-US" sz="2700" i="1" dirty="0" spc="2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tiene</a:t>
            </a:r>
            <a:r>
              <a:rPr lang="en-US" sz="2700" i="1" dirty="0" spc="-3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orden</a:t>
            </a:r>
            <a:r>
              <a:rPr lang="en-US" sz="2700" i="1" dirty="0" spc="0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estricta</a:t>
            </a:r>
            <a:r>
              <a:rPr lang="en-US" sz="2700" i="1" dirty="0" spc="4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de</a:t>
            </a:r>
            <a:r>
              <a:rPr lang="en-US" sz="2700" i="1" dirty="0" spc="-1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derivar</a:t>
            </a:r>
            <a:r>
              <a:rPr lang="en-US" sz="2700" i="1" dirty="0" spc="2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la</a:t>
            </a:r>
            <a:r>
              <a:rPr lang="en-US" sz="2700" i="1" dirty="0" spc="0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charla</a:t>
            </a:r>
            <a:r>
              <a:rPr lang="en-US" sz="2700" i="1" dirty="0" spc="1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a</a:t>
            </a:r>
            <a:r>
              <a:rPr lang="en-US" sz="2700" i="1" dirty="0" spc="2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la</a:t>
            </a:r>
            <a:r>
              <a:rPr lang="en-US" sz="2700" i="1" dirty="0" spc="-1" kern="0">
                <a:solidFill>
                  <a:srgbClr val="2E363C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recepcionista humana»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1143000" y="9048750"/>
            <a:ext cx="952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1" kern="0">
                <a:solidFill>
                  <a:srgbClr val="0693E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Audio,</a:t>
            </a:r>
            <a:r>
              <a:rPr lang="en-US" sz="1800" dirty="0" spc="3" kern="0">
                <a:solidFill>
                  <a:srgbClr val="0693E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minuto</a:t>
            </a:r>
            <a:r>
              <a:rPr lang="en-US" sz="1800" dirty="0" spc="4" kern="0">
                <a:solidFill>
                  <a:srgbClr val="0693E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15:06</a:t>
            </a:r>
            <a:r>
              <a:rPr lang="en-US" sz="1800" dirty="0" spc="1" kern="0">
                <a:solidFill>
                  <a:srgbClr val="0693E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· Formato</a:t>
            </a:r>
            <a:r>
              <a:rPr lang="en-US" sz="1800" dirty="0" spc="4" kern="0">
                <a:solidFill>
                  <a:srgbClr val="0693E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14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rect-1792684039072-424856395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61219">
                  <a:alpha val="95000"/>
                </a:srgbClr>
              </a:gs>
              <a:gs pos="55000">
                <a:srgbClr val="061219">
                  <a:alpha val="88000"/>
                </a:srgbClr>
              </a:gs>
              <a:gs pos="100000">
                <a:srgbClr val="061219">
                  <a:alpha val="30000"/>
                </a:srgbClr>
              </a:gs>
            </a:gsLst>
            <a:lin ang="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666750"/>
            <a:ext cx="1143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2" kern="0">
                <a:solidFill>
                  <a:srgbClr val="0693E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</a:t>
            </a:r>
            <a:r>
              <a:rPr lang="en-US" sz="1950" b="1" dirty="0" spc="0" kern="0">
                <a:solidFill>
                  <a:srgbClr val="0693E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QUE APRENDERÁS</a:t>
            </a:r>
            <a:pPr algn="l" indent="0" marL="0">
              <a:buNone/>
            </a:pPr>
            <a:r>
              <a:rPr lang="en-US" sz="1950" dirty="0" spc="-3" kern="0">
                <a:solidFill>
                  <a:srgbClr val="BFC8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Cerrar</a:t>
            </a:r>
            <a:r>
              <a:rPr lang="en-US" sz="1950" dirty="0" spc="-4" kern="0">
                <a:solidFill>
                  <a:srgbClr val="BFC8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</a:t>
            </a:r>
            <a:r>
              <a:rPr lang="en-US" sz="1950" dirty="0" spc="-1" kern="0">
                <a:solidFill>
                  <a:srgbClr val="BFC8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 idea</a:t>
            </a:r>
            <a:r>
              <a:rPr lang="en-US" sz="1950" dirty="0" spc="-3" kern="0">
                <a:solidFill>
                  <a:srgbClr val="BFC8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central</a:t>
            </a:r>
            <a:r>
              <a:rPr lang="en-US" sz="1950" dirty="0" spc="-1" kern="0">
                <a:solidFill>
                  <a:srgbClr val="BFC8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del audio</a:t>
            </a:r>
            <a:r>
              <a:rPr lang="en-US" sz="1950" dirty="0" spc="-2" kern="0">
                <a:solidFill>
                  <a:srgbClr val="BFC8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</a:t>
            </a:r>
            <a:r>
              <a:rPr lang="en-US" sz="1950" dirty="0" spc="-1" kern="0">
                <a:solidFill>
                  <a:srgbClr val="BFC8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</a:t>
            </a:r>
            <a:r>
              <a:rPr lang="en-US" sz="1950" dirty="0" spc="-3" kern="0">
                <a:solidFill>
                  <a:srgbClr val="BFC8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pregunta que</a:t>
            </a:r>
            <a:r>
              <a:rPr lang="en-US" sz="1950" dirty="0" spc="-1" kern="0">
                <a:solidFill>
                  <a:srgbClr val="BFC8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deja</a:t>
            </a:r>
            <a:r>
              <a:rPr lang="en-US" sz="1950" dirty="0" spc="-2" kern="0">
                <a:solidFill>
                  <a:srgbClr val="BFC8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abierta.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143000" y="1333500"/>
            <a:ext cx="11430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41" b="1" dirty="0" spc="-10" kern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Enamórate</a:t>
            </a:r>
            <a:r>
              <a:rPr lang="en-US" sz="6241" b="1" dirty="0" spc="-2" kern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del</a:t>
            </a:r>
            <a:r>
              <a:rPr lang="en-US" sz="6241" b="1" dirty="0" spc="-3" kern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problema,</a:t>
            </a:r>
            <a:r>
              <a:rPr lang="en-US" sz="6241" b="1" dirty="0" spc="1" kern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no</a:t>
            </a:r>
            <a:r>
              <a:rPr lang="en-US" sz="6241" b="1" dirty="0" spc="0" kern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de</a:t>
            </a:r>
            <a:r>
              <a:rPr lang="en-US" sz="6241" b="1" dirty="0" spc="-1" kern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la</a:t>
            </a:r>
            <a:r>
              <a:rPr lang="en-US" sz="6241" b="1" dirty="0" spc="0" kern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solución</a:t>
            </a:r>
            <a:endParaRPr lang="en-US" sz="6241" dirty="0"/>
          </a:p>
        </p:txBody>
      </p:sp>
      <p:sp>
        <p:nvSpPr>
          <p:cNvPr id="5" name="Text 3"/>
          <p:cNvSpPr/>
          <p:nvPr/>
        </p:nvSpPr>
        <p:spPr>
          <a:xfrm>
            <a:off x="1143000" y="3524250"/>
            <a:ext cx="1047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La</a:t>
            </a:r>
            <a:r>
              <a:rPr lang="en-US" sz="2400" dirty="0" spc="0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máxima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4057650"/>
            <a:ext cx="10477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Design</a:t>
            </a:r>
            <a:r>
              <a:rPr lang="en-US" sz="210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Thinking</a:t>
            </a:r>
            <a:r>
              <a:rPr lang="en-US" sz="210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es</a:t>
            </a:r>
            <a:r>
              <a:rPr lang="en-US" sz="2100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un</a:t>
            </a:r>
            <a:r>
              <a:rPr lang="en-US" sz="210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escudo</a:t>
            </a:r>
            <a:r>
              <a:rPr lang="en-US" sz="210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contra</a:t>
            </a:r>
            <a:r>
              <a:rPr lang="en-US" sz="210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el</a:t>
            </a:r>
            <a:r>
              <a:rPr lang="en-US" sz="210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exceso</a:t>
            </a:r>
            <a:r>
              <a:rPr lang="en-US" sz="210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</a:t>
            </a:r>
            <a:r>
              <a:rPr lang="en-US" sz="210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confianza</a:t>
            </a:r>
            <a:r>
              <a:rPr lang="en-US" sz="210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técnica</a:t>
            </a:r>
            <a:r>
              <a:rPr lang="en-US" sz="210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que</a:t>
            </a:r>
            <a:r>
              <a:rPr lang="en-US" sz="210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todos</a:t>
            </a:r>
            <a:r>
              <a:rPr lang="en-US" sz="210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tenemos</a:t>
            </a:r>
            <a:r>
              <a:rPr lang="en-US" sz="2100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un</a:t>
            </a:r>
            <a:r>
              <a:rPr lang="en-US" sz="210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poco.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143000" y="4972050"/>
            <a:ext cx="1047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El futuro</a:t>
            </a:r>
            <a:r>
              <a:rPr lang="en-US" sz="2400" dirty="0" spc="0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cercano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43000" y="5505450"/>
            <a:ext cx="10477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</a:t>
            </a:r>
            <a:r>
              <a:rPr lang="en-US" sz="210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</a:t>
            </a:r>
            <a:r>
              <a:rPr lang="en-US" sz="210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IA</a:t>
            </a:r>
            <a:r>
              <a:rPr lang="en-US" sz="210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escribe cualquier</a:t>
            </a:r>
            <a:r>
              <a:rPr lang="en-US" sz="210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código</a:t>
            </a:r>
            <a:r>
              <a:rPr lang="en-US" sz="210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complejo</a:t>
            </a:r>
            <a:r>
              <a:rPr lang="en-US" sz="210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gratis y en</a:t>
            </a:r>
            <a:r>
              <a:rPr lang="en-US" sz="210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segundos, la</a:t>
            </a:r>
            <a:r>
              <a:rPr lang="en-US" sz="2100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ejecución</a:t>
            </a:r>
            <a:r>
              <a:rPr lang="en-US" sz="210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técnica deja</a:t>
            </a:r>
            <a:r>
              <a:rPr lang="en-US" sz="2100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</a:t>
            </a:r>
            <a:r>
              <a:rPr lang="en-US" sz="210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ser</a:t>
            </a:r>
            <a:r>
              <a:rPr lang="en-US" sz="210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una</a:t>
            </a:r>
            <a:r>
              <a:rPr lang="en-US" sz="210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barrera.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143000" y="6419850"/>
            <a:ext cx="1047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La</a:t>
            </a:r>
            <a:r>
              <a:rPr lang="en-US" sz="2400" dirty="0" spc="-2" kern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pregunta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43000" y="6953250"/>
            <a:ext cx="10477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¿Será</a:t>
            </a:r>
            <a:r>
              <a:rPr lang="en-US" sz="210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</a:t>
            </a:r>
            <a:r>
              <a:rPr lang="en-US" sz="210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empatía</a:t>
            </a:r>
            <a:r>
              <a:rPr lang="en-US" sz="210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profunda,</a:t>
            </a:r>
            <a:r>
              <a:rPr lang="en-US" sz="210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sentarse</a:t>
            </a:r>
            <a:r>
              <a:rPr lang="en-US" sz="210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</a:t>
            </a:r>
            <a:r>
              <a:rPr lang="en-US" sz="210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observar</a:t>
            </a:r>
            <a:r>
              <a:rPr lang="en-US" sz="210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</a:t>
            </a:r>
            <a:r>
              <a:rPr lang="en-US" sz="210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una dueña</a:t>
            </a:r>
            <a:r>
              <a:rPr lang="en-US" sz="210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cansada</a:t>
            </a:r>
            <a:r>
              <a:rPr lang="en-US" sz="210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</a:t>
            </a:r>
            <a:r>
              <a:rPr lang="en-US" sz="2100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su</a:t>
            </a:r>
            <a:r>
              <a:rPr lang="en-US" sz="210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cuaderno,</a:t>
            </a:r>
            <a:r>
              <a:rPr lang="en-US" sz="210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</a:t>
            </a:r>
            <a:r>
              <a:rPr lang="en-US" sz="210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habilidad</a:t>
            </a:r>
            <a:r>
              <a:rPr lang="en-US" sz="210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que</a:t>
            </a:r>
            <a:r>
              <a:rPr lang="en-US" sz="210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más</a:t>
            </a:r>
            <a:r>
              <a:rPr lang="en-US" sz="210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valga?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143000" y="8286750"/>
            <a:ext cx="10477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i="1" dirty="0" spc="-1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«La</a:t>
            </a:r>
            <a:r>
              <a:rPr lang="en-US" sz="2700" i="1" dirty="0" spc="0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humanidad</a:t>
            </a:r>
            <a:r>
              <a:rPr lang="en-US" sz="2700" i="1" dirty="0" spc="4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del</a:t>
            </a:r>
            <a:r>
              <a:rPr lang="en-US" sz="2700" i="1" dirty="0" spc="-2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proceso</a:t>
            </a:r>
            <a:r>
              <a:rPr lang="en-US" sz="2700" i="1" dirty="0" spc="1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es lo</a:t>
            </a:r>
            <a:r>
              <a:rPr lang="en-US" sz="2700" i="1" dirty="0" spc="0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único</a:t>
            </a:r>
            <a:r>
              <a:rPr lang="en-US" sz="2700" i="1" dirty="0" spc="3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que</a:t>
            </a:r>
            <a:r>
              <a:rPr lang="en-US" sz="2700" i="1" dirty="0" spc="2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la</a:t>
            </a:r>
            <a:r>
              <a:rPr lang="en-US" sz="2700" i="1" dirty="0" spc="1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máquina</a:t>
            </a:r>
            <a:r>
              <a:rPr lang="en-US" sz="2700" i="1" dirty="0" spc="-1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no</a:t>
            </a:r>
            <a:r>
              <a:rPr lang="en-US" sz="2700" i="1" dirty="0" spc="3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puede</a:t>
            </a:r>
            <a:r>
              <a:rPr lang="en-US" sz="2700" i="1" dirty="0" spc="-2" kern="0">
                <a:solidFill>
                  <a:srgbClr val="FFFFFF"/>
                </a:solidFill>
                <a:latin typeface="Rubik Medium" pitchFamily="34" charset="0"/>
                <a:ea typeface="Rubik Medium" pitchFamily="34" charset="-122"/>
                <a:cs typeface="Rubik Medium" pitchFamily="34" charset="-120"/>
              </a:rPr>
              <a:t> replicar»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143000" y="9286875"/>
            <a:ext cx="571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1" kern="0">
                <a:solidFill>
                  <a:srgbClr val="0693E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Audio,</a:t>
            </a:r>
            <a:r>
              <a:rPr lang="en-US" sz="1800" dirty="0" spc="3" kern="0">
                <a:solidFill>
                  <a:srgbClr val="0693E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minuto</a:t>
            </a:r>
            <a:r>
              <a:rPr lang="en-US" sz="1800" dirty="0" spc="4" kern="0">
                <a:solidFill>
                  <a:srgbClr val="0693E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16:29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61219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666750"/>
            <a:ext cx="952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spc="200" kern="0" dirty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FORMATOS</a:t>
            </a:r>
            <a:r>
              <a:rPr lang="en-US" sz="2100" spc="207" kern="0" dirty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PARA</a:t>
            </a:r>
            <a:r>
              <a:rPr lang="en-US" sz="2100" spc="216" kern="0" dirty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TRABAJAR</a:t>
            </a:r>
            <a:r>
              <a:rPr lang="en-US" sz="2100" spc="224" kern="0" dirty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EN</a:t>
            </a:r>
            <a:r>
              <a:rPr lang="en-US" sz="2100" spc="221" kern="0" dirty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CLASE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143000" y="1143000"/>
            <a:ext cx="1600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00" b="1" dirty="0" spc="1" kern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14</a:t>
            </a:r>
            <a:r>
              <a:rPr lang="en-US" sz="5700" b="1" dirty="0" spc="-5" kern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herramientas,</a:t>
            </a:r>
            <a:r>
              <a:rPr lang="en-US" sz="5700" b="1" dirty="0" spc="0" kern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en</a:t>
            </a:r>
            <a:r>
              <a:rPr lang="en-US" sz="5700" b="1" dirty="0" spc="1" kern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el</a:t>
            </a:r>
            <a:r>
              <a:rPr lang="en-US" sz="5700" b="1" dirty="0" spc="-5" kern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orden</a:t>
            </a:r>
            <a:r>
              <a:rPr lang="en-US" sz="5700" b="1" dirty="0" spc="0" kern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del</a:t>
            </a:r>
            <a:r>
              <a:rPr lang="en-US" sz="5700" b="1" dirty="0" spc="-4" kern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proceso</a:t>
            </a:r>
            <a:endParaRPr lang="en-US" sz="57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2381250"/>
          <a:ext cx="13716000" cy="914400"/>
        </p:xfrm>
        <a:graphic>
          <a:graphicData uri="http://schemas.openxmlformats.org/drawingml/2006/table">
            <a:tbl>
              <a:tblPr/>
              <a:tblGrid>
                <a:gridCol w="1120140"/>
                <a:gridCol w="6080760"/>
                <a:gridCol w="2080260"/>
                <a:gridCol w="6720840"/>
              </a:tblGrid>
              <a:tr h="4953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80"/>
                        </a:lnSpc>
                        <a:buNone/>
                      </a:pPr>
                      <a:r>
                        <a:rPr lang="en-US" sz="1650" b="1" dirty="0" spc="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N.º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693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80"/>
                        </a:lnSpc>
                        <a:buNone/>
                      </a:pPr>
                      <a:r>
                        <a:rPr lang="en-US" sz="1650" b="1" dirty="0" spc="-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Formato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693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80"/>
                        </a:lnSpc>
                        <a:buNone/>
                      </a:pPr>
                      <a:r>
                        <a:rPr lang="en-US" sz="1650" b="1" dirty="0" spc="-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Fase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693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80"/>
                        </a:lnSpc>
                        <a:buNone/>
                      </a:pPr>
                      <a:r>
                        <a:rPr lang="en-US" sz="1650" b="1" dirty="0" spc="-2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Para qué</a:t>
                      </a:r>
                      <a:r>
                        <a:rPr lang="en-US" sz="1650" b="1" dirty="0" spc="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sirve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693E3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80"/>
                        </a:lnSpc>
                        <a:buNone/>
                      </a:pPr>
                      <a:r>
                        <a:rPr lang="en-US" sz="1650" dirty="0" spc="6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E17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80"/>
                        </a:lnSpc>
                        <a:buNone/>
                      </a:pPr>
                      <a:r>
                        <a:rPr lang="en-US" sz="1650" dirty="0" spc="2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Guion</a:t>
                      </a:r>
                      <a:r>
                        <a:rPr lang="en-US" sz="1650" dirty="0" spc="0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de</a:t>
                      </a:r>
                      <a:r>
                        <a:rPr lang="en-US" sz="1650" dirty="0" spc="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entrevista</a:t>
                      </a:r>
                      <a:r>
                        <a:rPr lang="en-US" sz="1650" dirty="0" spc="0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(The</a:t>
                      </a:r>
                      <a:r>
                        <a:rPr lang="en-US" sz="1650" dirty="0" spc="2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Mom</a:t>
                      </a:r>
                      <a:r>
                        <a:rPr lang="en-US" sz="1650" dirty="0" spc="0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Test)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E17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80"/>
                        </a:lnSpc>
                        <a:buNone/>
                      </a:pPr>
                      <a:r>
                        <a:rPr lang="en-US" sz="1650" dirty="0" spc="2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Empatizar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E17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80"/>
                        </a:lnSpc>
                        <a:buNone/>
                      </a:pPr>
                      <a:r>
                        <a:rPr lang="en-US" sz="1650" dirty="0" spc="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Preguntar</a:t>
                      </a:r>
                      <a:r>
                        <a:rPr lang="en-US" sz="1650" dirty="0" spc="0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por</a:t>
                      </a:r>
                      <a:r>
                        <a:rPr lang="en-US" sz="1650" dirty="0" spc="2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hechos</a:t>
                      </a:r>
                      <a:r>
                        <a:rPr lang="en-US" sz="1650" dirty="0" spc="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del</a:t>
                      </a:r>
                      <a:r>
                        <a:rPr lang="en-US" sz="1650" dirty="0" spc="2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pasado,</a:t>
                      </a:r>
                      <a:r>
                        <a:rPr lang="en-US" sz="1650" dirty="0" spc="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no</a:t>
                      </a:r>
                      <a:r>
                        <a:rPr lang="en-US" sz="1650" dirty="0" spc="2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por opiniones</a:t>
                      </a:r>
                      <a:r>
                        <a:rPr lang="en-US" sz="1650" dirty="0" spc="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del</a:t>
                      </a:r>
                      <a:r>
                        <a:rPr lang="en-US" sz="1650" dirty="0" spc="2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futuro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E171D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80"/>
                        </a:lnSpc>
                        <a:buNone/>
                      </a:pPr>
                      <a:r>
                        <a:rPr lang="en-US" sz="1650" dirty="0" spc="6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D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80"/>
                        </a:lnSpc>
                        <a:buNone/>
                      </a:pPr>
                      <a:r>
                        <a:rPr lang="en-US" sz="1650" dirty="0" spc="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Mapa</a:t>
                      </a:r>
                      <a:r>
                        <a:rPr lang="en-US" sz="1650" dirty="0" spc="0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de</a:t>
                      </a:r>
                      <a:r>
                        <a:rPr lang="en-US" sz="1650" dirty="0" spc="2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empatía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D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80"/>
                        </a:lnSpc>
                        <a:buNone/>
                      </a:pPr>
                      <a:r>
                        <a:rPr lang="en-US" sz="1650" dirty="0" spc="2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Empatizar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D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80"/>
                        </a:lnSpc>
                        <a:buNone/>
                      </a:pPr>
                      <a:r>
                        <a:rPr lang="en-US" sz="1650" dirty="0" spc="2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Separar</a:t>
                      </a:r>
                      <a:r>
                        <a:rPr lang="en-US" sz="1650" dirty="0" spc="3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lo</a:t>
                      </a:r>
                      <a:r>
                        <a:rPr lang="en-US" sz="1650" dirty="0" spc="0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que</a:t>
                      </a:r>
                      <a:r>
                        <a:rPr lang="en-US" sz="1650" dirty="0" spc="5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la</a:t>
                      </a:r>
                      <a:r>
                        <a:rPr lang="en-US" sz="1650" dirty="0" spc="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persona</a:t>
                      </a:r>
                      <a:r>
                        <a:rPr lang="en-US" sz="1650" dirty="0" spc="2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dice</a:t>
                      </a:r>
                      <a:r>
                        <a:rPr lang="en-US" sz="1650" dirty="0" spc="0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de</a:t>
                      </a:r>
                      <a:r>
                        <a:rPr lang="en-US" sz="1650" dirty="0" spc="5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lo</a:t>
                      </a:r>
                      <a:r>
                        <a:rPr lang="en-US" sz="1650" dirty="0" spc="0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que</a:t>
                      </a:r>
                      <a:r>
                        <a:rPr lang="en-US" sz="1650" dirty="0" spc="2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hace</a:t>
                      </a:r>
                      <a:r>
                        <a:rPr lang="en-US" sz="1650" dirty="0" spc="4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y</a:t>
                      </a:r>
                      <a:r>
                        <a:rPr lang="en-US" sz="1650" dirty="0" spc="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siente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D23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80"/>
                        </a:lnSpc>
                        <a:buNone/>
                      </a:pPr>
                      <a:r>
                        <a:rPr lang="en-US" sz="1650" dirty="0" spc="6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E17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80"/>
                        </a:lnSpc>
                        <a:buNone/>
                      </a:pPr>
                      <a:r>
                        <a:rPr lang="en-US" sz="1650" dirty="0" spc="2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Ficha</a:t>
                      </a:r>
                      <a:r>
                        <a:rPr lang="en-US" sz="1650" dirty="0" spc="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de persona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E17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80"/>
                        </a:lnSpc>
                        <a:buNone/>
                      </a:pPr>
                      <a:r>
                        <a:rPr lang="en-US" sz="1650" dirty="0" spc="2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Definir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E17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80"/>
                        </a:lnSpc>
                        <a:buNone/>
                      </a:pPr>
                      <a:r>
                        <a:rPr lang="en-US" sz="1650" dirty="0" spc="0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Describir</a:t>
                      </a:r>
                      <a:r>
                        <a:rPr lang="en-US" sz="1650" dirty="0" spc="5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al</a:t>
                      </a:r>
                      <a:r>
                        <a:rPr lang="en-US" sz="1650" dirty="0" spc="2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usuario típico</a:t>
                      </a:r>
                      <a:r>
                        <a:rPr lang="en-US" sz="1650" dirty="0" spc="3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con</a:t>
                      </a:r>
                      <a:r>
                        <a:rPr lang="en-US" sz="1650" dirty="0" spc="2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datos reales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E171D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80"/>
                        </a:lnSpc>
                        <a:buNone/>
                      </a:pPr>
                      <a:r>
                        <a:rPr lang="en-US" sz="1650" dirty="0" spc="6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D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80"/>
                        </a:lnSpc>
                        <a:buNone/>
                      </a:pPr>
                      <a:r>
                        <a:rPr lang="en-US" sz="1650" dirty="0" spc="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Del</a:t>
                      </a:r>
                      <a:r>
                        <a:rPr lang="en-US" sz="1650" dirty="0" spc="2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hallazgo</a:t>
                      </a:r>
                      <a:r>
                        <a:rPr lang="en-US" sz="1650" dirty="0" spc="4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al</a:t>
                      </a:r>
                      <a:r>
                        <a:rPr lang="en-US" sz="1650" dirty="0" spc="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insight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D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80"/>
                        </a:lnSpc>
                        <a:buNone/>
                      </a:pPr>
                      <a:r>
                        <a:rPr lang="en-US" sz="1650" dirty="0" spc="2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Definir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D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80"/>
                        </a:lnSpc>
                        <a:buNone/>
                      </a:pPr>
                      <a:r>
                        <a:rPr lang="en-US" sz="1650" dirty="0" spc="2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Pasar</a:t>
                      </a:r>
                      <a:r>
                        <a:rPr lang="en-US" sz="1650" dirty="0" spc="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de un</a:t>
                      </a:r>
                      <a:r>
                        <a:rPr lang="en-US" sz="1650" dirty="0" spc="2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dato</a:t>
                      </a:r>
                      <a:r>
                        <a:rPr lang="en-US" sz="1650" dirty="0" spc="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observado</a:t>
                      </a:r>
                      <a:r>
                        <a:rPr lang="en-US" sz="1650" dirty="0" spc="5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a</a:t>
                      </a:r>
                      <a:r>
                        <a:rPr lang="en-US" sz="1650" dirty="0" spc="4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la</a:t>
                      </a:r>
                      <a:r>
                        <a:rPr lang="en-US" sz="1650" dirty="0" spc="3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explicación</a:t>
                      </a:r>
                      <a:r>
                        <a:rPr lang="en-US" sz="1650" dirty="0" spc="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no</a:t>
                      </a:r>
                      <a:r>
                        <a:rPr lang="en-US" sz="1650" dirty="0" spc="2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obvia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D23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80"/>
                        </a:lnSpc>
                        <a:buNone/>
                      </a:pPr>
                      <a:r>
                        <a:rPr lang="en-US" sz="1650" dirty="0" spc="6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E17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80"/>
                        </a:lnSpc>
                        <a:buNone/>
                      </a:pPr>
                      <a:r>
                        <a:rPr lang="en-US" sz="1650" dirty="0" spc="2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Jobs</a:t>
                      </a:r>
                      <a:r>
                        <a:rPr lang="en-US" sz="1650" dirty="0" spc="3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to</a:t>
                      </a:r>
                      <a:r>
                        <a:rPr lang="en-US" sz="1650" dirty="0" spc="0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be</a:t>
                      </a:r>
                      <a:r>
                        <a:rPr lang="en-US" sz="1650" dirty="0" spc="2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Done,</a:t>
                      </a:r>
                      <a:r>
                        <a:rPr lang="en-US" sz="1650" dirty="0" spc="0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POV</a:t>
                      </a:r>
                      <a:r>
                        <a:rPr lang="en-US" sz="1650" dirty="0" spc="2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y</a:t>
                      </a:r>
                      <a:r>
                        <a:rPr lang="en-US" sz="1650" dirty="0" spc="3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¿Cómo</a:t>
                      </a:r>
                      <a:r>
                        <a:rPr lang="en-US" sz="1650" dirty="0" spc="0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podríamos...?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E17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80"/>
                        </a:lnSpc>
                        <a:buNone/>
                      </a:pPr>
                      <a:r>
                        <a:rPr lang="en-US" sz="1650" dirty="0" spc="2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Definir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E17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80"/>
                        </a:lnSpc>
                        <a:buNone/>
                      </a:pPr>
                      <a:r>
                        <a:rPr lang="en-US" sz="1650" dirty="0" spc="2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Formular</a:t>
                      </a:r>
                      <a:r>
                        <a:rPr lang="en-US" sz="1650" dirty="0" spc="3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el</a:t>
                      </a:r>
                      <a:r>
                        <a:rPr lang="en-US" sz="1650" dirty="0" spc="2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problema</a:t>
                      </a:r>
                      <a:r>
                        <a:rPr lang="en-US" sz="1650" dirty="0" spc="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sin</a:t>
                      </a:r>
                      <a:r>
                        <a:rPr lang="en-US" sz="1650" dirty="0" spc="2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mencionar tecnología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E171D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80"/>
                        </a:lnSpc>
                        <a:buNone/>
                      </a:pPr>
                      <a:r>
                        <a:rPr lang="en-US" sz="1650" dirty="0" spc="6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D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80"/>
                        </a:lnSpc>
                        <a:buNone/>
                      </a:pPr>
                      <a:r>
                        <a:rPr lang="en-US" sz="1650" dirty="0" spc="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Los</a:t>
                      </a:r>
                      <a:r>
                        <a:rPr lang="en-US" sz="1650" dirty="0" spc="2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cuatro</a:t>
                      </a:r>
                      <a:r>
                        <a:rPr lang="en-US" sz="1650" dirty="0" spc="3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filtros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D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80"/>
                        </a:lnSpc>
                        <a:buNone/>
                      </a:pPr>
                      <a:r>
                        <a:rPr lang="en-US" sz="1650" dirty="0" spc="2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Definir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D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80"/>
                        </a:lnSpc>
                        <a:buNone/>
                      </a:pPr>
                      <a:r>
                        <a:rPr lang="en-US" sz="1650" dirty="0" spc="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Decidir</a:t>
                      </a:r>
                      <a:r>
                        <a:rPr lang="en-US" sz="1650" dirty="0" spc="2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si</a:t>
                      </a:r>
                      <a:r>
                        <a:rPr lang="en-US" sz="1650" dirty="0" spc="3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el</a:t>
                      </a:r>
                      <a:r>
                        <a:rPr lang="en-US" sz="1650" dirty="0" spc="2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problema vale</a:t>
                      </a:r>
                      <a:r>
                        <a:rPr lang="en-US" sz="1650" dirty="0" spc="4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la</a:t>
                      </a:r>
                      <a:r>
                        <a:rPr lang="en-US" sz="1650" dirty="0" spc="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pena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D23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80"/>
                        </a:lnSpc>
                        <a:buNone/>
                      </a:pPr>
                      <a:r>
                        <a:rPr lang="en-US" sz="1650" dirty="0" spc="6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E17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80"/>
                        </a:lnSpc>
                        <a:buNone/>
                      </a:pPr>
                      <a:r>
                        <a:rPr lang="en-US" sz="1650" dirty="0" spc="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Crazy</a:t>
                      </a:r>
                      <a:r>
                        <a:rPr lang="en-US" sz="1650" dirty="0" spc="3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8s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E17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80"/>
                        </a:lnSpc>
                        <a:buNone/>
                      </a:pPr>
                      <a:r>
                        <a:rPr lang="en-US" sz="1650" dirty="0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Idear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E17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80"/>
                        </a:lnSpc>
                        <a:buNone/>
                      </a:pPr>
                      <a:r>
                        <a:rPr lang="en-US" sz="1650" dirty="0" spc="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Dibujar</a:t>
                      </a:r>
                      <a:r>
                        <a:rPr lang="en-US" sz="1650" dirty="0" spc="3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ocho</a:t>
                      </a:r>
                      <a:r>
                        <a:rPr lang="en-US" sz="1650" dirty="0" spc="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ideas</a:t>
                      </a:r>
                      <a:r>
                        <a:rPr lang="en-US" sz="1650" dirty="0" spc="2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en</a:t>
                      </a:r>
                      <a:r>
                        <a:rPr lang="en-US" sz="1650" dirty="0" spc="3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ocho</a:t>
                      </a:r>
                      <a:r>
                        <a:rPr lang="en-US" sz="1650" dirty="0" spc="2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minutos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E171D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80"/>
                        </a:lnSpc>
                        <a:buNone/>
                      </a:pPr>
                      <a:r>
                        <a:rPr lang="en-US" sz="1650" dirty="0" spc="6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D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80"/>
                        </a:lnSpc>
                        <a:buNone/>
                      </a:pPr>
                      <a:r>
                        <a:rPr lang="en-US" sz="1650" dirty="0" spc="3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SCAMPER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D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80"/>
                        </a:lnSpc>
                        <a:buNone/>
                      </a:pPr>
                      <a:r>
                        <a:rPr lang="en-US" sz="1650" dirty="0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Idear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D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80"/>
                        </a:lnSpc>
                        <a:buNone/>
                      </a:pPr>
                      <a:r>
                        <a:rPr lang="en-US" sz="1650" dirty="0" spc="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Transformar</a:t>
                      </a:r>
                      <a:r>
                        <a:rPr lang="en-US" sz="1650" dirty="0" spc="2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una idea existente con</a:t>
                      </a:r>
                      <a:r>
                        <a:rPr lang="en-US" sz="1650" dirty="0" spc="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siete</a:t>
                      </a:r>
                      <a:r>
                        <a:rPr lang="en-US" sz="1650" dirty="0" spc="0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preguntas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D23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80"/>
                        </a:lnSpc>
                        <a:buNone/>
                      </a:pPr>
                      <a:r>
                        <a:rPr lang="en-US" sz="1650" dirty="0" spc="6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9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E17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80"/>
                        </a:lnSpc>
                        <a:buNone/>
                      </a:pPr>
                      <a:r>
                        <a:rPr lang="en-US" sz="1650" dirty="0" spc="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Matriz</a:t>
                      </a:r>
                      <a:r>
                        <a:rPr lang="en-US" sz="1650" dirty="0" spc="2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impacto-esfuerzo y</a:t>
                      </a:r>
                      <a:r>
                        <a:rPr lang="en-US" sz="1650" dirty="0" spc="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tres lentes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E17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80"/>
                        </a:lnSpc>
                        <a:buNone/>
                      </a:pPr>
                      <a:r>
                        <a:rPr lang="en-US" sz="1650" dirty="0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Idear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E17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80"/>
                        </a:lnSpc>
                        <a:buNone/>
                      </a:pPr>
                      <a:r>
                        <a:rPr lang="en-US" sz="1650" dirty="0" spc="2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Elegir</a:t>
                      </a:r>
                      <a:r>
                        <a:rPr lang="en-US" sz="1650" dirty="0" spc="0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qué</a:t>
                      </a:r>
                      <a:r>
                        <a:rPr lang="en-US" sz="1650" dirty="0" spc="2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idea</a:t>
                      </a:r>
                      <a:r>
                        <a:rPr lang="en-US" sz="1650" dirty="0" spc="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prototipar</a:t>
                      </a:r>
                      <a:r>
                        <a:rPr lang="en-US" sz="1650" dirty="0" spc="2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primero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E171D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80"/>
                        </a:lnSpc>
                        <a:buNone/>
                      </a:pPr>
                      <a:r>
                        <a:rPr lang="en-US" sz="1650" dirty="0" spc="6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10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D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80"/>
                        </a:lnSpc>
                        <a:buNone/>
                      </a:pPr>
                      <a:r>
                        <a:rPr lang="en-US" sz="1650" dirty="0" spc="3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Plan</a:t>
                      </a:r>
                      <a:r>
                        <a:rPr lang="en-US" sz="1650" dirty="0" spc="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de</a:t>
                      </a:r>
                      <a:r>
                        <a:rPr lang="en-US" sz="1650" dirty="0" spc="2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prototipo</a:t>
                      </a:r>
                      <a:r>
                        <a:rPr lang="en-US" sz="1650" dirty="0" spc="0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(Mago</a:t>
                      </a:r>
                      <a:r>
                        <a:rPr lang="en-US" sz="1650" dirty="0" spc="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de</a:t>
                      </a:r>
                      <a:r>
                        <a:rPr lang="en-US" sz="1650" dirty="0" spc="0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Oz)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D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80"/>
                        </a:lnSpc>
                        <a:buNone/>
                      </a:pPr>
                      <a:r>
                        <a:rPr lang="en-US" sz="1650" dirty="0" spc="2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Prototipar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D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80"/>
                        </a:lnSpc>
                        <a:buNone/>
                      </a:pPr>
                      <a:r>
                        <a:rPr lang="en-US" sz="1650" dirty="0" spc="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Validar</a:t>
                      </a:r>
                      <a:r>
                        <a:rPr lang="en-US" sz="1650" dirty="0" spc="4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el</a:t>
                      </a:r>
                      <a:r>
                        <a:rPr lang="en-US" sz="1650" dirty="0" spc="3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valor</a:t>
                      </a:r>
                      <a:r>
                        <a:rPr lang="en-US" sz="1650" dirty="0" spc="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antes de programar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D23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80"/>
                        </a:lnSpc>
                        <a:buNone/>
                      </a:pPr>
                      <a:r>
                        <a:rPr lang="en-US" sz="1650" dirty="0" spc="6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11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E17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80"/>
                        </a:lnSpc>
                        <a:buNone/>
                      </a:pPr>
                      <a:r>
                        <a:rPr lang="en-US" sz="1650" dirty="0" spc="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Registro</a:t>
                      </a:r>
                      <a:r>
                        <a:rPr lang="en-US" sz="1650" dirty="0" spc="2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de</a:t>
                      </a:r>
                      <a:r>
                        <a:rPr lang="en-US" sz="1650" dirty="0" spc="0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prueba</a:t>
                      </a:r>
                      <a:r>
                        <a:rPr lang="en-US" sz="1650" dirty="0" spc="3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con</a:t>
                      </a:r>
                      <a:r>
                        <a:rPr lang="en-US" sz="1650" dirty="0" spc="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usuarios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E17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80"/>
                        </a:lnSpc>
                        <a:buNone/>
                      </a:pPr>
                      <a:r>
                        <a:rPr lang="en-US" sz="1650" dirty="0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Testear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E17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80"/>
                        </a:lnSpc>
                        <a:buNone/>
                      </a:pPr>
                      <a:r>
                        <a:rPr lang="en-US" sz="1650" dirty="0" spc="-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Observar</a:t>
                      </a:r>
                      <a:r>
                        <a:rPr lang="en-US" sz="1650" dirty="0" spc="2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comportamiento</a:t>
                      </a:r>
                      <a:r>
                        <a:rPr lang="en-US" sz="1650" dirty="0" spc="6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y</a:t>
                      </a:r>
                      <a:r>
                        <a:rPr lang="en-US" sz="1650" dirty="0" spc="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decidir</a:t>
                      </a:r>
                      <a:r>
                        <a:rPr lang="en-US" sz="1650" dirty="0" spc="2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iterar, pivotar</a:t>
                      </a:r>
                      <a:r>
                        <a:rPr lang="en-US" sz="1650" dirty="0" spc="3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o</a:t>
                      </a:r>
                      <a:r>
                        <a:rPr lang="en-US" sz="1650" dirty="0" spc="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parar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E171D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80"/>
                        </a:lnSpc>
                        <a:buNone/>
                      </a:pPr>
                      <a:r>
                        <a:rPr lang="en-US" sz="1650" dirty="0" spc="6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12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D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80"/>
                        </a:lnSpc>
                        <a:buNone/>
                      </a:pPr>
                      <a:r>
                        <a:rPr lang="en-US" sz="1650" dirty="0" spc="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Lean</a:t>
                      </a:r>
                      <a:r>
                        <a:rPr lang="en-US" sz="1650" dirty="0" spc="2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Canvas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D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80"/>
                        </a:lnSpc>
                        <a:buNone/>
                      </a:pPr>
                      <a:r>
                        <a:rPr lang="en-US" sz="1650" dirty="0" spc="3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Negocio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D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80"/>
                        </a:lnSpc>
                        <a:buNone/>
                      </a:pPr>
                      <a:r>
                        <a:rPr lang="en-US" sz="1650" dirty="0" spc="0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Ordenar</a:t>
                      </a:r>
                      <a:r>
                        <a:rPr lang="en-US" sz="1650" dirty="0" spc="2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el</a:t>
                      </a:r>
                      <a:r>
                        <a:rPr lang="en-US" sz="1650" dirty="0" spc="3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modelo</a:t>
                      </a:r>
                      <a:r>
                        <a:rPr lang="en-US" sz="1650" dirty="0" spc="0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de</a:t>
                      </a:r>
                      <a:r>
                        <a:rPr lang="en-US" sz="1650" dirty="0" spc="2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negocio en una</a:t>
                      </a:r>
                      <a:r>
                        <a:rPr lang="en-US" sz="1650" dirty="0" spc="3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hoja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D23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80"/>
                        </a:lnSpc>
                        <a:buNone/>
                      </a:pPr>
                      <a:r>
                        <a:rPr lang="en-US" sz="1650" dirty="0" spc="6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13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E17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80"/>
                        </a:lnSpc>
                        <a:buNone/>
                      </a:pPr>
                      <a:r>
                        <a:rPr lang="en-US" sz="1650" dirty="0" spc="3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Cálculo</a:t>
                      </a:r>
                      <a:r>
                        <a:rPr lang="en-US" sz="1650" dirty="0" spc="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de</a:t>
                      </a:r>
                      <a:r>
                        <a:rPr lang="en-US" sz="1650" dirty="0" spc="2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precio y</a:t>
                      </a:r>
                      <a:r>
                        <a:rPr lang="en-US" sz="1650" dirty="0" spc="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LTV/CAC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E17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80"/>
                        </a:lnSpc>
                        <a:buNone/>
                      </a:pPr>
                      <a:r>
                        <a:rPr lang="en-US" sz="1650" dirty="0" spc="3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Negocio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E17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80"/>
                        </a:lnSpc>
                        <a:buNone/>
                      </a:pPr>
                      <a:r>
                        <a:rPr lang="en-US" sz="1650" dirty="0" spc="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Saber</a:t>
                      </a:r>
                      <a:r>
                        <a:rPr lang="en-US" sz="1650" dirty="0" spc="2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cuánto cobrar</a:t>
                      </a:r>
                      <a:r>
                        <a:rPr lang="en-US" sz="1650" dirty="0" spc="3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y</a:t>
                      </a:r>
                      <a:r>
                        <a:rPr lang="en-US" sz="1650" dirty="0" spc="2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si</a:t>
                      </a:r>
                      <a:r>
                        <a:rPr lang="en-US" sz="1650" dirty="0" spc="3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el</a:t>
                      </a:r>
                      <a:r>
                        <a:rPr lang="en-US" sz="1650" dirty="0" spc="2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negocio es</a:t>
                      </a:r>
                      <a:r>
                        <a:rPr lang="en-US" sz="1650" dirty="0" spc="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rentable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E171D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80"/>
                        </a:lnSpc>
                        <a:buNone/>
                      </a:pPr>
                      <a:r>
                        <a:rPr lang="en-US" sz="1650" dirty="0" spc="6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14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80"/>
                        </a:lnSpc>
                        <a:buNone/>
                      </a:pPr>
                      <a:r>
                        <a:rPr lang="en-US" sz="1650" dirty="0" spc="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Registro</a:t>
                      </a:r>
                      <a:r>
                        <a:rPr lang="en-US" sz="1650" dirty="0" spc="2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de</a:t>
                      </a:r>
                      <a:r>
                        <a:rPr lang="en-US" sz="1650" dirty="0" spc="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riesgos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80"/>
                        </a:lnSpc>
                        <a:buNone/>
                      </a:pPr>
                      <a:r>
                        <a:rPr lang="en-US" sz="1650" dirty="0" spc="3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Proyecto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80"/>
                        </a:lnSpc>
                        <a:buNone/>
                      </a:pPr>
                      <a:r>
                        <a:rPr lang="en-US" sz="1650" dirty="0" spc="2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Blindar el</a:t>
                      </a:r>
                      <a:r>
                        <a:rPr lang="en-US" sz="1650" dirty="0" spc="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proyecto:</a:t>
                      </a:r>
                      <a:r>
                        <a:rPr lang="en-US" sz="1650" dirty="0" spc="3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IA, plataformas</a:t>
                      </a:r>
                      <a:r>
                        <a:rPr lang="en-US" sz="1650" dirty="0" spc="0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y</a:t>
                      </a:r>
                      <a:r>
                        <a:rPr lang="en-US" sz="1650" dirty="0" spc="2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trámites</a:t>
                      </a:r>
                      <a:r>
                        <a:rPr lang="en-US" sz="1650" dirty="0" spc="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legales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2381250"/>
          </a:xfrm>
          <a:prstGeom prst="rect">
            <a:avLst/>
          </a:prstGeom>
          <a:solidFill>
            <a:srgbClr val="EAF5FE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38100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99" kern="0" dirty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FORMATO</a:t>
            </a:r>
            <a:r>
              <a:rPr lang="en-US" sz="1950" spc="228" kern="0" dirty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1</a:t>
            </a:r>
            <a:r>
              <a:rPr lang="en-US" sz="1950" spc="231" kern="0" dirty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·</a:t>
            </a:r>
            <a:r>
              <a:rPr lang="en-US" sz="1950" spc="203" kern="0" dirty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EMPATIZAR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781050"/>
            <a:ext cx="1638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 spc="0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Guion</a:t>
            </a:r>
            <a:r>
              <a:rPr lang="en-US" sz="4800" b="1" dirty="0" spc="1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de</a:t>
            </a:r>
            <a:r>
              <a:rPr lang="en-US" sz="4800" b="1" dirty="0" spc="-12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entrevista</a:t>
            </a:r>
            <a:r>
              <a:rPr lang="en-US" sz="4800" b="1" dirty="0" spc="-16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(The</a:t>
            </a:r>
            <a:r>
              <a:rPr lang="en-US" sz="4800" b="1" dirty="0" spc="-3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Mom</a:t>
            </a:r>
            <a:r>
              <a:rPr lang="en-US" sz="4800" b="1" dirty="0" spc="-77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Test)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52500" y="1600200"/>
            <a:ext cx="16383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3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Para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qué</a:t>
            </a:r>
            <a:r>
              <a:rPr lang="en-US" sz="165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sirve: descubrir</a:t>
            </a:r>
            <a:r>
              <a:rPr lang="en-US" sz="165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problemas reales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sin</a:t>
            </a:r>
            <a:r>
              <a:rPr lang="en-US" sz="165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que</a:t>
            </a:r>
            <a:r>
              <a:rPr lang="en-US" sz="1650" dirty="0" spc="4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persona</a:t>
            </a:r>
            <a:r>
              <a:rPr lang="en-US" sz="165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te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diga</a:t>
            </a:r>
            <a:r>
              <a:rPr lang="en-US" sz="1650" dirty="0" spc="4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lo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que quieres oír.</a:t>
            </a:r>
            <a:r>
              <a:rPr lang="en-US" sz="165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Regla de</a:t>
            </a:r>
            <a:r>
              <a:rPr lang="en-US" sz="1650" dirty="0" spc="3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Rob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Fitzpatrick:</a:t>
            </a:r>
            <a:r>
              <a:rPr lang="en-US" sz="165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pregunta</a:t>
            </a:r>
            <a:r>
              <a:rPr lang="en-US" sz="165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por</a:t>
            </a:r>
            <a:r>
              <a:rPr lang="en-US" sz="1650" dirty="0" spc="3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el</a:t>
            </a:r>
            <a:r>
              <a:rPr lang="en-US" sz="165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pasado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 por</a:t>
            </a:r>
            <a:r>
              <a:rPr lang="en-US" sz="165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hechos,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nunca por</a:t>
            </a:r>
            <a:r>
              <a:rPr lang="en-US" sz="1650" dirty="0" spc="4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el</a:t>
            </a:r>
            <a:r>
              <a:rPr lang="en-US" sz="165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futuro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ni</a:t>
            </a:r>
            <a:r>
              <a:rPr lang="en-US" sz="165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por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tu idea.</a:t>
            </a:r>
            <a:endParaRPr lang="en-US" sz="165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500" y="2619375"/>
          <a:ext cx="13716000" cy="914400"/>
        </p:xfrm>
        <a:graphic>
          <a:graphicData uri="http://schemas.openxmlformats.org/drawingml/2006/table">
            <a:tbl>
              <a:tblPr/>
              <a:tblGrid>
                <a:gridCol w="5461000"/>
                <a:gridCol w="5461000"/>
                <a:gridCol w="5461000"/>
              </a:tblGrid>
              <a:tr h="571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Entrevistado</a:t>
                      </a:r>
                      <a:r>
                        <a:rPr lang="en-US" sz="1500" dirty="0" spc="2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(rol,</a:t>
                      </a:r>
                      <a:r>
                        <a:rPr lang="en-US" sz="1500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no</a:t>
                      </a:r>
                      <a:r>
                        <a:rPr lang="en-US" sz="1500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nombre):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dirty="0" spc="-2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Lugar</a:t>
                      </a:r>
                      <a:r>
                        <a:rPr lang="en-US" sz="1500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y</a:t>
                      </a:r>
                      <a:r>
                        <a:rPr lang="en-US" sz="1500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fecha: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Duración</a:t>
                      </a:r>
                      <a:r>
                        <a:rPr lang="en-US" sz="1500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y</a:t>
                      </a:r>
                      <a:r>
                        <a:rPr lang="en-US" sz="1500" dirty="0" spc="2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¿se</a:t>
                      </a:r>
                      <a:r>
                        <a:rPr lang="en-US" sz="1500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grabó</a:t>
                      </a:r>
                      <a:r>
                        <a:rPr lang="en-US" sz="1500" dirty="0" spc="2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con permiso?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500" y="3381375"/>
          <a:ext cx="13716000" cy="914400"/>
        </p:xfrm>
        <a:graphic>
          <a:graphicData uri="http://schemas.openxmlformats.org/drawingml/2006/table">
            <a:tbl>
              <a:tblPr/>
              <a:tblGrid>
                <a:gridCol w="819150"/>
                <a:gridCol w="8191500"/>
                <a:gridCol w="7372350"/>
              </a:tblGrid>
              <a:tr h="5524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b="1" dirty="0" spc="-6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#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612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b="1" dirty="0" spc="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Pregunta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612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b="1" dirty="0" spc="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Notas:</a:t>
                      </a:r>
                      <a:r>
                        <a:rPr lang="en-US" sz="1500" b="1" dirty="0" spc="-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hechos,</a:t>
                      </a:r>
                      <a:r>
                        <a:rPr lang="en-US" sz="1500" b="1" dirty="0" spc="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cifras</a:t>
                      </a:r>
                      <a:r>
                        <a:rPr lang="en-US" sz="1500" b="1" dirty="0" spc="4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y</a:t>
                      </a:r>
                      <a:r>
                        <a:rPr lang="en-US" sz="1500" b="1" dirty="0" spc="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frases</a:t>
                      </a:r>
                      <a:r>
                        <a:rPr lang="en-US" sz="1500" b="1" dirty="0" spc="0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textuales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61219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dirty="0" spc="-5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Preséntate</a:t>
                      </a:r>
                      <a:r>
                        <a:rPr lang="en-US" sz="1500" dirty="0" spc="4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y</a:t>
                      </a:r>
                      <a:r>
                        <a:rPr lang="en-US" sz="1500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aclara</a:t>
                      </a:r>
                      <a:r>
                        <a:rPr lang="en-US" sz="1500" dirty="0" spc="2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que</a:t>
                      </a:r>
                      <a:r>
                        <a:rPr lang="en-US" sz="1500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no vas</a:t>
                      </a:r>
                      <a:r>
                        <a:rPr lang="en-US" sz="1500" dirty="0" spc="-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a</a:t>
                      </a:r>
                      <a:r>
                        <a:rPr lang="en-US" sz="1500" dirty="0" spc="2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vender</a:t>
                      </a:r>
                      <a:r>
                        <a:rPr lang="en-US" sz="1500" dirty="0" spc="-2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nada;</a:t>
                      </a:r>
                      <a:r>
                        <a:rPr lang="en-US" sz="1500" dirty="0" spc="2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quieres aprender cómo</a:t>
                      </a:r>
                      <a:r>
                        <a:rPr lang="en-US" sz="1500" dirty="0" spc="-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trabaja.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dirty="0" spc="-5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dirty="0" spc="-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Cuéntame</a:t>
                      </a:r>
                      <a:r>
                        <a:rPr lang="en-US" sz="1500" dirty="0" spc="2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cómo</a:t>
                      </a:r>
                      <a:r>
                        <a:rPr lang="en-US" sz="1500" dirty="0" spc="3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es</a:t>
                      </a:r>
                      <a:r>
                        <a:rPr lang="en-US" sz="1500" dirty="0" spc="-2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un</a:t>
                      </a:r>
                      <a:r>
                        <a:rPr lang="en-US" sz="1500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día</a:t>
                      </a:r>
                      <a:r>
                        <a:rPr lang="en-US" sz="1500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normal</a:t>
                      </a:r>
                      <a:r>
                        <a:rPr lang="en-US" sz="1500" dirty="0" spc="2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en</a:t>
                      </a:r>
                      <a:r>
                        <a:rPr lang="en-US" sz="1500" dirty="0" spc="-2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tu</a:t>
                      </a:r>
                      <a:r>
                        <a:rPr lang="en-US" sz="1500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trabajo,</a:t>
                      </a:r>
                      <a:r>
                        <a:rPr lang="en-US" sz="1500" dirty="0" spc="5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desde</a:t>
                      </a:r>
                      <a:r>
                        <a:rPr lang="en-US" sz="1500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que llegas.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dirty="0" spc="-5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¿Qué</a:t>
                      </a:r>
                      <a:r>
                        <a:rPr lang="en-US" sz="1500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parte</a:t>
                      </a:r>
                      <a:r>
                        <a:rPr lang="en-US" sz="1500" dirty="0" spc="4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de</a:t>
                      </a:r>
                      <a:r>
                        <a:rPr lang="en-US" sz="1500" dirty="0" spc="-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tu semana</a:t>
                      </a:r>
                      <a:r>
                        <a:rPr lang="en-US" sz="1500" dirty="0" spc="2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te</a:t>
                      </a:r>
                      <a:r>
                        <a:rPr lang="en-US" sz="1500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quita más</a:t>
                      </a:r>
                      <a:r>
                        <a:rPr lang="en-US" sz="1500" dirty="0" spc="3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tiempo</a:t>
                      </a:r>
                      <a:r>
                        <a:rPr lang="en-US" sz="1500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o energía?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dirty="0" spc="-5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dirty="0" spc="-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Cuéntame la</a:t>
                      </a:r>
                      <a:r>
                        <a:rPr lang="en-US" sz="1500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última</a:t>
                      </a:r>
                      <a:r>
                        <a:rPr lang="en-US" sz="1500" dirty="0" spc="2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vez que te</a:t>
                      </a:r>
                      <a:r>
                        <a:rPr lang="en-US" sz="1500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pasó</a:t>
                      </a:r>
                      <a:r>
                        <a:rPr lang="en-US" sz="1500" dirty="0" spc="4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[el</a:t>
                      </a:r>
                      <a:r>
                        <a:rPr lang="en-US" sz="1500" dirty="0" spc="2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problema].</a:t>
                      </a:r>
                      <a:r>
                        <a:rPr lang="en-US" sz="1500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¿Qué</a:t>
                      </a:r>
                      <a:r>
                        <a:rPr lang="en-US" sz="1500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hiciste?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dirty="0" spc="-5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¿Qué</a:t>
                      </a:r>
                      <a:r>
                        <a:rPr lang="en-US" sz="1500" dirty="0" spc="-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has</a:t>
                      </a:r>
                      <a:r>
                        <a:rPr lang="en-US" sz="1500" dirty="0" spc="2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probado</a:t>
                      </a:r>
                      <a:r>
                        <a:rPr lang="en-US" sz="1500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para solucionarlo?</a:t>
                      </a:r>
                      <a:r>
                        <a:rPr lang="en-US" sz="1500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¿Por</a:t>
                      </a:r>
                      <a:r>
                        <a:rPr lang="en-US" sz="1500" dirty="0" spc="2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qué</a:t>
                      </a:r>
                      <a:r>
                        <a:rPr lang="en-US" sz="1500" dirty="0" spc="3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lo</a:t>
                      </a:r>
                      <a:r>
                        <a:rPr lang="en-US" sz="1500" dirty="0" spc="2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dejaste o sigues</a:t>
                      </a:r>
                      <a:r>
                        <a:rPr lang="en-US" sz="1500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usándolo?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dirty="0" spc="-5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dirty="0" spc="-3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¿Cuánto</a:t>
                      </a:r>
                      <a:r>
                        <a:rPr lang="en-US" sz="1500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te</a:t>
                      </a:r>
                      <a:r>
                        <a:rPr lang="en-US" sz="1500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cuesta</a:t>
                      </a:r>
                      <a:r>
                        <a:rPr lang="en-US" sz="1500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hoy</a:t>
                      </a:r>
                      <a:r>
                        <a:rPr lang="en-US" sz="1500" dirty="0" spc="4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ese</a:t>
                      </a:r>
                      <a:r>
                        <a:rPr lang="en-US" sz="1500" dirty="0" spc="2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problema,</a:t>
                      </a:r>
                      <a:r>
                        <a:rPr lang="en-US" sz="1500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en</a:t>
                      </a:r>
                      <a:r>
                        <a:rPr lang="en-US" sz="1500" dirty="0" spc="2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tiempo</a:t>
                      </a:r>
                      <a:r>
                        <a:rPr lang="en-US" sz="1500" dirty="0" spc="3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o</a:t>
                      </a:r>
                      <a:r>
                        <a:rPr lang="en-US" sz="1500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en dinero?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dirty="0" spc="-5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Si</a:t>
                      </a:r>
                      <a:r>
                        <a:rPr lang="en-US" sz="1500" dirty="0" spc="2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pudieras</a:t>
                      </a:r>
                      <a:r>
                        <a:rPr lang="en-US" sz="1500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cambiar</a:t>
                      </a:r>
                      <a:r>
                        <a:rPr lang="en-US" sz="1500" dirty="0" spc="-3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una</a:t>
                      </a:r>
                      <a:r>
                        <a:rPr lang="en-US" sz="1500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sola</a:t>
                      </a:r>
                      <a:r>
                        <a:rPr lang="en-US" sz="1500" dirty="0" spc="2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cosa</a:t>
                      </a:r>
                      <a:r>
                        <a:rPr lang="en-US" sz="1500" dirty="0" spc="4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de</a:t>
                      </a:r>
                      <a:r>
                        <a:rPr lang="en-US" sz="1500" dirty="0" spc="3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cómo</a:t>
                      </a:r>
                      <a:r>
                        <a:rPr lang="en-US" sz="1500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funciona</a:t>
                      </a:r>
                      <a:r>
                        <a:rPr lang="en-US" sz="1500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esto,</a:t>
                      </a:r>
                      <a:r>
                        <a:rPr lang="en-US" sz="1500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¿cuál</a:t>
                      </a:r>
                      <a:r>
                        <a:rPr lang="en-US" sz="1500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sería?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dirty="0" spc="-5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¿Conoces</a:t>
                      </a:r>
                      <a:r>
                        <a:rPr lang="en-US" sz="1500" dirty="0" spc="-2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a</a:t>
                      </a:r>
                      <a:r>
                        <a:rPr lang="en-US" sz="1500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alguien</a:t>
                      </a:r>
                      <a:r>
                        <a:rPr lang="en-US" sz="1500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más con</a:t>
                      </a:r>
                      <a:r>
                        <a:rPr lang="en-US" sz="1500" dirty="0" spc="2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este</a:t>
                      </a:r>
                      <a:r>
                        <a:rPr lang="en-US" sz="1500" dirty="0" spc="3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problema</a:t>
                      </a:r>
                      <a:r>
                        <a:rPr lang="en-US" sz="1500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con</a:t>
                      </a:r>
                      <a:r>
                        <a:rPr lang="en-US" sz="1500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quien</a:t>
                      </a:r>
                      <a:r>
                        <a:rPr lang="en-US" sz="1500" dirty="0" spc="2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pueda</a:t>
                      </a:r>
                      <a:r>
                        <a:rPr lang="en-US" sz="1500" dirty="0" spc="-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hablar?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dirty="0" spc="-5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9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¿Puedo</a:t>
                      </a:r>
                      <a:r>
                        <a:rPr lang="en-US" sz="1500" dirty="0" spc="2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volver</a:t>
                      </a:r>
                      <a:r>
                        <a:rPr lang="en-US" sz="1500" dirty="0" spc="-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a</a:t>
                      </a:r>
                      <a:r>
                        <a:rPr lang="en-US" sz="1500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contactarte cuando tenga</a:t>
                      </a:r>
                      <a:r>
                        <a:rPr lang="en-US" sz="1500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algo</a:t>
                      </a:r>
                      <a:r>
                        <a:rPr lang="en-US" sz="1500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para mostrarte?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952500" y="9096375"/>
            <a:ext cx="16383000" cy="762000"/>
          </a:xfrm>
          <a:prstGeom prst="roundRect">
            <a:avLst>
              <a:gd name="adj" fmla="val 15000"/>
            </a:avLst>
          </a:prstGeom>
          <a:solidFill>
            <a:srgbClr val="0693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Recuerda:</a:t>
            </a:r>
            <a:r>
              <a:rPr lang="en-US" sz="165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habla menos</a:t>
            </a:r>
            <a:r>
              <a:rPr lang="en-US" sz="165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del</a:t>
            </a:r>
            <a:r>
              <a:rPr lang="en-US" sz="1650" dirty="0" spc="5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20</a:t>
            </a:r>
            <a:r>
              <a:rPr lang="en-US" sz="1650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%</a:t>
            </a:r>
            <a:r>
              <a:rPr lang="en-US" sz="165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del tiempo y</a:t>
            </a:r>
            <a:r>
              <a:rPr lang="en-US" sz="165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pregunta</a:t>
            </a:r>
            <a:r>
              <a:rPr lang="en-US" sz="165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«¿por</a:t>
            </a:r>
            <a:r>
              <a:rPr lang="en-US" sz="165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qué?»</a:t>
            </a:r>
            <a:r>
              <a:rPr lang="en-US" sz="165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hasta llegar</a:t>
            </a:r>
            <a:r>
              <a:rPr lang="en-US" sz="1650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al</a:t>
            </a:r>
            <a:r>
              <a:rPr lang="en-US" sz="165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fondo. Evita</a:t>
            </a:r>
            <a:r>
              <a:rPr lang="en-US" sz="165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«¿usarías...?» y</a:t>
            </a:r>
            <a:r>
              <a:rPr lang="en-US" sz="165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«¿pagarías...?»:</a:t>
            </a:r>
            <a:r>
              <a:rPr lang="en-US" sz="1650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todos</a:t>
            </a:r>
            <a:r>
              <a:rPr lang="en-US" sz="165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dicen que</a:t>
            </a:r>
            <a:r>
              <a:rPr lang="en-US" sz="165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sí</a:t>
            </a:r>
            <a:r>
              <a:rPr lang="en-US" sz="165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por</a:t>
            </a:r>
            <a:r>
              <a:rPr lang="en-US" sz="165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cortesía.</a:t>
            </a:r>
            <a:endParaRPr lang="en-US" sz="16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2381250"/>
          </a:xfrm>
          <a:prstGeom prst="rect">
            <a:avLst/>
          </a:prstGeom>
          <a:solidFill>
            <a:srgbClr val="EAF5FE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38100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99" kern="0" dirty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FORMATO</a:t>
            </a:r>
            <a:r>
              <a:rPr lang="en-US" sz="1950" spc="229" kern="0" dirty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2</a:t>
            </a:r>
            <a:r>
              <a:rPr lang="en-US" sz="1950" spc="231" kern="0" dirty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·</a:t>
            </a:r>
            <a:r>
              <a:rPr lang="en-US" sz="1950" spc="203" kern="0" dirty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EMPATIZAR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781050"/>
            <a:ext cx="1638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 spc="-2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Mapa</a:t>
            </a:r>
            <a:r>
              <a:rPr lang="en-US" sz="4800" b="1" dirty="0" spc="1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de</a:t>
            </a:r>
            <a:r>
              <a:rPr lang="en-US" sz="4800" b="1" dirty="0" spc="-4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empatía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52500" y="1600200"/>
            <a:ext cx="16383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3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Para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qué</a:t>
            </a:r>
            <a:r>
              <a:rPr lang="en-US" sz="165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sirve: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ordenar</a:t>
            </a:r>
            <a:r>
              <a:rPr lang="en-US" sz="1650" dirty="0" spc="5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lo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que</a:t>
            </a:r>
            <a:r>
              <a:rPr lang="en-US" sz="165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aprendiste</a:t>
            </a:r>
            <a:r>
              <a:rPr lang="en-US" sz="165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 una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persona.</a:t>
            </a:r>
            <a:r>
              <a:rPr lang="en-US" sz="165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Las</a:t>
            </a:r>
            <a:r>
              <a:rPr lang="en-US" sz="165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contradicciones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entre</a:t>
            </a:r>
            <a:r>
              <a:rPr lang="en-US" sz="1650" dirty="0" spc="4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lo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que</a:t>
            </a:r>
            <a:r>
              <a:rPr lang="en-US" sz="165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dice y</a:t>
            </a:r>
            <a:r>
              <a:rPr lang="en-US" sz="1650" dirty="0" spc="4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lo</a:t>
            </a:r>
            <a:r>
              <a:rPr lang="en-US" sz="165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que</a:t>
            </a:r>
            <a:r>
              <a:rPr lang="en-US" sz="1650" dirty="0" spc="3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hace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son</a:t>
            </a:r>
            <a:r>
              <a:rPr lang="en-US" sz="1650" dirty="0" spc="3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las</a:t>
            </a:r>
            <a:r>
              <a:rPr lang="en-US" sz="165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mejores</a:t>
            </a:r>
            <a:r>
              <a:rPr lang="en-US" sz="165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pistas.</a:t>
            </a:r>
            <a:r>
              <a:rPr lang="en-US" sz="1650" dirty="0" spc="4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Haz</a:t>
            </a:r>
            <a:r>
              <a:rPr lang="en-US" sz="165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un</a:t>
            </a:r>
            <a:r>
              <a:rPr lang="en-US" sz="165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mapa por cada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entrevistado.</a:t>
            </a:r>
            <a:endParaRPr lang="en-US" sz="165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500" y="2619375"/>
          <a:ext cx="13716000" cy="914400"/>
        </p:xfrm>
        <a:graphic>
          <a:graphicData uri="http://schemas.openxmlformats.org/drawingml/2006/table">
            <a:tbl>
              <a:tblPr/>
              <a:tblGrid>
                <a:gridCol w="5461000"/>
                <a:gridCol w="5461000"/>
                <a:gridCol w="5461000"/>
              </a:tblGrid>
              <a:tr h="5334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Equipo</a:t>
                      </a:r>
                      <a:r>
                        <a:rPr lang="en-US" sz="1500" dirty="0" spc="3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o</a:t>
                      </a:r>
                      <a:r>
                        <a:rPr lang="en-US" sz="1500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estudiante: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Proyecto: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dirty="0" spc="-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Fecha: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952500" y="3333750"/>
            <a:ext cx="8115300" cy="1676400"/>
          </a:xfrm>
          <a:prstGeom prst="roundRect">
            <a:avLst>
              <a:gd name="adj" fmla="val 6818"/>
            </a:avLst>
          </a:prstGeom>
          <a:noFill/>
          <a:ln w="19050">
            <a:solidFill>
              <a:srgbClr val="C1CED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219200" y="3524250"/>
            <a:ext cx="7581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2" kern="0">
                <a:solidFill>
                  <a:srgbClr val="0693E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DICE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1219200" y="3981450"/>
            <a:ext cx="75819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3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Rosa:</a:t>
            </a:r>
            <a:r>
              <a:rPr lang="en-US" sz="1800" dirty="0" spc="4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«Nunca</a:t>
            </a:r>
            <a:r>
              <a:rPr lang="en-US" sz="1800" dirty="0" spc="-2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sé</a:t>
            </a:r>
            <a:r>
              <a:rPr lang="en-US" sz="1800" dirty="0" spc="2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si gané</a:t>
            </a:r>
            <a:r>
              <a:rPr lang="en-US" sz="1800" dirty="0" spc="0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</a:t>
            </a:r>
            <a:r>
              <a:rPr lang="en-US" sz="1800" dirty="0" spc="1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perdí</a:t>
            </a:r>
            <a:r>
              <a:rPr lang="en-US" sz="1800" dirty="0" spc="2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hasta</a:t>
            </a:r>
            <a:r>
              <a:rPr lang="en-US" sz="1800" dirty="0" spc="5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fin</a:t>
            </a:r>
            <a:r>
              <a:rPr lang="en-US" sz="1800" dirty="0" spc="1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 mes»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9220200" y="3333750"/>
            <a:ext cx="8115300" cy="1676400"/>
          </a:xfrm>
          <a:prstGeom prst="roundRect">
            <a:avLst>
              <a:gd name="adj" fmla="val 6818"/>
            </a:avLst>
          </a:prstGeom>
          <a:noFill/>
          <a:ln w="19050">
            <a:solidFill>
              <a:srgbClr val="C1CED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486900" y="3524250"/>
            <a:ext cx="7581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3" kern="0">
                <a:solidFill>
                  <a:srgbClr val="0693E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PIENSA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9486900" y="3981450"/>
            <a:ext cx="75819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3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Rosa:</a:t>
            </a:r>
            <a:r>
              <a:rPr lang="en-US" sz="1800" dirty="0" spc="3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el</a:t>
            </a:r>
            <a:r>
              <a:rPr lang="en-US" sz="1800" dirty="0" spc="0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software</a:t>
            </a:r>
            <a:r>
              <a:rPr lang="en-US" sz="1800" dirty="0" spc="1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contable</a:t>
            </a:r>
            <a:r>
              <a:rPr lang="en-US" sz="1800" dirty="0" spc="0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es</a:t>
            </a:r>
            <a:r>
              <a:rPr lang="en-US" sz="1800" dirty="0" spc="1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para</a:t>
            </a:r>
            <a:r>
              <a:rPr lang="en-US" sz="1800" dirty="0" spc="-1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empresas</a:t>
            </a:r>
            <a:r>
              <a:rPr lang="en-US" sz="1800" dirty="0" spc="1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grandes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952500" y="5162550"/>
            <a:ext cx="8115300" cy="1676400"/>
          </a:xfrm>
          <a:prstGeom prst="roundRect">
            <a:avLst>
              <a:gd name="adj" fmla="val 6818"/>
            </a:avLst>
          </a:prstGeom>
          <a:noFill/>
          <a:ln w="19050">
            <a:solidFill>
              <a:srgbClr val="C1CED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19200" y="5353050"/>
            <a:ext cx="7581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7" kern="0">
                <a:solidFill>
                  <a:srgbClr val="0693E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HACE</a:t>
            </a:r>
            <a:endParaRPr lang="en-US" sz="2250" dirty="0"/>
          </a:p>
        </p:txBody>
      </p:sp>
      <p:sp>
        <p:nvSpPr>
          <p:cNvPr id="15" name="Text 12"/>
          <p:cNvSpPr/>
          <p:nvPr/>
        </p:nvSpPr>
        <p:spPr>
          <a:xfrm>
            <a:off x="1219200" y="5810250"/>
            <a:ext cx="75819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3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Rosa:</a:t>
            </a:r>
            <a:r>
              <a:rPr lang="en-US" sz="1800" dirty="0" spc="2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anota</a:t>
            </a:r>
            <a:r>
              <a:rPr lang="en-US" sz="1800" dirty="0" spc="0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compras</a:t>
            </a:r>
            <a:r>
              <a:rPr lang="en-US" sz="1800" dirty="0" spc="2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</a:t>
            </a:r>
            <a:r>
              <a:rPr lang="en-US" sz="1800" dirty="0" spc="1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ventas</a:t>
            </a:r>
            <a:r>
              <a:rPr lang="en-US" sz="1800" dirty="0" spc="2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en</a:t>
            </a:r>
            <a:r>
              <a:rPr lang="en-US" sz="1800" dirty="0" spc="5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un</a:t>
            </a:r>
            <a:r>
              <a:rPr lang="en-US" sz="1800" dirty="0" spc="0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cuaderno</a:t>
            </a:r>
            <a:r>
              <a:rPr lang="en-US" sz="1800" dirty="0" spc="2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cada</a:t>
            </a:r>
            <a:r>
              <a:rPr lang="en-US" sz="1800" dirty="0" spc="1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noche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9220200" y="5162550"/>
            <a:ext cx="8115300" cy="1676400"/>
          </a:xfrm>
          <a:prstGeom prst="roundRect">
            <a:avLst>
              <a:gd name="adj" fmla="val 6818"/>
            </a:avLst>
          </a:prstGeom>
          <a:noFill/>
          <a:ln w="19050">
            <a:solidFill>
              <a:srgbClr val="C1CED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486900" y="5353050"/>
            <a:ext cx="7581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3" kern="0">
                <a:solidFill>
                  <a:srgbClr val="0693E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SIENTE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9486900" y="5810250"/>
            <a:ext cx="75819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3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Rosa:</a:t>
            </a:r>
            <a:r>
              <a:rPr lang="en-US" sz="1800" dirty="0" spc="2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angustia</a:t>
            </a:r>
            <a:r>
              <a:rPr lang="en-US" sz="1800" dirty="0" spc="1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por no</a:t>
            </a:r>
            <a:r>
              <a:rPr lang="en-US" sz="1800" dirty="0" spc="0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saber</a:t>
            </a:r>
            <a:r>
              <a:rPr lang="en-US" sz="1800" dirty="0" spc="1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si</a:t>
            </a:r>
            <a:r>
              <a:rPr lang="en-US" sz="1800" dirty="0" spc="3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el</a:t>
            </a:r>
            <a:r>
              <a:rPr lang="en-US" sz="1800" dirty="0" spc="0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negocio</a:t>
            </a:r>
            <a:r>
              <a:rPr lang="en-US" sz="1800" dirty="0" spc="2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rinde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952500" y="6991350"/>
            <a:ext cx="8115300" cy="1676400"/>
          </a:xfrm>
          <a:prstGeom prst="roundRect">
            <a:avLst>
              <a:gd name="adj" fmla="val 6818"/>
            </a:avLst>
          </a:prstGeom>
          <a:solidFill>
            <a:srgbClr val="FCE8E6"/>
          </a:solidFill>
          <a:ln/>
        </p:spPr>
      </p:sp>
      <p:sp>
        <p:nvSpPr>
          <p:cNvPr id="20" name="Text 17"/>
          <p:cNvSpPr/>
          <p:nvPr/>
        </p:nvSpPr>
        <p:spPr>
          <a:xfrm>
            <a:off x="1219200" y="7181850"/>
            <a:ext cx="7581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0" kern="0">
                <a:solidFill>
                  <a:srgbClr val="C0392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DOLORES</a:t>
            </a:r>
            <a:r>
              <a:rPr lang="en-US" sz="2250" b="1" dirty="0" spc="3" kern="0">
                <a:solidFill>
                  <a:srgbClr val="C0392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(lo</a:t>
            </a:r>
            <a:r>
              <a:rPr lang="en-US" sz="2250" b="1" dirty="0" spc="0" kern="0">
                <a:solidFill>
                  <a:srgbClr val="C0392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que</a:t>
            </a:r>
            <a:r>
              <a:rPr lang="en-US" sz="2250" b="1" dirty="0" spc="4" kern="0">
                <a:solidFill>
                  <a:srgbClr val="C0392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le</a:t>
            </a:r>
            <a:r>
              <a:rPr lang="en-US" sz="2250" b="1" dirty="0" spc="-9" kern="0">
                <a:solidFill>
                  <a:srgbClr val="C0392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frustra)</a:t>
            </a:r>
            <a:endParaRPr lang="en-US" sz="2250" dirty="0"/>
          </a:p>
        </p:txBody>
      </p:sp>
      <p:sp>
        <p:nvSpPr>
          <p:cNvPr id="21" name="Text 18"/>
          <p:cNvSpPr/>
          <p:nvPr/>
        </p:nvSpPr>
        <p:spPr>
          <a:xfrm>
            <a:off x="1219200" y="7639050"/>
            <a:ext cx="75819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3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Rosa:</a:t>
            </a:r>
            <a:r>
              <a:rPr lang="en-US" sz="1800" dirty="0" spc="1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pierde casi</a:t>
            </a:r>
            <a:r>
              <a:rPr lang="en-US" sz="1800" dirty="0" spc="4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una</a:t>
            </a:r>
            <a:r>
              <a:rPr lang="en-US" sz="1800" dirty="0" spc="0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hora</a:t>
            </a:r>
            <a:r>
              <a:rPr lang="en-US" sz="1800" dirty="0" spc="2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diaria; tira</a:t>
            </a:r>
            <a:r>
              <a:rPr lang="en-US" sz="1800" dirty="0" spc="1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comida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9220200" y="6991350"/>
            <a:ext cx="8115300" cy="1676400"/>
          </a:xfrm>
          <a:prstGeom prst="roundRect">
            <a:avLst>
              <a:gd name="adj" fmla="val 6818"/>
            </a:avLst>
          </a:prstGeom>
          <a:solidFill>
            <a:srgbClr val="D9F3F3"/>
          </a:solidFill>
          <a:ln/>
        </p:spPr>
      </p:sp>
      <p:sp>
        <p:nvSpPr>
          <p:cNvPr id="23" name="Text 20"/>
          <p:cNvSpPr/>
          <p:nvPr/>
        </p:nvSpPr>
        <p:spPr>
          <a:xfrm>
            <a:off x="9486900" y="7181850"/>
            <a:ext cx="7581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5" kern="0">
                <a:solidFill>
                  <a:srgbClr val="06807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GANANCIAS</a:t>
            </a:r>
            <a:r>
              <a:rPr lang="en-US" sz="2250" b="1" dirty="0" spc="3" kern="0">
                <a:solidFill>
                  <a:srgbClr val="06807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(lo</a:t>
            </a:r>
            <a:r>
              <a:rPr lang="en-US" sz="2250" b="1" dirty="0" spc="1" kern="0">
                <a:solidFill>
                  <a:srgbClr val="06807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que</a:t>
            </a:r>
            <a:r>
              <a:rPr lang="en-US" sz="2250" b="1" dirty="0" spc="-1" kern="0">
                <a:solidFill>
                  <a:srgbClr val="06807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desea</a:t>
            </a:r>
            <a:r>
              <a:rPr lang="en-US" sz="2250" b="1" dirty="0" spc="-13" kern="0">
                <a:solidFill>
                  <a:srgbClr val="06807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lograr)</a:t>
            </a:r>
            <a:endParaRPr lang="en-US" sz="2250" dirty="0"/>
          </a:p>
        </p:txBody>
      </p:sp>
      <p:sp>
        <p:nvSpPr>
          <p:cNvPr id="24" name="Text 21"/>
          <p:cNvSpPr/>
          <p:nvPr/>
        </p:nvSpPr>
        <p:spPr>
          <a:xfrm>
            <a:off x="9486900" y="7639050"/>
            <a:ext cx="75819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3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Rosa:</a:t>
            </a:r>
            <a:r>
              <a:rPr lang="en-US" sz="1800" dirty="0" spc="0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saber</a:t>
            </a:r>
            <a:r>
              <a:rPr lang="en-US" sz="1800" dirty="0" spc="3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en</a:t>
            </a:r>
            <a:r>
              <a:rPr lang="en-US" sz="1800" dirty="0" spc="-1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dos</a:t>
            </a:r>
            <a:r>
              <a:rPr lang="en-US" sz="1800" dirty="0" spc="2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minutos cuánto</a:t>
            </a:r>
            <a:r>
              <a:rPr lang="en-US" sz="1800" dirty="0" spc="1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ganó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952500" y="8858250"/>
            <a:ext cx="16383000" cy="1047750"/>
          </a:xfrm>
          <a:prstGeom prst="roundRect">
            <a:avLst>
              <a:gd name="adj" fmla="val 10909"/>
            </a:avLst>
          </a:prstGeom>
          <a:solidFill>
            <a:srgbClr val="061219"/>
          </a:solidFill>
          <a:ln/>
        </p:spPr>
      </p:sp>
      <p:sp>
        <p:nvSpPr>
          <p:cNvPr id="26" name="Text 23"/>
          <p:cNvSpPr/>
          <p:nvPr/>
        </p:nvSpPr>
        <p:spPr>
          <a:xfrm>
            <a:off x="1219200" y="9010650"/>
            <a:ext cx="1584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 spc="-2" kern="0">
                <a:solidFill>
                  <a:srgbClr val="0693E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Contradicciones</a:t>
            </a:r>
            <a:r>
              <a:rPr lang="en-US" sz="1800" b="1" dirty="0" spc="-3" kern="0">
                <a:solidFill>
                  <a:srgbClr val="0693E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que</a:t>
            </a:r>
            <a:r>
              <a:rPr lang="en-US" sz="1800" b="1" dirty="0" spc="-4" kern="0">
                <a:solidFill>
                  <a:srgbClr val="0693E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encontré</a:t>
            </a:r>
            <a:r>
              <a:rPr lang="en-US" sz="1800" b="1" dirty="0" spc="-13" kern="0">
                <a:solidFill>
                  <a:srgbClr val="0693E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(dice</a:t>
            </a:r>
            <a:r>
              <a:rPr lang="en-US" sz="1800" b="1" dirty="0" spc="-5" kern="0">
                <a:solidFill>
                  <a:srgbClr val="0693E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frente</a:t>
            </a:r>
            <a:r>
              <a:rPr lang="en-US" sz="1800" b="1" dirty="0" spc="-2" kern="0">
                <a:solidFill>
                  <a:srgbClr val="0693E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a</a:t>
            </a:r>
            <a:r>
              <a:rPr lang="en-US" sz="1800" b="1" dirty="0" spc="-14" kern="0">
                <a:solidFill>
                  <a:srgbClr val="0693E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hace)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1219200" y="9353550"/>
            <a:ext cx="1584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4" kern="0">
                <a:solidFill>
                  <a:srgbClr val="BFC8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Rosa</a:t>
            </a:r>
            <a:r>
              <a:rPr lang="en-US" sz="1650" dirty="0" spc="1" kern="0">
                <a:solidFill>
                  <a:srgbClr val="BFC8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quiere</a:t>
            </a:r>
            <a:r>
              <a:rPr lang="en-US" sz="1650" dirty="0" spc="2" kern="0">
                <a:solidFill>
                  <a:srgbClr val="BFC8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control</a:t>
            </a:r>
            <a:r>
              <a:rPr lang="en-US" sz="1650" dirty="0" spc="3" kern="0">
                <a:solidFill>
                  <a:srgbClr val="BFC8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total</a:t>
            </a:r>
            <a:r>
              <a:rPr lang="en-US" sz="1650" dirty="0" spc="1" kern="0">
                <a:solidFill>
                  <a:srgbClr val="BFC8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</a:t>
            </a:r>
            <a:r>
              <a:rPr lang="en-US" sz="1650" dirty="0" spc="0" kern="0">
                <a:solidFill>
                  <a:srgbClr val="BFC8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sus</a:t>
            </a:r>
            <a:r>
              <a:rPr lang="en-US" sz="1650" dirty="0" spc="1" kern="0">
                <a:solidFill>
                  <a:srgbClr val="BFC8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números,</a:t>
            </a:r>
            <a:r>
              <a:rPr lang="en-US" sz="1650" dirty="0" spc="2" kern="0">
                <a:solidFill>
                  <a:srgbClr val="BFC8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pero</a:t>
            </a:r>
            <a:r>
              <a:rPr lang="en-US" sz="1650" dirty="0" spc="3" kern="0">
                <a:solidFill>
                  <a:srgbClr val="BFC8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no</a:t>
            </a:r>
            <a:r>
              <a:rPr lang="en-US" sz="1650" dirty="0" spc="2" kern="0">
                <a:solidFill>
                  <a:srgbClr val="BFC8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usa software contable.</a:t>
            </a:r>
            <a:endParaRPr lang="en-US" sz="16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2381250"/>
          </a:xfrm>
          <a:prstGeom prst="rect">
            <a:avLst/>
          </a:prstGeom>
          <a:solidFill>
            <a:srgbClr val="EAF5FE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38100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99" kern="0" dirty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FORMATO</a:t>
            </a:r>
            <a:r>
              <a:rPr lang="en-US" sz="1950" spc="232" kern="0" dirty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3</a:t>
            </a:r>
            <a:r>
              <a:rPr lang="en-US" sz="1950" spc="231" kern="0" dirty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·</a:t>
            </a:r>
            <a:r>
              <a:rPr lang="en-US" sz="1950" spc="225" kern="0" dirty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DEFINIR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781050"/>
            <a:ext cx="1638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 spc="-3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Ficha</a:t>
            </a:r>
            <a:r>
              <a:rPr lang="en-US" sz="4800" b="1" dirty="0" spc="1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de</a:t>
            </a:r>
            <a:r>
              <a:rPr lang="en-US" sz="4800" b="1" dirty="0" spc="0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persona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52500" y="1600200"/>
            <a:ext cx="16383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3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Para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qué</a:t>
            </a:r>
            <a:r>
              <a:rPr lang="en-US" sz="165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sirve: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representar</a:t>
            </a:r>
            <a:r>
              <a:rPr lang="en-US" sz="165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al usuario típico</a:t>
            </a:r>
            <a:r>
              <a:rPr lang="en-US" sz="1650" dirty="0" spc="3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</a:t>
            </a:r>
            <a:r>
              <a:rPr lang="en-US" sz="165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datos</a:t>
            </a:r>
            <a:r>
              <a:rPr lang="en-US" sz="165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tus entrevistas,</a:t>
            </a:r>
            <a:r>
              <a:rPr lang="en-US" sz="1650" dirty="0" spc="3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no con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tu</a:t>
            </a:r>
            <a:r>
              <a:rPr lang="en-US" sz="165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imaginación.</a:t>
            </a:r>
            <a:r>
              <a:rPr lang="en-US" sz="1650" dirty="0" spc="4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Si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un</a:t>
            </a:r>
            <a:r>
              <a:rPr lang="en-US" sz="165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campo</a:t>
            </a:r>
            <a:r>
              <a:rPr lang="en-US" sz="1650" dirty="0" spc="3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no</a:t>
            </a:r>
            <a:r>
              <a:rPr lang="en-US" sz="165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tiene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respaldo</a:t>
            </a:r>
            <a:r>
              <a:rPr lang="en-US" sz="165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en una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entrevista,</a:t>
            </a:r>
            <a:r>
              <a:rPr lang="en-US" sz="1650" dirty="0" spc="3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déjalo vacío</a:t>
            </a:r>
            <a:r>
              <a:rPr lang="en-US" sz="1650" dirty="0" spc="4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vuelve</a:t>
            </a:r>
            <a:r>
              <a:rPr lang="en-US" sz="1650" dirty="0" spc="4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</a:t>
            </a:r>
            <a:r>
              <a:rPr lang="en-US" sz="165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preguntar.</a:t>
            </a:r>
            <a:endParaRPr lang="en-US" sz="165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500" y="2619375"/>
          <a:ext cx="13716000" cy="914400"/>
        </p:xfrm>
        <a:graphic>
          <a:graphicData uri="http://schemas.openxmlformats.org/drawingml/2006/table">
            <a:tbl>
              <a:tblPr/>
              <a:tblGrid>
                <a:gridCol w="5461000"/>
                <a:gridCol w="5461000"/>
                <a:gridCol w="5461000"/>
              </a:tblGrid>
              <a:tr h="5334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Equipo</a:t>
                      </a:r>
                      <a:r>
                        <a:rPr lang="en-US" sz="1500" dirty="0" spc="3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o</a:t>
                      </a:r>
                      <a:r>
                        <a:rPr lang="en-US" sz="1500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estudiante: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Proyecto: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dirty="0" spc="-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Fecha: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500" y="3381375"/>
          <a:ext cx="13716000" cy="914400"/>
        </p:xfrm>
        <a:graphic>
          <a:graphicData uri="http://schemas.openxmlformats.org/drawingml/2006/table">
            <a:tbl>
              <a:tblPr/>
              <a:tblGrid>
                <a:gridCol w="3604260"/>
                <a:gridCol w="7044690"/>
                <a:gridCol w="5734050"/>
              </a:tblGrid>
              <a:tr h="719667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b="1" dirty="0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Campo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612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b="1" dirty="0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Ejemplo: Rosa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612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b="1" dirty="0" spc="-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Tu persona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61219"/>
                    </a:solidFill>
                  </a:tcPr>
                </a:tc>
              </a:tr>
              <a:tr h="719667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dirty="0" spc="-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Nombre</a:t>
                      </a:r>
                      <a:r>
                        <a:rPr lang="en-US" sz="1575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ficticio y</a:t>
                      </a:r>
                      <a:r>
                        <a:rPr lang="en-US" sz="1575" dirty="0" spc="-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edad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dirty="0" spc="-2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Rosa,</a:t>
                      </a:r>
                      <a:r>
                        <a:rPr lang="en-US" sz="1575" dirty="0" spc="-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47</a:t>
                      </a:r>
                      <a:r>
                        <a:rPr lang="en-US" sz="1575" dirty="0" spc="0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años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</a:tr>
              <a:tr h="719667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Ocupación y</a:t>
                      </a:r>
                      <a:r>
                        <a:rPr lang="en-US" sz="1575" dirty="0" spc="-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contexto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dirty="0" spc="2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Dueña</a:t>
                      </a:r>
                      <a:r>
                        <a:rPr lang="en-US" sz="1575" dirty="0" spc="-2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de</a:t>
                      </a:r>
                      <a:r>
                        <a:rPr lang="en-US" sz="1575" dirty="0" spc="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un restaurante</a:t>
                      </a:r>
                      <a:r>
                        <a:rPr lang="en-US" sz="1575" dirty="0" spc="-3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de</a:t>
                      </a:r>
                      <a:r>
                        <a:rPr lang="en-US" sz="1575" dirty="0" spc="0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almuerzos</a:t>
                      </a:r>
                      <a:r>
                        <a:rPr lang="en-US" sz="1575" dirty="0" spc="-2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en</a:t>
                      </a:r>
                      <a:r>
                        <a:rPr lang="en-US" sz="1575" dirty="0" spc="-3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el</a:t>
                      </a:r>
                      <a:r>
                        <a:rPr lang="en-US" sz="1575" dirty="0" spc="0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norte</a:t>
                      </a:r>
                      <a:r>
                        <a:rPr lang="en-US" sz="1575" dirty="0" spc="-2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de Quito,</a:t>
                      </a:r>
                      <a:r>
                        <a:rPr lang="en-US" sz="1575" dirty="0" spc="0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40</a:t>
                      </a:r>
                      <a:r>
                        <a:rPr lang="en-US" sz="1575" dirty="0" spc="-2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mesas, 6 empleados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19667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Un</a:t>
                      </a:r>
                      <a:r>
                        <a:rPr lang="en-US" sz="1575" dirty="0" spc="-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día típico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dirty="0" spc="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Compra</a:t>
                      </a:r>
                      <a:r>
                        <a:rPr lang="en-US" sz="1575" dirty="0" spc="-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en</a:t>
                      </a:r>
                      <a:r>
                        <a:rPr lang="en-US" sz="1575" dirty="0" spc="-3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el</a:t>
                      </a:r>
                      <a:r>
                        <a:rPr lang="en-US" sz="1575" dirty="0" spc="-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mercado, atiende</a:t>
                      </a:r>
                      <a:r>
                        <a:rPr lang="en-US" sz="1575" dirty="0" spc="-2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el</a:t>
                      </a:r>
                      <a:r>
                        <a:rPr lang="en-US" sz="1575" dirty="0" spc="-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almuerzo,</a:t>
                      </a:r>
                      <a:r>
                        <a:rPr lang="en-US" sz="1575" dirty="0" spc="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cierra</a:t>
                      </a:r>
                      <a:r>
                        <a:rPr lang="en-US" sz="1575" dirty="0" spc="-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y anota todo en</a:t>
                      </a:r>
                      <a:r>
                        <a:rPr lang="en-US" sz="1575" dirty="0" spc="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un cuaderno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</a:tr>
              <a:tr h="719667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dirty="0" spc="-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Objetivos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dirty="0" spc="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Saber</a:t>
                      </a:r>
                      <a:r>
                        <a:rPr lang="en-US" sz="1575" dirty="0" spc="-2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si</a:t>
                      </a:r>
                      <a:r>
                        <a:rPr lang="en-US" sz="1575" dirty="0" spc="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gana</a:t>
                      </a:r>
                      <a:r>
                        <a:rPr lang="en-US" sz="1575" dirty="0" spc="0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dinero sin dedicarle</a:t>
                      </a:r>
                      <a:r>
                        <a:rPr lang="en-US" sz="1575" dirty="0" spc="-2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más tiempo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19667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Frustraciones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dirty="0" spc="-2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No</a:t>
                      </a:r>
                      <a:r>
                        <a:rPr lang="en-US" sz="1575" dirty="0" spc="-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sabe</a:t>
                      </a:r>
                      <a:r>
                        <a:rPr lang="en-US" sz="1575" dirty="0" spc="0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su</a:t>
                      </a:r>
                      <a:r>
                        <a:rPr lang="en-US" sz="1575" dirty="0" spc="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ganancia</a:t>
                      </a:r>
                      <a:r>
                        <a:rPr lang="en-US" sz="1575" dirty="0" spc="0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hasta</a:t>
                      </a:r>
                      <a:r>
                        <a:rPr lang="en-US" sz="1575" dirty="0" spc="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fin</a:t>
                      </a:r>
                      <a:r>
                        <a:rPr lang="en-US" sz="1575" dirty="0" spc="-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de</a:t>
                      </a:r>
                      <a:r>
                        <a:rPr lang="en-US" sz="1575" dirty="0" spc="-2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mes;</a:t>
                      </a:r>
                      <a:r>
                        <a:rPr lang="en-US" sz="1575" dirty="0" spc="0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unos días</a:t>
                      </a:r>
                      <a:r>
                        <a:rPr lang="en-US" sz="1575" dirty="0" spc="-4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le</a:t>
                      </a:r>
                      <a:r>
                        <a:rPr lang="en-US" sz="1575" dirty="0" spc="0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falta</a:t>
                      </a:r>
                      <a:r>
                        <a:rPr lang="en-US" sz="1575" dirty="0" spc="-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comida y otros</a:t>
                      </a:r>
                      <a:r>
                        <a:rPr lang="en-US" sz="1575" dirty="0" spc="-2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le</a:t>
                      </a:r>
                      <a:r>
                        <a:rPr lang="en-US" sz="1575" dirty="0" spc="0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sobra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</a:tr>
              <a:tr h="719667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Tecnología</a:t>
                      </a:r>
                      <a:r>
                        <a:rPr lang="en-US" sz="1575" dirty="0" spc="-2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que</a:t>
                      </a:r>
                      <a:r>
                        <a:rPr lang="en-US" sz="1575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usa</a:t>
                      </a:r>
                      <a:r>
                        <a:rPr lang="en-US" sz="1575" dirty="0" spc="-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hoy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dirty="0" spc="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WhatsApp</a:t>
                      </a:r>
                      <a:r>
                        <a:rPr lang="en-US" sz="1575" dirty="0" spc="-2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todo</a:t>
                      </a:r>
                      <a:r>
                        <a:rPr lang="en-US" sz="1575" dirty="0" spc="-3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el</a:t>
                      </a:r>
                      <a:r>
                        <a:rPr lang="en-US" sz="1575" dirty="0" spc="-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día; Excel</a:t>
                      </a:r>
                      <a:r>
                        <a:rPr lang="en-US" sz="1575" dirty="0" spc="0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casi</a:t>
                      </a:r>
                      <a:r>
                        <a:rPr lang="en-US" sz="1575" dirty="0" spc="2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nunca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19667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Frase</a:t>
                      </a:r>
                      <a:r>
                        <a:rPr lang="en-US" sz="1575" dirty="0" spc="-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textual que la define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dirty="0" spc="3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«Nunca</a:t>
                      </a:r>
                      <a:r>
                        <a:rPr lang="en-US" sz="1575" dirty="0" spc="-3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sé</a:t>
                      </a:r>
                      <a:r>
                        <a:rPr lang="en-US" sz="1575" dirty="0" spc="-2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si</a:t>
                      </a:r>
                      <a:r>
                        <a:rPr lang="en-US" sz="1575" dirty="0" spc="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gané</a:t>
                      </a:r>
                      <a:r>
                        <a:rPr lang="en-US" sz="1575" dirty="0" spc="-4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o</a:t>
                      </a:r>
                      <a:r>
                        <a:rPr lang="en-US" sz="1575" dirty="0" spc="0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perdí</a:t>
                      </a:r>
                      <a:r>
                        <a:rPr lang="en-US" sz="1575" dirty="0" spc="-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plata</a:t>
                      </a:r>
                      <a:r>
                        <a:rPr lang="en-US" sz="1575" dirty="0" spc="0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hasta</a:t>
                      </a:r>
                      <a:r>
                        <a:rPr lang="en-US" sz="1575" dirty="0" spc="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fin</a:t>
                      </a:r>
                      <a:r>
                        <a:rPr lang="en-US" sz="1575" dirty="0" spc="-2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de</a:t>
                      </a:r>
                      <a:r>
                        <a:rPr lang="en-US" sz="1575" dirty="0" spc="-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mes»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</a:tr>
              <a:tr h="719667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Basada</a:t>
                      </a:r>
                      <a:r>
                        <a:rPr lang="en-US" sz="1575" dirty="0" spc="-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en las</a:t>
                      </a:r>
                      <a:r>
                        <a:rPr lang="en-US" sz="1575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entrevistas n.º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dirty="0" spc="-2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1,</a:t>
                      </a:r>
                      <a:r>
                        <a:rPr lang="en-US" sz="1575" dirty="0" spc="-3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4,</a:t>
                      </a:r>
                      <a:r>
                        <a:rPr lang="en-US" sz="1575" dirty="0" spc="-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7 y 9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2381250"/>
          </a:xfrm>
          <a:prstGeom prst="rect">
            <a:avLst/>
          </a:prstGeom>
          <a:solidFill>
            <a:srgbClr val="EAF5FE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38100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99" kern="0" dirty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FORMATO</a:t>
            </a:r>
            <a:r>
              <a:rPr lang="en-US" sz="1950" spc="230" kern="0" dirty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4</a:t>
            </a:r>
            <a:r>
              <a:rPr lang="en-US" sz="1950" spc="231" kern="0" dirty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·</a:t>
            </a:r>
            <a:r>
              <a:rPr lang="en-US" sz="1950" spc="225" kern="0" dirty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DEFINIR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781050"/>
            <a:ext cx="1638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 spc="-1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Del</a:t>
            </a:r>
            <a:r>
              <a:rPr lang="en-US" sz="4800" b="1" dirty="0" spc="-4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hallazgo</a:t>
            </a:r>
            <a:r>
              <a:rPr lang="en-US" sz="4800" b="1" dirty="0" spc="-5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al</a:t>
            </a:r>
            <a:r>
              <a:rPr lang="en-US" sz="4800" b="1" dirty="0" spc="-3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insight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52500" y="1600200"/>
            <a:ext cx="16383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3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Para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qué</a:t>
            </a:r>
            <a:r>
              <a:rPr lang="en-US" sz="165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sirve: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pasar</a:t>
            </a:r>
            <a:r>
              <a:rPr lang="en-US" sz="165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</a:t>
            </a:r>
            <a:r>
              <a:rPr lang="en-US" sz="1650" dirty="0" spc="4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lo</a:t>
            </a:r>
            <a:r>
              <a:rPr lang="en-US" sz="165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que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viste</a:t>
            </a:r>
            <a:r>
              <a:rPr lang="en-US" sz="1650" dirty="0" spc="5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</a:t>
            </a:r>
            <a:r>
              <a:rPr lang="en-US" sz="1650" dirty="0" spc="4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</a:t>
            </a:r>
            <a:r>
              <a:rPr lang="en-US" sz="1650" dirty="0" spc="3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explicación</a:t>
            </a:r>
            <a:r>
              <a:rPr lang="en-US" sz="1650" dirty="0" spc="-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por qué</a:t>
            </a:r>
            <a:r>
              <a:rPr lang="en-US" sz="165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pasa.</a:t>
            </a:r>
            <a:r>
              <a:rPr lang="en-US" sz="1650" dirty="0" spc="3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Un</a:t>
            </a:r>
            <a:r>
              <a:rPr lang="en-US" sz="165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hallazgo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es un dato; un insight es</a:t>
            </a:r>
            <a:r>
              <a:rPr lang="en-US" sz="1650" dirty="0" spc="4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</a:t>
            </a:r>
            <a:r>
              <a:rPr lang="en-US" sz="165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razón no obvia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que</a:t>
            </a:r>
            <a:r>
              <a:rPr lang="en-US" sz="1650" dirty="0" spc="4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</a:t>
            </a:r>
            <a:r>
              <a:rPr lang="en-US" sz="165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competencia</a:t>
            </a:r>
            <a:r>
              <a:rPr lang="en-US" sz="1650" dirty="0" spc="3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no</a:t>
            </a:r>
            <a:r>
              <a:rPr lang="en-US" sz="165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conoce.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Agrupa primero</a:t>
            </a:r>
            <a:r>
              <a:rPr lang="en-US" sz="1650" dirty="0" spc="4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los</a:t>
            </a:r>
            <a:r>
              <a:rPr lang="en-US" sz="165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hallazgos</a:t>
            </a:r>
            <a:r>
              <a:rPr lang="en-US" sz="165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repetidos</a:t>
            </a:r>
            <a:r>
              <a:rPr lang="en-US" sz="165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(diagrama</a:t>
            </a:r>
            <a:r>
              <a:rPr lang="en-US" sz="165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afinidad).</a:t>
            </a:r>
            <a:endParaRPr lang="en-US" sz="165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500" y="2619375"/>
          <a:ext cx="13716000" cy="914400"/>
        </p:xfrm>
        <a:graphic>
          <a:graphicData uri="http://schemas.openxmlformats.org/drawingml/2006/table">
            <a:tbl>
              <a:tblPr/>
              <a:tblGrid>
                <a:gridCol w="5461000"/>
                <a:gridCol w="5461000"/>
                <a:gridCol w="5461000"/>
              </a:tblGrid>
              <a:tr h="5334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Equipo</a:t>
                      </a:r>
                      <a:r>
                        <a:rPr lang="en-US" sz="1500" dirty="0" spc="3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o</a:t>
                      </a:r>
                      <a:r>
                        <a:rPr lang="en-US" sz="1500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estudiante: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Proyecto: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dirty="0" spc="-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Fecha: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500" y="3381375"/>
          <a:ext cx="13716000" cy="914400"/>
        </p:xfrm>
        <a:graphic>
          <a:graphicData uri="http://schemas.openxmlformats.org/drawingml/2006/table">
            <a:tbl>
              <a:tblPr/>
              <a:tblGrid>
                <a:gridCol w="4095750"/>
                <a:gridCol w="2457450"/>
                <a:gridCol w="4914900"/>
                <a:gridCol w="4914900"/>
              </a:tblGrid>
              <a:tr h="775607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b="1" dirty="0" spc="3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Hallazgo</a:t>
                      </a:r>
                      <a:r>
                        <a:rPr lang="en-US" sz="1575" b="1" dirty="0" spc="-2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(dato</a:t>
                      </a:r>
                      <a:r>
                        <a:rPr lang="en-US" sz="1575" b="1" dirty="0" spc="-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observado)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612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b="1" dirty="0" spc="-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Cuántas personas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612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b="1" dirty="0" spc="0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Contradicción (dice frente a</a:t>
                      </a:r>
                      <a:r>
                        <a:rPr lang="en-US" sz="1575" b="1" dirty="0" spc="-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hace)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612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b="1" dirty="0" spc="-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Insight</a:t>
                      </a:r>
                      <a:r>
                        <a:rPr lang="en-US" sz="1575" b="1" dirty="0" spc="-2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(por</a:t>
                      </a:r>
                      <a:r>
                        <a:rPr lang="en-US" sz="1575" b="1" dirty="0" spc="-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qué</a:t>
                      </a:r>
                      <a:r>
                        <a:rPr lang="en-US" sz="1575" b="1" dirty="0" spc="-2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pasa)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61219"/>
                    </a:solidFill>
                  </a:tcPr>
                </a:tc>
              </a:tr>
              <a:tr h="775607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dirty="0" spc="-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Rosa anota todo en</a:t>
                      </a:r>
                      <a:r>
                        <a:rPr lang="en-US" sz="1575" dirty="0" spc="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un cuaderno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dirty="0" spc="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r>
                        <a:rPr lang="en-US" sz="1575" dirty="0" spc="-2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de</a:t>
                      </a:r>
                      <a:r>
                        <a:rPr lang="en-US" sz="1575" dirty="0" spc="-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4</a:t>
                      </a:r>
                      <a:r>
                        <a:rPr lang="en-US" sz="1575" dirty="0" spc="0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dueños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dirty="0" spc="0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Quiere control</a:t>
                      </a:r>
                      <a:r>
                        <a:rPr lang="en-US" sz="1575" dirty="0" spc="-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de</a:t>
                      </a:r>
                      <a:r>
                        <a:rPr lang="en-US" sz="1575" dirty="0" spc="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sus</a:t>
                      </a:r>
                      <a:r>
                        <a:rPr lang="en-US" sz="1575" dirty="0" spc="-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números,</a:t>
                      </a:r>
                      <a:r>
                        <a:rPr lang="en-US" sz="1575" dirty="0" spc="0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pero</a:t>
                      </a:r>
                      <a:r>
                        <a:rPr lang="en-US" sz="1575" dirty="0" spc="-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no</a:t>
                      </a:r>
                      <a:r>
                        <a:rPr lang="en-US" sz="1575" dirty="0" spc="0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usa software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dirty="0" spc="-2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No</a:t>
                      </a:r>
                      <a:r>
                        <a:rPr lang="en-US" sz="1575" dirty="0" spc="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confía</a:t>
                      </a:r>
                      <a:r>
                        <a:rPr lang="en-US" sz="1575" dirty="0" spc="-2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en</a:t>
                      </a:r>
                      <a:r>
                        <a:rPr lang="en-US" sz="1575" dirty="0" spc="0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números que</a:t>
                      </a:r>
                      <a:r>
                        <a:rPr lang="en-US" sz="1575" dirty="0" spc="-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no puede</a:t>
                      </a:r>
                      <a:r>
                        <a:rPr lang="en-US" sz="1575" dirty="0" spc="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revisar</a:t>
                      </a:r>
                      <a:r>
                        <a:rPr lang="en-US" sz="1575" dirty="0" spc="-2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línea</a:t>
                      </a:r>
                      <a:r>
                        <a:rPr lang="en-US" sz="1575" dirty="0" spc="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por</a:t>
                      </a:r>
                      <a:r>
                        <a:rPr lang="en-US" sz="1575" dirty="0" spc="-2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línea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</a:tr>
              <a:tr h="775607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75607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</a:tr>
              <a:tr h="775607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75607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</a:tr>
              <a:tr h="775607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952500" y="9048750"/>
            <a:ext cx="16383000" cy="762000"/>
          </a:xfrm>
          <a:prstGeom prst="roundRect">
            <a:avLst>
              <a:gd name="adj" fmla="val 15000"/>
            </a:avLst>
          </a:prstGeom>
          <a:solidFill>
            <a:srgbClr val="0693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Pregunta</a:t>
            </a:r>
            <a:r>
              <a:rPr lang="en-US" sz="180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clave: ¿Por</a:t>
            </a:r>
            <a:r>
              <a:rPr lang="en-US" sz="180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qué</a:t>
            </a:r>
            <a:r>
              <a:rPr lang="en-US" sz="1800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una</a:t>
            </a:r>
            <a:r>
              <a:rPr lang="en-US" sz="180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persona sensata</a:t>
            </a:r>
            <a:r>
              <a:rPr lang="en-US" sz="180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haría</a:t>
            </a:r>
            <a:r>
              <a:rPr lang="en-US" sz="180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esto?</a:t>
            </a:r>
            <a:r>
              <a:rPr lang="en-US" sz="1800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Si la</a:t>
            </a:r>
            <a:r>
              <a:rPr lang="en-US" sz="180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respuesta</a:t>
            </a:r>
            <a:r>
              <a:rPr lang="en-US" sz="1800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te</a:t>
            </a:r>
            <a:r>
              <a:rPr lang="en-US" sz="180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sorprende, encontraste</a:t>
            </a:r>
            <a:r>
              <a:rPr lang="en-US" sz="1800" dirty="0" spc="5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un</a:t>
            </a:r>
            <a:r>
              <a:rPr lang="en-US" sz="180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insight.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2381250"/>
          </a:xfrm>
          <a:prstGeom prst="rect">
            <a:avLst/>
          </a:prstGeom>
          <a:solidFill>
            <a:srgbClr val="EAF5FE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38100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99" kern="0" dirty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FORMATO</a:t>
            </a:r>
            <a:r>
              <a:rPr lang="en-US" sz="1950" spc="227" kern="0" dirty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5</a:t>
            </a:r>
            <a:r>
              <a:rPr lang="en-US" sz="1950" spc="231" kern="0" dirty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·</a:t>
            </a:r>
            <a:r>
              <a:rPr lang="en-US" sz="1950" spc="225" kern="0" dirty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DEFINIR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781050"/>
            <a:ext cx="1638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 spc="0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Jobs</a:t>
            </a:r>
            <a:r>
              <a:rPr lang="en-US" sz="4800" b="1" dirty="0" spc="-1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to</a:t>
            </a:r>
            <a:r>
              <a:rPr lang="en-US" sz="4800" b="1" dirty="0" spc="0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be</a:t>
            </a:r>
            <a:r>
              <a:rPr lang="en-US" sz="4800" b="1" dirty="0" spc="-2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Done,</a:t>
            </a:r>
            <a:r>
              <a:rPr lang="en-US" sz="4800" b="1" dirty="0" spc="-25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POV</a:t>
            </a:r>
            <a:r>
              <a:rPr lang="en-US" sz="4800" b="1" dirty="0" spc="0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y</a:t>
            </a:r>
            <a:r>
              <a:rPr lang="en-US" sz="4800" b="1" dirty="0" spc="-29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¿Cómo</a:t>
            </a:r>
            <a:r>
              <a:rPr lang="en-US" sz="4800" b="1" dirty="0" spc="0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podríamos...?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52500" y="1600200"/>
            <a:ext cx="16383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3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Para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qué</a:t>
            </a:r>
            <a:r>
              <a:rPr lang="en-US" sz="165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sirve:</a:t>
            </a:r>
            <a:r>
              <a:rPr lang="en-US" sz="1650" dirty="0" spc="3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formular</a:t>
            </a:r>
            <a:r>
              <a:rPr lang="en-US" sz="165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el problema</a:t>
            </a:r>
            <a:r>
              <a:rPr lang="en-US" sz="165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en</a:t>
            </a:r>
            <a:r>
              <a:rPr lang="en-US" sz="165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una frase</a:t>
            </a:r>
            <a:r>
              <a:rPr lang="en-US" sz="1650" dirty="0" spc="3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clara</a:t>
            </a:r>
            <a:r>
              <a:rPr lang="en-US" sz="165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antes</a:t>
            </a:r>
            <a:r>
              <a:rPr lang="en-US" sz="165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pensar</a:t>
            </a:r>
            <a:r>
              <a:rPr lang="en-US" sz="165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en</a:t>
            </a:r>
            <a:r>
              <a:rPr lang="en-US" sz="165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soluciones. Clayton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Christensen propone</a:t>
            </a:r>
            <a:r>
              <a:rPr lang="en-US" sz="165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que</a:t>
            </a:r>
            <a:r>
              <a:rPr lang="en-US" sz="1650" dirty="0" spc="3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gente</a:t>
            </a:r>
            <a:r>
              <a:rPr lang="en-US" sz="1650" dirty="0" spc="3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«contrata»</a:t>
            </a:r>
            <a:r>
              <a:rPr lang="en-US" sz="165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productos</a:t>
            </a:r>
            <a:r>
              <a:rPr lang="en-US" sz="1650" dirty="0" spc="3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para</a:t>
            </a:r>
            <a:r>
              <a:rPr lang="en-US" sz="165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hacer</a:t>
            </a:r>
            <a:r>
              <a:rPr lang="en-US" sz="165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un</a:t>
            </a:r>
            <a:r>
              <a:rPr lang="en-US" sz="165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trabajo en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su vida.</a:t>
            </a:r>
            <a:endParaRPr lang="en-US" sz="165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500" y="2619375"/>
          <a:ext cx="13716000" cy="914400"/>
        </p:xfrm>
        <a:graphic>
          <a:graphicData uri="http://schemas.openxmlformats.org/drawingml/2006/table">
            <a:tbl>
              <a:tblPr/>
              <a:tblGrid>
                <a:gridCol w="5461000"/>
                <a:gridCol w="5461000"/>
                <a:gridCol w="5461000"/>
              </a:tblGrid>
              <a:tr h="5334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Equipo</a:t>
                      </a:r>
                      <a:r>
                        <a:rPr lang="en-US" sz="1500" dirty="0" spc="3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o</a:t>
                      </a:r>
                      <a:r>
                        <a:rPr lang="en-US" sz="1500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estudiante: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Proyecto: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dirty="0" spc="-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Fecha: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500" y="3381375"/>
          <a:ext cx="13716000" cy="914400"/>
        </p:xfrm>
        <a:graphic>
          <a:graphicData uri="http://schemas.openxmlformats.org/drawingml/2006/table">
            <a:tbl>
              <a:tblPr/>
              <a:tblGrid>
                <a:gridCol w="6225540"/>
                <a:gridCol w="10157460"/>
              </a:tblGrid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Trabajo por hacer: Cuando</a:t>
                      </a:r>
                      <a:r>
                        <a:rPr lang="en-US" sz="1575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[situación], quiero</a:t>
                      </a:r>
                      <a:r>
                        <a:rPr lang="en-US" sz="1575" dirty="0" spc="-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[motivación],</a:t>
                      </a:r>
                      <a:r>
                        <a:rPr lang="en-US" sz="1575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para [resultado]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dirty="0" spc="2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Cuando</a:t>
                      </a:r>
                      <a:r>
                        <a:rPr lang="en-US" sz="1575" dirty="0" spc="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cierro</a:t>
                      </a:r>
                      <a:r>
                        <a:rPr lang="en-US" sz="1575" dirty="0" spc="-4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el</a:t>
                      </a:r>
                      <a:r>
                        <a:rPr lang="en-US" sz="1575" dirty="0" spc="-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local</a:t>
                      </a:r>
                      <a:r>
                        <a:rPr lang="en-US" sz="1575" dirty="0" spc="0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cada noche, quiero saber</a:t>
                      </a:r>
                      <a:r>
                        <a:rPr lang="en-US" sz="1575" dirty="0" spc="-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en dos minutos</a:t>
                      </a:r>
                      <a:r>
                        <a:rPr lang="en-US" sz="1575" dirty="0" spc="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cuánto</a:t>
                      </a:r>
                      <a:r>
                        <a:rPr lang="en-US" sz="1575" dirty="0" spc="0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gané y</a:t>
                      </a:r>
                      <a:r>
                        <a:rPr lang="en-US" sz="1575" dirty="0" spc="-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qué</a:t>
                      </a:r>
                      <a:r>
                        <a:rPr lang="en-US" sz="1575" dirty="0" spc="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comprar</a:t>
                      </a:r>
                      <a:r>
                        <a:rPr lang="en-US" sz="1575" dirty="0" spc="0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mañana, para</a:t>
                      </a:r>
                      <a:r>
                        <a:rPr lang="en-US" sz="1575" dirty="0" spc="-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no</a:t>
                      </a:r>
                      <a:r>
                        <a:rPr lang="en-US" sz="1575" dirty="0" spc="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perder</a:t>
                      </a:r>
                      <a:r>
                        <a:rPr lang="en-US" sz="1575" dirty="0" spc="-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plata ni</a:t>
                      </a:r>
                      <a:r>
                        <a:rPr lang="en-US" sz="1575" dirty="0" spc="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tirar</a:t>
                      </a:r>
                      <a:r>
                        <a:rPr lang="en-US" sz="1575" dirty="0" spc="-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comida.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Punto</a:t>
                      </a:r>
                      <a:r>
                        <a:rPr lang="en-US" sz="1575" dirty="0" spc="-2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de</a:t>
                      </a:r>
                      <a:r>
                        <a:rPr lang="en-US" sz="1575" dirty="0" spc="-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vista</a:t>
                      </a:r>
                      <a:r>
                        <a:rPr lang="en-US" sz="1575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(POV):</a:t>
                      </a:r>
                      <a:r>
                        <a:rPr lang="en-US" sz="1575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[Usuario]</a:t>
                      </a:r>
                      <a:r>
                        <a:rPr lang="en-US" sz="1575" dirty="0" spc="-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necesita</a:t>
                      </a:r>
                      <a:r>
                        <a:rPr lang="en-US" sz="1575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[necesidad]</a:t>
                      </a:r>
                      <a:r>
                        <a:rPr lang="en-US" sz="1575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porque [insight]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dirty="0" spc="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Dueños</a:t>
                      </a:r>
                      <a:r>
                        <a:rPr lang="en-US" sz="1575" dirty="0" spc="-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de</a:t>
                      </a:r>
                      <a:r>
                        <a:rPr lang="en-US" sz="1575" dirty="0" spc="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restaurantes</a:t>
                      </a:r>
                      <a:r>
                        <a:rPr lang="en-US" sz="1575" dirty="0" spc="-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pequeños</a:t>
                      </a:r>
                      <a:r>
                        <a:rPr lang="en-US" sz="1575" dirty="0" spc="0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necesitan saber</a:t>
                      </a:r>
                      <a:r>
                        <a:rPr lang="en-US" sz="1575" dirty="0" spc="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su ganancia</a:t>
                      </a:r>
                      <a:r>
                        <a:rPr lang="en-US" sz="1575" dirty="0" spc="0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diaria sin esfuerzo, porque</a:t>
                      </a:r>
                      <a:r>
                        <a:rPr lang="en-US" sz="1575" dirty="0" spc="-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no</a:t>
                      </a:r>
                      <a:r>
                        <a:rPr lang="en-US" sz="1575" dirty="0" spc="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confían</a:t>
                      </a:r>
                      <a:r>
                        <a:rPr lang="en-US" sz="1575" dirty="0" spc="-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en</a:t>
                      </a:r>
                      <a:r>
                        <a:rPr lang="en-US" sz="1575" dirty="0" spc="0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números que</a:t>
                      </a:r>
                      <a:r>
                        <a:rPr lang="en-US" sz="1575" dirty="0" spc="-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no</a:t>
                      </a:r>
                      <a:r>
                        <a:rPr lang="en-US" sz="1575" dirty="0" spc="0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revisan</a:t>
                      </a:r>
                      <a:r>
                        <a:rPr lang="en-US" sz="1575" dirty="0" spc="-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a</a:t>
                      </a:r>
                      <a:r>
                        <a:rPr lang="en-US" sz="1575" dirty="0" spc="0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diario.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¿Cómo podríamos...? (opción</a:t>
                      </a:r>
                      <a:r>
                        <a:rPr lang="en-US" sz="1575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1)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dirty="0" spc="0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¿Cómo</a:t>
                      </a:r>
                      <a:r>
                        <a:rPr lang="en-US" sz="1575" dirty="0" spc="-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podríamos</a:t>
                      </a:r>
                      <a:r>
                        <a:rPr lang="en-US" sz="1575" dirty="0" spc="2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hacer</a:t>
                      </a:r>
                      <a:r>
                        <a:rPr lang="en-US" sz="1575" dirty="0" spc="-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que Rosa sepa</a:t>
                      </a:r>
                      <a:r>
                        <a:rPr lang="en-US" sz="1575" dirty="0" spc="0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cuánto</a:t>
                      </a:r>
                      <a:r>
                        <a:rPr lang="en-US" sz="1575" dirty="0" spc="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ganó</a:t>
                      </a:r>
                      <a:r>
                        <a:rPr lang="en-US" sz="1575" dirty="0" spc="0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hoy sin</a:t>
                      </a:r>
                      <a:r>
                        <a:rPr lang="en-US" sz="1575" dirty="0" spc="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escribir</a:t>
                      </a:r>
                      <a:r>
                        <a:rPr lang="en-US" sz="1575" dirty="0" spc="0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nada extra?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¿Cómo podríamos...? (opción</a:t>
                      </a:r>
                      <a:r>
                        <a:rPr lang="en-US" sz="1575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2)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¿Cómo podríamos...? (opción</a:t>
                      </a:r>
                      <a:r>
                        <a:rPr lang="en-US" sz="1575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3)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952500" y="8524875"/>
            <a:ext cx="16383000" cy="1428750"/>
          </a:xfrm>
          <a:prstGeom prst="roundRect">
            <a:avLst>
              <a:gd name="adj" fmla="val 8000"/>
            </a:avLst>
          </a:prstGeom>
          <a:solidFill>
            <a:srgbClr val="061219"/>
          </a:solidFill>
          <a:ln/>
        </p:spPr>
      </p:sp>
      <p:sp>
        <p:nvSpPr>
          <p:cNvPr id="9" name="Text 5"/>
          <p:cNvSpPr/>
          <p:nvPr/>
        </p:nvSpPr>
        <p:spPr>
          <a:xfrm>
            <a:off x="1219200" y="8677275"/>
            <a:ext cx="15849600" cy="28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 spc="-11" kern="0">
                <a:solidFill>
                  <a:srgbClr val="0693E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Revisa</a:t>
            </a:r>
            <a:r>
              <a:rPr lang="en-US" sz="1800" b="1" dirty="0" spc="0" kern="0">
                <a:solidFill>
                  <a:srgbClr val="0693E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tu</a:t>
            </a:r>
            <a:r>
              <a:rPr lang="en-US" sz="1800" b="1" dirty="0" spc="-2" kern="0">
                <a:solidFill>
                  <a:srgbClr val="0693E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pregunta</a:t>
            </a:r>
            <a:r>
              <a:rPr lang="en-US" sz="1800" b="1" dirty="0" spc="-1" kern="0">
                <a:solidFill>
                  <a:srgbClr val="0693E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elegida: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219200" y="8998404"/>
            <a:ext cx="15849600" cy="802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☐ No menciona tecnología (nada de «una app» ni «un dashboard en React»).</a:t>
            </a:r>
            <a:endParaRPr lang="en-US" sz="1575" dirty="0"/>
          </a:p>
          <a:p>
            <a:pPr algn="l" indent="0" marL="0">
              <a:buNone/>
            </a:pPr>
            <a:r>
              <a:rPr lang="en-US" sz="1575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☐ Es concreta: sabrías decir si la resolviste. ☐ No es tan amplia como «digitalizar restaurantes».</a:t>
            </a:r>
            <a:endParaRPr lang="en-US" sz="157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2381250"/>
          </a:xfrm>
          <a:prstGeom prst="rect">
            <a:avLst/>
          </a:prstGeom>
          <a:solidFill>
            <a:srgbClr val="EAF5FE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38100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99" kern="0" dirty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FORMATO</a:t>
            </a:r>
            <a:r>
              <a:rPr lang="en-US" sz="1950" spc="227" kern="0" dirty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6</a:t>
            </a:r>
            <a:r>
              <a:rPr lang="en-US" sz="1950" spc="231" kern="0" dirty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·</a:t>
            </a:r>
            <a:r>
              <a:rPr lang="en-US" sz="1950" spc="225" kern="0" dirty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DEFINIR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781050"/>
            <a:ext cx="1638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 spc="-7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Los cuatro</a:t>
            </a:r>
            <a:r>
              <a:rPr lang="en-US" sz="4800" b="1" dirty="0" spc="-34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filtros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52500" y="1600200"/>
            <a:ext cx="16383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3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Para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qué</a:t>
            </a:r>
            <a:r>
              <a:rPr lang="en-US" sz="165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sirve: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decidir</a:t>
            </a:r>
            <a:r>
              <a:rPr lang="en-US" sz="1650" dirty="0" spc="3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si el</a:t>
            </a:r>
            <a:r>
              <a:rPr lang="en-US" sz="165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problema vale</a:t>
            </a:r>
            <a:r>
              <a:rPr lang="en-US" sz="1650" dirty="0" spc="4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pena antes</a:t>
            </a:r>
            <a:r>
              <a:rPr lang="en-US" sz="165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idear.</a:t>
            </a:r>
            <a:r>
              <a:rPr lang="en-US" sz="1650" dirty="0" spc="4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Califica</a:t>
            </a:r>
            <a:r>
              <a:rPr lang="en-US" sz="165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cada</a:t>
            </a:r>
            <a:r>
              <a:rPr lang="en-US" sz="1650" dirty="0" spc="3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filtro</a:t>
            </a:r>
            <a:r>
              <a:rPr lang="en-US" sz="165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</a:t>
            </a:r>
            <a:r>
              <a:rPr lang="en-US" sz="1650" dirty="0" spc="5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1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(muy débil)</a:t>
            </a:r>
            <a:r>
              <a:rPr lang="en-US" sz="1650" dirty="0" spc="4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</a:t>
            </a:r>
            <a:r>
              <a:rPr lang="en-US" sz="1650" dirty="0" spc="5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5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(muy fuerte)</a:t>
            </a:r>
            <a:r>
              <a:rPr lang="en-US" sz="1650" dirty="0" spc="4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</a:t>
            </a:r>
            <a:r>
              <a:rPr lang="en-US" sz="165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evidencia</a:t>
            </a:r>
            <a:r>
              <a:rPr lang="en-US" sz="1650" dirty="0" spc="-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tus entrevistas.</a:t>
            </a:r>
            <a:r>
              <a:rPr lang="en-US" sz="165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Si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dos</a:t>
            </a:r>
            <a:r>
              <a:rPr lang="en-US" sz="1650" dirty="0" spc="5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</a:t>
            </a:r>
            <a:r>
              <a:rPr lang="en-US" sz="165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más</a:t>
            </a:r>
            <a:r>
              <a:rPr lang="en-US" sz="1650" dirty="0" spc="3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filtros</a:t>
            </a:r>
            <a:r>
              <a:rPr lang="en-US" sz="165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sacan</a:t>
            </a:r>
            <a:r>
              <a:rPr lang="en-US" sz="1650" dirty="0" spc="5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2</a:t>
            </a:r>
            <a:r>
              <a:rPr lang="en-US" sz="1650" dirty="0" spc="4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</a:t>
            </a:r>
            <a:r>
              <a:rPr lang="en-US" sz="165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menos,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busca</a:t>
            </a:r>
            <a:r>
              <a:rPr lang="en-US" sz="1650" dirty="0" spc="3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otro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problema.</a:t>
            </a:r>
            <a:endParaRPr lang="en-US" sz="165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500" y="2619375"/>
          <a:ext cx="13716000" cy="914400"/>
        </p:xfrm>
        <a:graphic>
          <a:graphicData uri="http://schemas.openxmlformats.org/drawingml/2006/table">
            <a:tbl>
              <a:tblPr/>
              <a:tblGrid>
                <a:gridCol w="5461000"/>
                <a:gridCol w="5461000"/>
                <a:gridCol w="5461000"/>
              </a:tblGrid>
              <a:tr h="5334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Equipo</a:t>
                      </a:r>
                      <a:r>
                        <a:rPr lang="en-US" sz="1500" dirty="0" spc="3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o</a:t>
                      </a:r>
                      <a:r>
                        <a:rPr lang="en-US" sz="1500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estudiante: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Proyecto: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dirty="0" spc="-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Fecha: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500" y="3429000"/>
          <a:ext cx="13716000" cy="914400"/>
        </p:xfrm>
        <a:graphic>
          <a:graphicData uri="http://schemas.openxmlformats.org/drawingml/2006/table">
            <a:tbl>
              <a:tblPr/>
              <a:tblGrid>
                <a:gridCol w="2621280"/>
                <a:gridCol w="5570220"/>
                <a:gridCol w="5570220"/>
                <a:gridCol w="2621280"/>
              </a:tblGrid>
              <a:tr h="825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070"/>
                        </a:lnSpc>
                        <a:buNone/>
                      </a:pPr>
                      <a:r>
                        <a:rPr lang="en-US" sz="1725" b="1" dirty="0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Filtro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612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070"/>
                        </a:lnSpc>
                        <a:buNone/>
                      </a:pPr>
                      <a:r>
                        <a:rPr lang="en-US" sz="1725" b="1" dirty="0" spc="-2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Pregunta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612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070"/>
                        </a:lnSpc>
                        <a:buNone/>
                      </a:pPr>
                      <a:r>
                        <a:rPr lang="en-US" sz="1725" b="1" dirty="0" spc="0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Evidencia</a:t>
                      </a:r>
                      <a:r>
                        <a:rPr lang="en-US" sz="1725" b="1" dirty="0" spc="-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(ejemplo</a:t>
                      </a:r>
                      <a:r>
                        <a:rPr lang="en-US" sz="1725" b="1" dirty="0" spc="-5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en</a:t>
                      </a:r>
                      <a:r>
                        <a:rPr lang="en-US" sz="1725" b="1" dirty="0" spc="-2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gris)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612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070"/>
                        </a:lnSpc>
                        <a:buNone/>
                      </a:pPr>
                      <a:r>
                        <a:rPr lang="en-US" sz="1725" b="1" dirty="0" spc="-2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Puntaje</a:t>
                      </a:r>
                      <a:r>
                        <a:rPr lang="en-US" sz="1725" b="1" dirty="0" spc="-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1</a:t>
                      </a:r>
                      <a:r>
                        <a:rPr lang="en-US" sz="1725" b="1" dirty="0" spc="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a</a:t>
                      </a:r>
                      <a:r>
                        <a:rPr lang="en-US" sz="1725" b="1" dirty="0" spc="-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5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61219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070"/>
                        </a:lnSpc>
                        <a:buNone/>
                      </a:pPr>
                      <a:r>
                        <a:rPr lang="en-US" sz="1725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Frecuencia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070"/>
                        </a:lnSpc>
                        <a:buNone/>
                      </a:pPr>
                      <a:r>
                        <a:rPr lang="en-US" sz="1725" dirty="0" spc="-3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¿Pasa</a:t>
                      </a:r>
                      <a:r>
                        <a:rPr lang="en-US" sz="1725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todos</a:t>
                      </a:r>
                      <a:r>
                        <a:rPr lang="en-US" sz="1725" dirty="0" spc="-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los días o</a:t>
                      </a:r>
                      <a:r>
                        <a:rPr lang="en-US" sz="1725" dirty="0" spc="-4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una</a:t>
                      </a:r>
                      <a:r>
                        <a:rPr lang="en-US" sz="1725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vez</a:t>
                      </a:r>
                      <a:r>
                        <a:rPr lang="en-US" sz="1725" dirty="0" spc="-3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al año?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070"/>
                        </a:lnSpc>
                        <a:buNone/>
                      </a:pPr>
                      <a:r>
                        <a:rPr lang="en-US" sz="1725" dirty="0" spc="0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Rosa:</a:t>
                      </a:r>
                      <a:r>
                        <a:rPr lang="en-US" sz="1725" dirty="0" spc="-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cada noche</a:t>
                      </a:r>
                      <a:r>
                        <a:rPr lang="en-US" sz="1725" dirty="0" spc="-2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al</a:t>
                      </a:r>
                      <a:r>
                        <a:rPr lang="en-US" sz="1725" dirty="0" spc="2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cerrar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070"/>
                        </a:lnSpc>
                        <a:buNone/>
                      </a:pPr>
                      <a:r>
                        <a:rPr lang="en-US" sz="1725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070"/>
                        </a:lnSpc>
                        <a:buNone/>
                      </a:pPr>
                      <a:r>
                        <a:rPr lang="en-US" sz="1725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Intensidad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070"/>
                        </a:lnSpc>
                        <a:buNone/>
                      </a:pPr>
                      <a:r>
                        <a:rPr lang="en-US" sz="1725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¿Duele</a:t>
                      </a:r>
                      <a:r>
                        <a:rPr lang="en-US" sz="1725" dirty="0" spc="4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de</a:t>
                      </a:r>
                      <a:r>
                        <a:rPr lang="en-US" sz="1725" dirty="0" spc="2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verdad</a:t>
                      </a:r>
                      <a:r>
                        <a:rPr lang="en-US" sz="1725" dirty="0" spc="-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o</a:t>
                      </a:r>
                      <a:r>
                        <a:rPr lang="en-US" sz="1725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es</a:t>
                      </a:r>
                      <a:r>
                        <a:rPr lang="en-US" sz="1725" dirty="0" spc="-4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una</a:t>
                      </a:r>
                      <a:r>
                        <a:rPr lang="en-US" sz="1725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pequeña</a:t>
                      </a:r>
                      <a:r>
                        <a:rPr lang="en-US" sz="1725" dirty="0" spc="-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molestia?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070"/>
                        </a:lnSpc>
                        <a:buNone/>
                      </a:pPr>
                      <a:r>
                        <a:rPr lang="en-US" sz="1725" dirty="0" spc="-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No</a:t>
                      </a:r>
                      <a:r>
                        <a:rPr lang="en-US" sz="1725" dirty="0" spc="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sabe</a:t>
                      </a:r>
                      <a:r>
                        <a:rPr lang="en-US" sz="1725" dirty="0" spc="-3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si gana</a:t>
                      </a:r>
                      <a:r>
                        <a:rPr lang="en-US" sz="1725" dirty="0" spc="-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o</a:t>
                      </a:r>
                      <a:r>
                        <a:rPr lang="en-US" sz="1725" dirty="0" spc="4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pierde</a:t>
                      </a:r>
                      <a:r>
                        <a:rPr lang="en-US" sz="1725" dirty="0" spc="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dinero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070"/>
                        </a:lnSpc>
                        <a:buNone/>
                      </a:pPr>
                      <a:r>
                        <a:rPr lang="en-US" sz="1725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070"/>
                        </a:lnSpc>
                        <a:buNone/>
                      </a:pPr>
                      <a:r>
                        <a:rPr lang="en-US" sz="1725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Gasto</a:t>
                      </a:r>
                      <a:r>
                        <a:rPr lang="en-US" sz="1725" dirty="0" spc="-2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actual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070"/>
                        </a:lnSpc>
                        <a:buNone/>
                      </a:pPr>
                      <a:r>
                        <a:rPr lang="en-US" sz="1725" dirty="0" spc="-2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¿Ya gasta</a:t>
                      </a:r>
                      <a:r>
                        <a:rPr lang="en-US" sz="1725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tiempo</a:t>
                      </a:r>
                      <a:r>
                        <a:rPr lang="en-US" sz="1725" dirty="0" spc="-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o</a:t>
                      </a:r>
                      <a:r>
                        <a:rPr lang="en-US" sz="1725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dinero</a:t>
                      </a:r>
                      <a:r>
                        <a:rPr lang="en-US" sz="1725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en</a:t>
                      </a:r>
                      <a:r>
                        <a:rPr lang="en-US" sz="1725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resolverlo?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070"/>
                        </a:lnSpc>
                        <a:buNone/>
                      </a:pPr>
                      <a:r>
                        <a:rPr lang="en-US" sz="1725" dirty="0" spc="-2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Casi</a:t>
                      </a:r>
                      <a:r>
                        <a:rPr lang="en-US" sz="1725" dirty="0" spc="-4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una</a:t>
                      </a:r>
                      <a:r>
                        <a:rPr lang="en-US" sz="1725" dirty="0" spc="-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hora diaria con</a:t>
                      </a:r>
                      <a:r>
                        <a:rPr lang="en-US" sz="1725" dirty="0" spc="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el</a:t>
                      </a:r>
                      <a:r>
                        <a:rPr lang="en-US" sz="1725" dirty="0" spc="0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cuaderno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070"/>
                        </a:lnSpc>
                        <a:buNone/>
                      </a:pPr>
                      <a:r>
                        <a:rPr lang="en-US" sz="1725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070"/>
                        </a:lnSpc>
                        <a:buNone/>
                      </a:pPr>
                      <a:r>
                        <a:rPr lang="en-US" sz="1725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Alcance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070"/>
                        </a:lnSpc>
                        <a:buNone/>
                      </a:pPr>
                      <a:r>
                        <a:rPr lang="en-US" sz="1725" dirty="0" spc="-3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¿Hay muchas</a:t>
                      </a:r>
                      <a:r>
                        <a:rPr lang="en-US" sz="1725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personas</a:t>
                      </a:r>
                      <a:r>
                        <a:rPr lang="en-US" sz="1725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parecidas?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070"/>
                        </a:lnSpc>
                        <a:buNone/>
                      </a:pPr>
                      <a:r>
                        <a:rPr lang="en-US" sz="1725" dirty="0" spc="0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Miles</a:t>
                      </a:r>
                      <a:r>
                        <a:rPr lang="en-US" sz="1725" dirty="0" spc="3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de</a:t>
                      </a:r>
                      <a:r>
                        <a:rPr lang="en-US" sz="1725" dirty="0" spc="0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restaurantes</a:t>
                      </a:r>
                      <a:r>
                        <a:rPr lang="en-US" sz="1725" dirty="0" spc="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pequeños en</a:t>
                      </a:r>
                      <a:r>
                        <a:rPr lang="en-US" sz="1725" dirty="0" spc="0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Ecuador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070"/>
                        </a:lnSpc>
                        <a:buNone/>
                      </a:pPr>
                      <a:r>
                        <a:rPr lang="en-US" sz="1725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070"/>
                        </a:lnSpc>
                        <a:buNone/>
                      </a:pPr>
                      <a:r>
                        <a:rPr lang="en-US" sz="1725" dirty="0" spc="-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Total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070"/>
                        </a:lnSpc>
                        <a:buNone/>
                      </a:pPr>
                      <a:r>
                        <a:rPr lang="en-US" sz="1725" dirty="0" spc="3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Sobre</a:t>
                      </a:r>
                      <a:r>
                        <a:rPr lang="en-US" sz="1725" dirty="0" spc="-2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20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070"/>
                        </a:lnSpc>
                        <a:buNone/>
                      </a:pPr>
                      <a:r>
                        <a:rPr lang="en-US" sz="1725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070"/>
                        </a:lnSpc>
                        <a:buNone/>
                      </a:pPr>
                      <a:r>
                        <a:rPr lang="en-US" sz="1725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E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952500" y="8763000"/>
            <a:ext cx="16383000" cy="857250"/>
          </a:xfrm>
          <a:prstGeom prst="roundRect">
            <a:avLst>
              <a:gd name="adj" fmla="val 13333"/>
            </a:avLst>
          </a:prstGeom>
          <a:solidFill>
            <a:srgbClr val="0693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>
                <a:solidFill>
                  <a:srgbClr val="FFFFFF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Decisión:     ☐ Sigo con este problema          ☐ Busco otro problema</a:t>
            </a:r>
            <a:endParaRPr lang="en-US" sz="22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2381250"/>
          </a:xfrm>
          <a:prstGeom prst="rect">
            <a:avLst/>
          </a:prstGeom>
          <a:solidFill>
            <a:srgbClr val="EAF5FE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38100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99" kern="0" dirty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FORMATO</a:t>
            </a:r>
            <a:r>
              <a:rPr lang="en-US" sz="1950" spc="230" kern="0" dirty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7</a:t>
            </a:r>
            <a:r>
              <a:rPr lang="en-US" sz="1950" spc="231" kern="0" dirty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·</a:t>
            </a:r>
            <a:r>
              <a:rPr lang="en-US" sz="1950" spc="225" kern="0" dirty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IDEAR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781050"/>
            <a:ext cx="1638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 spc="-14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Crazy</a:t>
            </a:r>
            <a:r>
              <a:rPr lang="en-US" sz="4800" b="1" dirty="0" spc="0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8s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52500" y="1600200"/>
            <a:ext cx="16383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3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Para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qué</a:t>
            </a:r>
            <a:r>
              <a:rPr lang="en-US" sz="165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sirve: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romper</a:t>
            </a:r>
            <a:r>
              <a:rPr lang="en-US" sz="1650" dirty="0" spc="4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el</a:t>
            </a:r>
            <a:r>
              <a:rPr lang="en-US" sz="165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bloqueo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</a:t>
            </a:r>
            <a:r>
              <a:rPr lang="en-US" sz="165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salir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</a:t>
            </a:r>
            <a:r>
              <a:rPr lang="en-US" sz="1650" dirty="0" spc="3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las</a:t>
            </a:r>
            <a:r>
              <a:rPr lang="en-US" sz="165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ideas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obvias.</a:t>
            </a:r>
            <a:r>
              <a:rPr lang="en-US" sz="165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Tienes</a:t>
            </a:r>
            <a:r>
              <a:rPr lang="en-US" sz="1650" dirty="0" spc="4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ocho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minutos: una</a:t>
            </a:r>
            <a:r>
              <a:rPr lang="en-US" sz="165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idea por minuto,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dibujada,</a:t>
            </a:r>
            <a:r>
              <a:rPr lang="en-US" sz="1650" dirty="0" spc="4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no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escrita.</a:t>
            </a:r>
            <a:r>
              <a:rPr lang="en-US" sz="1650" dirty="0" spc="5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No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</a:t>
            </a:r>
            <a:r>
              <a:rPr lang="en-US" sz="1650" dirty="0" spc="3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critica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nada</a:t>
            </a:r>
            <a:r>
              <a:rPr lang="en-US" sz="165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mientras</a:t>
            </a:r>
            <a:r>
              <a:rPr lang="en-US" sz="165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dibujas.</a:t>
            </a:r>
            <a:endParaRPr lang="en-US" sz="165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500" y="2619375"/>
          <a:ext cx="13716000" cy="914400"/>
        </p:xfrm>
        <a:graphic>
          <a:graphicData uri="http://schemas.openxmlformats.org/drawingml/2006/table">
            <a:tbl>
              <a:tblPr/>
              <a:tblGrid>
                <a:gridCol w="5461000"/>
                <a:gridCol w="5461000"/>
                <a:gridCol w="5461000"/>
              </a:tblGrid>
              <a:tr h="5334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Equipo</a:t>
                      </a:r>
                      <a:r>
                        <a:rPr lang="en-US" sz="1500" dirty="0" spc="3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o</a:t>
                      </a:r>
                      <a:r>
                        <a:rPr lang="en-US" sz="1500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estudiante: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Proyecto: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dirty="0" spc="-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Fecha: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52500" y="3333750"/>
            <a:ext cx="16383000" cy="666750"/>
          </a:xfrm>
          <a:prstGeom prst="roundRect">
            <a:avLst>
              <a:gd name="adj" fmla="val 14286"/>
            </a:avLst>
          </a:prstGeom>
          <a:solidFill>
            <a:srgbClr val="061219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Pregunta</a:t>
            </a:r>
            <a:r>
              <a:rPr lang="en-US" sz="1800" b="1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¿Cómo podríamos...?: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52500" y="4191000"/>
            <a:ext cx="4010025" cy="2800350"/>
          </a:xfrm>
          <a:prstGeom prst="roundRect">
            <a:avLst>
              <a:gd name="adj" fmla="val 3401"/>
            </a:avLst>
          </a:prstGeom>
          <a:solidFill>
            <a:srgbClr val="FFFFFF"/>
          </a:solidFill>
          <a:ln w="19050">
            <a:solidFill>
              <a:srgbClr val="88959F"/>
            </a:solidFill>
            <a:prstDash val="dash"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4" kern="0">
                <a:solidFill>
                  <a:srgbClr val="88959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5076825" y="4191000"/>
            <a:ext cx="4010025" cy="2800350"/>
          </a:xfrm>
          <a:prstGeom prst="roundRect">
            <a:avLst>
              <a:gd name="adj" fmla="val 3401"/>
            </a:avLst>
          </a:prstGeom>
          <a:solidFill>
            <a:srgbClr val="FFFFFF"/>
          </a:solidFill>
          <a:ln w="19050">
            <a:solidFill>
              <a:srgbClr val="88959F"/>
            </a:solidFill>
            <a:prstDash val="dash"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5" kern="0">
                <a:solidFill>
                  <a:srgbClr val="88959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9201150" y="4191000"/>
            <a:ext cx="4010025" cy="2800350"/>
          </a:xfrm>
          <a:prstGeom prst="roundRect">
            <a:avLst>
              <a:gd name="adj" fmla="val 3401"/>
            </a:avLst>
          </a:prstGeom>
          <a:solidFill>
            <a:srgbClr val="FFFFFF"/>
          </a:solidFill>
          <a:ln w="19050">
            <a:solidFill>
              <a:srgbClr val="88959F"/>
            </a:solidFill>
            <a:prstDash val="dash"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4" kern="0">
                <a:solidFill>
                  <a:srgbClr val="88959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3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13325475" y="4191000"/>
            <a:ext cx="4010025" cy="2800350"/>
          </a:xfrm>
          <a:prstGeom prst="roundRect">
            <a:avLst>
              <a:gd name="adj" fmla="val 3401"/>
            </a:avLst>
          </a:prstGeom>
          <a:solidFill>
            <a:srgbClr val="FFFFFF"/>
          </a:solidFill>
          <a:ln w="19050">
            <a:solidFill>
              <a:srgbClr val="88959F"/>
            </a:solidFill>
            <a:prstDash val="dash"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6" kern="0">
                <a:solidFill>
                  <a:srgbClr val="88959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4</a:t>
            </a:r>
            <a:endParaRPr lang="en-US" sz="2700" dirty="0"/>
          </a:p>
        </p:txBody>
      </p:sp>
      <p:sp>
        <p:nvSpPr>
          <p:cNvPr id="12" name="Text 9"/>
          <p:cNvSpPr/>
          <p:nvPr/>
        </p:nvSpPr>
        <p:spPr>
          <a:xfrm>
            <a:off x="952500" y="7105650"/>
            <a:ext cx="4010025" cy="2800350"/>
          </a:xfrm>
          <a:prstGeom prst="roundRect">
            <a:avLst>
              <a:gd name="adj" fmla="val 3401"/>
            </a:avLst>
          </a:prstGeom>
          <a:solidFill>
            <a:srgbClr val="FFFFFF"/>
          </a:solidFill>
          <a:ln w="19050">
            <a:solidFill>
              <a:srgbClr val="88959F"/>
            </a:solidFill>
            <a:prstDash val="dash"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6" kern="0">
                <a:solidFill>
                  <a:srgbClr val="88959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5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5076825" y="7105650"/>
            <a:ext cx="4010025" cy="2800350"/>
          </a:xfrm>
          <a:prstGeom prst="roundRect">
            <a:avLst>
              <a:gd name="adj" fmla="val 3401"/>
            </a:avLst>
          </a:prstGeom>
          <a:solidFill>
            <a:srgbClr val="FFFFFF"/>
          </a:solidFill>
          <a:ln w="19050">
            <a:solidFill>
              <a:srgbClr val="88959F"/>
            </a:solidFill>
            <a:prstDash val="dash"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5" kern="0">
                <a:solidFill>
                  <a:srgbClr val="88959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6</a:t>
            </a:r>
            <a:endParaRPr lang="en-US" sz="2700" dirty="0"/>
          </a:p>
        </p:txBody>
      </p:sp>
      <p:sp>
        <p:nvSpPr>
          <p:cNvPr id="14" name="Text 11"/>
          <p:cNvSpPr/>
          <p:nvPr/>
        </p:nvSpPr>
        <p:spPr>
          <a:xfrm>
            <a:off x="9201150" y="7105650"/>
            <a:ext cx="4010025" cy="2800350"/>
          </a:xfrm>
          <a:prstGeom prst="roundRect">
            <a:avLst>
              <a:gd name="adj" fmla="val 3401"/>
            </a:avLst>
          </a:prstGeom>
          <a:solidFill>
            <a:srgbClr val="FFFFFF"/>
          </a:solidFill>
          <a:ln w="19050">
            <a:solidFill>
              <a:srgbClr val="88959F"/>
            </a:solidFill>
            <a:prstDash val="dash"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3" kern="0">
                <a:solidFill>
                  <a:srgbClr val="88959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7</a:t>
            </a:r>
            <a:endParaRPr lang="en-US" sz="2700" dirty="0"/>
          </a:p>
        </p:txBody>
      </p:sp>
      <p:sp>
        <p:nvSpPr>
          <p:cNvPr id="15" name="Text 12"/>
          <p:cNvSpPr/>
          <p:nvPr/>
        </p:nvSpPr>
        <p:spPr>
          <a:xfrm>
            <a:off x="13325475" y="7105650"/>
            <a:ext cx="4010025" cy="2800350"/>
          </a:xfrm>
          <a:prstGeom prst="roundRect">
            <a:avLst>
              <a:gd name="adj" fmla="val 3401"/>
            </a:avLst>
          </a:prstGeom>
          <a:solidFill>
            <a:srgbClr val="FFFFFF"/>
          </a:solidFill>
          <a:ln w="19050">
            <a:solidFill>
              <a:srgbClr val="88959F"/>
            </a:solidFill>
            <a:prstDash val="dash"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3" kern="0">
                <a:solidFill>
                  <a:srgbClr val="88959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8</a:t>
            </a:r>
            <a:endParaRPr lang="en-US" sz="27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2381250"/>
          </a:xfrm>
          <a:prstGeom prst="rect">
            <a:avLst/>
          </a:prstGeom>
          <a:solidFill>
            <a:srgbClr val="EAF5FE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38100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99" kern="0" dirty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FORMATO</a:t>
            </a:r>
            <a:r>
              <a:rPr lang="en-US" sz="1950" spc="229" kern="0" dirty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8</a:t>
            </a:r>
            <a:r>
              <a:rPr lang="en-US" sz="1950" spc="231" kern="0" dirty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·</a:t>
            </a:r>
            <a:r>
              <a:rPr lang="en-US" sz="1950" spc="225" kern="0" dirty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IDEAR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781050"/>
            <a:ext cx="1638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 spc="-7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SCAMPER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52500" y="1600200"/>
            <a:ext cx="16383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3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Para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qué</a:t>
            </a:r>
            <a:r>
              <a:rPr lang="en-US" sz="165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sirve:</a:t>
            </a:r>
            <a:r>
              <a:rPr lang="en-US" sz="1650" dirty="0" spc="3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tomar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una</a:t>
            </a:r>
            <a:r>
              <a:rPr lang="en-US" sz="1650" dirty="0" spc="3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solución</a:t>
            </a:r>
            <a:r>
              <a:rPr lang="en-US" sz="165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que</a:t>
            </a:r>
            <a:r>
              <a:rPr lang="en-US" sz="1650" dirty="0" spc="3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ya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existe</a:t>
            </a:r>
            <a:r>
              <a:rPr lang="en-US" sz="1650" dirty="0" spc="4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</a:t>
            </a:r>
            <a:r>
              <a:rPr lang="en-US" sz="165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transformarla</a:t>
            </a:r>
            <a:r>
              <a:rPr lang="en-US" sz="1650" dirty="0" spc="3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</a:t>
            </a:r>
            <a:r>
              <a:rPr lang="en-US" sz="165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siete</a:t>
            </a:r>
            <a:r>
              <a:rPr lang="en-US" sz="165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preguntas.</a:t>
            </a:r>
            <a:r>
              <a:rPr lang="en-US" sz="165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Funciona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muy bien</a:t>
            </a:r>
            <a:r>
              <a:rPr lang="en-US" sz="165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junto</a:t>
            </a:r>
            <a:r>
              <a:rPr lang="en-US" sz="1650" dirty="0" spc="3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</a:t>
            </a:r>
            <a:r>
              <a:rPr lang="en-US" sz="1650" dirty="0" spc="4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IA: pídele que aplique</a:t>
            </a:r>
            <a:r>
              <a:rPr lang="en-US" sz="1650" dirty="0" spc="4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SCAMPER</a:t>
            </a:r>
            <a:r>
              <a:rPr lang="en-US" sz="1650" dirty="0" spc="3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tu</a:t>
            </a:r>
            <a:r>
              <a:rPr lang="en-US" sz="1650" dirty="0" spc="3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mejor</a:t>
            </a:r>
            <a:r>
              <a:rPr lang="en-US" sz="165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idea y luego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elige tú.</a:t>
            </a:r>
            <a:endParaRPr lang="en-US" sz="165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500" y="2619375"/>
          <a:ext cx="13716000" cy="914400"/>
        </p:xfrm>
        <a:graphic>
          <a:graphicData uri="http://schemas.openxmlformats.org/drawingml/2006/table">
            <a:tbl>
              <a:tblPr/>
              <a:tblGrid>
                <a:gridCol w="5461000"/>
                <a:gridCol w="5461000"/>
                <a:gridCol w="5461000"/>
              </a:tblGrid>
              <a:tr h="5334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Equipo</a:t>
                      </a:r>
                      <a:r>
                        <a:rPr lang="en-US" sz="1500" dirty="0" spc="3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o</a:t>
                      </a:r>
                      <a:r>
                        <a:rPr lang="en-US" sz="1500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estudiante: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Proyecto: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dirty="0" spc="-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Fecha: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52500" y="3333750"/>
            <a:ext cx="16383000" cy="609600"/>
          </a:xfrm>
          <a:prstGeom prst="roundRect">
            <a:avLst>
              <a:gd name="adj" fmla="val 15625"/>
            </a:avLst>
          </a:prstGeom>
          <a:solidFill>
            <a:srgbClr val="061219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Idea</a:t>
            </a:r>
            <a:r>
              <a:rPr lang="en-US" sz="1800" b="1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</a:t>
            </a:r>
            <a:r>
              <a:rPr lang="en-US" sz="1800" b="1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partida:</a:t>
            </a:r>
            <a:r>
              <a:rPr lang="en-US" sz="1800" b="1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una</a:t>
            </a:r>
            <a:r>
              <a:rPr lang="en-US" sz="1800" b="1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app</a:t>
            </a:r>
            <a:r>
              <a:rPr lang="en-US" sz="1800" b="1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</a:t>
            </a:r>
            <a:r>
              <a:rPr lang="en-US" sz="1800" b="1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contabilidad</a:t>
            </a:r>
            <a:r>
              <a:rPr lang="en-US" sz="1800" b="1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para</a:t>
            </a:r>
            <a:r>
              <a:rPr lang="en-US" sz="1800" b="1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restaurantes</a:t>
            </a:r>
            <a:endParaRPr lang="en-US" sz="1800" dirty="0"/>
          </a:p>
        </p:txBody>
      </p:sp>
      <p:graphicFrame>
        <p:nvGraphicFramePr>
          <p:cNvPr id="6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500" y="4095750"/>
          <a:ext cx="13716000" cy="914400"/>
        </p:xfrm>
        <a:graphic>
          <a:graphicData uri="http://schemas.openxmlformats.org/drawingml/2006/table">
            <a:tbl>
              <a:tblPr/>
              <a:tblGrid>
                <a:gridCol w="819150"/>
                <a:gridCol w="2785110"/>
                <a:gridCol w="6225540"/>
                <a:gridCol w="6553200"/>
              </a:tblGrid>
              <a:tr h="726281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b="1" dirty="0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693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b="1" dirty="0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Acción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693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b="1" dirty="0" spc="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Pregunta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693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b="1" dirty="0" spc="0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Mis ideas</a:t>
                      </a:r>
                      <a:r>
                        <a:rPr lang="en-US" sz="1575" b="1" dirty="0" spc="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(ejemplo</a:t>
                      </a:r>
                      <a:r>
                        <a:rPr lang="en-US" sz="1575" b="1" dirty="0" spc="0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en gris)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693E3"/>
                    </a:solidFill>
                  </a:tcPr>
                </a:tc>
              </a:tr>
              <a:tr h="726281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Sustituir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¿Qué</a:t>
                      </a:r>
                      <a:r>
                        <a:rPr lang="en-US" sz="1575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parte puedo reemplazar</a:t>
                      </a:r>
                      <a:r>
                        <a:rPr lang="en-US" sz="1575" dirty="0" spc="-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por</a:t>
                      </a:r>
                      <a:r>
                        <a:rPr lang="en-US" sz="1575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otra?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dirty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Escribir datos → foto de la factura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</a:tr>
              <a:tr h="726281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dirty="0" spc="5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Combinar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¿Qué</a:t>
                      </a:r>
                      <a:r>
                        <a:rPr lang="en-US" sz="1575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puedo</a:t>
                      </a:r>
                      <a:r>
                        <a:rPr lang="en-US" sz="1575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unir con</a:t>
                      </a:r>
                      <a:r>
                        <a:rPr lang="en-US" sz="1575" dirty="0" spc="-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otra</a:t>
                      </a:r>
                      <a:r>
                        <a:rPr lang="en-US" sz="1575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cosa?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dirty="0" spc="-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Resumen</a:t>
                      </a:r>
                      <a:r>
                        <a:rPr lang="en-US" sz="1575" dirty="0" spc="0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diario</a:t>
                      </a:r>
                      <a:r>
                        <a:rPr lang="en-US" sz="1575" dirty="0" spc="-3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+</a:t>
                      </a:r>
                      <a:r>
                        <a:rPr lang="en-US" sz="1575" dirty="0" spc="-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lista</a:t>
                      </a:r>
                      <a:r>
                        <a:rPr lang="en-US" sz="1575" dirty="0" spc="-2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de</a:t>
                      </a:r>
                      <a:r>
                        <a:rPr lang="en-US" sz="1575" dirty="0" spc="0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compras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26281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dirty="0" spc="-4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Adaptar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¿Qué</a:t>
                      </a:r>
                      <a:r>
                        <a:rPr lang="en-US" sz="1575" dirty="0" spc="-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idea</a:t>
                      </a:r>
                      <a:r>
                        <a:rPr lang="en-US" sz="1575" dirty="0" spc="-2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de</a:t>
                      </a:r>
                      <a:r>
                        <a:rPr lang="en-US" sz="1575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otra industria puedo</a:t>
                      </a:r>
                      <a:r>
                        <a:rPr lang="en-US" sz="1575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copiar?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dirty="0" spc="-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El</a:t>
                      </a:r>
                      <a:r>
                        <a:rPr lang="en-US" sz="1575" dirty="0" spc="0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resumen</a:t>
                      </a:r>
                      <a:r>
                        <a:rPr lang="en-US" sz="1575" dirty="0" spc="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nocturno</a:t>
                      </a:r>
                      <a:r>
                        <a:rPr lang="en-US" sz="1575" dirty="0" spc="-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de</a:t>
                      </a:r>
                      <a:r>
                        <a:rPr lang="en-US" sz="1575" dirty="0" spc="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un banco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</a:tr>
              <a:tr h="726281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dirty="0" spc="4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dirty="0" spc="2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Modificar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¿Qué agrando,</a:t>
                      </a:r>
                      <a:r>
                        <a:rPr lang="en-US" sz="1575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achico</a:t>
                      </a:r>
                      <a:r>
                        <a:rPr lang="en-US" sz="1575" dirty="0" spc="-2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o</a:t>
                      </a:r>
                      <a:r>
                        <a:rPr lang="en-US" sz="1575" dirty="0" spc="-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cambio</a:t>
                      </a:r>
                      <a:r>
                        <a:rPr lang="en-US" sz="1575" dirty="0" spc="-2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de</a:t>
                      </a:r>
                      <a:r>
                        <a:rPr lang="en-US" sz="1575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forma?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dirty="0" spc="2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Tres</a:t>
                      </a:r>
                      <a:r>
                        <a:rPr lang="en-US" sz="1575" dirty="0" spc="-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líneas en vez</a:t>
                      </a:r>
                      <a:r>
                        <a:rPr lang="en-US" sz="1575" dirty="0" spc="-2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de</a:t>
                      </a:r>
                      <a:r>
                        <a:rPr lang="en-US" sz="1575" dirty="0" spc="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un</a:t>
                      </a:r>
                      <a:r>
                        <a:rPr lang="en-US" sz="1575" dirty="0" spc="0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reporte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26281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dirty="0" spc="-3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Poner otros</a:t>
                      </a:r>
                      <a:r>
                        <a:rPr lang="en-US" sz="1575" dirty="0" spc="-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usos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dirty="0" spc="2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¿Para</a:t>
                      </a:r>
                      <a:r>
                        <a:rPr lang="en-US" sz="1575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quién</a:t>
                      </a:r>
                      <a:r>
                        <a:rPr lang="en-US" sz="1575" dirty="0" spc="-2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más</a:t>
                      </a:r>
                      <a:r>
                        <a:rPr lang="en-US" sz="1575" dirty="0" spc="-4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o</a:t>
                      </a:r>
                      <a:r>
                        <a:rPr lang="en-US" sz="1575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para</a:t>
                      </a:r>
                      <a:r>
                        <a:rPr lang="en-US" sz="1575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qué</a:t>
                      </a:r>
                      <a:r>
                        <a:rPr lang="en-US" sz="1575" dirty="0" spc="-2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más</a:t>
                      </a:r>
                      <a:r>
                        <a:rPr lang="en-US" sz="1575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sirve?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dirty="0" spc="0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Copia</a:t>
                      </a:r>
                      <a:r>
                        <a:rPr lang="en-US" sz="1575" dirty="0" spc="-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automática</a:t>
                      </a:r>
                      <a:r>
                        <a:rPr lang="en-US" sz="1575" dirty="0" spc="0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al</a:t>
                      </a:r>
                      <a:r>
                        <a:rPr lang="en-US" sz="1575" dirty="0" spc="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contador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</a:tr>
              <a:tr h="726281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Eliminar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¿Qué</a:t>
                      </a:r>
                      <a:r>
                        <a:rPr lang="en-US" sz="1575" dirty="0" spc="-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quito</a:t>
                      </a:r>
                      <a:r>
                        <a:rPr lang="en-US" sz="1575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sin</a:t>
                      </a:r>
                      <a:r>
                        <a:rPr lang="en-US" sz="1575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perder</a:t>
                      </a:r>
                      <a:r>
                        <a:rPr lang="en-US" sz="1575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valor?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dirty="0" spc="0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Eliminar</a:t>
                      </a:r>
                      <a:r>
                        <a:rPr lang="en-US" sz="1575" dirty="0" spc="-2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la</a:t>
                      </a:r>
                      <a:r>
                        <a:rPr lang="en-US" sz="1575" dirty="0" spc="0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app:</a:t>
                      </a:r>
                      <a:r>
                        <a:rPr lang="en-US" sz="1575" dirty="0" spc="-2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todo</a:t>
                      </a:r>
                      <a:r>
                        <a:rPr lang="en-US" sz="1575" dirty="0" spc="0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por WhatsApp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26281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dirty="0" spc="-3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Reordenar</a:t>
                      </a:r>
                      <a:r>
                        <a:rPr lang="en-US" sz="1575" dirty="0" spc="-5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o</a:t>
                      </a:r>
                      <a:r>
                        <a:rPr lang="en-US" sz="1575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invertir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¿Qué</a:t>
                      </a:r>
                      <a:r>
                        <a:rPr lang="en-US" sz="1575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pasa</a:t>
                      </a:r>
                      <a:r>
                        <a:rPr lang="en-US" sz="1575" dirty="0" spc="-2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si</a:t>
                      </a:r>
                      <a:r>
                        <a:rPr lang="en-US" sz="1575" dirty="0" spc="-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cambio</a:t>
                      </a:r>
                      <a:r>
                        <a:rPr lang="en-US" sz="1575" dirty="0" spc="-3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el</a:t>
                      </a:r>
                      <a:r>
                        <a:rPr lang="en-US" sz="1575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orden</a:t>
                      </a:r>
                      <a:r>
                        <a:rPr lang="en-US" sz="1575" dirty="0" spc="-2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o</a:t>
                      </a:r>
                      <a:r>
                        <a:rPr lang="en-US" sz="1575" dirty="0" spc="-3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lo</a:t>
                      </a:r>
                      <a:r>
                        <a:rPr lang="en-US" sz="1575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invierto?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575" dirty="0" spc="0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Que</a:t>
                      </a:r>
                      <a:r>
                        <a:rPr lang="en-US" sz="1575" dirty="0" spc="-3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el</a:t>
                      </a:r>
                      <a:r>
                        <a:rPr lang="en-US" sz="1575" dirty="0" spc="-2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sistema le</a:t>
                      </a:r>
                      <a:r>
                        <a:rPr lang="en-US" sz="1575" dirty="0" spc="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escriba</a:t>
                      </a:r>
                      <a:r>
                        <a:rPr lang="en-US" sz="1575" dirty="0" spc="-3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a</a:t>
                      </a:r>
                      <a:r>
                        <a:rPr lang="en-US" sz="1575" dirty="0" spc="-2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Rosa,</a:t>
                      </a:r>
                      <a:r>
                        <a:rPr lang="en-US" sz="1575" dirty="0" spc="-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no</a:t>
                      </a:r>
                      <a:r>
                        <a:rPr lang="en-US" sz="1575" dirty="0" spc="-3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ella</a:t>
                      </a:r>
                      <a:r>
                        <a:rPr lang="en-US" sz="1575" dirty="0" spc="-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al</a:t>
                      </a:r>
                      <a:r>
                        <a:rPr lang="en-US" sz="1575" dirty="0" spc="-2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sistema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2381250"/>
          </a:xfrm>
          <a:prstGeom prst="rect">
            <a:avLst/>
          </a:prstGeom>
          <a:solidFill>
            <a:srgbClr val="EAF5FE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38100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99" kern="0" dirty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FORMATO</a:t>
            </a:r>
            <a:r>
              <a:rPr lang="en-US" sz="1950" spc="230" kern="0" dirty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9</a:t>
            </a:r>
            <a:r>
              <a:rPr lang="en-US" sz="1950" spc="231" kern="0" dirty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·</a:t>
            </a:r>
            <a:r>
              <a:rPr lang="en-US" sz="1950" spc="225" kern="0" dirty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IDEAR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781050"/>
            <a:ext cx="1638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 spc="-2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Matriz impacto-esfuerzo</a:t>
            </a:r>
            <a:r>
              <a:rPr lang="en-US" sz="4800" b="1" dirty="0" spc="-1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y</a:t>
            </a:r>
            <a:r>
              <a:rPr lang="en-US" sz="4800" b="1" dirty="0" spc="-2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tres lentes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52500" y="1600200"/>
            <a:ext cx="16383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3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Para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qué</a:t>
            </a:r>
            <a:r>
              <a:rPr lang="en-US" sz="165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sirve:</a:t>
            </a:r>
            <a:r>
              <a:rPr lang="en-US" sz="165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elegir</a:t>
            </a:r>
            <a:r>
              <a:rPr lang="en-US" sz="165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qué</a:t>
            </a:r>
            <a:r>
              <a:rPr lang="en-US" sz="165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idea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prototipar primero.</a:t>
            </a:r>
            <a:r>
              <a:rPr lang="en-US" sz="1650" dirty="0" spc="3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Ubica</a:t>
            </a:r>
            <a:r>
              <a:rPr lang="en-US" sz="165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cada</a:t>
            </a:r>
            <a:r>
              <a:rPr lang="en-US" sz="1650" dirty="0" spc="3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idea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en un cuadrante</a:t>
            </a:r>
            <a:r>
              <a:rPr lang="en-US" sz="1650" dirty="0" spc="3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</a:t>
            </a:r>
            <a:r>
              <a:rPr lang="en-US" sz="165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pasa las</a:t>
            </a:r>
            <a:r>
              <a:rPr lang="en-US" sz="1650" dirty="0" spc="3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finalistas</a:t>
            </a:r>
            <a:r>
              <a:rPr lang="en-US" sz="165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por</a:t>
            </a:r>
            <a:r>
              <a:rPr lang="en-US" sz="1650" dirty="0" spc="3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las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tres lentes de</a:t>
            </a:r>
            <a:r>
              <a:rPr lang="en-US" sz="1650" dirty="0" spc="-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IDEO: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deseable,</a:t>
            </a:r>
            <a:r>
              <a:rPr lang="en-US" sz="1650" dirty="0" spc="3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factible</a:t>
            </a:r>
            <a:r>
              <a:rPr lang="en-US" sz="165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viable.</a:t>
            </a:r>
            <a:endParaRPr lang="en-US" sz="165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500" y="2619375"/>
          <a:ext cx="13716000" cy="914400"/>
        </p:xfrm>
        <a:graphic>
          <a:graphicData uri="http://schemas.openxmlformats.org/drawingml/2006/table">
            <a:tbl>
              <a:tblPr/>
              <a:tblGrid>
                <a:gridCol w="5461000"/>
                <a:gridCol w="5461000"/>
                <a:gridCol w="5461000"/>
              </a:tblGrid>
              <a:tr h="5334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Equipo</a:t>
                      </a:r>
                      <a:r>
                        <a:rPr lang="en-US" sz="1500" dirty="0" spc="3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o</a:t>
                      </a:r>
                      <a:r>
                        <a:rPr lang="en-US" sz="1500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estudiante: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Proyecto: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dirty="0" spc="-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Fecha: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52500" y="3429000"/>
            <a:ext cx="152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0585F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​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952500" y="3333750"/>
            <a:ext cx="1428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​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2495550" y="3333750"/>
            <a:ext cx="30765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 spc="12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Bajo</a:t>
            </a:r>
            <a:r>
              <a:rPr lang="en-US" sz="1650" b="1" dirty="0" spc="0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esfuerzo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5686425" y="3333750"/>
            <a:ext cx="30765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 spc="-4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Alto</a:t>
            </a:r>
            <a:r>
              <a:rPr lang="en-US" sz="1650" b="1" dirty="0" spc="-1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esfuerzo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952500" y="3857625"/>
            <a:ext cx="1428750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 spc="-4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Alto</a:t>
            </a:r>
            <a:r>
              <a:rPr lang="en-US" sz="1650" b="1" dirty="0" spc="-2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impacto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2495550" y="3857625"/>
            <a:ext cx="3076575" cy="2895600"/>
          </a:xfrm>
          <a:prstGeom prst="roundRect">
            <a:avLst>
              <a:gd name="adj" fmla="val 3947"/>
            </a:avLst>
          </a:prstGeom>
          <a:solidFill>
            <a:srgbClr val="0693E3"/>
          </a:solidFill>
          <a:ln/>
        </p:spPr>
      </p:sp>
      <p:sp>
        <p:nvSpPr>
          <p:cNvPr id="13" name="Text 10"/>
          <p:cNvSpPr/>
          <p:nvPr/>
        </p:nvSpPr>
        <p:spPr>
          <a:xfrm>
            <a:off x="2686050" y="4048125"/>
            <a:ext cx="26955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0" kern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Hazlo</a:t>
            </a:r>
            <a:r>
              <a:rPr lang="en-US" sz="2100" b="1" dirty="0" spc="-2" kern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primero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2686050" y="4505325"/>
            <a:ext cx="26955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 spc="1" kern="0">
                <a:solidFill>
                  <a:srgbClr val="EAF5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Resumen</a:t>
            </a:r>
            <a:r>
              <a:rPr lang="en-US" sz="1500" dirty="0" spc="-1" kern="0">
                <a:solidFill>
                  <a:srgbClr val="EAF5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nocturno</a:t>
            </a:r>
            <a:r>
              <a:rPr lang="en-US" sz="1500" dirty="0" spc="3" kern="0">
                <a:solidFill>
                  <a:srgbClr val="EAF5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por</a:t>
            </a:r>
            <a:r>
              <a:rPr lang="en-US" sz="1500" dirty="0" spc="0" kern="0">
                <a:solidFill>
                  <a:srgbClr val="EAF5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WhatsApp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686425" y="3857625"/>
            <a:ext cx="3076575" cy="2895600"/>
          </a:xfrm>
          <a:prstGeom prst="roundRect">
            <a:avLst>
              <a:gd name="adj" fmla="val 3947"/>
            </a:avLst>
          </a:prstGeom>
          <a:solidFill>
            <a:srgbClr val="DEEAF3"/>
          </a:solidFill>
          <a:ln/>
        </p:spPr>
      </p:sp>
      <p:sp>
        <p:nvSpPr>
          <p:cNvPr id="16" name="Text 13"/>
          <p:cNvSpPr/>
          <p:nvPr/>
        </p:nvSpPr>
        <p:spPr>
          <a:xfrm>
            <a:off x="5876925" y="4048125"/>
            <a:ext cx="26955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6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Planifícalo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5876925" y="4505325"/>
            <a:ext cx="26955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 spc="0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Conectar</a:t>
            </a:r>
            <a:r>
              <a:rPr lang="en-US" sz="1500" dirty="0" spc="1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</a:t>
            </a:r>
            <a:r>
              <a:rPr lang="en-US" sz="1500" dirty="0" spc="0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</a:t>
            </a:r>
            <a:r>
              <a:rPr lang="en-US" sz="1500" dirty="0" spc="1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caja registradora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952500" y="6867525"/>
            <a:ext cx="1428750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 spc="12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Bajo</a:t>
            </a:r>
            <a:r>
              <a:rPr lang="en-US" sz="1650" b="1" dirty="0" spc="-1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impacto</a:t>
            </a:r>
            <a:endParaRPr lang="en-US" sz="1650" dirty="0"/>
          </a:p>
        </p:txBody>
      </p:sp>
      <p:sp>
        <p:nvSpPr>
          <p:cNvPr id="19" name="Shape 16"/>
          <p:cNvSpPr/>
          <p:nvPr/>
        </p:nvSpPr>
        <p:spPr>
          <a:xfrm>
            <a:off x="2495550" y="6867525"/>
            <a:ext cx="3076575" cy="2895600"/>
          </a:xfrm>
          <a:prstGeom prst="roundRect">
            <a:avLst>
              <a:gd name="adj" fmla="val 3947"/>
            </a:avLst>
          </a:prstGeom>
          <a:solidFill>
            <a:srgbClr val="EAF5FE"/>
          </a:solidFill>
          <a:ln/>
        </p:spPr>
      </p:sp>
      <p:sp>
        <p:nvSpPr>
          <p:cNvPr id="20" name="Text 17"/>
          <p:cNvSpPr/>
          <p:nvPr/>
        </p:nvSpPr>
        <p:spPr>
          <a:xfrm>
            <a:off x="2686050" y="7058025"/>
            <a:ext cx="26955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3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Mejoras</a:t>
            </a:r>
            <a:r>
              <a:rPr lang="en-US" sz="2100" b="1" dirty="0" spc="-2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rápidas</a:t>
            </a:r>
            <a:endParaRPr lang="en-US" sz="2100" dirty="0"/>
          </a:p>
        </p:txBody>
      </p:sp>
      <p:sp>
        <p:nvSpPr>
          <p:cNvPr id="21" name="Text 18"/>
          <p:cNvSpPr/>
          <p:nvPr/>
        </p:nvSpPr>
        <p:spPr>
          <a:xfrm>
            <a:off x="2686050" y="7515225"/>
            <a:ext cx="26955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 spc="0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Cambiar la</a:t>
            </a:r>
            <a:r>
              <a:rPr lang="en-US" sz="1500" dirty="0" spc="-1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hora</a:t>
            </a:r>
            <a:r>
              <a:rPr lang="en-US" sz="1500" dirty="0" spc="4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del</a:t>
            </a:r>
            <a:r>
              <a:rPr lang="en-US" sz="1500" dirty="0" spc="1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mensaje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5686425" y="6867525"/>
            <a:ext cx="3076575" cy="2895600"/>
          </a:xfrm>
          <a:prstGeom prst="roundRect">
            <a:avLst>
              <a:gd name="adj" fmla="val 3947"/>
            </a:avLst>
          </a:prstGeom>
          <a:solidFill>
            <a:srgbClr val="F7F9FB"/>
          </a:solidFill>
          <a:ln w="9525">
            <a:solidFill>
              <a:srgbClr val="C1CED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876925" y="7058025"/>
            <a:ext cx="26955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1" kern="0">
                <a:solidFill>
                  <a:srgbClr val="88959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Descártalo</a:t>
            </a:r>
            <a:endParaRPr lang="en-US" sz="2100" dirty="0"/>
          </a:p>
        </p:txBody>
      </p:sp>
      <p:sp>
        <p:nvSpPr>
          <p:cNvPr id="24" name="Text 21"/>
          <p:cNvSpPr/>
          <p:nvPr/>
        </p:nvSpPr>
        <p:spPr>
          <a:xfrm>
            <a:off x="5876925" y="7515225"/>
            <a:ext cx="26955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 spc="3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</a:t>
            </a:r>
            <a:r>
              <a:rPr lang="en-US" sz="1500" dirty="0" spc="4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 pedidos desde</a:t>
            </a:r>
            <a:r>
              <a:rPr lang="en-US" sz="1500" dirty="0" spc="0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</a:t>
            </a:r>
            <a:r>
              <a:rPr lang="en-US" sz="1500" dirty="0" spc="2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mesa</a:t>
            </a:r>
            <a:endParaRPr lang="en-US" sz="1500" dirty="0"/>
          </a:p>
        </p:txBody>
      </p:sp>
      <p:graphicFrame>
        <p:nvGraphicFramePr>
          <p:cNvPr id="6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0" y="3333750"/>
          <a:ext cx="13716000" cy="914400"/>
        </p:xfrm>
        <a:graphic>
          <a:graphicData uri="http://schemas.openxmlformats.org/drawingml/2006/table">
            <a:tbl>
              <a:tblPr/>
              <a:tblGrid>
                <a:gridCol w="2293620"/>
                <a:gridCol w="1474470"/>
                <a:gridCol w="1474470"/>
                <a:gridCol w="1474470"/>
                <a:gridCol w="1474470"/>
              </a:tblGrid>
              <a:tr h="128587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10"/>
                        </a:lnSpc>
                        <a:buNone/>
                      </a:pPr>
                      <a:r>
                        <a:rPr lang="en-US" sz="1425" b="1" dirty="0" spc="0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Idea</a:t>
                      </a:r>
                      <a:r>
                        <a:rPr lang="en-US" sz="1425" b="1" dirty="0" spc="-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finalista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612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10"/>
                        </a:lnSpc>
                        <a:buNone/>
                      </a:pPr>
                      <a:r>
                        <a:rPr lang="en-US" sz="1425" b="1" dirty="0" spc="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Deseable</a:t>
                      </a:r>
                      <a:r>
                        <a:rPr lang="en-US" sz="1425" b="1" dirty="0" spc="-3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(la</a:t>
                      </a:r>
                      <a:r>
                        <a:rPr lang="en-US" sz="1425" b="1" dirty="0" spc="-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quieren)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612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10"/>
                        </a:lnSpc>
                        <a:buNone/>
                      </a:pPr>
                      <a:r>
                        <a:rPr lang="en-US" sz="1425" b="1" dirty="0" spc="-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Factible</a:t>
                      </a:r>
                      <a:r>
                        <a:rPr lang="en-US" sz="1425" b="1" dirty="0" spc="-3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(la</a:t>
                      </a:r>
                      <a:r>
                        <a:rPr lang="en-US" sz="1425" b="1" dirty="0" spc="0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puedo</a:t>
                      </a:r>
                      <a:r>
                        <a:rPr lang="en-US" sz="1425" b="1" dirty="0" spc="-3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construir)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612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10"/>
                        </a:lnSpc>
                        <a:buNone/>
                      </a:pPr>
                      <a:r>
                        <a:rPr lang="en-US" sz="1425" b="1" dirty="0" spc="0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Viable</a:t>
                      </a:r>
                      <a:r>
                        <a:rPr lang="en-US" sz="1425" b="1" dirty="0" spc="-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(alguien</a:t>
                      </a:r>
                      <a:r>
                        <a:rPr lang="en-US" sz="1425" b="1" dirty="0" spc="-3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la</a:t>
                      </a:r>
                      <a:r>
                        <a:rPr lang="en-US" sz="1425" b="1" dirty="0" spc="-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paga)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612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10"/>
                        </a:lnSpc>
                        <a:buNone/>
                      </a:pPr>
                      <a:r>
                        <a:rPr lang="en-US" sz="1425" b="1" dirty="0" spc="-2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¿Pasa a</a:t>
                      </a:r>
                      <a:r>
                        <a:rPr lang="en-US" sz="1425" b="1" dirty="0" spc="-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prototipo?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61219"/>
                    </a:solidFill>
                  </a:tcPr>
                </a:tc>
              </a:tr>
              <a:tr h="128587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10"/>
                        </a:lnSpc>
                        <a:buNone/>
                      </a:pPr>
                      <a:r>
                        <a:rPr lang="en-US" sz="1425" dirty="0" spc="0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Resumen</a:t>
                      </a:r>
                      <a:r>
                        <a:rPr lang="en-US" sz="1425" dirty="0" spc="-4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nocturno por</a:t>
                      </a:r>
                      <a:r>
                        <a:rPr lang="en-US" sz="1425" dirty="0" spc="0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WhatsApp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10"/>
                        </a:lnSpc>
                        <a:buNone/>
                      </a:pPr>
                      <a:r>
                        <a:rPr lang="en-US" sz="1425" dirty="0" spc="-4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Sí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10"/>
                        </a:lnSpc>
                        <a:buNone/>
                      </a:pPr>
                      <a:r>
                        <a:rPr lang="en-US" sz="1425" dirty="0" spc="-4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Sí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10"/>
                        </a:lnSpc>
                        <a:buNone/>
                      </a:pPr>
                      <a:r>
                        <a:rPr lang="en-US" sz="1425" dirty="0" spc="-4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Sí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10"/>
                        </a:lnSpc>
                        <a:buNone/>
                      </a:pPr>
                      <a:r>
                        <a:rPr lang="en-US" sz="1425" dirty="0" spc="-4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Sí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</a:tr>
              <a:tr h="128587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10"/>
                        </a:lnSpc>
                        <a:buNone/>
                      </a:pPr>
                      <a:r>
                        <a:rPr lang="en-US" sz="1425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10"/>
                        </a:lnSpc>
                        <a:buNone/>
                      </a:pPr>
                      <a:r>
                        <a:rPr lang="en-US" sz="1425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10"/>
                        </a:lnSpc>
                        <a:buNone/>
                      </a:pPr>
                      <a:r>
                        <a:rPr lang="en-US" sz="1425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10"/>
                        </a:lnSpc>
                        <a:buNone/>
                      </a:pPr>
                      <a:r>
                        <a:rPr lang="en-US" sz="1425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10"/>
                        </a:lnSpc>
                        <a:buNone/>
                      </a:pPr>
                      <a:r>
                        <a:rPr lang="en-US" sz="1425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28587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10"/>
                        </a:lnSpc>
                        <a:buNone/>
                      </a:pPr>
                      <a:r>
                        <a:rPr lang="en-US" sz="1425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10"/>
                        </a:lnSpc>
                        <a:buNone/>
                      </a:pPr>
                      <a:r>
                        <a:rPr lang="en-US" sz="1425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10"/>
                        </a:lnSpc>
                        <a:buNone/>
                      </a:pPr>
                      <a:r>
                        <a:rPr lang="en-US" sz="1425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10"/>
                        </a:lnSpc>
                        <a:buNone/>
                      </a:pPr>
                      <a:r>
                        <a:rPr lang="en-US" sz="1425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10"/>
                        </a:lnSpc>
                        <a:buNone/>
                      </a:pPr>
                      <a:r>
                        <a:rPr lang="en-US" sz="1425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</a:tr>
              <a:tr h="128587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10"/>
                        </a:lnSpc>
                        <a:buNone/>
                      </a:pPr>
                      <a:r>
                        <a:rPr lang="en-US" sz="1425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10"/>
                        </a:lnSpc>
                        <a:buNone/>
                      </a:pPr>
                      <a:r>
                        <a:rPr lang="en-US" sz="1425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10"/>
                        </a:lnSpc>
                        <a:buNone/>
                      </a:pPr>
                      <a:r>
                        <a:rPr lang="en-US" sz="1425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10"/>
                        </a:lnSpc>
                        <a:buNone/>
                      </a:pPr>
                      <a:r>
                        <a:rPr lang="en-US" sz="1425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10"/>
                        </a:lnSpc>
                        <a:buNone/>
                      </a:pPr>
                      <a:r>
                        <a:rPr lang="en-US" sz="1425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2381250"/>
          </a:xfrm>
          <a:prstGeom prst="rect">
            <a:avLst/>
          </a:prstGeom>
          <a:solidFill>
            <a:srgbClr val="EAF5FE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38100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99" kern="0" dirty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FORMATO</a:t>
            </a:r>
            <a:r>
              <a:rPr lang="en-US" sz="1950" spc="228" kern="0" dirty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10</a:t>
            </a:r>
            <a:r>
              <a:rPr lang="en-US" sz="1950" spc="231" kern="0" dirty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·</a:t>
            </a:r>
            <a:r>
              <a:rPr lang="en-US" sz="1950" spc="210" kern="0" dirty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PROTOTIPAR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781050"/>
            <a:ext cx="1638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 spc="-3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Plan</a:t>
            </a:r>
            <a:r>
              <a:rPr lang="en-US" sz="4800" b="1" dirty="0" spc="0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de</a:t>
            </a:r>
            <a:r>
              <a:rPr lang="en-US" sz="4800" b="1" dirty="0" spc="-4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prototipo</a:t>
            </a:r>
            <a:r>
              <a:rPr lang="en-US" sz="4800" b="1" dirty="0" spc="22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(Mago</a:t>
            </a:r>
            <a:r>
              <a:rPr lang="en-US" sz="4800" b="1" dirty="0" spc="0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de</a:t>
            </a:r>
            <a:r>
              <a:rPr lang="en-US" sz="4800" b="1" dirty="0" spc="-11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Oz)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52500" y="1600200"/>
            <a:ext cx="16383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3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Para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qué</a:t>
            </a:r>
            <a:r>
              <a:rPr lang="en-US" sz="165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sirve:</a:t>
            </a:r>
            <a:r>
              <a:rPr lang="en-US" sz="165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comprobar</a:t>
            </a:r>
            <a:r>
              <a:rPr lang="en-US" sz="165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que</a:t>
            </a:r>
            <a:r>
              <a:rPr lang="en-US" sz="1650" dirty="0" spc="4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</a:t>
            </a:r>
            <a:r>
              <a:rPr lang="en-US" sz="165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solución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genera</a:t>
            </a:r>
            <a:r>
              <a:rPr lang="en-US" sz="1650" dirty="0" spc="3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valor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antes de programar. En un Mago de</a:t>
            </a:r>
            <a:r>
              <a:rPr lang="en-US" sz="1650" dirty="0" spc="-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Oz</a:t>
            </a:r>
            <a:r>
              <a:rPr lang="en-US" sz="1650" dirty="0" spc="3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el</a:t>
            </a:r>
            <a:r>
              <a:rPr lang="en-US" sz="165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usuario cree</a:t>
            </a:r>
            <a:r>
              <a:rPr lang="en-US" sz="165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que</a:t>
            </a:r>
            <a:r>
              <a:rPr lang="en-US" sz="165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habla</a:t>
            </a:r>
            <a:r>
              <a:rPr lang="en-US" sz="1650" dirty="0" spc="3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un</a:t>
            </a:r>
            <a:r>
              <a:rPr lang="en-US" sz="165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sistema,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pero detrás estás tú</a:t>
            </a:r>
            <a:r>
              <a:rPr lang="en-US" sz="165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haciendo</a:t>
            </a:r>
            <a:r>
              <a:rPr lang="en-US" sz="1650" dirty="0" spc="3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el</a:t>
            </a:r>
            <a:r>
              <a:rPr lang="en-US" sz="165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trabajo</a:t>
            </a:r>
            <a:r>
              <a:rPr lang="en-US" sz="1650" dirty="0" spc="5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</a:t>
            </a:r>
            <a:r>
              <a:rPr lang="en-US" sz="165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mano.</a:t>
            </a:r>
            <a:endParaRPr lang="en-US" sz="165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500" y="2619375"/>
          <a:ext cx="13716000" cy="914400"/>
        </p:xfrm>
        <a:graphic>
          <a:graphicData uri="http://schemas.openxmlformats.org/drawingml/2006/table">
            <a:tbl>
              <a:tblPr/>
              <a:tblGrid>
                <a:gridCol w="5461000"/>
                <a:gridCol w="5461000"/>
                <a:gridCol w="5461000"/>
              </a:tblGrid>
              <a:tr h="5334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Equipo</a:t>
                      </a:r>
                      <a:r>
                        <a:rPr lang="en-US" sz="1500" dirty="0" spc="3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o</a:t>
                      </a:r>
                      <a:r>
                        <a:rPr lang="en-US" sz="1500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estudiante: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Proyecto: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dirty="0" spc="-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Fecha: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500" y="3333750"/>
          <a:ext cx="13716000" cy="914400"/>
        </p:xfrm>
        <a:graphic>
          <a:graphicData uri="http://schemas.openxmlformats.org/drawingml/2006/table">
            <a:tbl>
              <a:tblPr/>
              <a:tblGrid>
                <a:gridCol w="4259580"/>
                <a:gridCol w="7208520"/>
                <a:gridCol w="4914900"/>
              </a:tblGrid>
              <a:tr h="56197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b="1" dirty="0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Elemento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612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b="1" dirty="0" spc="-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Ejemplo:</a:t>
                      </a:r>
                      <a:r>
                        <a:rPr lang="en-US" sz="1500" b="1" dirty="0" spc="3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Rosa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612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b="1" dirty="0" spc="-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Mi</a:t>
                      </a:r>
                      <a:r>
                        <a:rPr lang="en-US" sz="1500" b="1" dirty="0" spc="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prototipo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61219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dirty="0" spc="-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Pregunta</a:t>
                      </a:r>
                      <a:r>
                        <a:rPr lang="en-US" sz="1500" dirty="0" spc="2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que quiero responder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dirty="0" spc="0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¿Rosa</a:t>
                      </a:r>
                      <a:r>
                        <a:rPr lang="en-US" sz="1500" dirty="0" spc="-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usa</a:t>
                      </a:r>
                      <a:r>
                        <a:rPr lang="en-US" sz="1500" dirty="0" spc="3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el</a:t>
                      </a:r>
                      <a:r>
                        <a:rPr lang="en-US" sz="1500" dirty="0" spc="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resumen</a:t>
                      </a:r>
                      <a:r>
                        <a:rPr lang="en-US" sz="1500" dirty="0" spc="2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diario</a:t>
                      </a:r>
                      <a:r>
                        <a:rPr lang="en-US" sz="1500" dirty="0" spc="0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y</a:t>
                      </a:r>
                      <a:r>
                        <a:rPr lang="en-US" sz="1500" dirty="0" spc="4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le</a:t>
                      </a:r>
                      <a:r>
                        <a:rPr lang="en-US" sz="1500" dirty="0" spc="2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sirve</a:t>
                      </a:r>
                      <a:r>
                        <a:rPr lang="en-US" sz="1500" dirty="0" spc="0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para</a:t>
                      </a:r>
                      <a:r>
                        <a:rPr lang="en-US" sz="1500" dirty="0" spc="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comprar?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dirty="0" spc="3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Nivel</a:t>
                      </a:r>
                      <a:r>
                        <a:rPr lang="en-US" sz="1500" dirty="0" spc="4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de fidelidad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Mago de Oz (☐ papel ☐ maqueta ☐ Mago de Oz ☐ conserje ☐ MVP)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Qué</a:t>
                      </a:r>
                      <a:r>
                        <a:rPr lang="en-US" sz="1500" dirty="0" spc="2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ve</a:t>
                      </a:r>
                      <a:r>
                        <a:rPr lang="en-US" sz="1500" dirty="0" spc="4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el</a:t>
                      </a:r>
                      <a:r>
                        <a:rPr lang="en-US" sz="1500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usuario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dirty="0" spc="0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Un</a:t>
                      </a:r>
                      <a:r>
                        <a:rPr lang="en-US" sz="1500" dirty="0" spc="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mensaje</a:t>
                      </a:r>
                      <a:r>
                        <a:rPr lang="en-US" sz="1500" dirty="0" spc="5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de</a:t>
                      </a:r>
                      <a:r>
                        <a:rPr lang="en-US" sz="1500" dirty="0" spc="0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WhatsApp</a:t>
                      </a:r>
                      <a:r>
                        <a:rPr lang="en-US" sz="1500" dirty="0" spc="-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a</a:t>
                      </a:r>
                      <a:r>
                        <a:rPr lang="en-US" sz="1500" dirty="0" spc="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las</a:t>
                      </a:r>
                      <a:r>
                        <a:rPr lang="en-US" sz="1500" dirty="0" spc="-2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9</a:t>
                      </a:r>
                      <a:r>
                        <a:rPr lang="en-US" sz="1500" dirty="0" spc="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p.</a:t>
                      </a:r>
                      <a:r>
                        <a:rPr lang="en-US" sz="1500" dirty="0" spc="-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m.</a:t>
                      </a:r>
                      <a:r>
                        <a:rPr lang="en-US" sz="1500" dirty="0" spc="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con</a:t>
                      </a:r>
                      <a:r>
                        <a:rPr lang="en-US" sz="1500" dirty="0" spc="2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tres</a:t>
                      </a:r>
                      <a:r>
                        <a:rPr lang="en-US" sz="1500" dirty="0" spc="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líneas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Qué</a:t>
                      </a:r>
                      <a:r>
                        <a:rPr lang="en-US" sz="1500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hago</a:t>
                      </a:r>
                      <a:r>
                        <a:rPr lang="en-US" sz="1500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yo detrás,</a:t>
                      </a:r>
                      <a:r>
                        <a:rPr lang="en-US" sz="1500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a</a:t>
                      </a:r>
                      <a:r>
                        <a:rPr lang="en-US" sz="1500" dirty="0" spc="-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mano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dirty="0" spc="4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Recibo</a:t>
                      </a:r>
                      <a:r>
                        <a:rPr lang="en-US" sz="1500" dirty="0" spc="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foto</a:t>
                      </a:r>
                      <a:r>
                        <a:rPr lang="en-US" sz="1500" dirty="0" spc="3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y</a:t>
                      </a:r>
                      <a:r>
                        <a:rPr lang="en-US" sz="1500" dirty="0" spc="-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nota</a:t>
                      </a:r>
                      <a:r>
                        <a:rPr lang="en-US" sz="1500" dirty="0" spc="3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de</a:t>
                      </a:r>
                      <a:r>
                        <a:rPr lang="en-US" sz="1500" dirty="0" spc="2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voz, calculo</a:t>
                      </a:r>
                      <a:r>
                        <a:rPr lang="en-US" sz="1500" dirty="0" spc="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con</a:t>
                      </a:r>
                      <a:r>
                        <a:rPr lang="en-US" sz="1500" dirty="0" spc="0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Claude</a:t>
                      </a:r>
                      <a:r>
                        <a:rPr lang="en-US" sz="1500" dirty="0" spc="2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y respondo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Herramientas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dirty="0" spc="0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WhatsApp Business, Claude,</a:t>
                      </a:r>
                      <a:r>
                        <a:rPr lang="en-US" sz="1500" dirty="0" spc="-3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una</a:t>
                      </a:r>
                      <a:r>
                        <a:rPr lang="en-US" sz="1500" dirty="0" spc="0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hoja</a:t>
                      </a:r>
                      <a:r>
                        <a:rPr lang="en-US" sz="1500" dirty="0" spc="4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de</a:t>
                      </a:r>
                      <a:r>
                        <a:rPr lang="en-US" sz="1500" dirty="0" spc="2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cálculo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Usuarios</a:t>
                      </a:r>
                      <a:r>
                        <a:rPr lang="en-US" sz="1500" dirty="0" spc="4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del</a:t>
                      </a:r>
                      <a:r>
                        <a:rPr lang="en-US" sz="1500" dirty="0" spc="2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piloto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dirty="0" spc="0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Rosa</a:t>
                      </a:r>
                      <a:r>
                        <a:rPr lang="en-US" sz="1500" dirty="0" spc="3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y</a:t>
                      </a:r>
                      <a:r>
                        <a:rPr lang="en-US" sz="1500" dirty="0" spc="-2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2</a:t>
                      </a:r>
                      <a:r>
                        <a:rPr lang="en-US" sz="1500" dirty="0" spc="0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restaurantes que</a:t>
                      </a:r>
                      <a:r>
                        <a:rPr lang="en-US" sz="1500" dirty="0" spc="2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ella</a:t>
                      </a:r>
                      <a:r>
                        <a:rPr lang="en-US" sz="1500" dirty="0" spc="3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recomiende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Duración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dirty="0" spc="-5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r>
                        <a:rPr lang="en-US" sz="1500" dirty="0" spc="0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semanas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Métrica</a:t>
                      </a:r>
                      <a:r>
                        <a:rPr lang="en-US" sz="1500" dirty="0" spc="4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de</a:t>
                      </a:r>
                      <a:r>
                        <a:rPr lang="en-US" sz="1500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éxito (antes</a:t>
                      </a:r>
                      <a:r>
                        <a:rPr lang="en-US" sz="1500" dirty="0" spc="3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de empezar)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dirty="0" spc="3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Responde</a:t>
                      </a:r>
                      <a:r>
                        <a:rPr lang="en-US" sz="1500" dirty="0" spc="-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al</a:t>
                      </a:r>
                      <a:r>
                        <a:rPr lang="en-US" sz="1500" dirty="0" spc="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menos</a:t>
                      </a:r>
                      <a:r>
                        <a:rPr lang="en-US" sz="1500" dirty="0" spc="0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5</a:t>
                      </a:r>
                      <a:r>
                        <a:rPr lang="en-US" sz="1500" dirty="0" spc="4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de</a:t>
                      </a:r>
                      <a:r>
                        <a:rPr lang="en-US" sz="1500" dirty="0" spc="-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7</a:t>
                      </a:r>
                      <a:r>
                        <a:rPr lang="en-US" sz="1500" dirty="0" spc="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noches</a:t>
                      </a:r>
                      <a:r>
                        <a:rPr lang="en-US" sz="1500" dirty="0" spc="2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y compra</a:t>
                      </a:r>
                      <a:r>
                        <a:rPr lang="en-US" sz="1500" dirty="0" spc="0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según</a:t>
                      </a:r>
                      <a:r>
                        <a:rPr lang="en-US" sz="1500" dirty="0" spc="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la lista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Costo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dirty="0" spc="-5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$0</a:t>
                      </a:r>
                      <a:r>
                        <a:rPr lang="en-US" sz="1500" dirty="0" spc="2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y</a:t>
                      </a:r>
                      <a:r>
                        <a:rPr lang="en-US" sz="1500" dirty="0" spc="-3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una</a:t>
                      </a:r>
                      <a:r>
                        <a:rPr lang="en-US" sz="1500" dirty="0" spc="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tarde</a:t>
                      </a:r>
                      <a:r>
                        <a:rPr lang="en-US" sz="1500" dirty="0" spc="4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de</a:t>
                      </a:r>
                      <a:r>
                        <a:rPr lang="en-US" sz="1500" dirty="0" spc="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preparación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500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952500" y="9144000"/>
            <a:ext cx="16383000" cy="666750"/>
          </a:xfrm>
          <a:prstGeom prst="roundRect">
            <a:avLst>
              <a:gd name="adj" fmla="val 17143"/>
            </a:avLst>
          </a:prstGeom>
          <a:solidFill>
            <a:srgbClr val="0693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Ojo:</a:t>
            </a:r>
            <a:r>
              <a:rPr lang="en-US" sz="180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si</a:t>
            </a:r>
            <a:r>
              <a:rPr lang="en-US" sz="1800" dirty="0" spc="5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tu</a:t>
            </a:r>
            <a:r>
              <a:rPr lang="en-US" sz="1800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MVP</a:t>
            </a:r>
            <a:r>
              <a:rPr lang="en-US" sz="180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tiene</a:t>
            </a:r>
            <a:r>
              <a:rPr lang="en-US" sz="180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modo</a:t>
            </a:r>
            <a:r>
              <a:rPr lang="en-US" sz="180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oscuro</a:t>
            </a:r>
            <a:r>
              <a:rPr lang="en-US" sz="1800" dirty="0" spc="4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</a:t>
            </a:r>
            <a:r>
              <a:rPr lang="en-US" sz="1800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login</a:t>
            </a:r>
            <a:r>
              <a:rPr lang="en-US" sz="180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 Google</a:t>
            </a:r>
            <a:r>
              <a:rPr lang="en-US" sz="180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antes de tener</a:t>
            </a:r>
            <a:r>
              <a:rPr lang="en-US" sz="1800" dirty="0" spc="5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un</a:t>
            </a:r>
            <a:r>
              <a:rPr lang="en-US" sz="180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solo</a:t>
            </a:r>
            <a:r>
              <a:rPr lang="en-US" sz="180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usuario,</a:t>
            </a:r>
            <a:r>
              <a:rPr lang="en-US" sz="180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no</a:t>
            </a:r>
            <a:r>
              <a:rPr lang="en-US" sz="180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es</a:t>
            </a:r>
            <a:r>
              <a:rPr lang="en-US" sz="180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mínimo.</a:t>
            </a:r>
            <a:endParaRPr lang="en-US" sz="1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2381250"/>
          </a:xfrm>
          <a:prstGeom prst="rect">
            <a:avLst/>
          </a:prstGeom>
          <a:solidFill>
            <a:srgbClr val="EAF5FE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38100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99" kern="0" dirty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FORMATO</a:t>
            </a:r>
            <a:r>
              <a:rPr lang="en-US" sz="1950" spc="226" kern="0" dirty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11</a:t>
            </a:r>
            <a:r>
              <a:rPr lang="en-US" sz="1950" spc="231" kern="0" dirty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·</a:t>
            </a:r>
            <a:r>
              <a:rPr lang="en-US" sz="1950" spc="225" kern="0" dirty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TESTEAR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781050"/>
            <a:ext cx="1638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 spc="-6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Registro</a:t>
            </a:r>
            <a:r>
              <a:rPr lang="en-US" sz="4800" b="1" dirty="0" spc="2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de</a:t>
            </a:r>
            <a:r>
              <a:rPr lang="en-US" sz="4800" b="1" dirty="0" spc="1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prueba</a:t>
            </a:r>
            <a:r>
              <a:rPr lang="en-US" sz="4800" b="1" dirty="0" spc="-4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con</a:t>
            </a:r>
            <a:r>
              <a:rPr lang="en-US" sz="4800" b="1" dirty="0" spc="0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usuarios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52500" y="1600200"/>
            <a:ext cx="16383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3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Para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qué</a:t>
            </a:r>
            <a:r>
              <a:rPr lang="en-US" sz="165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sirve:</a:t>
            </a:r>
            <a:r>
              <a:rPr lang="en-US" sz="1650" dirty="0" spc="3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anotar lo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que</a:t>
            </a:r>
            <a:r>
              <a:rPr lang="en-US" sz="1650" dirty="0" spc="3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gente</a:t>
            </a:r>
            <a:r>
              <a:rPr lang="en-US" sz="165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hace</a:t>
            </a:r>
            <a:r>
              <a:rPr lang="en-US" sz="1650" dirty="0" spc="3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tu</a:t>
            </a:r>
            <a:r>
              <a:rPr lang="en-US" sz="165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prototipo, no</a:t>
            </a:r>
            <a:r>
              <a:rPr lang="en-US" sz="1650" dirty="0" spc="4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lo</a:t>
            </a:r>
            <a:r>
              <a:rPr lang="en-US" sz="165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que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opina.</a:t>
            </a:r>
            <a:r>
              <a:rPr lang="en-US" sz="1650" dirty="0" spc="3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Dale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una</a:t>
            </a:r>
            <a:r>
              <a:rPr lang="en-US" sz="1650" dirty="0" spc="3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tarea,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pídele</a:t>
            </a:r>
            <a:r>
              <a:rPr lang="en-US" sz="165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que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piense en</a:t>
            </a:r>
            <a:r>
              <a:rPr lang="en-US" sz="165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voz</a:t>
            </a:r>
            <a:r>
              <a:rPr lang="en-US" sz="1650" dirty="0" spc="3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alta y no</a:t>
            </a:r>
            <a:r>
              <a:rPr lang="en-US" sz="1650" dirty="0" spc="4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</a:t>
            </a:r>
            <a:r>
              <a:rPr lang="en-US" sz="165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ayudes.</a:t>
            </a:r>
            <a:endParaRPr lang="en-US" sz="165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500" y="2571750"/>
          <a:ext cx="13716000" cy="914400"/>
        </p:xfrm>
        <a:graphic>
          <a:graphicData uri="http://schemas.openxmlformats.org/drawingml/2006/table">
            <a:tbl>
              <a:tblPr/>
              <a:tblGrid>
                <a:gridCol w="5461000"/>
                <a:gridCol w="5461000"/>
                <a:gridCol w="5461000"/>
              </a:tblGrid>
              <a:tr h="4762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10"/>
                        </a:lnSpc>
                        <a:buNone/>
                      </a:pPr>
                      <a:r>
                        <a:rPr lang="en-US" sz="1425" dirty="0" spc="-2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Equipo</a:t>
                      </a:r>
                      <a:r>
                        <a:rPr lang="en-US" sz="1425" dirty="0" spc="-5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o</a:t>
                      </a:r>
                      <a:r>
                        <a:rPr lang="en-US" sz="1425" dirty="0" spc="-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estudiante: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10"/>
                        </a:lnSpc>
                        <a:buNone/>
                      </a:pPr>
                      <a:r>
                        <a:rPr lang="en-US" sz="1425" dirty="0" spc="-3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Proyecto: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10"/>
                        </a:lnSpc>
                        <a:buNone/>
                      </a:pPr>
                      <a:r>
                        <a:rPr lang="en-US" sz="1425" dirty="0" spc="-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Fecha: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500" y="3143250"/>
          <a:ext cx="13716000" cy="914400"/>
        </p:xfrm>
        <a:graphic>
          <a:graphicData uri="http://schemas.openxmlformats.org/drawingml/2006/table">
            <a:tbl>
              <a:tblPr/>
              <a:tblGrid>
                <a:gridCol w="16383000"/>
              </a:tblGrid>
              <a:tr h="4762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10"/>
                        </a:lnSpc>
                        <a:buNone/>
                      </a:pPr>
                      <a:r>
                        <a:rPr lang="en-US" sz="1425" dirty="0" spc="-3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Métrica</a:t>
                      </a:r>
                      <a:r>
                        <a:rPr lang="en-US" sz="1425" dirty="0" spc="-2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de</a:t>
                      </a:r>
                      <a:r>
                        <a:rPr lang="en-US" sz="1425" dirty="0" spc="-3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éxito</a:t>
                      </a:r>
                      <a:r>
                        <a:rPr lang="en-US" sz="1425" dirty="0" spc="-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definida antes</a:t>
                      </a:r>
                      <a:r>
                        <a:rPr lang="en-US" sz="1425" dirty="0" spc="-2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de</a:t>
                      </a:r>
                      <a:r>
                        <a:rPr lang="en-US" sz="1425" dirty="0" spc="-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la</a:t>
                      </a:r>
                      <a:r>
                        <a:rPr lang="en-US" sz="1425" dirty="0" spc="-2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prueba: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500" y="3762375"/>
          <a:ext cx="1371600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3604260"/>
                <a:gridCol w="3604260"/>
                <a:gridCol w="3604260"/>
                <a:gridCol w="3604260"/>
              </a:tblGrid>
              <a:tr h="6286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10"/>
                        </a:lnSpc>
                        <a:buNone/>
                      </a:pPr>
                      <a:r>
                        <a:rPr lang="en-US" sz="1425" b="1" dirty="0" spc="-2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Usuario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612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10"/>
                        </a:lnSpc>
                        <a:buNone/>
                      </a:pPr>
                      <a:r>
                        <a:rPr lang="en-US" sz="1425" b="1" dirty="0" spc="0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Tarea que</a:t>
                      </a:r>
                      <a:r>
                        <a:rPr lang="en-US" sz="1425" b="1" dirty="0" spc="-2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le</a:t>
                      </a:r>
                      <a:r>
                        <a:rPr lang="en-US" sz="1425" b="1" dirty="0" spc="-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di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612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10"/>
                        </a:lnSpc>
                        <a:buNone/>
                      </a:pPr>
                      <a:r>
                        <a:rPr lang="en-US" sz="1425" b="1" dirty="0" spc="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Dónde</a:t>
                      </a:r>
                      <a:r>
                        <a:rPr lang="en-US" sz="1425" b="1" dirty="0" spc="-2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dudó</a:t>
                      </a:r>
                      <a:r>
                        <a:rPr lang="en-US" sz="1425" b="1" dirty="0" spc="-4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o</a:t>
                      </a:r>
                      <a:r>
                        <a:rPr lang="en-US" sz="1425" b="1" dirty="0" spc="-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se</a:t>
                      </a:r>
                      <a:r>
                        <a:rPr lang="en-US" sz="1425" b="1" dirty="0" spc="-2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equivocó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612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10"/>
                        </a:lnSpc>
                        <a:buNone/>
                      </a:pPr>
                      <a:r>
                        <a:rPr lang="en-US" sz="1425" b="1" dirty="0" spc="0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Lo que</a:t>
                      </a:r>
                      <a:r>
                        <a:rPr lang="en-US" sz="1425" b="1" dirty="0" spc="-3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dijo</a:t>
                      </a:r>
                      <a:r>
                        <a:rPr lang="en-US" sz="1425" b="1" dirty="0" spc="0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(textual)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612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10"/>
                        </a:lnSpc>
                        <a:buNone/>
                      </a:pPr>
                      <a:r>
                        <a:rPr lang="en-US" sz="1425" b="1" dirty="0" spc="-2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Hecho:</a:t>
                      </a:r>
                      <a:r>
                        <a:rPr lang="en-US" sz="1425" b="1" dirty="0" spc="0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¿pagó</a:t>
                      </a:r>
                      <a:r>
                        <a:rPr lang="en-US" sz="1425" b="1" dirty="0" spc="-4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o</a:t>
                      </a:r>
                      <a:r>
                        <a:rPr lang="en-US" sz="1425" b="1" dirty="0" spc="-2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volvió?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61219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10"/>
                        </a:lnSpc>
                        <a:buNone/>
                      </a:pPr>
                      <a:r>
                        <a:rPr lang="en-US" sz="1425" dirty="0" spc="-2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Dueño 3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10"/>
                        </a:lnSpc>
                        <a:buNone/>
                      </a:pPr>
                      <a:r>
                        <a:rPr lang="en-US" sz="1425" dirty="0" spc="-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Registrar</a:t>
                      </a:r>
                      <a:r>
                        <a:rPr lang="en-US" sz="1425" dirty="0" spc="0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la</a:t>
                      </a:r>
                      <a:r>
                        <a:rPr lang="en-US" sz="1425" dirty="0" spc="-4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compra</a:t>
                      </a:r>
                      <a:r>
                        <a:rPr lang="en-US" sz="1425" dirty="0" spc="-2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de hoy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10"/>
                        </a:lnSpc>
                        <a:buNone/>
                      </a:pPr>
                      <a:r>
                        <a:rPr lang="en-US" sz="1425" dirty="0" spc="-4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No</a:t>
                      </a:r>
                      <a:r>
                        <a:rPr lang="en-US" sz="1425" dirty="0" spc="-3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vio el</a:t>
                      </a:r>
                      <a:r>
                        <a:rPr lang="en-US" sz="1425" dirty="0" spc="-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mensaje</a:t>
                      </a:r>
                      <a:r>
                        <a:rPr lang="en-US" sz="1425" dirty="0" spc="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a</a:t>
                      </a:r>
                      <a:r>
                        <a:rPr lang="en-US" sz="1425" dirty="0" spc="0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las</a:t>
                      </a:r>
                      <a:r>
                        <a:rPr lang="en-US" sz="1425" dirty="0" spc="-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9</a:t>
                      </a:r>
                      <a:r>
                        <a:rPr lang="en-US" sz="1425" dirty="0" spc="-3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p. m.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10"/>
                        </a:lnSpc>
                        <a:buNone/>
                      </a:pPr>
                      <a:r>
                        <a:rPr lang="en-US" sz="1425" dirty="0" spc="4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«A</a:t>
                      </a:r>
                      <a:r>
                        <a:rPr lang="en-US" sz="1425" dirty="0" spc="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esa</a:t>
                      </a:r>
                      <a:r>
                        <a:rPr lang="en-US" sz="1425" dirty="0" spc="-3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hora</a:t>
                      </a:r>
                      <a:r>
                        <a:rPr lang="en-US" sz="1425" dirty="0" spc="-2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sigo limpiando»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10"/>
                        </a:lnSpc>
                        <a:buNone/>
                      </a:pPr>
                      <a:r>
                        <a:rPr lang="en-US" sz="1425" dirty="0" spc="-3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Volvió</a:t>
                      </a:r>
                      <a:r>
                        <a:rPr lang="en-US" sz="1425" dirty="0" spc="-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al día</a:t>
                      </a:r>
                      <a:r>
                        <a:rPr lang="en-US" sz="1425" dirty="0" spc="-2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siguiente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10"/>
                        </a:lnSpc>
                        <a:buNone/>
                      </a:pPr>
                      <a:r>
                        <a:rPr lang="en-US" sz="1425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10"/>
                        </a:lnSpc>
                        <a:buNone/>
                      </a:pPr>
                      <a:r>
                        <a:rPr lang="en-US" sz="1425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10"/>
                        </a:lnSpc>
                        <a:buNone/>
                      </a:pPr>
                      <a:r>
                        <a:rPr lang="en-US" sz="1425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10"/>
                        </a:lnSpc>
                        <a:buNone/>
                      </a:pPr>
                      <a:r>
                        <a:rPr lang="en-US" sz="1425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10"/>
                        </a:lnSpc>
                        <a:buNone/>
                      </a:pPr>
                      <a:r>
                        <a:rPr lang="en-US" sz="1425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10"/>
                        </a:lnSpc>
                        <a:buNone/>
                      </a:pPr>
                      <a:r>
                        <a:rPr lang="en-US" sz="1425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10"/>
                        </a:lnSpc>
                        <a:buNone/>
                      </a:pPr>
                      <a:r>
                        <a:rPr lang="en-US" sz="1425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10"/>
                        </a:lnSpc>
                        <a:buNone/>
                      </a:pPr>
                      <a:r>
                        <a:rPr lang="en-US" sz="1425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10"/>
                        </a:lnSpc>
                        <a:buNone/>
                      </a:pPr>
                      <a:r>
                        <a:rPr lang="en-US" sz="1425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10"/>
                        </a:lnSpc>
                        <a:buNone/>
                      </a:pPr>
                      <a:r>
                        <a:rPr lang="en-US" sz="1425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10"/>
                        </a:lnSpc>
                        <a:buNone/>
                      </a:pPr>
                      <a:r>
                        <a:rPr lang="en-US" sz="1425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10"/>
                        </a:lnSpc>
                        <a:buNone/>
                      </a:pPr>
                      <a:r>
                        <a:rPr lang="en-US" sz="1425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10"/>
                        </a:lnSpc>
                        <a:buNone/>
                      </a:pPr>
                      <a:r>
                        <a:rPr lang="en-US" sz="1425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10"/>
                        </a:lnSpc>
                        <a:buNone/>
                      </a:pPr>
                      <a:r>
                        <a:rPr lang="en-US" sz="1425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10"/>
                        </a:lnSpc>
                        <a:buNone/>
                      </a:pPr>
                      <a:r>
                        <a:rPr lang="en-US" sz="1425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500" y="7048500"/>
          <a:ext cx="13716000" cy="914400"/>
        </p:xfrm>
        <a:graphic>
          <a:graphicData uri="http://schemas.openxmlformats.org/drawingml/2006/table">
            <a:tbl>
              <a:tblPr/>
              <a:tblGrid>
                <a:gridCol w="3604260"/>
                <a:gridCol w="6880860"/>
                <a:gridCol w="2948940"/>
                <a:gridCol w="2948940"/>
              </a:tblGrid>
              <a:tr h="4381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10"/>
                        </a:lnSpc>
                        <a:buNone/>
                      </a:pPr>
                      <a:r>
                        <a:rPr lang="en-US" sz="1425" b="1" dirty="0" spc="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Métrica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693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10"/>
                        </a:lnSpc>
                        <a:buNone/>
                      </a:pPr>
                      <a:r>
                        <a:rPr lang="en-US" sz="1425" b="1" dirty="0" spc="0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Qué</a:t>
                      </a:r>
                      <a:r>
                        <a:rPr lang="en-US" sz="1425" b="1" dirty="0" spc="2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te</a:t>
                      </a:r>
                      <a:r>
                        <a:rPr lang="en-US" sz="1425" b="1" dirty="0" spc="-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dice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693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10"/>
                        </a:lnSpc>
                        <a:buNone/>
                      </a:pPr>
                      <a:r>
                        <a:rPr lang="en-US" sz="1425" b="1" dirty="0" spc="4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Meta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693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10"/>
                        </a:lnSpc>
                        <a:buNone/>
                      </a:pPr>
                      <a:r>
                        <a:rPr lang="en-US" sz="1425" b="1" dirty="0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Resultado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693E3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10"/>
                        </a:lnSpc>
                        <a:buNone/>
                      </a:pPr>
                      <a:r>
                        <a:rPr lang="en-US" sz="1425" dirty="0" spc="-2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Activación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10"/>
                        </a:lnSpc>
                        <a:buNone/>
                      </a:pPr>
                      <a:r>
                        <a:rPr lang="en-US" sz="1425" dirty="0" spc="-4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Si</a:t>
                      </a:r>
                      <a:r>
                        <a:rPr lang="en-US" sz="1425" dirty="0" spc="-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llegan</a:t>
                      </a:r>
                      <a:r>
                        <a:rPr lang="en-US" sz="1425" dirty="0" spc="-2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al</a:t>
                      </a:r>
                      <a:r>
                        <a:rPr lang="en-US" sz="1425" dirty="0" spc="-4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primer momento</a:t>
                      </a:r>
                      <a:r>
                        <a:rPr lang="en-US" sz="1425" dirty="0" spc="-2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de valor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10"/>
                        </a:lnSpc>
                        <a:buNone/>
                      </a:pPr>
                      <a:r>
                        <a:rPr lang="en-US" sz="1425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10"/>
                        </a:lnSpc>
                        <a:buNone/>
                      </a:pPr>
                      <a:r>
                        <a:rPr lang="en-US" sz="1425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10"/>
                        </a:lnSpc>
                        <a:buNone/>
                      </a:pPr>
                      <a:r>
                        <a:rPr lang="en-US" sz="1425" dirty="0" spc="-2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Retención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10"/>
                        </a:lnSpc>
                        <a:buNone/>
                      </a:pPr>
                      <a:r>
                        <a:rPr lang="en-US" sz="1425" dirty="0" spc="-4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Si</a:t>
                      </a:r>
                      <a:r>
                        <a:rPr lang="en-US" sz="1425" dirty="0" spc="-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vuelven</a:t>
                      </a:r>
                      <a:r>
                        <a:rPr lang="en-US" sz="1425" dirty="0" spc="-2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solos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10"/>
                        </a:lnSpc>
                        <a:buNone/>
                      </a:pPr>
                      <a:r>
                        <a:rPr lang="en-US" sz="1425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10"/>
                        </a:lnSpc>
                        <a:buNone/>
                      </a:pPr>
                      <a:r>
                        <a:rPr lang="en-US" sz="1425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10"/>
                        </a:lnSpc>
                        <a:buNone/>
                      </a:pPr>
                      <a:r>
                        <a:rPr lang="en-US" sz="1425" dirty="0" spc="-2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Conversión</a:t>
                      </a:r>
                      <a:r>
                        <a:rPr lang="en-US" sz="1425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a</a:t>
                      </a:r>
                      <a:r>
                        <a:rPr lang="en-US" sz="1425" dirty="0" spc="-2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pago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10"/>
                        </a:lnSpc>
                        <a:buNone/>
                      </a:pPr>
                      <a:r>
                        <a:rPr lang="en-US" sz="1425" dirty="0" spc="-4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Si</a:t>
                      </a:r>
                      <a:r>
                        <a:rPr lang="en-US" sz="1425" dirty="0" spc="-3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el</a:t>
                      </a:r>
                      <a:r>
                        <a:rPr lang="en-US" sz="1425" dirty="0" spc="-2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valor</a:t>
                      </a:r>
                      <a:r>
                        <a:rPr lang="en-US" sz="1425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alcanza para</a:t>
                      </a:r>
                      <a:r>
                        <a:rPr lang="en-US" sz="1425" dirty="0" spc="-4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cobrar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10"/>
                        </a:lnSpc>
                        <a:buNone/>
                      </a:pPr>
                      <a:r>
                        <a:rPr lang="en-US" sz="1425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10"/>
                        </a:lnSpc>
                        <a:buNone/>
                      </a:pPr>
                      <a:r>
                        <a:rPr lang="en-US" sz="1425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10"/>
                        </a:lnSpc>
                        <a:buNone/>
                      </a:pPr>
                      <a:r>
                        <a:rPr lang="en-US" sz="1425" dirty="0" spc="-2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Recomendación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10"/>
                        </a:lnSpc>
                        <a:buNone/>
                      </a:pPr>
                      <a:r>
                        <a:rPr lang="en-US" sz="1425" dirty="0" spc="-4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Si</a:t>
                      </a:r>
                      <a:r>
                        <a:rPr lang="en-US" sz="1425" dirty="0" spc="-3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te</a:t>
                      </a:r>
                      <a:r>
                        <a:rPr lang="en-US" sz="1425" dirty="0" spc="-2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traen</a:t>
                      </a:r>
                      <a:r>
                        <a:rPr lang="en-US" sz="1425" dirty="0" spc="-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más</a:t>
                      </a:r>
                      <a:r>
                        <a:rPr lang="en-US" sz="1425" dirty="0" spc="-2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clientes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10"/>
                        </a:lnSpc>
                        <a:buNone/>
                      </a:pPr>
                      <a:r>
                        <a:rPr lang="en-US" sz="1425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10"/>
                        </a:lnSpc>
                        <a:buNone/>
                      </a:pPr>
                      <a:r>
                        <a:rPr lang="en-US" sz="1425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4"/>
          <p:cNvSpPr/>
          <p:nvPr/>
        </p:nvSpPr>
        <p:spPr>
          <a:xfrm>
            <a:off x="952500" y="9429750"/>
            <a:ext cx="1638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E363C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Decisión:   ☐ Iterar     ☐ Pivotar     ☐ Parar        Porque: ______________________________________</a:t>
            </a:r>
            <a:endParaRPr lang="en-US" sz="1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2381250"/>
          </a:xfrm>
          <a:prstGeom prst="rect">
            <a:avLst/>
          </a:prstGeom>
          <a:solidFill>
            <a:srgbClr val="EAF5FE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38100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99" kern="0" dirty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FORMATO</a:t>
            </a:r>
            <a:r>
              <a:rPr lang="en-US" sz="1950" spc="226" kern="0" dirty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12</a:t>
            </a:r>
            <a:r>
              <a:rPr lang="en-US" sz="1950" spc="232" kern="0" dirty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·</a:t>
            </a:r>
            <a:r>
              <a:rPr lang="en-US" sz="1950" spc="223" kern="0" dirty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NEGOCIO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781050"/>
            <a:ext cx="1638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 spc="-7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Lean</a:t>
            </a:r>
            <a:r>
              <a:rPr lang="en-US" sz="4800" b="1" dirty="0" spc="-28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Canvas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52500" y="1600200"/>
            <a:ext cx="16383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3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Para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qué</a:t>
            </a:r>
            <a:r>
              <a:rPr lang="en-US" sz="165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sirve: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ordenar</a:t>
            </a:r>
            <a:r>
              <a:rPr lang="en-US" sz="1650" dirty="0" spc="3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todo el modelo</a:t>
            </a:r>
            <a:r>
              <a:rPr lang="en-US" sz="1650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</a:t>
            </a:r>
            <a:r>
              <a:rPr lang="en-US" sz="165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negocio en una</a:t>
            </a:r>
            <a:r>
              <a:rPr lang="en-US" sz="1650" dirty="0" spc="3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hoja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(Ash Maurya).</a:t>
            </a:r>
            <a:r>
              <a:rPr lang="en-US" sz="165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Llénalo en</a:t>
            </a:r>
            <a:r>
              <a:rPr lang="en-US" sz="1650" dirty="0" spc="5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20</a:t>
            </a:r>
            <a:r>
              <a:rPr lang="en-US" sz="165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minutos y trata cada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bloque</a:t>
            </a:r>
            <a:r>
              <a:rPr lang="en-US" sz="1650" dirty="0" spc="4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como</a:t>
            </a:r>
            <a:r>
              <a:rPr lang="en-US" sz="165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una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hipótesis</a:t>
            </a:r>
            <a:r>
              <a:rPr lang="en-US" sz="165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por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validar.</a:t>
            </a:r>
            <a:r>
              <a:rPr lang="en-US" sz="1650" dirty="0" spc="3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Ejemplos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en</a:t>
            </a:r>
            <a:r>
              <a:rPr lang="en-US" sz="1650" dirty="0" spc="-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gris:</a:t>
            </a:r>
            <a:r>
              <a:rPr lang="en-US" sz="165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CierreYa, el</a:t>
            </a:r>
            <a:r>
              <a:rPr lang="en-US" sz="1650" dirty="0" spc="3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caso</a:t>
            </a:r>
            <a:r>
              <a:rPr lang="en-US" sz="1650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</a:t>
            </a:r>
            <a:r>
              <a:rPr lang="en-US" sz="1650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Rosa.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952500" y="2619375"/>
            <a:ext cx="3200400" cy="4953000"/>
          </a:xfrm>
          <a:prstGeom prst="roundRect">
            <a:avLst>
              <a:gd name="adj" fmla="val 2976"/>
            </a:avLst>
          </a:prstGeom>
          <a:noFill/>
          <a:ln w="19050">
            <a:solidFill>
              <a:srgbClr val="88959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3950" y="2790825"/>
            <a:ext cx="285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 spc="1" kern="0">
                <a:solidFill>
                  <a:srgbClr val="0693E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1.</a:t>
            </a:r>
            <a:r>
              <a:rPr lang="en-US" sz="1650" b="1" dirty="0" spc="-1" kern="0">
                <a:solidFill>
                  <a:srgbClr val="0693E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Problema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123950" y="3152775"/>
            <a:ext cx="2857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dirty="0" spc="-4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</a:t>
            </a:r>
            <a:r>
              <a:rPr lang="en-US" sz="1425" dirty="0" spc="-1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saber</a:t>
            </a:r>
            <a:r>
              <a:rPr lang="en-US" sz="1425" dirty="0" spc="0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 ganancia</a:t>
            </a:r>
            <a:r>
              <a:rPr lang="en-US" sz="1425" dirty="0" spc="-2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diaria;</a:t>
            </a:r>
            <a:r>
              <a:rPr lang="en-US" sz="1425" dirty="0" spc="-4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comprar</a:t>
            </a:r>
            <a:r>
              <a:rPr lang="en-US" sz="1425" dirty="0" spc="-1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 más</a:t>
            </a:r>
            <a:r>
              <a:rPr lang="en-US" sz="1425" dirty="0" spc="-5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</a:t>
            </a:r>
            <a:r>
              <a:rPr lang="en-US" sz="1425" dirty="0" spc="-3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</a:t>
            </a:r>
            <a:r>
              <a:rPr lang="en-US" sz="1425" dirty="0" spc="-2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menos;</a:t>
            </a:r>
            <a:r>
              <a:rPr lang="en-US" sz="1425" dirty="0" spc="-3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perder tiempo</a:t>
            </a:r>
            <a:r>
              <a:rPr lang="en-US" sz="1425" dirty="0" spc="-2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anotando</a:t>
            </a:r>
            <a:endParaRPr lang="en-US" sz="1425" dirty="0"/>
          </a:p>
        </p:txBody>
      </p:sp>
      <p:sp>
        <p:nvSpPr>
          <p:cNvPr id="9" name="Shape 7"/>
          <p:cNvSpPr/>
          <p:nvPr/>
        </p:nvSpPr>
        <p:spPr>
          <a:xfrm>
            <a:off x="4248150" y="2619375"/>
            <a:ext cx="3200400" cy="2428875"/>
          </a:xfrm>
          <a:prstGeom prst="roundRect">
            <a:avLst>
              <a:gd name="adj" fmla="val 3922"/>
            </a:avLst>
          </a:prstGeom>
          <a:noFill/>
          <a:ln w="19050">
            <a:solidFill>
              <a:srgbClr val="88959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19600" y="2790825"/>
            <a:ext cx="285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 spc="-2" kern="0">
                <a:solidFill>
                  <a:srgbClr val="0693E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4.</a:t>
            </a:r>
            <a:r>
              <a:rPr lang="en-US" sz="1650" b="1" dirty="0" spc="-3" kern="0">
                <a:solidFill>
                  <a:srgbClr val="0693E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Solución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4419600" y="3152775"/>
            <a:ext cx="2857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dirty="0" spc="-4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Foto</a:t>
            </a:r>
            <a:r>
              <a:rPr lang="en-US" sz="1425" dirty="0" spc="-3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</a:t>
            </a:r>
            <a:r>
              <a:rPr lang="en-US" sz="1425" dirty="0" spc="-1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facturas,</a:t>
            </a:r>
            <a:r>
              <a:rPr lang="en-US" sz="1425" dirty="0" spc="0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ventas</a:t>
            </a:r>
            <a:r>
              <a:rPr lang="en-US" sz="1425" dirty="0" spc="-5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por</a:t>
            </a:r>
            <a:r>
              <a:rPr lang="en-US" sz="1425" dirty="0" spc="-2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nota</a:t>
            </a:r>
            <a:r>
              <a:rPr lang="en-US" sz="1425" dirty="0" spc="-3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</a:t>
            </a:r>
            <a:r>
              <a:rPr lang="en-US" sz="1425" dirty="0" spc="-2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voz, resumen</a:t>
            </a:r>
            <a:r>
              <a:rPr lang="en-US" sz="1425" dirty="0" spc="-4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nocturno</a:t>
            </a:r>
            <a:endParaRPr lang="en-US" sz="1425" dirty="0"/>
          </a:p>
        </p:txBody>
      </p:sp>
      <p:sp>
        <p:nvSpPr>
          <p:cNvPr id="12" name="Shape 10"/>
          <p:cNvSpPr/>
          <p:nvPr/>
        </p:nvSpPr>
        <p:spPr>
          <a:xfrm>
            <a:off x="4248150" y="5143500"/>
            <a:ext cx="3200400" cy="2428875"/>
          </a:xfrm>
          <a:prstGeom prst="roundRect">
            <a:avLst>
              <a:gd name="adj" fmla="val 3922"/>
            </a:avLst>
          </a:prstGeom>
          <a:noFill/>
          <a:ln w="19050">
            <a:solidFill>
              <a:srgbClr val="88959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9600" y="5314950"/>
            <a:ext cx="285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 spc="2" kern="0">
                <a:solidFill>
                  <a:srgbClr val="0693E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8.</a:t>
            </a:r>
            <a:r>
              <a:rPr lang="en-US" sz="1650" b="1" dirty="0" spc="0" kern="0">
                <a:solidFill>
                  <a:srgbClr val="0693E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Métricas</a:t>
            </a:r>
            <a:r>
              <a:rPr lang="en-US" sz="1650" b="1" dirty="0" spc="-11" kern="0">
                <a:solidFill>
                  <a:srgbClr val="0693E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clave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419600" y="5676900"/>
            <a:ext cx="2857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dirty="0" spc="0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Restaurantes</a:t>
            </a:r>
            <a:r>
              <a:rPr lang="en-US" sz="1425" dirty="0" spc="-2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activos,</a:t>
            </a:r>
            <a:r>
              <a:rPr lang="en-US" sz="1425" dirty="0" spc="-3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retención</a:t>
            </a:r>
            <a:r>
              <a:rPr lang="en-US" sz="1425" dirty="0" spc="-1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mensual, resúmenes</a:t>
            </a:r>
            <a:r>
              <a:rPr lang="en-US" sz="1425" dirty="0" spc="-2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leídos</a:t>
            </a:r>
            <a:endParaRPr lang="en-US" sz="1425" dirty="0"/>
          </a:p>
        </p:txBody>
      </p:sp>
      <p:sp>
        <p:nvSpPr>
          <p:cNvPr id="15" name="Shape 13"/>
          <p:cNvSpPr/>
          <p:nvPr/>
        </p:nvSpPr>
        <p:spPr>
          <a:xfrm>
            <a:off x="7543800" y="2619375"/>
            <a:ext cx="3200400" cy="4953000"/>
          </a:xfrm>
          <a:prstGeom prst="roundRect">
            <a:avLst>
              <a:gd name="adj" fmla="val 2976"/>
            </a:avLst>
          </a:prstGeom>
          <a:solidFill>
            <a:srgbClr val="EAF5FE"/>
          </a:solidFill>
          <a:ln w="19050">
            <a:solidFill>
              <a:srgbClr val="0693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15250" y="2790825"/>
            <a:ext cx="285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 spc="3" kern="0">
                <a:solidFill>
                  <a:srgbClr val="0693E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3.</a:t>
            </a:r>
            <a:r>
              <a:rPr lang="en-US" sz="1650" b="1" dirty="0" spc="-1" kern="0">
                <a:solidFill>
                  <a:srgbClr val="0693E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Propuesta</a:t>
            </a:r>
            <a:r>
              <a:rPr lang="en-US" sz="1650" b="1" dirty="0" spc="2" kern="0">
                <a:solidFill>
                  <a:srgbClr val="0693E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de</a:t>
            </a:r>
            <a:r>
              <a:rPr lang="en-US" sz="1650" b="1" dirty="0" spc="-8" kern="0">
                <a:solidFill>
                  <a:srgbClr val="0693E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valor</a:t>
            </a:r>
            <a:r>
              <a:rPr lang="en-US" sz="1650" b="1" dirty="0" spc="-2" kern="0">
                <a:solidFill>
                  <a:srgbClr val="0693E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única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7715250" y="3152775"/>
            <a:ext cx="2857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dirty="0" spc="-2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Tu</a:t>
            </a:r>
            <a:r>
              <a:rPr lang="en-US" sz="1425" dirty="0" spc="0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ganancia</a:t>
            </a:r>
            <a:r>
              <a:rPr lang="en-US" sz="1425" dirty="0" spc="-3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del</a:t>
            </a:r>
            <a:r>
              <a:rPr lang="en-US" sz="1425" dirty="0" spc="-2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día y</a:t>
            </a:r>
            <a:r>
              <a:rPr lang="en-US" sz="1425" dirty="0" spc="-3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tu</a:t>
            </a:r>
            <a:r>
              <a:rPr lang="en-US" sz="1425" dirty="0" spc="-1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lista</a:t>
            </a:r>
            <a:r>
              <a:rPr lang="en-US" sz="1425" dirty="0" spc="-3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 compras</a:t>
            </a:r>
            <a:r>
              <a:rPr lang="en-US" sz="1425" dirty="0" spc="-4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por</a:t>
            </a:r>
            <a:r>
              <a:rPr lang="en-US" sz="1425" dirty="0" spc="-1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WhatsApp, sin</a:t>
            </a:r>
            <a:r>
              <a:rPr lang="en-US" sz="1425" dirty="0" spc="-3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escribir</a:t>
            </a:r>
            <a:r>
              <a:rPr lang="en-US" sz="1425" dirty="0" spc="0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nada</a:t>
            </a:r>
            <a:endParaRPr lang="en-US" sz="1425" dirty="0"/>
          </a:p>
        </p:txBody>
      </p:sp>
      <p:sp>
        <p:nvSpPr>
          <p:cNvPr id="18" name="Shape 16"/>
          <p:cNvSpPr/>
          <p:nvPr/>
        </p:nvSpPr>
        <p:spPr>
          <a:xfrm>
            <a:off x="10839450" y="2619375"/>
            <a:ext cx="3200400" cy="2428875"/>
          </a:xfrm>
          <a:prstGeom prst="roundRect">
            <a:avLst>
              <a:gd name="adj" fmla="val 3922"/>
            </a:avLst>
          </a:prstGeom>
          <a:noFill/>
          <a:ln w="19050">
            <a:solidFill>
              <a:srgbClr val="88959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010900" y="2790825"/>
            <a:ext cx="285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 spc="-41" kern="0">
                <a:solidFill>
                  <a:srgbClr val="0693E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9.</a:t>
            </a:r>
            <a:r>
              <a:rPr lang="en-US" sz="1650" b="1" dirty="0" spc="-5" kern="0">
                <a:solidFill>
                  <a:srgbClr val="0693E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Ventaja</a:t>
            </a:r>
            <a:r>
              <a:rPr lang="en-US" sz="1650" b="1" dirty="0" spc="-2" kern="0">
                <a:solidFill>
                  <a:srgbClr val="0693E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injusta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1010900" y="3152775"/>
            <a:ext cx="2857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dirty="0" spc="-3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Precios</a:t>
            </a:r>
            <a:r>
              <a:rPr lang="en-US" sz="1425" dirty="0" spc="-2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del</a:t>
            </a:r>
            <a:r>
              <a:rPr lang="en-US" sz="1425" dirty="0" spc="-3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mercado</a:t>
            </a:r>
            <a:r>
              <a:rPr lang="en-US" sz="1425" dirty="0" spc="-2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acumulados; red de referidos</a:t>
            </a:r>
            <a:endParaRPr lang="en-US" sz="1425" dirty="0"/>
          </a:p>
        </p:txBody>
      </p:sp>
      <p:sp>
        <p:nvSpPr>
          <p:cNvPr id="21" name="Shape 19"/>
          <p:cNvSpPr/>
          <p:nvPr/>
        </p:nvSpPr>
        <p:spPr>
          <a:xfrm>
            <a:off x="10839450" y="5143500"/>
            <a:ext cx="3200400" cy="2428875"/>
          </a:xfrm>
          <a:prstGeom prst="roundRect">
            <a:avLst>
              <a:gd name="adj" fmla="val 3922"/>
            </a:avLst>
          </a:prstGeom>
          <a:noFill/>
          <a:ln w="19050">
            <a:solidFill>
              <a:srgbClr val="88959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010900" y="5314950"/>
            <a:ext cx="285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 spc="1" kern="0">
                <a:solidFill>
                  <a:srgbClr val="0693E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5.</a:t>
            </a:r>
            <a:r>
              <a:rPr lang="en-US" sz="1650" b="1" dirty="0" spc="-1" kern="0">
                <a:solidFill>
                  <a:srgbClr val="0693E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Canales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1010900" y="5676900"/>
            <a:ext cx="2857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dirty="0" spc="0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Referidos</a:t>
            </a:r>
            <a:r>
              <a:rPr lang="en-US" sz="1425" dirty="0" spc="-3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entre</a:t>
            </a:r>
            <a:r>
              <a:rPr lang="en-US" sz="1425" dirty="0" spc="-2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dueños, asociaciones, proveedores del</a:t>
            </a:r>
            <a:r>
              <a:rPr lang="en-US" sz="1425" dirty="0" spc="-3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mercado</a:t>
            </a:r>
            <a:endParaRPr lang="en-US" sz="1425" dirty="0"/>
          </a:p>
        </p:txBody>
      </p:sp>
      <p:sp>
        <p:nvSpPr>
          <p:cNvPr id="24" name="Shape 22"/>
          <p:cNvSpPr/>
          <p:nvPr/>
        </p:nvSpPr>
        <p:spPr>
          <a:xfrm>
            <a:off x="14135100" y="2619375"/>
            <a:ext cx="3200400" cy="4953000"/>
          </a:xfrm>
          <a:prstGeom prst="roundRect">
            <a:avLst>
              <a:gd name="adj" fmla="val 2976"/>
            </a:avLst>
          </a:prstGeom>
          <a:noFill/>
          <a:ln w="19050">
            <a:solidFill>
              <a:srgbClr val="88959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306550" y="2790825"/>
            <a:ext cx="285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 spc="2" kern="0">
                <a:solidFill>
                  <a:srgbClr val="0693E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2.</a:t>
            </a:r>
            <a:r>
              <a:rPr lang="en-US" sz="1650" b="1" dirty="0" spc="-2" kern="0">
                <a:solidFill>
                  <a:srgbClr val="0693E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Segmento</a:t>
            </a:r>
            <a:r>
              <a:rPr lang="en-US" sz="1650" b="1" dirty="0" spc="3" kern="0">
                <a:solidFill>
                  <a:srgbClr val="0693E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de</a:t>
            </a:r>
            <a:r>
              <a:rPr lang="en-US" sz="1650" b="1" dirty="0" spc="-1" kern="0">
                <a:solidFill>
                  <a:srgbClr val="0693E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clientes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4306550" y="3152775"/>
            <a:ext cx="2857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dirty="0" spc="0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Restaurantes</a:t>
            </a:r>
            <a:r>
              <a:rPr lang="en-US" sz="1425" dirty="0" spc="-1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 5</a:t>
            </a:r>
            <a:r>
              <a:rPr lang="en-US" sz="1425" dirty="0" spc="0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 50 mesas</a:t>
            </a:r>
            <a:r>
              <a:rPr lang="en-US" sz="1425" dirty="0" spc="-1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sin sistema</a:t>
            </a:r>
            <a:r>
              <a:rPr lang="en-US" sz="1425" dirty="0" spc="-2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contable</a:t>
            </a:r>
            <a:endParaRPr lang="en-US" sz="1425" dirty="0"/>
          </a:p>
        </p:txBody>
      </p:sp>
      <p:sp>
        <p:nvSpPr>
          <p:cNvPr id="27" name="Shape 25"/>
          <p:cNvSpPr/>
          <p:nvPr/>
        </p:nvSpPr>
        <p:spPr>
          <a:xfrm>
            <a:off x="952500" y="7667625"/>
            <a:ext cx="8143875" cy="1619250"/>
          </a:xfrm>
          <a:prstGeom prst="roundRect">
            <a:avLst>
              <a:gd name="adj" fmla="val 5882"/>
            </a:avLst>
          </a:prstGeom>
          <a:noFill/>
          <a:ln w="19050">
            <a:solidFill>
              <a:srgbClr val="88959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23950" y="7839075"/>
            <a:ext cx="78009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 spc="-46" kern="0">
                <a:solidFill>
                  <a:srgbClr val="0693E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7.</a:t>
            </a:r>
            <a:r>
              <a:rPr lang="en-US" sz="1650" b="1" dirty="0" spc="-3" kern="0">
                <a:solidFill>
                  <a:srgbClr val="0693E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Estructura</a:t>
            </a:r>
            <a:r>
              <a:rPr lang="en-US" sz="1650" b="1" dirty="0" spc="2" kern="0">
                <a:solidFill>
                  <a:srgbClr val="0693E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de</a:t>
            </a:r>
            <a:r>
              <a:rPr lang="en-US" sz="1650" b="1" dirty="0" spc="-2" kern="0">
                <a:solidFill>
                  <a:srgbClr val="0693E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costos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1123950" y="8201025"/>
            <a:ext cx="780097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dirty="0" spc="-2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API</a:t>
            </a:r>
            <a:r>
              <a:rPr lang="en-US" sz="1425" dirty="0" spc="-3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 IA,</a:t>
            </a:r>
            <a:r>
              <a:rPr lang="en-US" sz="1425" dirty="0" spc="0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WhatsApp</a:t>
            </a:r>
            <a:r>
              <a:rPr lang="en-US" sz="1425" dirty="0" spc="-1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Business,</a:t>
            </a:r>
            <a:r>
              <a:rPr lang="en-US" sz="1425" dirty="0" spc="-3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servidor, tu</a:t>
            </a:r>
            <a:r>
              <a:rPr lang="en-US" sz="1425" dirty="0" spc="-4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tiempo</a:t>
            </a:r>
            <a:endParaRPr lang="en-US" sz="1425" dirty="0"/>
          </a:p>
        </p:txBody>
      </p:sp>
      <p:sp>
        <p:nvSpPr>
          <p:cNvPr id="30" name="Shape 28"/>
          <p:cNvSpPr/>
          <p:nvPr/>
        </p:nvSpPr>
        <p:spPr>
          <a:xfrm>
            <a:off x="9191625" y="7667625"/>
            <a:ext cx="8143875" cy="1619250"/>
          </a:xfrm>
          <a:prstGeom prst="roundRect">
            <a:avLst>
              <a:gd name="adj" fmla="val 5882"/>
            </a:avLst>
          </a:prstGeom>
          <a:noFill/>
          <a:ln w="19050">
            <a:solidFill>
              <a:srgbClr val="88959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63075" y="7839075"/>
            <a:ext cx="78009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 spc="3" kern="0">
                <a:solidFill>
                  <a:srgbClr val="0693E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6.</a:t>
            </a:r>
            <a:r>
              <a:rPr lang="en-US" sz="1650" b="1" dirty="0" spc="-3" kern="0">
                <a:solidFill>
                  <a:srgbClr val="0693E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Fuentes</a:t>
            </a:r>
            <a:r>
              <a:rPr lang="en-US" sz="1650" b="1" dirty="0" spc="4" kern="0">
                <a:solidFill>
                  <a:srgbClr val="0693E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de</a:t>
            </a:r>
            <a:r>
              <a:rPr lang="en-US" sz="1650" b="1" dirty="0" spc="-2" kern="0">
                <a:solidFill>
                  <a:srgbClr val="0693E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ingreso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9363075" y="8201025"/>
            <a:ext cx="780097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dirty="0" spc="-3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Suscripción de</a:t>
            </a:r>
            <a:r>
              <a:rPr lang="en-US" sz="1425" dirty="0" spc="1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$15</a:t>
            </a:r>
            <a:r>
              <a:rPr lang="en-US" sz="1425" dirty="0" spc="-1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al</a:t>
            </a:r>
            <a:r>
              <a:rPr lang="en-US" sz="1425" dirty="0" spc="-2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mes;</a:t>
            </a:r>
            <a:r>
              <a:rPr lang="en-US" sz="1425" dirty="0" spc="-1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plan</a:t>
            </a:r>
            <a:r>
              <a:rPr lang="en-US" sz="1425" dirty="0" spc="-4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</a:t>
            </a:r>
            <a:r>
              <a:rPr lang="en-US" sz="1425" dirty="0" spc="-3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contador</a:t>
            </a:r>
            <a:r>
              <a:rPr lang="en-US" sz="1425" dirty="0" spc="-4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</a:t>
            </a:r>
            <a:r>
              <a:rPr lang="en-US" sz="1425" dirty="0" spc="1" kern="0">
                <a:solidFill>
                  <a:srgbClr val="6E76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$25</a:t>
            </a:r>
            <a:endParaRPr lang="en-US" sz="1425" dirty="0"/>
          </a:p>
        </p:txBody>
      </p:sp>
      <p:sp>
        <p:nvSpPr>
          <p:cNvPr id="33" name="Text 31"/>
          <p:cNvSpPr/>
          <p:nvPr/>
        </p:nvSpPr>
        <p:spPr>
          <a:xfrm>
            <a:off x="952500" y="9477375"/>
            <a:ext cx="16383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i="1" dirty="0" spc="3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</a:t>
            </a:r>
            <a:r>
              <a:rPr lang="en-US" sz="1650" i="1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número indica</a:t>
            </a:r>
            <a:r>
              <a:rPr lang="en-US" sz="1650" i="1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el orden</a:t>
            </a:r>
            <a:r>
              <a:rPr lang="en-US" sz="1650" i="1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sugerido</a:t>
            </a:r>
            <a:r>
              <a:rPr lang="en-US" sz="1650" i="1" dirty="0" spc="-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para</a:t>
            </a:r>
            <a:r>
              <a:rPr lang="en-US" sz="1650" i="1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llenarlo.</a:t>
            </a:r>
            <a:endParaRPr lang="en-US" sz="16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2190750"/>
          </a:xfrm>
          <a:prstGeom prst="rect">
            <a:avLst/>
          </a:prstGeom>
          <a:solidFill>
            <a:srgbClr val="EAF5FE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28575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99" kern="0" dirty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FORMATO</a:t>
            </a:r>
            <a:r>
              <a:rPr lang="en-US" sz="1950" spc="229" kern="0" dirty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13</a:t>
            </a:r>
            <a:r>
              <a:rPr lang="en-US" sz="1950" spc="231" kern="0" dirty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·</a:t>
            </a:r>
            <a:r>
              <a:rPr lang="en-US" sz="1950" spc="223" kern="0" dirty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NEGOCIO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666750"/>
            <a:ext cx="1638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0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Cálculo</a:t>
            </a:r>
            <a:r>
              <a:rPr lang="en-US" sz="4500" b="1" dirty="0" spc="-1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de</a:t>
            </a:r>
            <a:r>
              <a:rPr lang="en-US" sz="4500" b="1" dirty="0" spc="-2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precio</a:t>
            </a:r>
            <a:r>
              <a:rPr lang="en-US" sz="4500" b="1" dirty="0" spc="-1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y</a:t>
            </a:r>
            <a:r>
              <a:rPr lang="en-US" sz="4500" b="1" dirty="0" spc="-131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LTV/CAC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952500" y="1447800"/>
            <a:ext cx="16383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Para</a:t>
            </a:r>
            <a:r>
              <a:rPr lang="en-US" sz="1575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qué</a:t>
            </a:r>
            <a:r>
              <a:rPr lang="en-US" sz="1575" dirty="0" spc="-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sirve:</a:t>
            </a:r>
            <a:r>
              <a:rPr lang="en-US" sz="1575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decidir</a:t>
            </a:r>
            <a:r>
              <a:rPr lang="en-US" sz="1575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cuánto</a:t>
            </a:r>
            <a:r>
              <a:rPr lang="en-US" sz="1575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cobrar</a:t>
            </a:r>
            <a:r>
              <a:rPr lang="en-US" sz="1575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según</a:t>
            </a:r>
            <a:r>
              <a:rPr lang="en-US" sz="1575" dirty="0" spc="-3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el</a:t>
            </a:r>
            <a:r>
              <a:rPr lang="en-US" sz="1575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valor</a:t>
            </a:r>
            <a:r>
              <a:rPr lang="en-US" sz="1575" dirty="0" spc="-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que</a:t>
            </a:r>
            <a:r>
              <a:rPr lang="en-US" sz="1575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generas</a:t>
            </a:r>
            <a:r>
              <a:rPr lang="en-US" sz="1575" dirty="0" spc="-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</a:t>
            </a:r>
            <a:r>
              <a:rPr lang="en-US" sz="1575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comprobar</a:t>
            </a:r>
            <a:r>
              <a:rPr lang="en-US" sz="1575" dirty="0" spc="-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que el</a:t>
            </a:r>
            <a:r>
              <a:rPr lang="en-US" sz="1575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negocio</a:t>
            </a:r>
            <a:r>
              <a:rPr lang="en-US" sz="1575" dirty="0" spc="-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deja</a:t>
            </a:r>
            <a:r>
              <a:rPr lang="en-US" sz="1575" dirty="0" spc="-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plata. El</a:t>
            </a:r>
            <a:r>
              <a:rPr lang="en-US" sz="1575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valor</a:t>
            </a:r>
            <a:r>
              <a:rPr lang="en-US" sz="1575" dirty="0" spc="-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fija</a:t>
            </a:r>
            <a:r>
              <a:rPr lang="en-US" sz="1575" dirty="0" spc="-3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el</a:t>
            </a:r>
            <a:r>
              <a:rPr lang="en-US" sz="1575" dirty="0" spc="-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techo,</a:t>
            </a:r>
            <a:r>
              <a:rPr lang="en-US" sz="1575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tus</a:t>
            </a:r>
            <a:r>
              <a:rPr lang="en-US" sz="1575" dirty="0" spc="-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costos</a:t>
            </a:r>
            <a:r>
              <a:rPr lang="en-US" sz="1575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fijan</a:t>
            </a:r>
            <a:r>
              <a:rPr lang="en-US" sz="1575" dirty="0" spc="-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el</a:t>
            </a:r>
            <a:r>
              <a:rPr lang="en-US" sz="1575" dirty="0" spc="-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piso</a:t>
            </a:r>
            <a:r>
              <a:rPr lang="en-US" sz="1575" dirty="0" spc="-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 la</a:t>
            </a:r>
            <a:r>
              <a:rPr lang="en-US" sz="1575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competencia</a:t>
            </a:r>
            <a:r>
              <a:rPr lang="en-US" sz="1575" dirty="0" spc="-4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te</a:t>
            </a:r>
            <a:r>
              <a:rPr lang="en-US" sz="1575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ubica entre</a:t>
            </a:r>
            <a:r>
              <a:rPr lang="en-US" sz="1575" dirty="0" spc="-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los</a:t>
            </a:r>
            <a:r>
              <a:rPr lang="en-US" sz="1575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dos.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952500" y="2286000"/>
            <a:ext cx="16383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E36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Modelo de ingreso:  ☐ Suscripción   ☐ Pago por uso   ☐ Freemium   ☐ Servicio productizado   ☐ Proyecto + mantenimiento   ☐ Formación</a:t>
            </a:r>
            <a:endParaRPr lang="en-US" sz="15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500" y="2714625"/>
          <a:ext cx="13716000" cy="914400"/>
        </p:xfrm>
        <a:graphic>
          <a:graphicData uri="http://schemas.openxmlformats.org/drawingml/2006/table">
            <a:tbl>
              <a:tblPr/>
              <a:tblGrid>
                <a:gridCol w="655320"/>
                <a:gridCol w="3276600"/>
                <a:gridCol w="5570220"/>
                <a:gridCol w="3931920"/>
                <a:gridCol w="2948940"/>
              </a:tblGrid>
              <a:tr h="503464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b="1" dirty="0" spc="-3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#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612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b="1" dirty="0" spc="-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Paso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612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b="1" dirty="0" spc="-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Cómo</a:t>
                      </a:r>
                      <a:r>
                        <a:rPr lang="en-US" sz="1350" b="1" dirty="0" spc="-2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se</a:t>
                      </a:r>
                      <a:r>
                        <a:rPr lang="en-US" sz="1350" b="1" dirty="0" spc="-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calcula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612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b="1" dirty="0" spc="0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Ejemplo:</a:t>
                      </a:r>
                      <a:r>
                        <a:rPr lang="en-US" sz="1350" b="1" dirty="0" spc="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CitaClara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612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b="1" dirty="0" spc="-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Mi cálculo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61219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dirty="0" spc="-3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dirty="0" spc="2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Valor</a:t>
                      </a:r>
                      <a:r>
                        <a:rPr lang="en-US" sz="1350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mensual para</a:t>
                      </a:r>
                      <a:r>
                        <a:rPr lang="en-US" sz="1350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el</a:t>
                      </a:r>
                      <a:r>
                        <a:rPr lang="en-US" sz="1350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cliente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Horas ahorradas</a:t>
                      </a:r>
                      <a:r>
                        <a:rPr lang="en-US" sz="1350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×</a:t>
                      </a:r>
                      <a:r>
                        <a:rPr lang="en-US" sz="1350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costo</a:t>
                      </a:r>
                      <a:r>
                        <a:rPr lang="en-US" sz="1350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de</a:t>
                      </a:r>
                      <a:r>
                        <a:rPr lang="en-US" sz="1350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la hora</a:t>
                      </a:r>
                      <a:r>
                        <a:rPr lang="en-US" sz="1350" dirty="0" spc="-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+</a:t>
                      </a:r>
                      <a:r>
                        <a:rPr lang="en-US" sz="1350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dinero</a:t>
                      </a:r>
                      <a:r>
                        <a:rPr lang="en-US" sz="1350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ganado</a:t>
                      </a:r>
                      <a:r>
                        <a:rPr lang="en-US" sz="1350" dirty="0" spc="-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o</a:t>
                      </a:r>
                      <a:r>
                        <a:rPr lang="en-US" sz="1350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recuperado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dirty="0" spc="-3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9</a:t>
                      </a:r>
                      <a:r>
                        <a:rPr lang="en-US" sz="1350" dirty="0" spc="2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citas</a:t>
                      </a:r>
                      <a:r>
                        <a:rPr lang="en-US" sz="1350" dirty="0" spc="-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×</a:t>
                      </a:r>
                      <a:r>
                        <a:rPr lang="en-US" sz="1350" dirty="0" spc="-2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$30</a:t>
                      </a:r>
                      <a:r>
                        <a:rPr lang="en-US" sz="1350" dirty="0" spc="-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+</a:t>
                      </a:r>
                      <a:r>
                        <a:rPr lang="en-US" sz="1350" dirty="0" spc="-2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22</a:t>
                      </a:r>
                      <a:r>
                        <a:rPr lang="en-US" sz="1350" dirty="0" spc="2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h</a:t>
                      </a:r>
                      <a:r>
                        <a:rPr lang="en-US" sz="1350" dirty="0" spc="-2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× $3</a:t>
                      </a:r>
                      <a:r>
                        <a:rPr lang="en-US" sz="1350" dirty="0" spc="0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=</a:t>
                      </a:r>
                      <a:r>
                        <a:rPr lang="en-US" sz="1350" dirty="0" spc="-3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$336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dirty="0" spc="-3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dirty="0" spc="-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Rango de</a:t>
                      </a:r>
                      <a:r>
                        <a:rPr lang="en-US" sz="1350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precio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dirty="0" spc="2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Valor</a:t>
                      </a:r>
                      <a:r>
                        <a:rPr lang="en-US" sz="1350" dirty="0" spc="-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×</a:t>
                      </a:r>
                      <a:r>
                        <a:rPr lang="en-US" sz="1350" dirty="0" spc="-2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0,10</a:t>
                      </a:r>
                      <a:r>
                        <a:rPr lang="en-US" sz="1350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 a</a:t>
                      </a:r>
                      <a:r>
                        <a:rPr lang="en-US" sz="1350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 valor</a:t>
                      </a:r>
                      <a:r>
                        <a:rPr lang="en-US" sz="1350" dirty="0" spc="-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×</a:t>
                      </a:r>
                      <a:r>
                        <a:rPr lang="en-US" sz="1350" dirty="0" spc="-2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0,20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dirty="0" spc="-3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$34</a:t>
                      </a:r>
                      <a:r>
                        <a:rPr lang="en-US" sz="1350" dirty="0" spc="0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a</a:t>
                      </a:r>
                      <a:r>
                        <a:rPr lang="en-US" sz="1350" dirty="0" spc="-2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$67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dirty="0" spc="-3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dirty="0" spc="2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Costo</a:t>
                      </a:r>
                      <a:r>
                        <a:rPr lang="en-US" sz="1350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por cliente</a:t>
                      </a:r>
                      <a:r>
                        <a:rPr lang="en-US" sz="1350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al</a:t>
                      </a:r>
                      <a:r>
                        <a:rPr lang="en-US" sz="1350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mes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dirty="0" spc="3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IA</a:t>
                      </a:r>
                      <a:r>
                        <a:rPr lang="en-US" sz="1350" dirty="0" spc="-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+</a:t>
                      </a:r>
                      <a:r>
                        <a:rPr lang="en-US" sz="1350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mensajes</a:t>
                      </a:r>
                      <a:r>
                        <a:rPr lang="en-US" sz="1350" dirty="0" spc="-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+</a:t>
                      </a:r>
                      <a:r>
                        <a:rPr lang="en-US" sz="1350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servidor</a:t>
                      </a:r>
                      <a:r>
                        <a:rPr lang="en-US" sz="1350" dirty="0" spc="-2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+</a:t>
                      </a:r>
                      <a:r>
                        <a:rPr lang="en-US" sz="1350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soporte,</a:t>
                      </a:r>
                      <a:r>
                        <a:rPr lang="en-US" sz="1350" dirty="0" spc="2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dividido</a:t>
                      </a:r>
                      <a:r>
                        <a:rPr lang="en-US" sz="1350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para</a:t>
                      </a:r>
                      <a:r>
                        <a:rPr lang="en-US" sz="1350" dirty="0" spc="4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tus</a:t>
                      </a:r>
                      <a:r>
                        <a:rPr lang="en-US" sz="1350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clientes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dirty="0" spc="-3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≈</a:t>
                      </a:r>
                      <a:r>
                        <a:rPr lang="en-US" sz="1350" dirty="0" spc="-2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$10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dirty="0" spc="-3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dirty="0" spc="-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Precio</a:t>
                      </a:r>
                      <a:r>
                        <a:rPr lang="en-US" sz="1350" dirty="0" spc="2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mínimo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dirty="0" spc="2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Costo</a:t>
                      </a:r>
                      <a:r>
                        <a:rPr lang="en-US" sz="1350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por cliente</a:t>
                      </a:r>
                      <a:r>
                        <a:rPr lang="en-US" sz="1350" dirty="0" spc="-3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÷</a:t>
                      </a:r>
                      <a:r>
                        <a:rPr lang="en-US" sz="1350" dirty="0" spc="-2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0,30</a:t>
                      </a:r>
                      <a:r>
                        <a:rPr lang="en-US" sz="1350" dirty="0" spc="-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(margen</a:t>
                      </a:r>
                      <a:r>
                        <a:rPr lang="en-US" sz="1350" dirty="0" spc="3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bruto</a:t>
                      </a:r>
                      <a:r>
                        <a:rPr lang="en-US" sz="1350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del</a:t>
                      </a:r>
                      <a:r>
                        <a:rPr lang="en-US" sz="1350" dirty="0" spc="-2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70</a:t>
                      </a:r>
                      <a:r>
                        <a:rPr lang="en-US" sz="1350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%)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dirty="0" spc="-3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$33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dirty="0" spc="-3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dirty="0" spc="-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Precio</a:t>
                      </a:r>
                      <a:r>
                        <a:rPr lang="en-US" sz="1350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de</a:t>
                      </a:r>
                      <a:r>
                        <a:rPr lang="en-US" sz="1350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la</a:t>
                      </a:r>
                      <a:r>
                        <a:rPr lang="en-US" sz="1350" dirty="0" spc="2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alternativa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dirty="0" spc="2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Lo</a:t>
                      </a:r>
                      <a:r>
                        <a:rPr lang="en-US" sz="1350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que el</a:t>
                      </a:r>
                      <a:r>
                        <a:rPr lang="en-US" sz="1350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cliente gasta hoy para</a:t>
                      </a:r>
                      <a:r>
                        <a:rPr lang="en-US" sz="1350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resolverlo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dirty="0" spc="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Horas</a:t>
                      </a:r>
                      <a:r>
                        <a:rPr lang="en-US" sz="1350" dirty="0" spc="-2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de</a:t>
                      </a:r>
                      <a:r>
                        <a:rPr lang="en-US" sz="1350" dirty="0" spc="2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la</a:t>
                      </a:r>
                      <a:r>
                        <a:rPr lang="en-US" sz="1350" dirty="0" spc="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secretaria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dirty="0" spc="-3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dirty="0" spc="3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Mi</a:t>
                      </a:r>
                      <a:r>
                        <a:rPr lang="en-US" sz="1350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precio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dirty="0" spc="2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Dentro</a:t>
                      </a:r>
                      <a:r>
                        <a:rPr lang="en-US" sz="1350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del rango</a:t>
                      </a:r>
                      <a:r>
                        <a:rPr lang="en-US" sz="1350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y sobre</a:t>
                      </a:r>
                      <a:r>
                        <a:rPr lang="en-US" sz="1350" dirty="0" spc="-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el</a:t>
                      </a:r>
                      <a:r>
                        <a:rPr lang="en-US" sz="1350" dirty="0" spc="2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piso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dirty="0" spc="-3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$50</a:t>
                      </a:r>
                      <a:r>
                        <a:rPr lang="en-US" sz="1350" dirty="0" spc="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al mes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500" y="6381750"/>
          <a:ext cx="13716000" cy="914400"/>
        </p:xfrm>
        <a:graphic>
          <a:graphicData uri="http://schemas.openxmlformats.org/drawingml/2006/table">
            <a:tbl>
              <a:tblPr/>
              <a:tblGrid>
                <a:gridCol w="655320"/>
                <a:gridCol w="3276600"/>
                <a:gridCol w="5570220"/>
                <a:gridCol w="3931920"/>
                <a:gridCol w="2948940"/>
              </a:tblGrid>
              <a:tr h="4762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b="1" dirty="0" spc="-3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#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693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b="1" dirty="0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Indicador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693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b="1" dirty="0" spc="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Fórmula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693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b="1" dirty="0" spc="0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Ejemplo:</a:t>
                      </a:r>
                      <a:r>
                        <a:rPr lang="en-US" sz="1350" b="1" dirty="0" spc="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CitaClara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693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b="1" dirty="0" spc="-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Mi cálculo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693E3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dirty="0" spc="-3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Margen</a:t>
                      </a:r>
                      <a:r>
                        <a:rPr lang="en-US" sz="1350" dirty="0" spc="2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bruto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dirty="0" spc="-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(Precio</a:t>
                      </a:r>
                      <a:r>
                        <a:rPr lang="en-US" sz="1350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−</a:t>
                      </a:r>
                      <a:r>
                        <a:rPr lang="en-US" sz="1350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costo por</a:t>
                      </a:r>
                      <a:r>
                        <a:rPr lang="en-US" sz="1350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cliente) ÷ precio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dirty="0" spc="-3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($50</a:t>
                      </a:r>
                      <a:r>
                        <a:rPr lang="en-US" sz="1350" dirty="0" spc="-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−</a:t>
                      </a:r>
                      <a:r>
                        <a:rPr lang="en-US" sz="1350" dirty="0" spc="-2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$10)</a:t>
                      </a:r>
                      <a:r>
                        <a:rPr lang="en-US" sz="1350" dirty="0" spc="-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÷</a:t>
                      </a:r>
                      <a:r>
                        <a:rPr lang="en-US" sz="1350" dirty="0" spc="-2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$50 = 0,80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dirty="0" spc="-3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Cancelación</a:t>
                      </a:r>
                      <a:r>
                        <a:rPr lang="en-US" sz="1350" dirty="0" spc="2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mensual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dirty="0" spc="2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Clientes</a:t>
                      </a:r>
                      <a:r>
                        <a:rPr lang="en-US" sz="1350" dirty="0" spc="-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que</a:t>
                      </a:r>
                      <a:r>
                        <a:rPr lang="en-US" sz="1350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se van</a:t>
                      </a:r>
                      <a:r>
                        <a:rPr lang="en-US" sz="1350" dirty="0" spc="-2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÷</a:t>
                      </a:r>
                      <a:r>
                        <a:rPr lang="en-US" sz="1350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clientes</a:t>
                      </a:r>
                      <a:r>
                        <a:rPr lang="en-US" sz="1350" dirty="0" spc="2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totales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dirty="0" spc="-3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</a:t>
                      </a:r>
                      <a:r>
                        <a:rPr lang="en-US" sz="1350" dirty="0" spc="2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% (supuesto)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dirty="0" spc="-3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9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dirty="0" spc="5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LTV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dirty="0" spc="-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Precio</a:t>
                      </a:r>
                      <a:r>
                        <a:rPr lang="en-US" sz="1350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×</a:t>
                      </a:r>
                      <a:r>
                        <a:rPr lang="en-US" sz="1350" dirty="0" spc="-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margen</a:t>
                      </a:r>
                      <a:r>
                        <a:rPr lang="en-US" sz="1350" dirty="0" spc="3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bruto</a:t>
                      </a:r>
                      <a:r>
                        <a:rPr lang="en-US" sz="1350" dirty="0" spc="-2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÷</a:t>
                      </a:r>
                      <a:r>
                        <a:rPr lang="en-US" sz="1350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cancelación</a:t>
                      </a:r>
                      <a:r>
                        <a:rPr lang="en-US" sz="1350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mensual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dirty="0" spc="-3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$50</a:t>
                      </a:r>
                      <a:r>
                        <a:rPr lang="en-US" sz="1350" dirty="0" spc="-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×</a:t>
                      </a:r>
                      <a:r>
                        <a:rPr lang="en-US" sz="1350" dirty="0" spc="-2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0,80</a:t>
                      </a:r>
                      <a:r>
                        <a:rPr lang="en-US" sz="1350" dirty="0" spc="-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÷</a:t>
                      </a:r>
                      <a:r>
                        <a:rPr lang="en-US" sz="1350" dirty="0" spc="-2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0,05</a:t>
                      </a:r>
                      <a:r>
                        <a:rPr lang="en-US" sz="1350" dirty="0" spc="-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=</a:t>
                      </a:r>
                      <a:r>
                        <a:rPr lang="en-US" sz="1350" dirty="0" spc="-2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$800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dirty="0" spc="-3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10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CAC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dirty="0" spc="2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Lo</a:t>
                      </a:r>
                      <a:r>
                        <a:rPr lang="en-US" sz="1350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que</a:t>
                      </a:r>
                      <a:r>
                        <a:rPr lang="en-US" sz="1350" dirty="0" spc="2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gastas</a:t>
                      </a:r>
                      <a:r>
                        <a:rPr lang="en-US" sz="1350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en conseguir</a:t>
                      </a:r>
                      <a:r>
                        <a:rPr lang="en-US" sz="1350" dirty="0" spc="4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un</a:t>
                      </a:r>
                      <a:r>
                        <a:rPr lang="en-US" sz="1350" dirty="0" spc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cliente</a:t>
                      </a:r>
                      <a:r>
                        <a:rPr lang="en-US" sz="1350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nuevo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dirty="0" spc="-3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$100</a:t>
                      </a:r>
                      <a:r>
                        <a:rPr lang="en-US" sz="1350" dirty="0" spc="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(supuesto)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dirty="0" spc="-3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11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dirty="0" spc="5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LTV</a:t>
                      </a:r>
                      <a:r>
                        <a:rPr lang="en-US" sz="1350" dirty="0" spc="-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÷</a:t>
                      </a:r>
                      <a:r>
                        <a:rPr lang="en-US" sz="1350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CAC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dirty="0" spc="-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Debe</a:t>
                      </a:r>
                      <a:r>
                        <a:rPr lang="en-US" sz="1350" dirty="0" spc="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ser mayor</a:t>
                      </a:r>
                      <a:r>
                        <a:rPr lang="en-US" sz="1350" dirty="0" spc="-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a 3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dirty="0" spc="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8:</a:t>
                      </a:r>
                      <a:r>
                        <a:rPr lang="en-US" sz="1350" dirty="0" spc="2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sano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952500" y="9382125"/>
            <a:ext cx="16383000" cy="762000"/>
          </a:xfrm>
          <a:prstGeom prst="roundRect">
            <a:avLst>
              <a:gd name="adj" fmla="val 15000"/>
            </a:avLst>
          </a:prstGeom>
          <a:solidFill>
            <a:srgbClr val="06121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5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Comprueba:</a:t>
            </a:r>
            <a:r>
              <a:rPr lang="en-US" sz="1425" dirty="0" spc="-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¿tu precio</a:t>
            </a:r>
            <a:r>
              <a:rPr lang="en-US" sz="1425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está</a:t>
            </a:r>
            <a:r>
              <a:rPr lang="en-US" sz="1425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entre</a:t>
            </a:r>
            <a:r>
              <a:rPr lang="en-US" sz="1425" dirty="0" spc="-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el</a:t>
            </a:r>
            <a:r>
              <a:rPr lang="en-US" sz="1425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piso</a:t>
            </a:r>
            <a:r>
              <a:rPr lang="en-US" sz="1425" dirty="0" spc="-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</a:t>
            </a:r>
            <a:r>
              <a:rPr lang="en-US" sz="1425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el</a:t>
            </a:r>
            <a:r>
              <a:rPr lang="en-US" sz="1425" dirty="0" spc="-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techo?</a:t>
            </a:r>
            <a:r>
              <a:rPr lang="en-US" sz="1425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¿Se</a:t>
            </a:r>
            <a:r>
              <a:rPr lang="en-US" sz="1425" dirty="0" spc="-4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lo</a:t>
            </a:r>
            <a:r>
              <a:rPr lang="en-US" sz="1425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ofreciste</a:t>
            </a:r>
            <a:r>
              <a:rPr lang="en-US" sz="1425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ya</a:t>
            </a:r>
            <a:r>
              <a:rPr lang="en-US" sz="1425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</a:t>
            </a:r>
            <a:r>
              <a:rPr lang="en-US" sz="1425" dirty="0" spc="-4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cinco</a:t>
            </a:r>
            <a:r>
              <a:rPr lang="en-US" sz="1425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clientes</a:t>
            </a:r>
            <a:r>
              <a:rPr lang="en-US" sz="1425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reales?</a:t>
            </a:r>
            <a:r>
              <a:rPr lang="en-US" sz="1425" dirty="0" spc="-5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Si</a:t>
            </a:r>
            <a:r>
              <a:rPr lang="en-US" sz="1425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nadie</a:t>
            </a:r>
            <a:r>
              <a:rPr lang="en-US" sz="1425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</a:t>
            </a:r>
            <a:r>
              <a:rPr lang="en-US" sz="1425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queja, probablemente</a:t>
            </a:r>
            <a:r>
              <a:rPr lang="en-US" sz="1425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está</a:t>
            </a:r>
            <a:r>
              <a:rPr lang="en-US" sz="1425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bajo.</a:t>
            </a:r>
            <a:r>
              <a:rPr lang="en-US" sz="1425" dirty="0" spc="-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Suma el</a:t>
            </a:r>
            <a:r>
              <a:rPr lang="en-US" sz="1425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IVA</a:t>
            </a:r>
            <a:r>
              <a:rPr lang="en-US" sz="1425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vigente y</a:t>
            </a:r>
            <a:r>
              <a:rPr lang="en-US" sz="1425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</a:t>
            </a:r>
            <a:r>
              <a:rPr lang="en-US" sz="1425" dirty="0" spc="-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comisión de</a:t>
            </a:r>
            <a:r>
              <a:rPr lang="en-US" sz="1425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</a:t>
            </a:r>
            <a:r>
              <a:rPr lang="en-US" sz="1425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pasarela</a:t>
            </a:r>
            <a:r>
              <a:rPr lang="en-US" sz="1425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 pago.</a:t>
            </a:r>
            <a:endParaRPr lang="en-US" sz="1425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2190750"/>
          </a:xfrm>
          <a:prstGeom prst="rect">
            <a:avLst/>
          </a:prstGeom>
          <a:solidFill>
            <a:srgbClr val="EAF5FE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28575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99" kern="0" dirty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FORMATO</a:t>
            </a:r>
            <a:r>
              <a:rPr lang="en-US" sz="1950" spc="227" kern="0" dirty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14</a:t>
            </a:r>
            <a:r>
              <a:rPr lang="en-US" sz="1950" spc="231" kern="0" dirty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·</a:t>
            </a:r>
            <a:r>
              <a:rPr lang="en-US" sz="1950" spc="215" kern="0" dirty="0">
                <a:solidFill>
                  <a:srgbClr val="0693E3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 PROYECTO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666750"/>
            <a:ext cx="1638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7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Registro</a:t>
            </a:r>
            <a:r>
              <a:rPr lang="en-US" sz="4500" b="1" dirty="0" spc="0" kern="0">
                <a:solidFill>
                  <a:srgbClr val="2E36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de riesgos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952500" y="1447800"/>
            <a:ext cx="16383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Para</a:t>
            </a:r>
            <a:r>
              <a:rPr lang="en-US" sz="1575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qué</a:t>
            </a:r>
            <a:r>
              <a:rPr lang="en-US" sz="1575" dirty="0" spc="-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sirve:</a:t>
            </a:r>
            <a:r>
              <a:rPr lang="en-US" sz="1575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anticipar</a:t>
            </a:r>
            <a:r>
              <a:rPr lang="en-US" sz="1575" dirty="0" spc="-3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lo</a:t>
            </a:r>
            <a:r>
              <a:rPr lang="en-US" sz="1575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que</a:t>
            </a:r>
            <a:r>
              <a:rPr lang="en-US" sz="1575" dirty="0" spc="-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puede</a:t>
            </a:r>
            <a:r>
              <a:rPr lang="en-US" sz="1575" dirty="0" spc="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hundir</a:t>
            </a:r>
            <a:r>
              <a:rPr lang="en-US" sz="1575" dirty="0" spc="-4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el</a:t>
            </a:r>
            <a:r>
              <a:rPr lang="en-US" sz="1575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proyecto</a:t>
            </a:r>
            <a:r>
              <a:rPr lang="en-US" sz="1575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cuando</a:t>
            </a:r>
            <a:r>
              <a:rPr lang="en-US" sz="1575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dependes</a:t>
            </a:r>
            <a:r>
              <a:rPr lang="en-US" sz="1575" dirty="0" spc="-3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</a:t>
            </a:r>
            <a:r>
              <a:rPr lang="en-US" sz="1575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plataformas</a:t>
            </a:r>
            <a:r>
              <a:rPr lang="en-US" sz="1575" dirty="0" spc="-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</a:t>
            </a:r>
            <a:r>
              <a:rPr lang="en-US" sz="1575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terceros,</a:t>
            </a:r>
            <a:r>
              <a:rPr lang="en-US" sz="1575" dirty="0" spc="-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</a:t>
            </a:r>
            <a:r>
              <a:rPr lang="en-US" sz="1575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un</a:t>
            </a:r>
            <a:r>
              <a:rPr lang="en-US" sz="1575" dirty="0" spc="-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modelo</a:t>
            </a:r>
            <a:r>
              <a:rPr lang="en-US" sz="1575" dirty="0" spc="-3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</a:t>
            </a:r>
            <a:r>
              <a:rPr lang="en-US" sz="1575" dirty="0" spc="-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IA</a:t>
            </a:r>
            <a:r>
              <a:rPr lang="en-US" sz="1575" dirty="0" spc="-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</a:t>
            </a:r>
            <a:r>
              <a:rPr lang="en-US" sz="1575" dirty="0" spc="-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 datos</a:t>
            </a:r>
            <a:r>
              <a:rPr lang="en-US" sz="1575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personales.</a:t>
            </a:r>
            <a:r>
              <a:rPr lang="en-US" sz="1575" dirty="0" spc="-2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Revisa este</a:t>
            </a:r>
            <a:r>
              <a:rPr lang="en-US" sz="1575" dirty="0" spc="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registro</a:t>
            </a:r>
            <a:r>
              <a:rPr lang="en-US" sz="1575" dirty="0" spc="0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cada</a:t>
            </a:r>
            <a:r>
              <a:rPr lang="en-US" sz="1575" dirty="0" spc="-1" kern="0">
                <a:solidFill>
                  <a:srgbClr val="5058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semana.</a:t>
            </a:r>
            <a:endParaRPr lang="en-US" sz="1575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500" y="2381250"/>
          <a:ext cx="13716000" cy="914400"/>
        </p:xfrm>
        <a:graphic>
          <a:graphicData uri="http://schemas.openxmlformats.org/drawingml/2006/table">
            <a:tbl>
              <a:tblPr/>
              <a:tblGrid>
                <a:gridCol w="5461000"/>
                <a:gridCol w="5461000"/>
                <a:gridCol w="5461000"/>
              </a:tblGrid>
              <a:tr h="4762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10"/>
                        </a:lnSpc>
                        <a:buNone/>
                      </a:pPr>
                      <a:r>
                        <a:rPr lang="en-US" sz="1425" dirty="0" spc="-2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Equipo</a:t>
                      </a:r>
                      <a:r>
                        <a:rPr lang="en-US" sz="1425" dirty="0" spc="-5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o</a:t>
                      </a:r>
                      <a:r>
                        <a:rPr lang="en-US" sz="1425" dirty="0" spc="-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estudiante: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10"/>
                        </a:lnSpc>
                        <a:buNone/>
                      </a:pPr>
                      <a:r>
                        <a:rPr lang="en-US" sz="1425" dirty="0" spc="-3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Proyecto: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10"/>
                        </a:lnSpc>
                        <a:buNone/>
                      </a:pPr>
                      <a:r>
                        <a:rPr lang="en-US" sz="1425" dirty="0" spc="-1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Fecha: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500" y="3000375"/>
          <a:ext cx="1371600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1802130"/>
                <a:gridCol w="1474470"/>
                <a:gridCol w="1474470"/>
                <a:gridCol w="5242560"/>
                <a:gridCol w="2457450"/>
              </a:tblGrid>
              <a:tr h="666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b="1" dirty="0" spc="-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Riesgo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612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b="1" dirty="0" spc="-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Tipo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612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b="1" dirty="0" spc="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Probab.</a:t>
                      </a:r>
                      <a:r>
                        <a:rPr lang="en-US" sz="1350" b="1" dirty="0" spc="-4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(A/M/B)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612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b="1" dirty="0" spc="-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Impacto</a:t>
                      </a:r>
                      <a:r>
                        <a:rPr lang="en-US" sz="1350" b="1" dirty="0" spc="-4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(A/M/B)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612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b="1" dirty="0" spc="-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Cómo lo</a:t>
                      </a:r>
                      <a:r>
                        <a:rPr lang="en-US" sz="1350" b="1" dirty="0" spc="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prevengo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612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b="1" dirty="0" spc="0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Responsable</a:t>
                      </a:r>
                      <a:r>
                        <a:rPr lang="en-US" sz="1350" b="1" dirty="0" spc="3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y</a:t>
                      </a:r>
                      <a:r>
                        <a:rPr lang="en-US" sz="1350" b="1" dirty="0" spc="-1" kern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fecha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61219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dirty="0" spc="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Meta</a:t>
                      </a:r>
                      <a:r>
                        <a:rPr lang="en-US" sz="1350" dirty="0" spc="0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bloquea</a:t>
                      </a:r>
                      <a:r>
                        <a:rPr lang="en-US" sz="1350" dirty="0" spc="2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o</a:t>
                      </a:r>
                      <a:r>
                        <a:rPr lang="en-US" sz="1350" dirty="0" spc="0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demora</a:t>
                      </a:r>
                      <a:r>
                        <a:rPr lang="en-US" sz="1350" dirty="0" spc="-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el</a:t>
                      </a:r>
                      <a:r>
                        <a:rPr lang="en-US" sz="1350" dirty="0" spc="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número</a:t>
                      </a:r>
                      <a:r>
                        <a:rPr lang="en-US" sz="1350" dirty="0" spc="-2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de</a:t>
                      </a:r>
                      <a:r>
                        <a:rPr lang="en-US" sz="1350" dirty="0" spc="2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WhatsApp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dirty="0" spc="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Plataforma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dirty="0" spc="2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dirty="0" spc="4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dirty="0" spc="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Iniciar</a:t>
                      </a:r>
                      <a:r>
                        <a:rPr lang="en-US" sz="1350" dirty="0" spc="2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la</a:t>
                      </a:r>
                      <a:r>
                        <a:rPr lang="en-US" sz="1350" dirty="0" spc="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aprobación</a:t>
                      </a:r>
                      <a:r>
                        <a:rPr lang="en-US" sz="1350" dirty="0" spc="-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en</a:t>
                      </a:r>
                      <a:r>
                        <a:rPr lang="en-US" sz="1350" dirty="0" spc="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la semana</a:t>
                      </a:r>
                      <a:r>
                        <a:rPr lang="en-US" sz="1350" dirty="0" spc="0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4;</a:t>
                      </a:r>
                      <a:r>
                        <a:rPr lang="en-US" sz="1350" dirty="0" spc="2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solo</a:t>
                      </a:r>
                      <a:r>
                        <a:rPr lang="en-US" sz="1350" dirty="0" spc="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pacientes</a:t>
                      </a:r>
                      <a:r>
                        <a:rPr lang="en-US" sz="1350" dirty="0" spc="-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que</a:t>
                      </a:r>
                      <a:r>
                        <a:rPr lang="en-US" sz="1350" dirty="0" spc="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aceptaron; respaldo por</a:t>
                      </a:r>
                      <a:r>
                        <a:rPr lang="en-US" sz="1350" dirty="0" spc="2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SMS</a:t>
                      </a:r>
                      <a:r>
                        <a:rPr lang="en-US" sz="1350" dirty="0" spc="-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o correo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dirty="0" spc="2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La IA inventa</a:t>
                      </a:r>
                      <a:r>
                        <a:rPr lang="en-US" sz="1350" dirty="0" spc="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un consejo</a:t>
                      </a:r>
                      <a:r>
                        <a:rPr lang="en-US" sz="1350" dirty="0" spc="-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médico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dirty="0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Técnico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dirty="0" spc="2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dirty="0" spc="4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dirty="0" spc="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Acotarla</a:t>
                      </a:r>
                      <a:r>
                        <a:rPr lang="en-US" sz="1350" dirty="0" spc="2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a un</a:t>
                      </a:r>
                      <a:r>
                        <a:rPr lang="en-US" sz="1350" dirty="0" spc="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documento base;</a:t>
                      </a:r>
                      <a:r>
                        <a:rPr lang="en-US" sz="1350" dirty="0" spc="0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lo</a:t>
                      </a:r>
                      <a:r>
                        <a:rPr lang="en-US" sz="1350" dirty="0" spc="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clínico pasa</a:t>
                      </a:r>
                      <a:r>
                        <a:rPr lang="en-US" sz="1350" dirty="0" spc="2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a</a:t>
                      </a:r>
                      <a:r>
                        <a:rPr lang="en-US" sz="1350" dirty="0" spc="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la recepcionista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dirty="0" spc="2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Trámites</a:t>
                      </a:r>
                      <a:r>
                        <a:rPr lang="en-US" sz="1350" dirty="0" spc="0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legales</a:t>
                      </a:r>
                      <a:r>
                        <a:rPr lang="en-US" sz="1350" dirty="0" spc="3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tardíos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dirty="0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Legal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dirty="0" spc="2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dirty="0" spc="4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dirty="0" spc="-2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RUC</a:t>
                      </a:r>
                      <a:r>
                        <a:rPr lang="en-US" sz="1350" dirty="0" spc="0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y</a:t>
                      </a:r>
                      <a:r>
                        <a:rPr lang="en-US" sz="1350" dirty="0" spc="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consentimiento desde</a:t>
                      </a:r>
                      <a:r>
                        <a:rPr lang="en-US" sz="1350" dirty="0" spc="2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la</a:t>
                      </a:r>
                      <a:r>
                        <a:rPr lang="en-US" sz="1350" dirty="0" spc="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fase</a:t>
                      </a:r>
                      <a:r>
                        <a:rPr lang="en-US" sz="1350" dirty="0" spc="-1" kern="0">
                          <a:solidFill>
                            <a:srgbClr val="6E767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1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7F9FB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20"/>
                        </a:lnSpc>
                        <a:buNone/>
                      </a:pPr>
                      <a:r>
                        <a:rPr lang="en-US" sz="1350" dirty="0" kern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952500" y="7191375"/>
            <a:ext cx="16383000" cy="2809875"/>
          </a:xfrm>
          <a:prstGeom prst="roundRect">
            <a:avLst>
              <a:gd name="adj" fmla="val 4068"/>
            </a:avLst>
          </a:prstGeom>
          <a:solidFill>
            <a:srgbClr val="061219"/>
          </a:solidFill>
          <a:ln/>
        </p:spPr>
      </p:sp>
      <p:sp>
        <p:nvSpPr>
          <p:cNvPr id="9" name="Text 5"/>
          <p:cNvSpPr/>
          <p:nvPr/>
        </p:nvSpPr>
        <p:spPr>
          <a:xfrm>
            <a:off x="1257300" y="7381875"/>
            <a:ext cx="15773400" cy="317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 spc="-1" kern="0">
                <a:solidFill>
                  <a:srgbClr val="0693E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Lista</a:t>
            </a:r>
            <a:r>
              <a:rPr lang="en-US" sz="1800" b="1" dirty="0" spc="-3" kern="0">
                <a:solidFill>
                  <a:srgbClr val="0693E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de</a:t>
            </a:r>
            <a:r>
              <a:rPr lang="en-US" sz="1800" b="1" dirty="0" spc="-2" kern="0">
                <a:solidFill>
                  <a:srgbClr val="0693E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control</a:t>
            </a:r>
            <a:r>
              <a:rPr lang="en-US" sz="1800" b="1" dirty="0" spc="-5" kern="0">
                <a:solidFill>
                  <a:srgbClr val="0693E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antes</a:t>
            </a:r>
            <a:r>
              <a:rPr lang="en-US" sz="1800" b="1" dirty="0" spc="-3" kern="0">
                <a:solidFill>
                  <a:srgbClr val="0693E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de</a:t>
            </a:r>
            <a:r>
              <a:rPr lang="en-US" sz="1800" b="1" dirty="0" spc="-1" kern="0">
                <a:solidFill>
                  <a:srgbClr val="0693E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lanzar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257300" y="7755548"/>
            <a:ext cx="15773400" cy="2055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☐ La IA solo responde desde un documento base aprobado por el cliente.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☐ Toda conversación sensible pasa a una persona al instante.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☐ Tengo RUC y sé qué régimen me conviene (consulta a un contador).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☐ Pido consentimiento y protejo los datos según la Ley Orgánica de Protección de Datos Personales.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☐ Tengo un canal de respaldo si la plataforma principal falla.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☐ Sé cuánto me cuesta la IA por cliente al mes.</a:t>
            </a:r>
            <a:endParaRPr lang="en-US" sz="15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612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oda image rect-1792684219528-694543477" descr="">    </p:cNvPr>
          <p:cNvPicPr>
            <a:picLocks noChangeAspect="1"/>
          </p:cNvPicPr>
          <p:nvPr/>
        </p:nvPicPr>
        <p:blipFill>
          <a:blip r:embed="rId1"/>
          <a:srcRect l="24420" r="24420" t="0" b="0"/>
          <a:stretch/>
        </p:blipFill>
        <p:spPr>
          <a:xfrm>
            <a:off x="11239500" y="0"/>
            <a:ext cx="7048500" cy="10287000"/>
          </a:xfrm>
          <a:prstGeom prst="rect">
            <a:avLst/>
          </a:prstGeom>
        </p:spPr>
      </p:pic>
      <p:sp>
        <p:nvSpPr>
          <p:cNvPr id="3" name="Shape rect-1792684219529-887393099"/>
          <p:cNvSpPr/>
          <p:nvPr/>
        </p:nvSpPr>
        <p:spPr>
          <a:xfrm>
            <a:off x="11239500" y="0"/>
            <a:ext cx="7048500" cy="10287000"/>
          </a:xfrm>
          <a:prstGeom prst="rect">
            <a:avLst/>
          </a:prstGeom>
          <a:gradFill rotWithShape="1">
            <a:gsLst>
              <a:gs pos="0">
                <a:srgbClr val="061219"/>
              </a:gs>
              <a:gs pos="40000">
                <a:srgbClr val="061219">
                  <a:alpha val="0"/>
                </a:srgbClr>
              </a:gs>
              <a:gs pos="100000">
                <a:srgbClr val="061219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4" name="Text 1"/>
          <p:cNvSpPr/>
          <p:nvPr/>
        </p:nvSpPr>
        <p:spPr>
          <a:xfrm>
            <a:off x="1143000" y="857250"/>
            <a:ext cx="9525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44" b="1" dirty="0" spc="-154" kern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Tu</a:t>
            </a:r>
            <a:r>
              <a:rPr lang="en-US" sz="6244" b="1" dirty="0" spc="2" kern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turno:</a:t>
            </a:r>
            <a:r>
              <a:rPr lang="en-US" sz="6244" b="1" dirty="0" spc="-1" kern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escucha,</a:t>
            </a:r>
            <a:r>
              <a:rPr lang="en-US" sz="6244" b="1" dirty="0" spc="-18" kern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observa</a:t>
            </a:r>
            <a:r>
              <a:rPr lang="en-US" sz="6244" b="1" dirty="0" spc="6" kern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y</a:t>
            </a:r>
            <a:r>
              <a:rPr lang="en-US" sz="6244" b="1" dirty="0" spc="-6" kern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pregunta</a:t>
            </a:r>
            <a:endParaRPr lang="en-US" sz="6244" dirty="0"/>
          </a:p>
        </p:txBody>
      </p:sp>
      <p:sp>
        <p:nvSpPr>
          <p:cNvPr id="5" name="Text 2"/>
          <p:cNvSpPr/>
          <p:nvPr/>
        </p:nvSpPr>
        <p:spPr>
          <a:xfrm>
            <a:off x="1143000" y="3238500"/>
            <a:ext cx="762000" cy="762000"/>
          </a:xfrm>
          <a:prstGeom prst="ellipse">
            <a:avLst/>
          </a:prstGeom>
          <a:solidFill>
            <a:srgbClr val="0693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3" b="1" dirty="0" spc="-4" kern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</a:t>
            </a:r>
            <a:endParaRPr lang="en-US" sz="2533" dirty="0"/>
          </a:p>
        </p:txBody>
      </p:sp>
      <p:sp>
        <p:nvSpPr>
          <p:cNvPr id="6" name="Text 3"/>
          <p:cNvSpPr/>
          <p:nvPr/>
        </p:nvSpPr>
        <p:spPr>
          <a:xfrm>
            <a:off x="2171700" y="3238500"/>
            <a:ext cx="84963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Escucha</a:t>
            </a:r>
            <a:r>
              <a:rPr lang="en-US" sz="240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el</a:t>
            </a:r>
            <a:r>
              <a:rPr lang="en-US" sz="240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audio</a:t>
            </a:r>
            <a:r>
              <a:rPr lang="en-US" sz="240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completo y</a:t>
            </a:r>
            <a:r>
              <a:rPr lang="en-US" sz="2400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anota</a:t>
            </a:r>
            <a:r>
              <a:rPr lang="en-US" sz="240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tres ideas</a:t>
            </a:r>
            <a:r>
              <a:rPr lang="en-US" sz="240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que</a:t>
            </a:r>
            <a:r>
              <a:rPr lang="en-US" sz="240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te</a:t>
            </a:r>
            <a:r>
              <a:rPr lang="en-US" sz="240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sorprendieron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143000" y="4705350"/>
            <a:ext cx="762000" cy="762000"/>
          </a:xfrm>
          <a:prstGeom prst="ellipse">
            <a:avLst/>
          </a:prstGeom>
          <a:solidFill>
            <a:srgbClr val="0693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3" b="1" dirty="0" spc="-4" kern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</a:t>
            </a:r>
            <a:endParaRPr lang="en-US" sz="2533" dirty="0"/>
          </a:p>
        </p:txBody>
      </p:sp>
      <p:sp>
        <p:nvSpPr>
          <p:cNvPr id="8" name="Text 5"/>
          <p:cNvSpPr/>
          <p:nvPr/>
        </p:nvSpPr>
        <p:spPr>
          <a:xfrm>
            <a:off x="2171700" y="4705350"/>
            <a:ext cx="84963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Observa</a:t>
            </a:r>
            <a:r>
              <a:rPr lang="en-US" sz="240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durante</a:t>
            </a:r>
            <a:r>
              <a:rPr lang="en-US" sz="2400" dirty="0" spc="-4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una</a:t>
            </a:r>
            <a:r>
              <a:rPr lang="en-US" sz="240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hora</a:t>
            </a:r>
            <a:r>
              <a:rPr lang="en-US" sz="2400" dirty="0" spc="-4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</a:t>
            </a:r>
            <a:r>
              <a:rPr lang="en-US" sz="240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alguien</a:t>
            </a:r>
            <a:r>
              <a:rPr lang="en-US" sz="240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trabajando</a:t>
            </a:r>
            <a:r>
              <a:rPr lang="en-US" sz="2400" dirty="0" spc="-4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en</a:t>
            </a:r>
            <a:r>
              <a:rPr lang="en-US" sz="2400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un</a:t>
            </a:r>
            <a:r>
              <a:rPr lang="en-US" sz="240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negocio</a:t>
            </a:r>
            <a:r>
              <a:rPr lang="en-US" sz="2400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cercano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143000" y="6172200"/>
            <a:ext cx="762000" cy="762000"/>
          </a:xfrm>
          <a:prstGeom prst="ellipse">
            <a:avLst/>
          </a:prstGeom>
          <a:solidFill>
            <a:srgbClr val="0693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3" b="1" dirty="0" spc="-6" kern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3</a:t>
            </a:r>
            <a:endParaRPr lang="en-US" sz="2533" dirty="0"/>
          </a:p>
        </p:txBody>
      </p:sp>
      <p:sp>
        <p:nvSpPr>
          <p:cNvPr id="10" name="Text 7"/>
          <p:cNvSpPr/>
          <p:nvPr/>
        </p:nvSpPr>
        <p:spPr>
          <a:xfrm>
            <a:off x="2171700" y="6172200"/>
            <a:ext cx="84963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Entrevista</a:t>
            </a:r>
            <a:r>
              <a:rPr lang="en-US" sz="2400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</a:t>
            </a:r>
            <a:r>
              <a:rPr lang="en-US" sz="240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cinco</a:t>
            </a:r>
            <a:r>
              <a:rPr lang="en-US" sz="2400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personas</a:t>
            </a:r>
            <a:r>
              <a:rPr lang="en-US" sz="2400" dirty="0" spc="-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</a:t>
            </a:r>
            <a:r>
              <a:rPr lang="en-US" sz="240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el</a:t>
            </a:r>
            <a:r>
              <a:rPr lang="en-US" sz="240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guion</a:t>
            </a:r>
            <a:r>
              <a:rPr lang="en-US" sz="240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del</a:t>
            </a:r>
            <a:r>
              <a:rPr lang="en-US" sz="2400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formato</a:t>
            </a:r>
            <a:r>
              <a:rPr lang="en-US" sz="240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1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143000" y="8001000"/>
            <a:ext cx="9525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Francisco</a:t>
            </a:r>
            <a:r>
              <a:rPr lang="en-US" sz="1800" b="1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Rodríguez</a:t>
            </a:r>
            <a:pPr algn="l" indent="0" marL="0">
              <a:buNone/>
            </a:pPr>
            <a:r>
              <a:rPr lang="en-US" sz="1800" dirty="0" spc="1" kern="0">
                <a:solidFill>
                  <a:srgbClr val="BFC8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· Docente</a:t>
            </a:r>
            <a:r>
              <a:rPr lang="en-US" sz="1800" dirty="0" spc="2" kern="0">
                <a:solidFill>
                  <a:srgbClr val="BFC8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Principal</a:t>
            </a:r>
            <a:r>
              <a:rPr lang="en-US" sz="1800" dirty="0" spc="5" kern="0">
                <a:solidFill>
                  <a:srgbClr val="BFC8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1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 spc="0" kern="0">
                <a:solidFill>
                  <a:srgbClr val="BFC8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frodriguez@puce.edu.ec</a:t>
            </a:r>
            <a:r>
              <a:rPr lang="en-US" sz="1800" dirty="0" spc="3" kern="0">
                <a:solidFill>
                  <a:srgbClr val="BFC8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·</a:t>
            </a:r>
            <a:r>
              <a:rPr lang="en-US" sz="1800" dirty="0" spc="5" kern="0">
                <a:solidFill>
                  <a:srgbClr val="BFC8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(593-2)</a:t>
            </a:r>
            <a:r>
              <a:rPr lang="en-US" sz="1800" dirty="0" spc="4" kern="0">
                <a:solidFill>
                  <a:srgbClr val="BFC8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2991700</a:t>
            </a:r>
            <a:r>
              <a:rPr lang="en-US" sz="1800" dirty="0" spc="2" kern="0">
                <a:solidFill>
                  <a:srgbClr val="BFC8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ext.</a:t>
            </a:r>
            <a:r>
              <a:rPr lang="en-US" sz="1800" dirty="0" spc="4" kern="0">
                <a:solidFill>
                  <a:srgbClr val="BFC8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1289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 spc="2" kern="0">
                <a:solidFill>
                  <a:srgbClr val="BFC8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Pontificia</a:t>
            </a:r>
            <a:r>
              <a:rPr lang="en-US" sz="1800" dirty="0" spc="1" kern="0">
                <a:solidFill>
                  <a:srgbClr val="BFC8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Universidad Católica del Ecuador</a:t>
            </a:r>
            <a:endParaRPr lang="en-US" sz="1800" dirty="0"/>
          </a:p>
        </p:txBody>
      </p:sp>
      <p:pic>
        <p:nvPicPr>
          <p:cNvPr id="12" name="Moda image rect-1792684219810-109699535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43000" y="9192716"/>
            <a:ext cx="2857500" cy="78839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2026-10-22T15:58:18Z</dcterms:created>
  <dcterms:modified xsi:type="dcterms:W3CDTF">2026-10-22T15:58:18Z</dcterms:modified>
</cp:coreProperties>
</file>