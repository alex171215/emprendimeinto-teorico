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84" r:id="rId8"/>
    <p:sldId id="285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87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66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9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6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94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7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6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02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9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12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2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1216151"/>
            <a:ext cx="3840480" cy="1993393"/>
          </a:xfrm>
          <a:prstGeom prst="ellipse">
            <a:avLst/>
          </a:prstGeom>
          <a:solidFill>
            <a:schemeClr val="bg1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 dirty="0"/>
          </a:p>
        </p:txBody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274320" y="23774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FACULTAD DE INGENIERÍA EN SISTEMAS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4754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 Tecnológico  ·  Prof. Francisco Rodríguez  · 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786384"/>
            <a:ext cx="8412480" cy="36576"/>
          </a:xfrm>
          <a:prstGeom prst="rect">
            <a:avLst/>
          </a:prstGeom>
          <a:solidFill>
            <a:srgbClr val="1E3545"/>
          </a:solidFill>
          <a:ln w="1270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Completo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Lean Startup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Actividades en Aula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· Actividades · Alianzas · Costos · Construir–Medir–Aprender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73552"/>
            <a:ext cx="8412480" cy="36576"/>
          </a:xfrm>
          <a:prstGeom prst="rect">
            <a:avLst/>
          </a:prstGeom>
          <a:solidFill>
            <a:srgbClr val="1E3545"/>
          </a:solidFill>
          <a:ln w="1270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2798064" cy="475488"/>
          </a:xfrm>
          <a:prstGeom prst="roundRect">
            <a:avLst>
              <a:gd name="adj" fmla="val 19231"/>
            </a:avLst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457200" y="34198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Bloque 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mañana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10128" y="3401568"/>
            <a:ext cx="2798064" cy="475488"/>
          </a:xfrm>
          <a:prstGeom prst="roundRect">
            <a:avLst>
              <a:gd name="adj" fmla="val 19231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3401568" y="34198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Bloque 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36301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2.4–2.7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54496" y="3401568"/>
            <a:ext cx="2798064" cy="475488"/>
          </a:xfrm>
          <a:prstGeom prst="roundRect">
            <a:avLst>
              <a:gd name="adj" fmla="val 19231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6345936" y="34198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Bloque 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45936" y="36301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en aula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0050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 2519  ·  3 horas  ·  Canvas 2.4–2.7 · Lean Startup · ApS</a:t>
            </a:r>
            <a:endParaRPr lang="en-US" sz="10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7DBAE6D-27EF-1F60-8C6E-6F6F3C6CE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169" y="1683639"/>
            <a:ext cx="3311071" cy="1251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hoy — 3 horas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· Teoría · Actividades divertidas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7" name="Shape 5"/>
          <p:cNvSpPr/>
          <p:nvPr/>
        </p:nvSpPr>
        <p:spPr>
          <a:xfrm>
            <a:off x="164592" y="896112"/>
            <a:ext cx="8814816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8" name="Shape 6"/>
          <p:cNvSpPr/>
          <p:nvPr/>
        </p:nvSpPr>
        <p:spPr>
          <a:xfrm>
            <a:off x="164592" y="896112"/>
            <a:ext cx="54864" cy="612648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9" name="Text 7"/>
          <p:cNvSpPr/>
          <p:nvPr/>
        </p:nvSpPr>
        <p:spPr>
          <a:xfrm>
            <a:off x="274320" y="950976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4944" y="9509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A — Tarea de mañana (20 min)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" y="1207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Tarea 5 · Sprint Plan · Entregables técnicos · Fechas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4592" y="1563624"/>
            <a:ext cx="8814816" cy="612648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3" name="Shape 11"/>
          <p:cNvSpPr/>
          <p:nvPr/>
        </p:nvSpPr>
        <p:spPr>
          <a:xfrm>
            <a:off x="164592" y="1563624"/>
            <a:ext cx="54864" cy="612648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4" name="Text 12"/>
          <p:cNvSpPr/>
          <p:nvPr/>
        </p:nvSpPr>
        <p:spPr>
          <a:xfrm>
            <a:off x="274320" y="1618488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" y="16184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 — Teoría Canvas 2.4 (40 min)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6-8: Recursos, Actividades, Alianzas clave · ApS · Ejemplos Ecuador y mundo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4592" y="2231136"/>
            <a:ext cx="8814816" cy="6126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8" name="Shape 16"/>
          <p:cNvSpPr/>
          <p:nvPr/>
        </p:nvSpPr>
        <p:spPr>
          <a:xfrm>
            <a:off x="164592" y="2231136"/>
            <a:ext cx="54864" cy="612648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9" name="Text 17"/>
          <p:cNvSpPr/>
          <p:nvPr/>
        </p:nvSpPr>
        <p:spPr>
          <a:xfrm>
            <a:off x="274320" y="228600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" y="22860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 — Teoría Canvas 2.5 (40 min)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" y="2542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9: Costos · Lean Startup construir–medir–aprender · Consolidación Canvas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" y="2898648"/>
            <a:ext cx="8814816" cy="612648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3" name="Shape 21"/>
          <p:cNvSpPr/>
          <p:nvPr/>
        </p:nvSpPr>
        <p:spPr>
          <a:xfrm>
            <a:off x="164592" y="2898648"/>
            <a:ext cx="54864" cy="6126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4" name="Text 22"/>
          <p:cNvSpPr/>
          <p:nvPr/>
        </p:nvSpPr>
        <p:spPr>
          <a:xfrm>
            <a:off x="274320" y="2953512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4944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 — 2.6 Entrega del proyecto (20 min)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" y="3209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Criterios, fechas, formato y rúbrica de entrega del prototipo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4592" y="3566160"/>
            <a:ext cx="54864" cy="6126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9" name="Text 27"/>
          <p:cNvSpPr/>
          <p:nvPr/>
        </p:nvSpPr>
        <p:spPr>
          <a:xfrm>
            <a:off x="274320" y="3621024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4944" y="36210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 — 2.7 (10 min)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4944" y="38770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y cierre del semestre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64592" y="4233672"/>
            <a:ext cx="8814816" cy="612648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3" name="Shape 31"/>
          <p:cNvSpPr/>
          <p:nvPr/>
        </p:nvSpPr>
        <p:spPr>
          <a:xfrm>
            <a:off x="164592" y="4233672"/>
            <a:ext cx="54864" cy="6126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4" name="Text 32"/>
          <p:cNvSpPr/>
          <p:nvPr/>
        </p:nvSpPr>
        <p:spPr>
          <a:xfrm>
            <a:off x="274320" y="4288536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4944" y="42885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C — Actividades en aula (50 min)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" y="4544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actividades divertidas: Canvas Battle · Lean Startup Carrera · Demo Day Express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8" name="Text 36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548640"/>
            <a:ext cx="3200400" cy="3200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TAREA DE MAÑANA — Entrega: 6 de mayo · 09:00 · EVA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28600" y="603504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" y="877824"/>
            <a:ext cx="2852928" cy="32918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7" name="Text 5"/>
          <p:cNvSpPr/>
          <p:nvPr/>
        </p:nvSpPr>
        <p:spPr>
          <a:xfrm>
            <a:off x="256032" y="896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Tarea 4 (cierre)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64592" y="1261872"/>
            <a:ext cx="2852928" cy="2999232"/>
          </a:xfrm>
          <a:prstGeom prst="roundRect">
            <a:avLst>
              <a:gd name="adj" fmla="val 3205"/>
            </a:avLst>
          </a:prstGeom>
          <a:solidFill>
            <a:srgbClr val="1B3A5C"/>
          </a:solidFill>
          <a:ln w="1016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9" name="Text 7"/>
          <p:cNvSpPr/>
          <p:nvPr/>
        </p:nvSpPr>
        <p:spPr>
          <a:xfrm>
            <a:off x="274320" y="1335024"/>
            <a:ext cx="26334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encuestas JTBD con usuarios reales de Fe y Alegría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completo · PMV mostrado en vivo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evidencia · Indicadores calculados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Subir como ZIP o PDF al EVA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63824" y="877824"/>
            <a:ext cx="2852928" cy="329184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1" name="Text 9"/>
          <p:cNvSpPr/>
          <p:nvPr/>
        </p:nvSpPr>
        <p:spPr>
          <a:xfrm>
            <a:off x="3255264" y="896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Tarea 5 (nueva)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63824" y="1261872"/>
            <a:ext cx="2852928" cy="2999232"/>
          </a:xfrm>
          <a:prstGeom prst="roundRect">
            <a:avLst>
              <a:gd name="adj" fmla="val 3205"/>
            </a:avLst>
          </a:prstGeom>
          <a:solidFill>
            <a:srgbClr val="1B3A5C"/>
          </a:solidFill>
          <a:ln w="1016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3" name="Text 11"/>
          <p:cNvSpPr/>
          <p:nvPr/>
        </p:nvSpPr>
        <p:spPr>
          <a:xfrm>
            <a:off x="3273552" y="1335024"/>
            <a:ext cx="26334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 completo: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Roles Scrum + responsabilidades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Sprint Backlog 5 semanas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Repositorio GitHub público activo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URL de deploy funcionando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README con credenciales docente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877824"/>
            <a:ext cx="2852928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5" name="Text 13"/>
          <p:cNvSpPr/>
          <p:nvPr/>
        </p:nvSpPr>
        <p:spPr>
          <a:xfrm>
            <a:off x="6254496" y="896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Entregables técnicos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63056" y="1261872"/>
            <a:ext cx="2852928" cy="2999232"/>
          </a:xfrm>
          <a:prstGeom prst="roundRect">
            <a:avLst>
              <a:gd name="adj" fmla="val 3205"/>
            </a:avLst>
          </a:prstGeom>
          <a:solidFill>
            <a:srgbClr val="1B3A5C"/>
          </a:solidFill>
          <a:ln w="1016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7" name="Text 15"/>
          <p:cNvSpPr/>
          <p:nvPr/>
        </p:nvSpPr>
        <p:spPr>
          <a:xfrm>
            <a:off x="6272784" y="1335024"/>
            <a:ext cx="26334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en GitHub (repo público)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deploy activa + credenciales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(README)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(1 página)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campo Semana 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" y="4352544"/>
            <a:ext cx="8814816" cy="32918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9" name="Text 17"/>
          <p:cNvSpPr/>
          <p:nvPr/>
        </p:nvSpPr>
        <p:spPr>
          <a:xfrm>
            <a:off x="274320" y="43708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Tarea 4: 5 mayo · Tarea 5 Sprint Plan: 5 mayo · Prototipo funcional demo: 1 de junio en clase  ·  Valor T4: 50 pts · Valor T5: 50 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1" name="Text 19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5 — Sprint Backlog: qué entregar cada semana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específicas, no 'hacer cosas'. Una función = una pantalla que funciona.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1664208" cy="32918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8" name="Text 6"/>
          <p:cNvSpPr/>
          <p:nvPr/>
        </p:nvSpPr>
        <p:spPr>
          <a:xfrm>
            <a:off x="219456" y="841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" y="10241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abr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207008"/>
            <a:ext cx="1664208" cy="320040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1" name="Shape 9"/>
          <p:cNvSpPr/>
          <p:nvPr/>
        </p:nvSpPr>
        <p:spPr>
          <a:xfrm>
            <a:off x="219456" y="1280160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2" name="Text 10"/>
          <p:cNvSpPr/>
          <p:nvPr/>
        </p:nvSpPr>
        <p:spPr>
          <a:xfrm>
            <a:off x="256032" y="1316736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GitHub público con README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" y="2029968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5" name="Text 13"/>
          <p:cNvSpPr/>
          <p:nvPr/>
        </p:nvSpPr>
        <p:spPr>
          <a:xfrm>
            <a:off x="256032" y="2066544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06654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 deployada en URL pública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9456" y="2779776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8" name="Text 16"/>
          <p:cNvSpPr/>
          <p:nvPr/>
        </p:nvSpPr>
        <p:spPr>
          <a:xfrm>
            <a:off x="256032" y="2816352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1635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o acción básica funcionando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9456" y="3529584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1" name="Text 19"/>
          <p:cNvSpPr/>
          <p:nvPr/>
        </p:nvSpPr>
        <p:spPr>
          <a:xfrm>
            <a:off x="256032" y="3566160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Vercel/Railway/Render activo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20240" y="822960"/>
            <a:ext cx="1664208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4" name="Text 22"/>
          <p:cNvSpPr/>
          <p:nvPr/>
        </p:nvSpPr>
        <p:spPr>
          <a:xfrm>
            <a:off x="1975104" y="841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75104" y="10241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920240" y="1207008"/>
            <a:ext cx="1664208" cy="320040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7" name="Shape 25"/>
          <p:cNvSpPr/>
          <p:nvPr/>
        </p:nvSpPr>
        <p:spPr>
          <a:xfrm>
            <a:off x="1975104" y="1280160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8" name="Text 26"/>
          <p:cNvSpPr/>
          <p:nvPr/>
        </p:nvSpPr>
        <p:spPr>
          <a:xfrm>
            <a:off x="2011680" y="1316736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12848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 IA end-to-end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75104" y="2029968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1" name="Text 29"/>
          <p:cNvSpPr/>
          <p:nvPr/>
        </p:nvSpPr>
        <p:spPr>
          <a:xfrm>
            <a:off x="2011680" y="2066544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12848" y="206654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usuario → llamada API → resultado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975104" y="2779776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4" name="Text 32"/>
          <p:cNvSpPr/>
          <p:nvPr/>
        </p:nvSpPr>
        <p:spPr>
          <a:xfrm>
            <a:off x="2011680" y="2816352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12848" y="281635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uso activados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75104" y="3529584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7" name="Text 35"/>
          <p:cNvSpPr/>
          <p:nvPr/>
        </p:nvSpPr>
        <p:spPr>
          <a:xfrm>
            <a:off x="2011680" y="3566160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12848" y="356616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usuarios prueban sin ayuda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75888" y="822960"/>
            <a:ext cx="1664208" cy="329184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0" name="Text 38"/>
          <p:cNvSpPr/>
          <p:nvPr/>
        </p:nvSpPr>
        <p:spPr>
          <a:xfrm>
            <a:off x="3730752" y="841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30752" y="10241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75888" y="1207008"/>
            <a:ext cx="1664208" cy="320040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3" name="Shape 41"/>
          <p:cNvSpPr/>
          <p:nvPr/>
        </p:nvSpPr>
        <p:spPr>
          <a:xfrm>
            <a:off x="3730752" y="1280160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4" name="Text 42"/>
          <p:cNvSpPr/>
          <p:nvPr/>
        </p:nvSpPr>
        <p:spPr>
          <a:xfrm>
            <a:off x="3767328" y="1316736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968496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pantallas principales completas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30752" y="2029968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7" name="Text 45"/>
          <p:cNvSpPr/>
          <p:nvPr/>
        </p:nvSpPr>
        <p:spPr>
          <a:xfrm>
            <a:off x="3767328" y="2066544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968496" y="206654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 con credenciales docente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730752" y="2779776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0" name="Text 48"/>
          <p:cNvSpPr/>
          <p:nvPr/>
        </p:nvSpPr>
        <p:spPr>
          <a:xfrm>
            <a:off x="3767328" y="2816352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968496" y="281635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usabilidad documentada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730752" y="3529584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3" name="Text 51"/>
          <p:cNvSpPr/>
          <p:nvPr/>
        </p:nvSpPr>
        <p:spPr>
          <a:xfrm>
            <a:off x="3767328" y="3566160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968496" y="356616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críticos en producción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31536" y="822960"/>
            <a:ext cx="1664208" cy="32918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6" name="Text 54"/>
          <p:cNvSpPr/>
          <p:nvPr/>
        </p:nvSpPr>
        <p:spPr>
          <a:xfrm>
            <a:off x="5486400" y="841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0" y="10241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</a:t>
            </a:r>
            <a:r>
              <a:rPr lang="en-US" sz="10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431536" y="1207008"/>
            <a:ext cx="1664208" cy="320040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9" name="Shape 57"/>
          <p:cNvSpPr/>
          <p:nvPr/>
        </p:nvSpPr>
        <p:spPr>
          <a:xfrm>
            <a:off x="5486400" y="1280160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60" name="Text 58"/>
          <p:cNvSpPr/>
          <p:nvPr/>
        </p:nvSpPr>
        <p:spPr>
          <a:xfrm>
            <a:off x="5522976" y="1316736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724144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usuarios reales documentados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0" y="2029968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63" name="Text 61"/>
          <p:cNvSpPr/>
          <p:nvPr/>
        </p:nvSpPr>
        <p:spPr>
          <a:xfrm>
            <a:off x="5522976" y="2066544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724144" y="206654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adopción, NPS, WTU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486400" y="2779776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66" name="Text 64"/>
          <p:cNvSpPr/>
          <p:nvPr/>
        </p:nvSpPr>
        <p:spPr>
          <a:xfrm>
            <a:off x="5522976" y="2816352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724144" y="281635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incorporado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486400" y="3529584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69" name="Text 67"/>
          <p:cNvSpPr/>
          <p:nvPr/>
        </p:nvSpPr>
        <p:spPr>
          <a:xfrm>
            <a:off x="5522976" y="3566160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724144" y="356616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urgentes aplicados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187184" y="822960"/>
            <a:ext cx="1664208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72" name="Text 70"/>
          <p:cNvSpPr/>
          <p:nvPr/>
        </p:nvSpPr>
        <p:spPr>
          <a:xfrm>
            <a:off x="7242048" y="841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FINAL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242048" y="102412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187184" y="1207008"/>
            <a:ext cx="1664208" cy="320040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75" name="Shape 73"/>
          <p:cNvSpPr/>
          <p:nvPr/>
        </p:nvSpPr>
        <p:spPr>
          <a:xfrm>
            <a:off x="7242048" y="1280160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76" name="Text 74"/>
          <p:cNvSpPr/>
          <p:nvPr/>
        </p:nvSpPr>
        <p:spPr>
          <a:xfrm>
            <a:off x="7278624" y="1316736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479792" y="1316736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completo en GitHub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242048" y="2029968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79" name="Text 77"/>
          <p:cNvSpPr/>
          <p:nvPr/>
        </p:nvSpPr>
        <p:spPr>
          <a:xfrm>
            <a:off x="7278624" y="2066544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7479792" y="2066544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manual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7242048" y="2779776"/>
            <a:ext cx="1554480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82" name="Text 80"/>
          <p:cNvSpPr/>
          <p:nvPr/>
        </p:nvSpPr>
        <p:spPr>
          <a:xfrm>
            <a:off x="7278624" y="2816352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479792" y="281635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5 min en clase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242048" y="3529584"/>
            <a:ext cx="1554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85" name="Text 83"/>
          <p:cNvSpPr/>
          <p:nvPr/>
        </p:nvSpPr>
        <p:spPr>
          <a:xfrm>
            <a:off x="7278624" y="3566160"/>
            <a:ext cx="201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7479792" y="356616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formal al docente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64592" y="4498848"/>
            <a:ext cx="8814816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88" name="Text 86"/>
          <p:cNvSpPr/>
          <p:nvPr/>
        </p:nvSpPr>
        <p:spPr>
          <a:xfrm>
            <a:off x="274320" y="4517136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una función está 'done' cuando (1) está en el deploy público, (2) un usuario real la probó sin ayuda, (3) no hay errores críticos en producción.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0" name="Text 88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antes de subir — Tarea 4 y Tarea 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uno a uno antes del 5 de mayo 09:00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4279392" cy="2743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8" name="Text 6"/>
          <p:cNvSpPr/>
          <p:nvPr/>
        </p:nvSpPr>
        <p:spPr>
          <a:xfrm>
            <a:off x="256032" y="84124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Tarea 4 — Encuestas JTBD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4592" y="1152144"/>
            <a:ext cx="4279392" cy="51206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0" name="Shape 8"/>
          <p:cNvSpPr/>
          <p:nvPr/>
        </p:nvSpPr>
        <p:spPr>
          <a:xfrm>
            <a:off x="164592" y="1152144"/>
            <a:ext cx="54864" cy="51206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1" name="Text 9"/>
          <p:cNvSpPr/>
          <p:nvPr/>
        </p:nvSpPr>
        <p:spPr>
          <a:xfrm>
            <a:off x="256032" y="12070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6928" y="118872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encuestas con datos completos del docente (nombre, cargo, UE, fecha)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1719072"/>
            <a:ext cx="42793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4" name="Shape 12"/>
          <p:cNvSpPr/>
          <p:nvPr/>
        </p:nvSpPr>
        <p:spPr>
          <a:xfrm>
            <a:off x="164592" y="1719072"/>
            <a:ext cx="54864" cy="51206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5" name="Text 13"/>
          <p:cNvSpPr/>
          <p:nvPr/>
        </p:nvSpPr>
        <p:spPr>
          <a:xfrm>
            <a:off x="256032" y="17739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6928" y="1755648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mostrado en vivo durante cada encuesta — no descripción verbal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2286000"/>
            <a:ext cx="4279392" cy="51206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8" name="Shape 16"/>
          <p:cNvSpPr/>
          <p:nvPr/>
        </p:nvSpPr>
        <p:spPr>
          <a:xfrm>
            <a:off x="164592" y="2286000"/>
            <a:ext cx="54864" cy="51206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9" name="Text 17"/>
          <p:cNvSpPr/>
          <p:nvPr/>
        </p:nvSpPr>
        <p:spPr>
          <a:xfrm>
            <a:off x="256032" y="23408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6928" y="2322576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del entrevistado usando el PMV con su consentimiento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" y="2852928"/>
            <a:ext cx="42793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2" name="Shape 20"/>
          <p:cNvSpPr/>
          <p:nvPr/>
        </p:nvSpPr>
        <p:spPr>
          <a:xfrm>
            <a:off x="164592" y="2852928"/>
            <a:ext cx="54864" cy="51206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3" name="Text 21"/>
          <p:cNvSpPr/>
          <p:nvPr/>
        </p:nvSpPr>
        <p:spPr>
          <a:xfrm>
            <a:off x="256032" y="290779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6928" y="2889504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y P4 respondidas en palabras del entrevistado (mínimo 1 oración)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3419856"/>
            <a:ext cx="4279392" cy="51206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6" name="Shape 24"/>
          <p:cNvSpPr/>
          <p:nvPr/>
        </p:nvSpPr>
        <p:spPr>
          <a:xfrm>
            <a:off x="164592" y="3419856"/>
            <a:ext cx="54864" cy="51206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7" name="Text 25"/>
          <p:cNvSpPr/>
          <p:nvPr/>
        </p:nvSpPr>
        <p:spPr>
          <a:xfrm>
            <a:off x="256032" y="34747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6928" y="3456432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 análisis: 6 indicadores calculados + decisión por cada uno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4592" y="3986784"/>
            <a:ext cx="42793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0" name="Shape 28"/>
          <p:cNvSpPr/>
          <p:nvPr/>
        </p:nvSpPr>
        <p:spPr>
          <a:xfrm>
            <a:off x="164592" y="3986784"/>
            <a:ext cx="54864" cy="51206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1" name="Text 29"/>
          <p:cNvSpPr/>
          <p:nvPr/>
        </p:nvSpPr>
        <p:spPr>
          <a:xfrm>
            <a:off x="256032" y="4041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6928" y="402336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o PDF único subido al EVA antes de las 09:00 del 5 de mayo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26864" y="822960"/>
            <a:ext cx="4352544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4" name="Text 32"/>
          <p:cNvSpPr/>
          <p:nvPr/>
        </p:nvSpPr>
        <p:spPr>
          <a:xfrm>
            <a:off x="4718304" y="8412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Tarea 5 — Sprint Plan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626864" y="1152144"/>
            <a:ext cx="4352544" cy="51206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6" name="Shape 34"/>
          <p:cNvSpPr/>
          <p:nvPr/>
        </p:nvSpPr>
        <p:spPr>
          <a:xfrm>
            <a:off x="4626864" y="1152144"/>
            <a:ext cx="54864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7" name="Text 35"/>
          <p:cNvSpPr/>
          <p:nvPr/>
        </p:nvSpPr>
        <p:spPr>
          <a:xfrm>
            <a:off x="4718304" y="12070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29200" y="1188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con 5 sprints, función por función, responsable y fecha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26864" y="1719072"/>
            <a:ext cx="4352544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0" name="Shape 38"/>
          <p:cNvSpPr/>
          <p:nvPr/>
        </p:nvSpPr>
        <p:spPr>
          <a:xfrm>
            <a:off x="4626864" y="1719072"/>
            <a:ext cx="54864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1" name="Text 39"/>
          <p:cNvSpPr/>
          <p:nvPr/>
        </p:nvSpPr>
        <p:spPr>
          <a:xfrm>
            <a:off x="4718304" y="17739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29200" y="17556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con rol Scrum y responsabilidad técnica específica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26864" y="2286000"/>
            <a:ext cx="4352544" cy="51206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4" name="Shape 42"/>
          <p:cNvSpPr/>
          <p:nvPr/>
        </p:nvSpPr>
        <p:spPr>
          <a:xfrm>
            <a:off x="4626864" y="2286000"/>
            <a:ext cx="54864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5" name="Text 43"/>
          <p:cNvSpPr/>
          <p:nvPr/>
        </p:nvSpPr>
        <p:spPr>
          <a:xfrm>
            <a:off x="4718304" y="23408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29200" y="23225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público con historial de commits (mínimo 5)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26864" y="2852928"/>
            <a:ext cx="4352544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8" name="Shape 46"/>
          <p:cNvSpPr/>
          <p:nvPr/>
        </p:nvSpPr>
        <p:spPr>
          <a:xfrm>
            <a:off x="4626864" y="2852928"/>
            <a:ext cx="54864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9" name="Text 47"/>
          <p:cNvSpPr/>
          <p:nvPr/>
        </p:nvSpPr>
        <p:spPr>
          <a:xfrm>
            <a:off x="4718304" y="290779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029200" y="28895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deploy activa con credenciales para el docente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26864" y="3419856"/>
            <a:ext cx="4352544" cy="51206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2" name="Shape 50"/>
          <p:cNvSpPr/>
          <p:nvPr/>
        </p:nvSpPr>
        <p:spPr>
          <a:xfrm>
            <a:off x="4626864" y="3419856"/>
            <a:ext cx="54864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3" name="Text 51"/>
          <p:cNvSpPr/>
          <p:nvPr/>
        </p:nvSpPr>
        <p:spPr>
          <a:xfrm>
            <a:off x="4718304" y="34747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029200" y="3456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con descripción, stack, instalación y credenciales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26864" y="3986784"/>
            <a:ext cx="4352544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6" name="Shape 54"/>
          <p:cNvSpPr/>
          <p:nvPr/>
        </p:nvSpPr>
        <p:spPr>
          <a:xfrm>
            <a:off x="4626864" y="3986784"/>
            <a:ext cx="54864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7" name="Text 55"/>
          <p:cNvSpPr/>
          <p:nvPr/>
        </p:nvSpPr>
        <p:spPr>
          <a:xfrm>
            <a:off x="4718304" y="4041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029200" y="40233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criterio de 'función completada' acordado en equipo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5900" y="205740"/>
            <a:ext cx="61722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3600" b="1">
                <a:solidFill>
                  <a:srgbClr val="FFC800"/>
                </a:solidFill>
              </a:defRPr>
            </a:pPr>
            <a:r>
              <a:rPr sz="2100" b="1" dirty="0">
                <a:solidFill>
                  <a:srgbClr val="FFC800"/>
                </a:solidFill>
                <a:latin typeface="Calibri"/>
              </a:rPr>
              <a:t>CALIFICACIÓN TAREA 5: SCRUM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4247" y="651510"/>
            <a:ext cx="2555508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42900">
              <a:defRPr sz="1800">
                <a:solidFill>
                  <a:srgbClr val="C8C8C8"/>
                </a:solidFill>
              </a:defRPr>
            </a:pPr>
            <a:r>
              <a:rPr sz="1350">
                <a:solidFill>
                  <a:srgbClr val="C8C8C8"/>
                </a:solidFill>
                <a:latin typeface="Calibri"/>
              </a:rPr>
              <a:t>Paralelo Q361 — Sobre 50 puntos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415177"/>
              </p:ext>
            </p:extLst>
          </p:nvPr>
        </p:nvGraphicFramePr>
        <p:xfrm>
          <a:off x="1421892" y="875211"/>
          <a:ext cx="6172200" cy="4207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843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900"/>
                        <a:t>GRUPO / PROYECTO</a:t>
                      </a:r>
                    </a:p>
                  </a:txBody>
                  <a:tcPr marL="68580" marR="68580" marT="34290" marB="3429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900"/>
                        <a:t>PUNTOS</a:t>
                      </a:r>
                    </a:p>
                  </a:txBody>
                  <a:tcPr marL="68580" marR="68580" marT="34290" marB="3429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900"/>
                        <a:t>COMENTARIO CLAVE</a:t>
                      </a:r>
                    </a:p>
                  </a:txBody>
                  <a:tcPr marL="68580" marR="68580" marT="34290" marB="3429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800" dirty="0" err="1">
                          <a:solidFill>
                            <a:schemeClr val="bg1"/>
                          </a:solidFill>
                        </a:rPr>
                        <a:t>VozSegura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sz="1500" dirty="0">
                          <a:solidFill>
                            <a:schemeClr val="bg1"/>
                          </a:solidFill>
                        </a:rPr>
                        <a:t>(Edwin, Paula P., Emily, Axel)</a:t>
                      </a:r>
                    </a:p>
                  </a:txBody>
                  <a:tcPr marL="68580" marR="68580" marT="34290" marB="34290">
                    <a:solidFill>
                      <a:srgbClr val="228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>
                          <a:solidFill>
                            <a:schemeClr val="bg1"/>
                          </a:solidFill>
                        </a:rPr>
                        <a:t>42/50</a:t>
                      </a:r>
                    </a:p>
                  </a:txBody>
                  <a:tcPr marL="68580" marR="68580" marT="34290" marB="34290">
                    <a:solidFill>
                      <a:srgbClr val="324B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✅ MEJOR | Definition of Done perfecta | Deploy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activo</a:t>
                      </a:r>
                      <a:endParaRPr sz="12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800" dirty="0" err="1">
                          <a:solidFill>
                            <a:schemeClr val="bg1"/>
                          </a:solidFill>
                        </a:rPr>
                        <a:t>AdaptaClass</a:t>
                      </a:r>
                      <a:endParaRPr sz="8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sz="1500" dirty="0">
                          <a:solidFill>
                            <a:schemeClr val="bg1"/>
                          </a:solidFill>
                        </a:rPr>
                        <a:t>(Paula C., Benjamin, Josué, Mateo)</a:t>
                      </a:r>
                    </a:p>
                  </a:txBody>
                  <a:tcPr marL="68580" marR="68580" marT="34290" marB="34290">
                    <a:solidFill>
                      <a:srgbClr val="228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>
                          <a:solidFill>
                            <a:schemeClr val="bg1"/>
                          </a:solidFill>
                        </a:rPr>
                        <a:t>41/50</a:t>
                      </a:r>
                    </a:p>
                  </a:txBody>
                  <a:tcPr marL="68580" marR="68580" marT="34290" marB="34290">
                    <a:solidFill>
                      <a:srgbClr val="324B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✅ Deploy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funcionando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| Stack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profesional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| Roles claros</a:t>
                      </a: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800" dirty="0" err="1">
                          <a:solidFill>
                            <a:schemeClr val="bg1"/>
                          </a:solidFill>
                        </a:rPr>
                        <a:t>SafeCampus</a:t>
                      </a:r>
                      <a:r>
                        <a:rPr sz="800" dirty="0">
                          <a:solidFill>
                            <a:schemeClr val="bg1"/>
                          </a:solidFill>
                        </a:rPr>
                        <a:t> Monitor</a:t>
                      </a:r>
                    </a:p>
                    <a:p>
                      <a:r>
                        <a:rPr sz="1500" dirty="0">
                          <a:solidFill>
                            <a:schemeClr val="bg1"/>
                          </a:solidFill>
                        </a:rPr>
                        <a:t>(Diego, Matheo)</a:t>
                      </a:r>
                    </a:p>
                  </a:txBody>
                  <a:tcPr marL="68580" marR="68580" marT="34290" marB="34290">
                    <a:solidFill>
                      <a:srgbClr val="228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>
                          <a:solidFill>
                            <a:schemeClr val="bg1"/>
                          </a:solidFill>
                        </a:rPr>
                        <a:t>41/50</a:t>
                      </a:r>
                    </a:p>
                  </a:txBody>
                  <a:tcPr marL="68580" marR="68580" marT="34290" marB="34290">
                    <a:solidFill>
                      <a:srgbClr val="324B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>
                          <a:solidFill>
                            <a:schemeClr val="bg1"/>
                          </a:solidFill>
                        </a:rPr>
                        <a:t>✅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Cronograma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detallado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|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Vercel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activo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| 2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integrantes</a:t>
                      </a:r>
                      <a:endParaRPr sz="11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800" dirty="0" err="1">
                          <a:solidFill>
                            <a:schemeClr val="tx1"/>
                          </a:solidFill>
                        </a:rPr>
                        <a:t>IncluApp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sz="1500" dirty="0">
                          <a:solidFill>
                            <a:schemeClr val="tx1"/>
                          </a:solidFill>
                        </a:rPr>
                        <a:t>(Kevin, Juan Carlos, Steven, Victoria)</a:t>
                      </a:r>
                    </a:p>
                  </a:txBody>
                  <a:tcPr marL="68580" marR="68580" marT="34290" marB="34290">
                    <a:solidFill>
                      <a:srgbClr val="DAA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>
                          <a:solidFill>
                            <a:schemeClr val="bg1"/>
                          </a:solidFill>
                        </a:rPr>
                        <a:t>40/50</a:t>
                      </a:r>
                    </a:p>
                  </a:txBody>
                  <a:tcPr marL="68580" marR="68580" marT="34290" marB="34290">
                    <a:solidFill>
                      <a:srgbClr val="324B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>
                          <a:solidFill>
                            <a:schemeClr val="bg1"/>
                          </a:solidFill>
                        </a:rPr>
                        <a:t>⚠️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Documentación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excelente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| Sin URL deploy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activo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(-8 pts</a:t>
                      </a:r>
                      <a:r>
                        <a:rPr sz="80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800" dirty="0" err="1">
                          <a:solidFill>
                            <a:schemeClr val="tx1"/>
                          </a:solidFill>
                        </a:rPr>
                        <a:t>Edumotion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sz="1500" dirty="0">
                          <a:solidFill>
                            <a:schemeClr val="tx1"/>
                          </a:solidFill>
                        </a:rPr>
                        <a:t>(Melany, Corrales, Maila, Lucano)</a:t>
                      </a:r>
                    </a:p>
                  </a:txBody>
                  <a:tcPr marL="68580" marR="68580" marT="34290" marB="34290">
                    <a:solidFill>
                      <a:srgbClr val="DAA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>
                          <a:solidFill>
                            <a:schemeClr val="bg1"/>
                          </a:solidFill>
                        </a:rPr>
                        <a:t>37/50</a:t>
                      </a:r>
                    </a:p>
                  </a:txBody>
                  <a:tcPr marL="68580" marR="68580" marT="34290" marB="34290">
                    <a:solidFill>
                      <a:srgbClr val="324B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⚠️ Solo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instalador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.exe | Sin demo web (-5 pts)</a:t>
                      </a: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8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Brújula</a:t>
                      </a:r>
                      <a:r>
                        <a:rPr sz="900" dirty="0">
                          <a:solidFill>
                            <a:schemeClr val="tx1"/>
                          </a:solidFill>
                        </a:rPr>
                        <a:t> Futura</a:t>
                      </a:r>
                    </a:p>
                    <a:p>
                      <a:r>
                        <a:rPr sz="2100" dirty="0">
                          <a:solidFill>
                            <a:schemeClr val="tx1"/>
                          </a:solidFill>
                        </a:rPr>
                        <a:t>(William)</a:t>
                      </a:r>
                    </a:p>
                  </a:txBody>
                  <a:tcPr marL="68580" marR="68580" marT="34290" marB="34290">
                    <a:solidFill>
                      <a:srgbClr val="DAA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500">
                          <a:solidFill>
                            <a:schemeClr val="bg1"/>
                          </a:solidFill>
                        </a:rPr>
                        <a:t>38/50</a:t>
                      </a:r>
                    </a:p>
                  </a:txBody>
                  <a:tcPr marL="68580" marR="68580" marT="34290" marB="34290">
                    <a:solidFill>
                      <a:srgbClr val="324B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>
                          <a:solidFill>
                            <a:schemeClr val="bg1"/>
                          </a:solidFill>
                        </a:rPr>
                        <a:t>⚠️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Requiere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revisión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manual | GitHub +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Vercel</a:t>
                      </a:r>
                      <a:r>
                        <a:rPr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bg1"/>
                          </a:solidFill>
                        </a:rPr>
                        <a:t>identificados</a:t>
                      </a:r>
                      <a:endParaRPr sz="11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38517" y="4869180"/>
            <a:ext cx="226696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42900">
              <a:defRPr sz="1400" b="1">
                <a:solidFill>
                  <a:srgbClr val="FFC800"/>
                </a:solidFill>
              </a:defRPr>
            </a:pPr>
            <a:r>
              <a:rPr sz="1050" b="1">
                <a:solidFill>
                  <a:srgbClr val="FFC800"/>
                </a:solidFill>
                <a:latin typeface="Calibri"/>
              </a:rPr>
              <a:t>PROMEDIO PARALELO Q361: 39.8/50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145" y="205740"/>
            <a:ext cx="43717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42900">
              <a:defRPr sz="3200" b="1">
                <a:solidFill>
                  <a:srgbClr val="FFC800"/>
                </a:solidFill>
              </a:defRPr>
            </a:pPr>
            <a:r>
              <a:rPr sz="2400" b="1">
                <a:solidFill>
                  <a:srgbClr val="FFC800"/>
                </a:solidFill>
                <a:latin typeface="Calibri"/>
              </a:rPr>
              <a:t>DETALLES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5900" y="651511"/>
            <a:ext cx="33492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🏆 VozSegura (42/50)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Definition of Done clarísima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Deploy activo + credenciales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Sprint Backlog perfecto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Roles Scrum claros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⚠️ Mejorar: captura de pantalla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5900" y="651510"/>
            <a:ext cx="3349256" cy="1371145"/>
          </a:xfrm>
          <a:prstGeom prst="roundRect">
            <a:avLst/>
          </a:prstGeom>
          <a:solidFill>
            <a:srgbClr val="228B22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VozSegura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(42/50)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Definition of Done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clarísima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Deploy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activo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+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credenciales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Sprint Backlog perfecto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Roles Scrum claros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 Mejorar: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captura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pantalla</a:t>
            </a:r>
            <a:endParaRPr sz="105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85900" y="2023111"/>
            <a:ext cx="33492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AdaptaClass (41/50)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URL deploy ACTIVO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Credenciales funcionales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Stack: React, FastAPI, Gemini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4 roles bien distribuidos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⚠️ Mejorar: screenshot más clara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5900" y="2023110"/>
            <a:ext cx="3349256" cy="1371145"/>
          </a:xfrm>
          <a:prstGeom prst="roundRect">
            <a:avLst/>
          </a:prstGeom>
          <a:solidFill>
            <a:srgbClr val="228B22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AdaptaClass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(41/50)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URL deploy ACTIVO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Credenciales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funcionales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Stack: React,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FastAPI</a:t>
            </a:r>
            <a:r>
              <a:rPr sz="1050" dirty="0">
                <a:solidFill>
                  <a:srgbClr val="FFFFFF"/>
                </a:solidFill>
                <a:latin typeface="Calibri"/>
              </a:rPr>
              <a:t>, Gemini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4 roles bien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distribuidos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Mejorar: screenshot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más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clara</a:t>
            </a:r>
            <a:endParaRPr sz="105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5900" y="3394710"/>
            <a:ext cx="3349256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⚠️ IncluApp (40/50)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Documentación excepcional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5 sprints muy detallados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Stack claro: Flutter, ML Kit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❌ CRÍTICO: Sin URL deploy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💡 Para 45-48: agregar deploy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5900" y="3394710"/>
            <a:ext cx="3349256" cy="1523494"/>
          </a:xfrm>
          <a:prstGeom prst="roundRect">
            <a:avLst/>
          </a:prstGeom>
          <a:solidFill>
            <a:srgbClr val="DAA52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⚠️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IncluApp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(40/50)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Documentación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excepcional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5 sprints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muy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detallados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Stack claro: Flutter, ML Kit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CRÍTICO: Sin URL deploy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💡Para 45-48: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agregar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deploy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651511"/>
            <a:ext cx="320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SafeCampus (41/50)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Cronograma muy detallado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URL Vercel activo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Stack: Vue.js, Leaflet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⚠️ Equipo pequeño (2 personas)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⚠️ Captura no muy clara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651510"/>
            <a:ext cx="3200400" cy="1371145"/>
          </a:xfrm>
          <a:prstGeom prst="roundRect">
            <a:avLst/>
          </a:prstGeom>
          <a:solidFill>
            <a:srgbClr val="228B22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SafeCampus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(41/50)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Cronograma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muy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detallado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URL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Vercel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activo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✅ Stack: Vue.js, Leaflet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 err="1">
                <a:solidFill>
                  <a:srgbClr val="FFFFFF"/>
                </a:solidFill>
                <a:latin typeface="Calibri"/>
              </a:rPr>
              <a:t>quipo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pequeño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(2 personas)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 err="1">
                <a:solidFill>
                  <a:srgbClr val="FFFFFF"/>
                </a:solidFill>
                <a:latin typeface="Calibri"/>
              </a:rPr>
              <a:t>Captura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no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muy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clara</a:t>
            </a:r>
            <a:endParaRPr sz="105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9160" y="2023111"/>
            <a:ext cx="320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⚠️ Edumotion (37/50)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Documentación clara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Roles Scrum bien distribuidos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Enfoque offline innovador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❌ Solo instalador .exe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💡 Para 42: agregar demo 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023110"/>
            <a:ext cx="3200400" cy="1371145"/>
          </a:xfrm>
          <a:prstGeom prst="roundRect">
            <a:avLst/>
          </a:prstGeom>
          <a:solidFill>
            <a:srgbClr val="DAA52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⚠️ Edumotion (37/50)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Documentación clara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Roles Scrum bien distribuidos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✅ Enfoque offline innovador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❌ Solo instalador .exe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💡 Para 42: agregar demo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94711"/>
            <a:ext cx="320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⚠️ Brújula Futura (38/50)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📋 Archivo muy grande (5.8 MB)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📋 Se identificó: GitHub+Vercel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🔍 Requiere revisión manual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Calibri"/>
              </a:rPr>
              <a:t>→ Si completo: 42-45/50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394710"/>
            <a:ext cx="3200400" cy="1523494"/>
          </a:xfrm>
          <a:prstGeom prst="roundRect">
            <a:avLst/>
          </a:prstGeom>
          <a:solidFill>
            <a:srgbClr val="DAA52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⚠️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Brújula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Futura (38/50)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📋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Archivo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muy</a:t>
            </a:r>
            <a:r>
              <a:rPr sz="1050" dirty="0">
                <a:solidFill>
                  <a:srgbClr val="FFFFFF"/>
                </a:solidFill>
                <a:latin typeface="Calibri"/>
              </a:rPr>
              <a:t> grande (5.8 MB)</a:t>
            </a: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📋 Se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identificó</a:t>
            </a:r>
            <a:r>
              <a:rPr sz="1050" dirty="0">
                <a:solidFill>
                  <a:srgbClr val="FFFFFF"/>
                </a:solidFill>
                <a:latin typeface="Calibri"/>
              </a:rPr>
              <a:t>: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GitHub+Verce</a:t>
            </a:r>
            <a:endParaRPr sz="1050" dirty="0">
              <a:solidFill>
                <a:srgbClr val="FFFFFF"/>
              </a:solidFill>
              <a:latin typeface="Calibri"/>
            </a:endParaRPr>
          </a:p>
          <a:p>
            <a:pPr defTabSz="342900">
              <a:defRPr sz="1000">
                <a:solidFill>
                  <a:srgbClr val="FFFFFF"/>
                </a:solidFill>
              </a:defRPr>
            </a:pPr>
            <a:r>
              <a:rPr sz="1050" dirty="0">
                <a:solidFill>
                  <a:srgbClr val="FFFFFF"/>
                </a:solidFill>
                <a:latin typeface="Calibri"/>
              </a:rPr>
              <a:t>→ Si </a:t>
            </a:r>
            <a:r>
              <a:rPr sz="1050" dirty="0" err="1">
                <a:solidFill>
                  <a:srgbClr val="FFFFFF"/>
                </a:solidFill>
                <a:latin typeface="Calibri"/>
              </a:rPr>
              <a:t>completo</a:t>
            </a:r>
            <a:r>
              <a:rPr sz="1050" dirty="0">
                <a:solidFill>
                  <a:srgbClr val="FFFFFF"/>
                </a:solidFill>
                <a:latin typeface="Calibri"/>
              </a:rPr>
              <a:t>: 42-45/50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6A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D8A8A"/>
          </a:solidFill>
          <a:ln w="12700">
            <a:solidFill>
              <a:srgbClr val="1D8A8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Recursos, Actividades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Alianzas Clave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27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bloques 6, 7 y 8  ·  Integración colaborativa  ·  ApS  ·  Ejemplos Ecuador y mundo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0" y="3657600"/>
            <a:ext cx="54864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Principio: ningún emprendimiento de impacto social funciona solo.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— RECURSOS CLAVE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necesitamos para que el modelo de negocio funcione?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8814816" cy="420624"/>
          </a:xfrm>
          <a:prstGeom prst="roundRect">
            <a:avLst>
              <a:gd name="adj" fmla="val 21739"/>
            </a:avLst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8" name="Text 6"/>
          <p:cNvSpPr/>
          <p:nvPr/>
        </p:nvSpPr>
        <p:spPr>
          <a:xfrm>
            <a:off x="274320" y="859536"/>
            <a:ext cx="8485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recursos clave son los activos más importantes para crear y entregar la propuesta de valor. Sin ellos, el negocio no opera."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4592" y="1316736"/>
            <a:ext cx="2084832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0" name="Text 8"/>
          <p:cNvSpPr/>
          <p:nvPr/>
        </p:nvSpPr>
        <p:spPr>
          <a:xfrm>
            <a:off x="237744" y="1335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Físicos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" y="1700784"/>
            <a:ext cx="2084832" cy="263347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12" name="Text 10"/>
          <p:cNvSpPr/>
          <p:nvPr/>
        </p:nvSpPr>
        <p:spPr>
          <a:xfrm>
            <a:off x="256032" y="177393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Instalaciones, servidores, equipos, dispositivos.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4592" y="2267712"/>
            <a:ext cx="2084832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14" name="Text 12"/>
          <p:cNvSpPr/>
          <p:nvPr/>
        </p:nvSpPr>
        <p:spPr>
          <a:xfrm>
            <a:off x="256032" y="234086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UE José María Velaz: proyector, WiFi, tablets MINEDUC.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" y="2871216"/>
            <a:ext cx="2084832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16" name="Text 14"/>
          <p:cNvSpPr/>
          <p:nvPr/>
        </p:nvSpPr>
        <p:spPr>
          <a:xfrm>
            <a:off x="256032" y="2944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Amazon: almacenes y flota de drones.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1316736"/>
            <a:ext cx="2084832" cy="32918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8" name="Text 16"/>
          <p:cNvSpPr/>
          <p:nvPr/>
        </p:nvSpPr>
        <p:spPr>
          <a:xfrm>
            <a:off x="2450592" y="1335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Intelectuales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77440" y="1700784"/>
            <a:ext cx="2084832" cy="263347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0" name="Text 18"/>
          <p:cNvSpPr/>
          <p:nvPr/>
        </p:nvSpPr>
        <p:spPr>
          <a:xfrm>
            <a:off x="2468880" y="177393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fuente, algoritmos, datos, marca, patentes.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77440" y="2267712"/>
            <a:ext cx="2084832" cy="36576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2" name="Text 20"/>
          <p:cNvSpPr/>
          <p:nvPr/>
        </p:nvSpPr>
        <p:spPr>
          <a:xfrm>
            <a:off x="2468880" y="234086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Kushkipay: licencia de operadora de pagos SBS Ecuador.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77440" y="2871216"/>
            <a:ext cx="2084832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4" name="Text 22"/>
          <p:cNvSpPr/>
          <p:nvPr/>
        </p:nvSpPr>
        <p:spPr>
          <a:xfrm>
            <a:off x="2468880" y="2944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Google: algoritmo de búsqueda (PageRank).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90288" y="1316736"/>
            <a:ext cx="2084832" cy="329184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6" name="Text 24"/>
          <p:cNvSpPr/>
          <p:nvPr/>
        </p:nvSpPr>
        <p:spPr>
          <a:xfrm>
            <a:off x="4663440" y="1335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Humanos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90288" y="1700784"/>
            <a:ext cx="2084832" cy="263347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8" name="Text 26"/>
          <p:cNvSpPr/>
          <p:nvPr/>
        </p:nvSpPr>
        <p:spPr>
          <a:xfrm>
            <a:off x="4681728" y="177393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técnico, docentes, expertos en el dominio.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90288" y="2267712"/>
            <a:ext cx="2084832" cy="36576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0" name="Text 28"/>
          <p:cNvSpPr/>
          <p:nvPr/>
        </p:nvSpPr>
        <p:spPr>
          <a:xfrm>
            <a:off x="4681728" y="234086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Fe y Alegría: 1,363 docentes en 75 UE Ecuador.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90288" y="2871216"/>
            <a:ext cx="2084832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2" name="Text 30"/>
          <p:cNvSpPr/>
          <p:nvPr/>
        </p:nvSpPr>
        <p:spPr>
          <a:xfrm>
            <a:off x="4681728" y="2944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Duolingo: equipo de lingüistas + algoritmo IA.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03136" y="1316736"/>
            <a:ext cx="2084832" cy="32918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4" name="Text 32"/>
          <p:cNvSpPr/>
          <p:nvPr/>
        </p:nvSpPr>
        <p:spPr>
          <a:xfrm>
            <a:off x="6876288" y="1335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03136" y="1700784"/>
            <a:ext cx="2084832" cy="263347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6" name="Text 34"/>
          <p:cNvSpPr/>
          <p:nvPr/>
        </p:nvSpPr>
        <p:spPr>
          <a:xfrm>
            <a:off x="6894576" y="177393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Crédito, capital semilla, subvenciones, donaciones.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03136" y="2267712"/>
            <a:ext cx="2084832" cy="36576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8" name="Text 36"/>
          <p:cNvSpPr/>
          <p:nvPr/>
        </p:nvSpPr>
        <p:spPr>
          <a:xfrm>
            <a:off x="6894576" y="234086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PUCE-ApS: convenio sin costo para grupos PUCE.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03136" y="2871216"/>
            <a:ext cx="2084832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40" name="Text 38"/>
          <p:cNvSpPr/>
          <p:nvPr/>
        </p:nvSpPr>
        <p:spPr>
          <a:xfrm>
            <a:off x="6894576" y="2944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Khan Academy: $300M en donaciones de Gates Foundation.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" y="4370832"/>
            <a:ext cx="8814816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274320" y="438912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proyectos — Recursos más críticos:   PresenTech → Firebase + cámara · Comprendo → Haiku API + Telegram · DocuIA → Gemini Flash + Google Drive · AlegriApp → WhatsApp Business API · AmigojoLive → datos SGA Fe y Alegría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 — ACTIVIDADES CLAVE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equipo cada semana para que el negocio funcione?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8814816" cy="402336"/>
          </a:xfrm>
          <a:prstGeom prst="roundRect">
            <a:avLst>
              <a:gd name="adj" fmla="val 2272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74320" y="859536"/>
            <a:ext cx="848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actividades clave son las acciones más importantes que la empresa realiza para crear y entregar su propuesta de valor."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" y="1298448"/>
            <a:ext cx="2852928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0" name="Text 8"/>
          <p:cNvSpPr/>
          <p:nvPr/>
        </p:nvSpPr>
        <p:spPr>
          <a:xfrm>
            <a:off x="256032" y="1316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Producción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4592" y="1700784"/>
            <a:ext cx="2852928" cy="2542032"/>
          </a:xfrm>
          <a:prstGeom prst="roundRect">
            <a:avLst>
              <a:gd name="adj" fmla="val 3597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2" name="Text 10"/>
          <p:cNvSpPr/>
          <p:nvPr/>
        </p:nvSpPr>
        <p:spPr>
          <a:xfrm>
            <a:off x="256032" y="17739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construir y mantener el producto. Típico en hardware o software.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" y="2359152"/>
            <a:ext cx="2852928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4" name="Text 12"/>
          <p:cNvSpPr/>
          <p:nvPr/>
        </p:nvSpPr>
        <p:spPr>
          <a:xfrm>
            <a:off x="256032" y="24323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Grupo PresenTech: desarrollar nuevas funciones del registro de asistencia cada sprint.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" y="2962656"/>
            <a:ext cx="2852928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6" name="Text 14"/>
          <p:cNvSpPr/>
          <p:nvPr/>
        </p:nvSpPr>
        <p:spPr>
          <a:xfrm>
            <a:off x="256032" y="303580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Apple: ingeniería de chips M-series + software iOS integrado.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1298448"/>
            <a:ext cx="2852928" cy="347472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8" name="Text 16"/>
          <p:cNvSpPr/>
          <p:nvPr/>
        </p:nvSpPr>
        <p:spPr>
          <a:xfrm>
            <a:off x="3255264" y="1316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63824" y="1700784"/>
            <a:ext cx="2852928" cy="2542032"/>
          </a:xfrm>
          <a:prstGeom prst="roundRect">
            <a:avLst>
              <a:gd name="adj" fmla="val 3597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0" name="Text 18"/>
          <p:cNvSpPr/>
          <p:nvPr/>
        </p:nvSpPr>
        <p:spPr>
          <a:xfrm>
            <a:off x="3255264" y="17739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soluciones nuevas a problemas específicos de clientes. Típico en consultoría e IA.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63824" y="2359152"/>
            <a:ext cx="2852928" cy="36576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2" name="Text 20"/>
          <p:cNvSpPr/>
          <p:nvPr/>
        </p:nvSpPr>
        <p:spPr>
          <a:xfrm>
            <a:off x="3255264" y="24323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DocuIA: generar plantillas de informes adaptadas al formato MINEDUC Ecuador.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63824" y="2962656"/>
            <a:ext cx="2852928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4" name="Text 22"/>
          <p:cNvSpPr/>
          <p:nvPr/>
        </p:nvSpPr>
        <p:spPr>
          <a:xfrm>
            <a:off x="3255264" y="303580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McKinsey: cada proyecto es un problema único sin solución previa.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1298448"/>
            <a:ext cx="2852928" cy="34747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6" name="Text 24"/>
          <p:cNvSpPr/>
          <p:nvPr/>
        </p:nvSpPr>
        <p:spPr>
          <a:xfrm>
            <a:off x="6254496" y="1316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3056" y="1700784"/>
            <a:ext cx="2852928" cy="2542032"/>
          </a:xfrm>
          <a:prstGeom prst="roundRect">
            <a:avLst>
              <a:gd name="adj" fmla="val 3597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8" name="Text 26"/>
          <p:cNvSpPr/>
          <p:nvPr/>
        </p:nvSpPr>
        <p:spPr>
          <a:xfrm>
            <a:off x="6254496" y="17739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red, la comunidad y el ecosistema. Típico en marketplaces.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2359152"/>
            <a:ext cx="2852928" cy="36576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0" name="Text 28"/>
          <p:cNvSpPr/>
          <p:nvPr/>
        </p:nvSpPr>
        <p:spPr>
          <a:xfrm>
            <a:off x="6254496" y="24323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AmigojoLive: moderar y validar prácticas pedagógicas compartidas entre UE.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2962656"/>
            <a:ext cx="2852928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2" name="Text 30"/>
          <p:cNvSpPr/>
          <p:nvPr/>
        </p:nvSpPr>
        <p:spPr>
          <a:xfrm>
            <a:off x="6254496" y="303580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Airbnb: verificar anfitriones, resolver disputas, mantener confianza en la red.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4592" y="3602736"/>
            <a:ext cx="8814816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4" name="Text 32"/>
          <p:cNvSpPr/>
          <p:nvPr/>
        </p:nvSpPr>
        <p:spPr>
          <a:xfrm>
            <a:off x="274320" y="362102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Error frecuente: poner 'programar' o 'desarrollar' como actividad clave. Ser específico: ¿qué se programa? ¿para quién? ¿cada cuánto?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" y="3950208"/>
            <a:ext cx="8814816" cy="5120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6" name="Text 34"/>
          <p:cNvSpPr/>
          <p:nvPr/>
        </p:nvSpPr>
        <p:spPr>
          <a:xfrm>
            <a:off x="274320" y="3968496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proyectos — Actividades más críticas por sprint: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1513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Comprendo → generar preguntas de comprensión post-clase · AlegriApp → procesar confirmaciones en tiempo real · PresenTech → sincronizar registro de asistencia · DocuIA → validar documentos generados con docentes reales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8/28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 — ALIANZAS Y SOCIOS CLAVE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nos ayuda sin ser parte del equipo? Principio ApS: cooperación interinstitucional.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8814816" cy="402336"/>
          </a:xfrm>
          <a:prstGeom prst="roundRect">
            <a:avLst>
              <a:gd name="adj" fmla="val 22727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74320" y="859536"/>
            <a:ext cx="848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alianzas clave son la red de proveedores y socios que hacen funcionar el modelo de negocio. Nadie construye solo."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4592" y="1298448"/>
            <a:ext cx="4279392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164592" y="1298448"/>
            <a:ext cx="420624" cy="160934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164592" y="1298448"/>
            <a:ext cx="4206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y economía de escala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costos compartiendo infraestructura con socios.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2029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Fe y Alegría comparte su red de UE para validar todos los proyectos PUCE.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8368" y="2450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Samsung fabrica chips para Apple — competidores que se necesitan.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26864" y="1298448"/>
            <a:ext cx="4279392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4626864" y="1298448"/>
            <a:ext cx="420624" cy="16093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626864" y="1298448"/>
            <a:ext cx="4206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riesgo e incertidumbre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el riesgo de un mercado incierto con un socio que lo conoce.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0" y="2029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PUCE avala los proyectos — reduce el riesgo de que Fe y Alegría adopte algo sin probar.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20640" y="2450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Sony–Ericsson compartían I+D en telefonía para no apostar solos.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4592" y="3017520"/>
            <a:ext cx="4279392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64592" y="3017520"/>
            <a:ext cx="420624" cy="1609344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164592" y="3017520"/>
            <a:ext cx="4206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8368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recursos o actividades específicas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lo que el equipo no puede construir internamente.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3749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Anthropic/Google → API de IA que ningún grupo estudiantil puede construir.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8368" y="4169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Nike no fabrica ropa — la diseña y terceriza la producción a socios en Asia.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26864" y="3017520"/>
            <a:ext cx="4279392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4626864" y="3017520"/>
            <a:ext cx="420624" cy="160934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4626864" y="3017520"/>
            <a:ext cx="4206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12064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para distribución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al cliente a través de canales del socio.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3749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MINEDUC Ecuador avala una app → llega a las 5,000 UE fiscales del país.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20640" y="4169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Spotify × Facebook: login social → acceso inmediato a 500M de usuarios.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9/28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ApS — Aprendizaje-Servicio: cooperación interinstitucional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proyectos son parte de un ecosistema, no solo una tarea universitaria.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4041648" cy="1572768"/>
          </a:xfrm>
          <a:prstGeom prst="roundRect">
            <a:avLst>
              <a:gd name="adj" fmla="val 5814"/>
            </a:avLst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PUCE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Ing. Sistemas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517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Valida, supervisa y certifica.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847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Aporta: Docentes, metodología Lean, API credits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041648" cy="1572768"/>
          </a:xfrm>
          <a:prstGeom prst="roundRect">
            <a:avLst>
              <a:gd name="adj" fmla="val 5814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93776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Fe y Alegría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75 UE · 27,000 est.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517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Provee contexto real y usuarios.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847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Aporta: Docentes, autoridades, UE acceso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05456" y="2743200"/>
            <a:ext cx="4041648" cy="1572768"/>
          </a:xfrm>
          <a:prstGeom prst="roundRect">
            <a:avLst>
              <a:gd name="adj" fmla="val 5814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2596896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👩‍💻  Grupos PUCE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96896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estudiantes · 10 proyectos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96896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Construyen y validan soluciones.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96896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Aporta: Código, diseño, entrevistas, PMV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24528" y="144475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267004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267004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133088" y="1755648"/>
            <a:ext cx="877824" cy="87782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4133088" y="17556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" y="4407408"/>
            <a:ext cx="8814816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74320" y="4425696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cooperación interinstitucional exitosa en Ecuador: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60857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Ecuador × PUCE: agro-tech en comunidades rurales · Yunus Social Business × ESPOL: microemprendimiento digital · UNICEF × universidades: apps educativas para zonas sin conectividad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10/28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clave por proyecto — NRC 2519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socio clave le falta a cada grupo antes de Semana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1828800" cy="2743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19456" y="8321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/ Proyecto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822960"/>
            <a:ext cx="2103120" cy="2743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048256" y="8321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clave #1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96512" y="822960"/>
            <a:ext cx="2103120" cy="2743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151376" y="8321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clave #2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9632" y="822960"/>
            <a:ext cx="2779776" cy="2743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254496" y="83210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los necesita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152144"/>
            <a:ext cx="1828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164592" y="1152144"/>
            <a:ext cx="54864" cy="62179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292608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PresenTech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93392" y="1152144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2066544" y="118872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y Alegría Coord.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96512" y="1152144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4169664" y="118872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MINEDUC Ecuador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9632" y="1152144"/>
            <a:ext cx="2779776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6272784" y="11887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las UE + aval institucional + potencial escalabilidad a 5,000 UE fiscales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" y="1828800"/>
            <a:ext cx="182880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164592" y="1828800"/>
            <a:ext cx="54864" cy="62179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92608" y="18653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AmigojoLive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93392" y="1828800"/>
            <a:ext cx="210312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066544" y="1865376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Rectorado UE Velaz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96512" y="1828800"/>
            <a:ext cx="210312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4169664" y="1865376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PUCE-ApS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1828800"/>
            <a:ext cx="2779776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6272784" y="1865376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docentes de múltiples UE + validación del contenido pedagógico compartido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505456"/>
            <a:ext cx="1828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164592" y="2505456"/>
            <a:ext cx="54864" cy="62179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292608" y="25420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Comprendo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93392" y="2505456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2066544" y="2542032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Fe y Alegría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96512" y="2505456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4169664" y="2542032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(API credits)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99632" y="2505456"/>
            <a:ext cx="2779776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6272784" y="2542032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del bot en clases reales + créditos de API gratuitos para producción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4592" y="3182112"/>
            <a:ext cx="182880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Shape 41"/>
          <p:cNvSpPr/>
          <p:nvPr/>
        </p:nvSpPr>
        <p:spPr>
          <a:xfrm>
            <a:off x="164592" y="3182112"/>
            <a:ext cx="54864" cy="62179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292608" y="3218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AlegriApp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993392" y="3182112"/>
            <a:ext cx="210312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2066544" y="321868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y Alegría Central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96512" y="3182112"/>
            <a:ext cx="210312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4169664" y="3218688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o Telegram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99632" y="3182112"/>
            <a:ext cx="2779776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6272784" y="32186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masiva a todos los docentes + API de mensajería gratuita y confiable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3858768"/>
            <a:ext cx="1828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Shape 50"/>
          <p:cNvSpPr/>
          <p:nvPr/>
        </p:nvSpPr>
        <p:spPr>
          <a:xfrm>
            <a:off x="164592" y="3858768"/>
            <a:ext cx="54864" cy="62179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292608" y="3895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DocuIA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993392" y="3858768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5" name="Text 53"/>
          <p:cNvSpPr/>
          <p:nvPr/>
        </p:nvSpPr>
        <p:spPr>
          <a:xfrm>
            <a:off x="2066544" y="3895344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académica UE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096512" y="3858768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7" name="Text 55"/>
          <p:cNvSpPr/>
          <p:nvPr/>
        </p:nvSpPr>
        <p:spPr>
          <a:xfrm>
            <a:off x="4169664" y="3895344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(Workspace)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99632" y="3858768"/>
            <a:ext cx="2779776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9" name="Text 57"/>
          <p:cNvSpPr/>
          <p:nvPr/>
        </p:nvSpPr>
        <p:spPr>
          <a:xfrm>
            <a:off x="6272784" y="3895344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formato de informes + integración con Drive institucional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4592" y="4626864"/>
            <a:ext cx="8814816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1" name="Text 59"/>
          <p:cNvSpPr/>
          <p:nvPr/>
        </p:nvSpPr>
        <p:spPr>
          <a:xfrm>
            <a:off x="274320" y="4645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antes del 12 de mayo, cada grupo debe tener confirmada al menos 1 alianza institucional real (correo o reunión documentada).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3" name="Text 61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11/28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9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E8A030"/>
          </a:solidFill>
          <a:ln w="12700">
            <a:solidFill>
              <a:srgbClr val="E8A03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E8A030"/>
          </a:solidFill>
          <a:ln w="12700">
            <a:solidFill>
              <a:srgbClr val="E8A03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+ Lean Startup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Construir–Medir–Aprender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18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9 del Canvas · Consolidación · Iteración · Pivotar o Perseverar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0" y="3749040"/>
            <a:ext cx="548640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no puedes calcularlo, no puedes construirlo de forma sostenible." — Osterwalder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9 — ESTRUCTURA DE COSTOS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operar el negocio cada mes? Costos fijos vs variables.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4279392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6032" y="84124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Costos FIJOS — existen aunque no haya usuarios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" y="1188720"/>
            <a:ext cx="4279392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0" name="Text 8"/>
          <p:cNvSpPr/>
          <p:nvPr/>
        </p:nvSpPr>
        <p:spPr>
          <a:xfrm>
            <a:off x="256032" y="1225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Servidor/hosting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1444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$0–$5/mes (Render/Railway tier gratuito)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6272" y="124358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tier gratuito hasta 100 usuarios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1847088"/>
            <a:ext cx="4279392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4" name="Text 12"/>
          <p:cNvSpPr/>
          <p:nvPr/>
        </p:nvSpPr>
        <p:spPr>
          <a:xfrm>
            <a:off x="256032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$12/año (Namecheap o Google Domains)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76272" y="190195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subdomain de Vercel gratis al inicio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2505456"/>
            <a:ext cx="4279392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8" name="Text 16"/>
          <p:cNvSpPr/>
          <p:nvPr/>
        </p:nvSpPr>
        <p:spPr>
          <a:xfrm>
            <a:off x="256032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IA (Haiku)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" y="2761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(créditos PUCE–Anthropic) → $0.80/M 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6272" y="256032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gratis 1500 req/día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" y="3163824"/>
            <a:ext cx="4279392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2" name="Text 20"/>
          <p:cNvSpPr/>
          <p:nvPr/>
        </p:nvSpPr>
        <p:spPr>
          <a:xfrm>
            <a:off x="256032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" y="3419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(Supabase 500MB gratis)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76272" y="32186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Spark plan gratuito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26864" y="822960"/>
            <a:ext cx="4352544" cy="32918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4718304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Costos VARIABLES — crecen con el uso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26864" y="1188720"/>
            <a:ext cx="4352544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8" name="Text 26"/>
          <p:cNvSpPr/>
          <p:nvPr/>
        </p:nvSpPr>
        <p:spPr>
          <a:xfrm>
            <a:off x="4718304" y="1225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por llamada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18304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Haiku: $0.0008 por llamada promedio → 1000 calls = $0.80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21424" y="1243584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UE × 30 docs/mes = 300 llamadas = $0.24/mes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26864" y="1847088"/>
            <a:ext cx="4352544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2" name="Text 30"/>
          <p:cNvSpPr/>
          <p:nvPr/>
        </p:nvSpPr>
        <p:spPr>
          <a:xfrm>
            <a:off x="4718304" y="1883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WhatsApp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18304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Twilio: $0.005/mensaje → Telegram: $0 gratis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21424" y="190195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mensajes/mes = $5 Twilio vs $0 Telegram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26864" y="2505456"/>
            <a:ext cx="4352544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6" name="Text 34"/>
          <p:cNvSpPr/>
          <p:nvPr/>
        </p:nvSpPr>
        <p:spPr>
          <a:xfrm>
            <a:off x="4718304" y="2542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18304" y="2761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$0.023/GB adicional en S3 o Cloudinary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21424" y="256032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documentos = ~50MB = $0/mes en tier gratuito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26864" y="3163824"/>
            <a:ext cx="4352544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40" name="Text 38"/>
          <p:cNvSpPr/>
          <p:nvPr/>
        </p:nvSpPr>
        <p:spPr>
          <a:xfrm>
            <a:off x="4718304" y="3200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humano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18304" y="3419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del equipo: el costo más subestimado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21424" y="321868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1h/semana × 4 integrantes = 4h × $15 = $60/mes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13/28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934" y="36121"/>
            <a:ext cx="99953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4000" b="1">
                <a:solidFill>
                  <a:srgbClr val="FFC800"/>
                </a:solidFill>
              </a:defRPr>
            </a:pPr>
            <a:r>
              <a:rPr sz="3000" b="1" dirty="0">
                <a:solidFill>
                  <a:prstClr val="white"/>
                </a:solidFill>
                <a:latin typeface="Calibri"/>
              </a:rPr>
              <a:t>GRUPOS PARALELO Q361 —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3330" y="566366"/>
            <a:ext cx="35851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2000">
                <a:solidFill>
                  <a:srgbClr val="C8C8C8"/>
                </a:solidFill>
              </a:defRPr>
            </a:pPr>
            <a:r>
              <a:rPr sz="1500" dirty="0" err="1">
                <a:solidFill>
                  <a:prstClr val="white"/>
                </a:solidFill>
                <a:latin typeface="Calibri"/>
              </a:rPr>
              <a:t>Proyectos</a:t>
            </a:r>
            <a:r>
              <a:rPr sz="1500" dirty="0">
                <a:solidFill>
                  <a:prstClr val="white"/>
                </a:solidFill>
                <a:latin typeface="Calibri"/>
              </a:rPr>
              <a:t> de Impacto Social · </a:t>
            </a:r>
            <a:r>
              <a:rPr sz="1500" dirty="0" err="1">
                <a:solidFill>
                  <a:prstClr val="white"/>
                </a:solidFill>
                <a:latin typeface="Calibri"/>
              </a:rPr>
              <a:t>Semestre</a:t>
            </a:r>
            <a:r>
              <a:rPr sz="1500" dirty="0">
                <a:solidFill>
                  <a:prstClr val="white"/>
                </a:solidFill>
                <a:latin typeface="Calibri"/>
              </a:rPr>
              <a:t>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85901" y="1050452"/>
          <a:ext cx="609906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4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GRUPO</a:t>
                      </a:r>
                    </a:p>
                  </a:txBody>
                  <a:tcPr marL="68580" marR="68580" marT="34290" marB="3429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QUÉ HACE</a:t>
                      </a:r>
                    </a:p>
                  </a:txBody>
                  <a:tcPr marL="68580" marR="68580" marT="34290" marB="3429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G1 Q361</a:t>
                      </a:r>
                    </a:p>
                    <a:p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Vínculo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Pro</a:t>
                      </a:r>
                    </a:p>
                  </a:txBody>
                  <a:tcPr marL="68580" marR="68580" marT="34290" marB="34290"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Portafolio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digital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interactivo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para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estudiantes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de 3ro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técnico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+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empresas</a:t>
                      </a:r>
                      <a:endParaRPr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sz="1800" dirty="0">
                          <a:solidFill>
                            <a:schemeClr val="bg1"/>
                          </a:solidFill>
                        </a:rPr>
                        <a:t>→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Conexión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talento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–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empresa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G2 Q361</a:t>
                      </a:r>
                    </a:p>
                    <a:p>
                      <a:r>
                        <a:rPr sz="1800">
                          <a:solidFill>
                            <a:schemeClr val="bg1"/>
                          </a:solidFill>
                        </a:rPr>
                        <a:t>AdaptaClass</a:t>
                      </a:r>
                    </a:p>
                  </a:txBody>
                  <a:tcPr marL="68580" marR="68580" marT="34290" marB="34290"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Plataforma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gamificada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Lenguaje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con IA</a:t>
                      </a:r>
                    </a:p>
                    <a:p>
                      <a:r>
                        <a:rPr sz="1800" dirty="0">
                          <a:solidFill>
                            <a:schemeClr val="bg1"/>
                          </a:solidFill>
                        </a:rPr>
                        <a:t>→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Contenido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adaptado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por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nivel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del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estudiante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G3 Q361</a:t>
                      </a:r>
                    </a:p>
                    <a:p>
                      <a:r>
                        <a:rPr sz="1800">
                          <a:solidFill>
                            <a:schemeClr val="bg1"/>
                          </a:solidFill>
                        </a:rPr>
                        <a:t>IncluApp</a:t>
                      </a:r>
                    </a:p>
                  </a:txBody>
                  <a:tcPr marL="68580" marR="68580" marT="34290" marB="34290">
                    <a:solidFill>
                      <a:srgbClr val="228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App OCR a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voz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para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estudiantes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con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dislexia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/baja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visión</a:t>
                      </a:r>
                      <a:endParaRPr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sz="1800" dirty="0">
                          <a:solidFill>
                            <a:schemeClr val="bg1"/>
                          </a:solidFill>
                        </a:rPr>
                        <a:t>→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Accesibilidad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educativa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real</a:t>
                      </a: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G4 Q361</a:t>
                      </a:r>
                    </a:p>
                    <a:p>
                      <a:r>
                        <a:rPr sz="1800">
                          <a:solidFill>
                            <a:schemeClr val="bg1"/>
                          </a:solidFill>
                        </a:rPr>
                        <a:t>VozSegura</a:t>
                      </a:r>
                    </a:p>
                  </a:txBody>
                  <a:tcPr marL="68580" marR="68580" marT="34290" marB="34290"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Chatbot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anónimo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para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reportar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acoso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escolar</a:t>
                      </a:r>
                    </a:p>
                    <a:p>
                      <a:r>
                        <a:rPr sz="1800" dirty="0">
                          <a:solidFill>
                            <a:schemeClr val="bg1"/>
                          </a:solidFill>
                        </a:rPr>
                        <a:t>→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Seguridad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y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bienestar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chemeClr val="bg1"/>
                          </a:solidFill>
                        </a:rPr>
                        <a:t>estudiantil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>
                          <a:solidFill>
                            <a:schemeClr val="bg1"/>
                          </a:solidFill>
                        </a:rPr>
                        <a:t>G5 Q361</a:t>
                      </a:r>
                    </a:p>
                    <a:p>
                      <a:r>
                        <a:rPr sz="1800">
                          <a:solidFill>
                            <a:schemeClr val="bg1"/>
                          </a:solidFill>
                        </a:rPr>
                        <a:t>FARO</a:t>
                      </a:r>
                    </a:p>
                  </a:txBody>
                  <a:tcPr marL="68580" marR="68580" marT="34290" marB="34290">
                    <a:solidFill>
                      <a:srgbClr val="4B0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>
                          <a:solidFill>
                            <a:schemeClr val="bg1"/>
                          </a:solidFill>
                        </a:rPr>
                        <a:t>Proyecto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aprobado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por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docente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el</a:t>
                      </a:r>
                      <a:r>
                        <a:rPr sz="1200" dirty="0">
                          <a:solidFill>
                            <a:schemeClr val="bg1"/>
                          </a:solidFill>
                        </a:rPr>
                        <a:t> 21 de </a:t>
                      </a:r>
                      <a:r>
                        <a:rPr sz="1200" dirty="0" err="1">
                          <a:solidFill>
                            <a:schemeClr val="bg1"/>
                          </a:solidFill>
                        </a:rPr>
                        <a:t>abril</a:t>
                      </a:r>
                      <a:endParaRPr sz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sz="1800" dirty="0">
                          <a:solidFill>
                            <a:schemeClr val="bg1"/>
                          </a:solidFill>
                        </a:rPr>
                        <a:t>→ </a:t>
                      </a:r>
                      <a:r>
                        <a:rPr lang="es-MX" sz="1800" dirty="0">
                          <a:solidFill>
                            <a:schemeClr val="bg1"/>
                          </a:solidFill>
                        </a:rPr>
                        <a:t>Orientación Vocacional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2D4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77289" y="4945797"/>
            <a:ext cx="441724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 sz="1100" i="1">
                <a:solidFill>
                  <a:srgbClr val="969696"/>
                </a:solidFill>
              </a:defRPr>
            </a:pPr>
            <a:r>
              <a:rPr sz="825" i="1" dirty="0">
                <a:solidFill>
                  <a:prstClr val="white"/>
                </a:solidFill>
                <a:latin typeface="Calibri"/>
              </a:rPr>
              <a:t>PUCE · Emprendimiento Tecnológico · Francisco Rodríguez · Semana 8-12 · </a:t>
            </a:r>
            <a:r>
              <a:rPr sz="825" i="1" dirty="0" err="1">
                <a:solidFill>
                  <a:prstClr val="white"/>
                </a:solidFill>
                <a:latin typeface="Calibri"/>
              </a:rPr>
              <a:t>Validación</a:t>
            </a:r>
            <a:r>
              <a:rPr sz="825" i="1" dirty="0">
                <a:solidFill>
                  <a:prstClr val="white"/>
                </a:solidFill>
                <a:latin typeface="Calibri"/>
              </a:rPr>
              <a:t> con Fe y Alegría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reales por proyecto — NRC 2519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antes de presentar el Canvas completo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1828800" cy="2743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10312" y="832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3392" y="822960"/>
            <a:ext cx="1920240" cy="2743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039112" y="832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fijo/mes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13632" y="822960"/>
            <a:ext cx="1737360" cy="2743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959352" y="832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variable/mes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50992" y="822960"/>
            <a:ext cx="1719072" cy="2743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5696712" y="8321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año estimado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70064" y="822960"/>
            <a:ext cx="1719072" cy="274320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7415784" y="8321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necesario para cubrir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4592" y="1152144"/>
            <a:ext cx="1828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18" name="Shape 16"/>
          <p:cNvSpPr/>
          <p:nvPr/>
        </p:nvSpPr>
        <p:spPr>
          <a:xfrm>
            <a:off x="164592" y="1152144"/>
            <a:ext cx="54864" cy="62179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19" name="Text 17"/>
          <p:cNvSpPr/>
          <p:nvPr/>
        </p:nvSpPr>
        <p:spPr>
          <a:xfrm>
            <a:off x="292608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PresenTech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93392" y="1152144"/>
            <a:ext cx="1920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1" name="Text 19"/>
          <p:cNvSpPr/>
          <p:nvPr/>
        </p:nvSpPr>
        <p:spPr>
          <a:xfrm>
            <a:off x="2066544" y="11887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(Firebase gratis)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13632" y="1152144"/>
            <a:ext cx="17373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3" name="Text 21"/>
          <p:cNvSpPr/>
          <p:nvPr/>
        </p:nvSpPr>
        <p:spPr>
          <a:xfrm>
            <a:off x="3986784" y="11887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(sin IA)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50992" y="1152144"/>
            <a:ext cx="1719072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5" name="Text 23"/>
          <p:cNvSpPr/>
          <p:nvPr/>
        </p:nvSpPr>
        <p:spPr>
          <a:xfrm>
            <a:off x="5724144" y="11887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$12/año (dominio)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70064" y="1152144"/>
            <a:ext cx="1719072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7" name="Text 25"/>
          <p:cNvSpPr/>
          <p:nvPr/>
        </p:nvSpPr>
        <p:spPr>
          <a:xfrm>
            <a:off x="7443216" y="11887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$8/UE/mes × 2 UE = $16 → rentable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4592" y="1828800"/>
            <a:ext cx="182880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29" name="Shape 27"/>
          <p:cNvSpPr/>
          <p:nvPr/>
        </p:nvSpPr>
        <p:spPr>
          <a:xfrm>
            <a:off x="164592" y="1828800"/>
            <a:ext cx="54864" cy="62179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0" name="Text 28"/>
          <p:cNvSpPr/>
          <p:nvPr/>
        </p:nvSpPr>
        <p:spPr>
          <a:xfrm>
            <a:off x="292608" y="18653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AmigojoLive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993392" y="1828800"/>
            <a:ext cx="192024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2" name="Text 30"/>
          <p:cNvSpPr/>
          <p:nvPr/>
        </p:nvSpPr>
        <p:spPr>
          <a:xfrm>
            <a:off x="2066544" y="1865376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(Telegram gratis)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13632" y="1828800"/>
            <a:ext cx="173736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4" name="Text 32"/>
          <p:cNvSpPr/>
          <p:nvPr/>
        </p:nvSpPr>
        <p:spPr>
          <a:xfrm>
            <a:off x="3986784" y="1865376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$0.15/mes (Gemini Flash)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50992" y="1828800"/>
            <a:ext cx="1719072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6" name="Text 34"/>
          <p:cNvSpPr/>
          <p:nvPr/>
        </p:nvSpPr>
        <p:spPr>
          <a:xfrm>
            <a:off x="5724144" y="186537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$14/año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70064" y="1828800"/>
            <a:ext cx="1719072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38" name="Text 36"/>
          <p:cNvSpPr/>
          <p:nvPr/>
        </p:nvSpPr>
        <p:spPr>
          <a:xfrm>
            <a:off x="7443216" y="186537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$10/UE/mes × 2 UE = $20 → rentable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64592" y="2505456"/>
            <a:ext cx="1828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40" name="Shape 38"/>
          <p:cNvSpPr/>
          <p:nvPr/>
        </p:nvSpPr>
        <p:spPr>
          <a:xfrm>
            <a:off x="164592" y="2505456"/>
            <a:ext cx="54864" cy="62179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41" name="Text 39"/>
          <p:cNvSpPr/>
          <p:nvPr/>
        </p:nvSpPr>
        <p:spPr>
          <a:xfrm>
            <a:off x="292608" y="25420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Comprendo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993392" y="2505456"/>
            <a:ext cx="1920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43" name="Text 41"/>
          <p:cNvSpPr/>
          <p:nvPr/>
        </p:nvSpPr>
        <p:spPr>
          <a:xfrm>
            <a:off x="2066544" y="2542032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(Render gratis)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913632" y="2505456"/>
            <a:ext cx="17373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45" name="Text 43"/>
          <p:cNvSpPr/>
          <p:nvPr/>
        </p:nvSpPr>
        <p:spPr>
          <a:xfrm>
            <a:off x="3986784" y="254203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$0.15/mes (Haiku)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650992" y="2505456"/>
            <a:ext cx="1719072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47" name="Text 45"/>
          <p:cNvSpPr/>
          <p:nvPr/>
        </p:nvSpPr>
        <p:spPr>
          <a:xfrm>
            <a:off x="5724144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$14/año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70064" y="2505456"/>
            <a:ext cx="1719072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49" name="Text 47"/>
          <p:cNvSpPr/>
          <p:nvPr/>
        </p:nvSpPr>
        <p:spPr>
          <a:xfrm>
            <a:off x="7443216" y="25420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$10/UE/mes × 2 UE = $20 → rentable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64592" y="3182112"/>
            <a:ext cx="182880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51" name="Shape 49"/>
          <p:cNvSpPr/>
          <p:nvPr/>
        </p:nvSpPr>
        <p:spPr>
          <a:xfrm>
            <a:off x="164592" y="3182112"/>
            <a:ext cx="54864" cy="62179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52" name="Text 50"/>
          <p:cNvSpPr/>
          <p:nvPr/>
        </p:nvSpPr>
        <p:spPr>
          <a:xfrm>
            <a:off x="292608" y="3218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AlegriApp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993392" y="3182112"/>
            <a:ext cx="192024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54" name="Text 52"/>
          <p:cNvSpPr/>
          <p:nvPr/>
        </p:nvSpPr>
        <p:spPr>
          <a:xfrm>
            <a:off x="2066544" y="3218688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(Vercel gratis)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913632" y="3182112"/>
            <a:ext cx="1737360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56" name="Text 54"/>
          <p:cNvSpPr/>
          <p:nvPr/>
        </p:nvSpPr>
        <p:spPr>
          <a:xfrm>
            <a:off x="3986784" y="32186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(Telegram)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650992" y="3182112"/>
            <a:ext cx="1719072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58" name="Text 56"/>
          <p:cNvSpPr/>
          <p:nvPr/>
        </p:nvSpPr>
        <p:spPr>
          <a:xfrm>
            <a:off x="5724144" y="32186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$12/año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370064" y="3182112"/>
            <a:ext cx="1719072" cy="621792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60" name="Text 58"/>
          <p:cNvSpPr/>
          <p:nvPr/>
        </p:nvSpPr>
        <p:spPr>
          <a:xfrm>
            <a:off x="7443216" y="32186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piloto → donación PUCE cubre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64592" y="3858768"/>
            <a:ext cx="1828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62" name="Shape 60"/>
          <p:cNvSpPr/>
          <p:nvPr/>
        </p:nvSpPr>
        <p:spPr>
          <a:xfrm>
            <a:off x="164592" y="3858768"/>
            <a:ext cx="54864" cy="62179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63" name="Text 61"/>
          <p:cNvSpPr/>
          <p:nvPr/>
        </p:nvSpPr>
        <p:spPr>
          <a:xfrm>
            <a:off x="292608" y="3895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DocuIA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993392" y="3858768"/>
            <a:ext cx="1920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65" name="Text 63"/>
          <p:cNvSpPr/>
          <p:nvPr/>
        </p:nvSpPr>
        <p:spPr>
          <a:xfrm>
            <a:off x="2066544" y="389534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(Railway gratis)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913632" y="3858768"/>
            <a:ext cx="17373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67" name="Text 65"/>
          <p:cNvSpPr/>
          <p:nvPr/>
        </p:nvSpPr>
        <p:spPr>
          <a:xfrm>
            <a:off x="3986784" y="3895344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$0.20/mes (Gemini)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650992" y="3858768"/>
            <a:ext cx="1719072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69" name="Text 67"/>
          <p:cNvSpPr/>
          <p:nvPr/>
        </p:nvSpPr>
        <p:spPr>
          <a:xfrm>
            <a:off x="5724144" y="389534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$15/año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370064" y="3858768"/>
            <a:ext cx="1719072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71" name="Text 69"/>
          <p:cNvSpPr/>
          <p:nvPr/>
        </p:nvSpPr>
        <p:spPr>
          <a:xfrm>
            <a:off x="7443216" y="389534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$0.10/doc × 150 docs = $15 → rentable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64592" y="4608576"/>
            <a:ext cx="88148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73" name="Text 71"/>
          <p:cNvSpPr/>
          <p:nvPr/>
        </p:nvSpPr>
        <p:spPr>
          <a:xfrm>
            <a:off x="274320" y="462686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Lección: todos sus proyectos cuestan menos de $20/año en producción real. El costo de la tecnología no es el problema — el costo del tiempo del equipo sí lo es.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3600"/>
          </a:p>
        </p:txBody>
      </p:sp>
      <p:sp>
        <p:nvSpPr>
          <p:cNvPr id="75" name="Text 73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Startup — Construir · Medir · Aprender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más importante del semestre. Se repite cada semana.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2670048" cy="2670048"/>
          </a:xfrm>
          <a:prstGeom prst="ellipse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74320" y="841248"/>
            <a:ext cx="267004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55264" y="841248"/>
            <a:ext cx="2670048" cy="2670048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255264" y="841248"/>
            <a:ext cx="267004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841248"/>
            <a:ext cx="2670048" cy="2670048"/>
          </a:xfrm>
          <a:prstGeom prst="ellipse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236208" y="841248"/>
            <a:ext cx="267004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193852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25312" y="193852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67712" y="2834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Si la hipótesis se valida: perseverar. Si no: pivotar.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" y="2673789"/>
            <a:ext cx="2852928" cy="347472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164592" y="4389120"/>
            <a:ext cx="2852928" cy="475488"/>
          </a:xfrm>
          <a:prstGeom prst="roundRect">
            <a:avLst>
              <a:gd name="adj" fmla="val 19231"/>
            </a:avLst>
          </a:prstGeom>
          <a:solidFill>
            <a:srgbClr val="1B3A5C"/>
          </a:solidFill>
          <a:ln w="635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19" name="Text 17"/>
          <p:cNvSpPr/>
          <p:nvPr/>
        </p:nvSpPr>
        <p:spPr>
          <a:xfrm>
            <a:off x="256032" y="44074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PMV más simple posible que permite aprender.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app perfecta — el experimento mínimo.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Ecuador: AlegriApp construye un flujo de WhatsApp manual (Concierge) antes de programar.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Mundo: Dropbox construyó un video de 3 min antes de escribir una línea de código.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63824" y="4389120"/>
            <a:ext cx="2852928" cy="475488"/>
          </a:xfrm>
          <a:prstGeom prst="roundRect">
            <a:avLst>
              <a:gd name="adj" fmla="val 19231"/>
            </a:avLst>
          </a:prstGeom>
          <a:solidFill>
            <a:srgbClr val="1B3A5C"/>
          </a:solidFill>
          <a:ln w="635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23" name="Text 21"/>
          <p:cNvSpPr/>
          <p:nvPr/>
        </p:nvSpPr>
        <p:spPr>
          <a:xfrm>
            <a:off x="3255264" y="44074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datos reales de usuarios reales.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opiniones — comportamiento observable.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Ecuador: Comprendo mide cuántos estudiantes responden el bot post-clase (no cuántos dijeron que lo usarían).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Mundo: Zappos medía cuántos clientes realmente pagaban antes de tener stock.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63056" y="4389120"/>
            <a:ext cx="2852928" cy="475488"/>
          </a:xfrm>
          <a:prstGeom prst="roundRect">
            <a:avLst>
              <a:gd name="adj" fmla="val 19231"/>
            </a:avLst>
          </a:prstGeom>
          <a:solidFill>
            <a:srgbClr val="1B3A5C"/>
          </a:solidFill>
          <a:ln w="635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27" name="Text 25"/>
          <p:cNvSpPr/>
          <p:nvPr/>
        </p:nvSpPr>
        <p:spPr>
          <a:xfrm>
            <a:off x="6254496" y="44074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datos: ¿continúo o pivoto?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hipótesis validada o refutada por Sprint.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Ecuador: AmigojoLive aprendió que las instituciones ya tienen Academium → pivotó a práctica pedagógica.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Mundo: Instagram nació como Burbn (app de check-in). Aprendieron que la foto era lo único que usaban → pivote.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29" name="Text 27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Pivotar o Perseverar — La decisión más difícil del semestre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datos, no en emociones ni apego al proyecto original.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8814816" cy="402336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8" name="Text 6"/>
          <p:cNvSpPr/>
          <p:nvPr/>
        </p:nvSpPr>
        <p:spPr>
          <a:xfrm>
            <a:off x="274320" y="859536"/>
            <a:ext cx="848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pivote no es fracaso — es aprendizaje validado. La startup que pivota más rápido gana." — Eric Ries, The Lean Startup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4592" y="1298448"/>
            <a:ext cx="4279392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0" name="Text 8"/>
          <p:cNvSpPr/>
          <p:nvPr/>
        </p:nvSpPr>
        <p:spPr>
          <a:xfrm>
            <a:off x="256032" y="131673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PERSEVERAR — cuando...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4592" y="1664208"/>
            <a:ext cx="42793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2" name="Text 10"/>
          <p:cNvSpPr/>
          <p:nvPr/>
        </p:nvSpPr>
        <p:spPr>
          <a:xfrm>
            <a:off x="256032" y="1700784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Validación ≥ 80% en encuestas JTBD de campo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2157984"/>
            <a:ext cx="4279392" cy="438912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4" name="Text 12"/>
          <p:cNvSpPr/>
          <p:nvPr/>
        </p:nvSpPr>
        <p:spPr>
          <a:xfrm>
            <a:off x="256032" y="219456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WTU ≥ 3.5 (el usuario lo usaría la próxima semana)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" y="2651760"/>
            <a:ext cx="42793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6" name="Text 14"/>
          <p:cNvSpPr/>
          <p:nvPr/>
        </p:nvSpPr>
        <p:spPr>
          <a:xfrm>
            <a:off x="256032" y="2688336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 menos 1 usuario regresó sin que el equipo lo invitara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3145536"/>
            <a:ext cx="4279392" cy="438912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8" name="Text 16"/>
          <p:cNvSpPr/>
          <p:nvPr/>
        </p:nvSpPr>
        <p:spPr>
          <a:xfrm>
            <a:off x="256032" y="318211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 pagador identificado ha expresado interés concreto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4592" y="3639312"/>
            <a:ext cx="42793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0" name="Text 18"/>
          <p:cNvSpPr/>
          <p:nvPr/>
        </p:nvSpPr>
        <p:spPr>
          <a:xfrm>
            <a:off x="256032" y="367588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hipótesis original resiste las preguntas de los jurados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1298448"/>
            <a:ext cx="4352544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2" name="Text 20"/>
          <p:cNvSpPr/>
          <p:nvPr/>
        </p:nvSpPr>
        <p:spPr>
          <a:xfrm>
            <a:off x="4718304" y="1316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PIVOTAR — cuando...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26864" y="1664208"/>
            <a:ext cx="4352544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4" name="Text 22"/>
          <p:cNvSpPr/>
          <p:nvPr/>
        </p:nvSpPr>
        <p:spPr>
          <a:xfrm>
            <a:off x="4718304" y="1700784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Validación &lt; 80% después de 40+ entrevistas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26864" y="2157984"/>
            <a:ext cx="4352544" cy="438912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6" name="Text 24"/>
          <p:cNvSpPr/>
          <p:nvPr/>
        </p:nvSpPr>
        <p:spPr>
          <a:xfrm>
            <a:off x="4718304" y="2194560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usuario usa la app pero el pagador no quiere pagar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26864" y="2651760"/>
            <a:ext cx="4352544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8" name="Text 26"/>
          <p:cNvSpPr/>
          <p:nvPr/>
        </p:nvSpPr>
        <p:spPr>
          <a:xfrm>
            <a:off x="4718304" y="2688336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canal elegido no llega al segmento real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26864" y="3145536"/>
            <a:ext cx="4352544" cy="438912"/>
          </a:xfrm>
          <a:prstGeom prst="rect">
            <a:avLst/>
          </a:prstGeom>
          <a:solidFill>
            <a:srgbClr val="F4F5F6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0" name="Text 28"/>
          <p:cNvSpPr/>
          <p:nvPr/>
        </p:nvSpPr>
        <p:spPr>
          <a:xfrm>
            <a:off x="4718304" y="318211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 competidor ya resuelve el mismo problema mejor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26864" y="3639312"/>
            <a:ext cx="4352544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2" name="Text 30"/>
          <p:cNvSpPr/>
          <p:nvPr/>
        </p:nvSpPr>
        <p:spPr>
          <a:xfrm>
            <a:off x="4718304" y="3675888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equipo no puede construir el MVP con sus recursos actuales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4592" y="4064155"/>
            <a:ext cx="8814816" cy="956603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4" name="Text 32"/>
          <p:cNvSpPr/>
          <p:nvPr/>
        </p:nvSpPr>
        <p:spPr>
          <a:xfrm>
            <a:off x="274320" y="413308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Ecuador: Novaestrat (datos a gobierno) pivotó de B2C a B2B cuando descubrió que las empresas pagaban más. iDental Ecuador pivotó de app a telemedicina dental post-COVID.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6" name="Text 34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consolidado — Los 9 bloques completos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Canvas no es un documento — es una hipótesis viva que se actualiza con evidencia.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46304" y="822960"/>
            <a:ext cx="1280160" cy="2267712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01168" y="896112"/>
            <a:ext cx="117043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81328" y="822960"/>
            <a:ext cx="1280160" cy="104241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1536192" y="896112"/>
            <a:ext cx="1170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81328" y="1920240"/>
            <a:ext cx="1280160" cy="11704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1536192" y="1993392"/>
            <a:ext cx="1170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16352" y="822960"/>
            <a:ext cx="1463040" cy="22677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2871216" y="896112"/>
            <a:ext cx="13533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52544" y="822960"/>
            <a:ext cx="1280160" cy="1042416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407408" y="896112"/>
            <a:ext cx="1170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52544" y="1920240"/>
            <a:ext cx="1280160" cy="117043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407408" y="1993392"/>
            <a:ext cx="1170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05856" y="822960"/>
            <a:ext cx="1572768" cy="22677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5760720" y="896112"/>
            <a:ext cx="14630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6304" y="3163824"/>
            <a:ext cx="3566160" cy="8961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01168" y="3236976"/>
            <a:ext cx="3456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67328" y="3163824"/>
            <a:ext cx="3511296" cy="89611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3822192" y="3236976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88736" y="8961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71216" y="8961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07408" y="8961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07408" y="199339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85616" y="32369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36192" y="8961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36192" y="199339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" y="8961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1168" y="32369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78624" y="822960"/>
            <a:ext cx="1645920" cy="32552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7315200" y="89611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15200" y="1426464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Canvas cambia cuando cambia la evidencia de campo — no cuando cambia la opinión del equipo.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15200" y="3163824"/>
            <a:ext cx="15727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S8→S9: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6,7,8,9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17/28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C"/>
          </a:solidFill>
          <a:ln w="12700">
            <a:solidFill>
              <a:srgbClr val="1B4F8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— Entrega del Proyecto: criterios y formato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entrega, cuándo, cómo y con qué criterios de evaluación.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2084832" cy="347472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19456" y="8412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5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225296"/>
            <a:ext cx="2084832" cy="3127248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016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37744" y="126187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mayo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53312" y="1261872"/>
            <a:ext cx="822960" cy="292608"/>
          </a:xfrm>
          <a:prstGeom prst="roundRect">
            <a:avLst>
              <a:gd name="adj" fmla="val 31250"/>
            </a:avLst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1371600" y="12801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" y="1609344"/>
            <a:ext cx="1938528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14" name="Text 12"/>
          <p:cNvSpPr/>
          <p:nvPr/>
        </p:nvSpPr>
        <p:spPr>
          <a:xfrm>
            <a:off x="292608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Roles Scrum + responsabilidades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7744" y="2267712"/>
            <a:ext cx="1938528" cy="60350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16" name="Text 14"/>
          <p:cNvSpPr/>
          <p:nvPr/>
        </p:nvSpPr>
        <p:spPr>
          <a:xfrm>
            <a:off x="292608" y="23042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Sprint Backlog 5 semanas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7744" y="2926080"/>
            <a:ext cx="1938528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18" name="Text 16"/>
          <p:cNvSpPr/>
          <p:nvPr/>
        </p:nvSpPr>
        <p:spPr>
          <a:xfrm>
            <a:off x="292608" y="29626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activo + URL deploy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7744" y="3584448"/>
            <a:ext cx="1938528" cy="60350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20" name="Text 18"/>
          <p:cNvSpPr/>
          <p:nvPr/>
        </p:nvSpPr>
        <p:spPr>
          <a:xfrm>
            <a:off x="292608" y="36210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README + credenciales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377440" y="822960"/>
            <a:ext cx="2084832" cy="34747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432304" y="8412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campo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77440" y="1225296"/>
            <a:ext cx="2084832" cy="3127248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016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450592" y="126187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mayo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 10)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1261872"/>
            <a:ext cx="822960" cy="292608"/>
          </a:xfrm>
          <a:prstGeom prst="roundRect">
            <a:avLst>
              <a:gd name="adj" fmla="val 31250"/>
            </a:avLst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584448" y="12801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1609344"/>
            <a:ext cx="1938528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28" name="Text 26"/>
          <p:cNvSpPr/>
          <p:nvPr/>
        </p:nvSpPr>
        <p:spPr>
          <a:xfrm>
            <a:off x="2505456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 usuarios reales documentados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50592" y="2267712"/>
            <a:ext cx="1938528" cy="60350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30" name="Text 28"/>
          <p:cNvSpPr/>
          <p:nvPr/>
        </p:nvSpPr>
        <p:spPr>
          <a:xfrm>
            <a:off x="2505456" y="23042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Métricas: adopción, NPS, WTU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450592" y="2926080"/>
            <a:ext cx="1938528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32" name="Text 30"/>
          <p:cNvSpPr/>
          <p:nvPr/>
        </p:nvSpPr>
        <p:spPr>
          <a:xfrm>
            <a:off x="2505456" y="29626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Foto + feedback escrito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450592" y="3584448"/>
            <a:ext cx="1938528" cy="60350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34" name="Text 32"/>
          <p:cNvSpPr/>
          <p:nvPr/>
        </p:nvSpPr>
        <p:spPr>
          <a:xfrm>
            <a:off x="2505456" y="36210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PMV activo en producción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90288" y="822960"/>
            <a:ext cx="2084832" cy="34747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4645152" y="8412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1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90288" y="1225296"/>
            <a:ext cx="2084832" cy="3127248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016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4663440" y="126187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junio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 11)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79008" y="1261872"/>
            <a:ext cx="822960" cy="292608"/>
          </a:xfrm>
          <a:prstGeom prst="roundRect">
            <a:avLst>
              <a:gd name="adj" fmla="val 31250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5797296" y="12801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1609344"/>
            <a:ext cx="1938528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42" name="Text 40"/>
          <p:cNvSpPr/>
          <p:nvPr/>
        </p:nvSpPr>
        <p:spPr>
          <a:xfrm>
            <a:off x="4718304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Demo en vivo 5 min en clase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663440" y="2267712"/>
            <a:ext cx="1938528" cy="60350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44" name="Text 42"/>
          <p:cNvSpPr/>
          <p:nvPr/>
        </p:nvSpPr>
        <p:spPr>
          <a:xfrm>
            <a:off x="4718304" y="23042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Código fuente completo GitHub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3440" y="2926080"/>
            <a:ext cx="1938528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46" name="Text 44"/>
          <p:cNvSpPr/>
          <p:nvPr/>
        </p:nvSpPr>
        <p:spPr>
          <a:xfrm>
            <a:off x="4718304" y="29626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Documentación técnica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663440" y="3584448"/>
            <a:ext cx="1938528" cy="60350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48" name="Text 46"/>
          <p:cNvSpPr/>
          <p:nvPr/>
        </p:nvSpPr>
        <p:spPr>
          <a:xfrm>
            <a:off x="4718304" y="36210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Manual de usuario 1 página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03136" y="822960"/>
            <a:ext cx="2084832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6858000" y="8412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03136" y="1225296"/>
            <a:ext cx="2084832" cy="3127248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016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6876288" y="126187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4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(Semana 16)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91856" y="1261872"/>
            <a:ext cx="822960" cy="292608"/>
          </a:xfrm>
          <a:prstGeom prst="roundRect">
            <a:avLst>
              <a:gd name="adj" fmla="val 3125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8010144" y="12801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76288" y="1609344"/>
            <a:ext cx="1938528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56" name="Text 54"/>
          <p:cNvSpPr/>
          <p:nvPr/>
        </p:nvSpPr>
        <p:spPr>
          <a:xfrm>
            <a:off x="6931152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Pitch 5 min ante jurado externo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876288" y="2267712"/>
            <a:ext cx="1938528" cy="60350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58" name="Text 56"/>
          <p:cNvSpPr/>
          <p:nvPr/>
        </p:nvSpPr>
        <p:spPr>
          <a:xfrm>
            <a:off x="6931152" y="23042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Canvas completo actualizado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876288" y="2926080"/>
            <a:ext cx="1938528" cy="60350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60" name="Text 58"/>
          <p:cNvSpPr/>
          <p:nvPr/>
        </p:nvSpPr>
        <p:spPr>
          <a:xfrm>
            <a:off x="6931152" y="29626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Aprendizajes del semestre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876288" y="3584448"/>
            <a:ext cx="1938528" cy="60350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4000"/>
          </a:p>
        </p:txBody>
      </p:sp>
      <p:sp>
        <p:nvSpPr>
          <p:cNvPr id="62" name="Text 60"/>
          <p:cNvSpPr/>
          <p:nvPr/>
        </p:nvSpPr>
        <p:spPr>
          <a:xfrm>
            <a:off x="6931152" y="36210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Propuesta de escalabilidad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164592" y="4443984"/>
            <a:ext cx="8814816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4" name="Text 62"/>
          <p:cNvSpPr/>
          <p:nvPr/>
        </p:nvSpPr>
        <p:spPr>
          <a:xfrm>
            <a:off x="274320" y="44622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 semestre: 250+ pts  ·  Sin entrega = 0, no recuperable después de la fecha  ·  El prototipo debe ser funcional — no un diseño en Figma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18/28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— Presentación Final y Cierre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· Jurado externo · Fe y Alegría · 8 de junio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2852928" cy="310896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6032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Format de la presentación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" y="1188720"/>
            <a:ext cx="2852928" cy="3127248"/>
          </a:xfrm>
          <a:prstGeom prst="roundRect">
            <a:avLst>
              <a:gd name="adj" fmla="val 3205"/>
            </a:avLst>
          </a:prstGeom>
          <a:solidFill>
            <a:srgbClr val="1B3A5C"/>
          </a:solidFill>
          <a:ln w="1016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 minutos de pitch ante jurado externo (Fe y Alegría + docente invitado)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97510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 minutos de demo en vivo del prototipo funcional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68833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 minutos de preguntas del jurado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40156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Canvas completo proyectado — 9 bloques actualizados con evidencia real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63824" y="822960"/>
            <a:ext cx="2852928" cy="310896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3255264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Criterios de evaluación final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63824" y="1188720"/>
            <a:ext cx="2852928" cy="3127248"/>
          </a:xfrm>
          <a:prstGeom prst="roundRect">
            <a:avLst>
              <a:gd name="adj" fmla="val 3205"/>
            </a:avLst>
          </a:prstGeom>
          <a:solidFill>
            <a:srgbClr val="1B3A5C"/>
          </a:solidFill>
          <a:ln w="1016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7" name="Text 15"/>
          <p:cNvSpPr/>
          <p:nvPr/>
        </p:nvSpPr>
        <p:spPr>
          <a:xfrm>
            <a:off x="3273552" y="12618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Prototipo funcional: ¿hace lo que prometió? ¿usuarios reales lo usan?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3552" y="197510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Evidencia de campo: métricas reales de 10+ usuarios documentadas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73552" y="268833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Canvas coherente: los 9 bloques se conectan y tienen fundamento en datos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73552" y="340156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Aprendizaje: ¿qué pivotaron y por qué? ¿qué aprendieron del segmento?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822960"/>
            <a:ext cx="2852928" cy="310896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6254496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Reconocimientos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1188720"/>
            <a:ext cx="2852928" cy="3127248"/>
          </a:xfrm>
          <a:prstGeom prst="roundRect">
            <a:avLst>
              <a:gd name="adj" fmla="val 3205"/>
            </a:avLst>
          </a:prstGeom>
          <a:solidFill>
            <a:srgbClr val="1B3A5C"/>
          </a:solidFill>
          <a:ln w="1016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4" name="Text 22"/>
          <p:cNvSpPr/>
          <p:nvPr/>
        </p:nvSpPr>
        <p:spPr>
          <a:xfrm>
            <a:off x="6272784" y="12618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Proyecto con mayor impacto social medido → presentación ante Fe y Alegría nacional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2784" y="197510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Mejor pitch → invitación a concurso de emprendimiento PUCE 2025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72784" y="268833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Mejor Canvas → publicación en blog de Innovación PUCE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340156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Todos los grupos reciben certificado de ApS firmado por Fe y Alegría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4592" y="4407408"/>
            <a:ext cx="8814816" cy="34747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9" name="Text 27"/>
          <p:cNvSpPr/>
          <p:nvPr/>
        </p:nvSpPr>
        <p:spPr>
          <a:xfrm>
            <a:off x="274320" y="442569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8 de junio · Semana 12 · Presencial en PUCE · Jurado: Gabriela Valladares (Fe y Alegría) + invitado especial · Todos los integrantes presentan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19/28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7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D9A5A"/>
          </a:solidFill>
          <a:ln w="12700">
            <a:solidFill>
              <a:srgbClr val="1D9A5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D9A5A"/>
          </a:solidFill>
          <a:ln w="12700">
            <a:solidFill>
              <a:srgbClr val="1D9A5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en Aula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actividades · Divertidas · Basadas en la teoría de hoy · Con puntos y ganadores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54864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65760" y="3127248"/>
            <a:ext cx="2798064" cy="530352"/>
          </a:xfrm>
          <a:prstGeom prst="roundRect">
            <a:avLst>
              <a:gd name="adj" fmla="val 17241"/>
            </a:avLst>
          </a:prstGeom>
          <a:solidFill>
            <a:srgbClr val="1D9A5A"/>
          </a:solidFill>
          <a:ln w="12700">
            <a:solidFill>
              <a:srgbClr val="A8DF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Actividad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36499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Battle Relay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2615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0128" y="3127248"/>
            <a:ext cx="2798064" cy="530352"/>
          </a:xfrm>
          <a:prstGeom prst="roundRect">
            <a:avLst>
              <a:gd name="adj" fmla="val 17241"/>
            </a:avLst>
          </a:prstGeom>
          <a:solidFill>
            <a:srgbClr val="1D9A5A"/>
          </a:solidFill>
          <a:ln w="12700">
            <a:solidFill>
              <a:srgbClr val="A8DF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401568" y="31455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Actividad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01568" y="336499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Startup Carrera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01568" y="3547872"/>
            <a:ext cx="2615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54496" y="3127248"/>
            <a:ext cx="2798064" cy="530352"/>
          </a:xfrm>
          <a:prstGeom prst="roundRect">
            <a:avLst>
              <a:gd name="adj" fmla="val 17241"/>
            </a:avLst>
          </a:prstGeom>
          <a:solidFill>
            <a:srgbClr val="1D9A5A"/>
          </a:solidFill>
          <a:ln w="12700">
            <a:solidFill>
              <a:srgbClr val="A8DFC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345936" y="31455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Actividad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45936" y="336499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Express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5936" y="3547872"/>
            <a:ext cx="2615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Actividad 1 — Canvas Battle Relay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Canvas más rápido y más completo gana · 15 minutos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8814816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8" name="Text 6"/>
          <p:cNvSpPr/>
          <p:nvPr/>
        </p:nvSpPr>
        <p:spPr>
          <a:xfrm>
            <a:off x="256032" y="83210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¿Cómo se juega?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4592" y="1152144"/>
            <a:ext cx="881481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0" name="Shape 8"/>
          <p:cNvSpPr/>
          <p:nvPr/>
        </p:nvSpPr>
        <p:spPr>
          <a:xfrm>
            <a:off x="164592" y="1152144"/>
            <a:ext cx="54864" cy="42062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1" name="Text 9"/>
          <p:cNvSpPr/>
          <p:nvPr/>
        </p:nvSpPr>
        <p:spPr>
          <a:xfrm>
            <a:off x="274320" y="1188720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asigno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aleatoriamente un Canvas en BLANCO a cada grupo — puede ser el Canvas de OTRO grupo.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4592" y="1627632"/>
            <a:ext cx="8814816" cy="420624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3" name="Shape 11"/>
          <p:cNvSpPr/>
          <p:nvPr/>
        </p:nvSpPr>
        <p:spPr>
          <a:xfrm>
            <a:off x="164592" y="1627632"/>
            <a:ext cx="54864" cy="42062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4" name="Text 12"/>
          <p:cNvSpPr/>
          <p:nvPr/>
        </p:nvSpPr>
        <p:spPr>
          <a:xfrm>
            <a:off x="274320" y="1664208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 8 minutos, completar los 9 bloques del Canvas asignado con la información que conocen del proyecto.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" y="2103120"/>
            <a:ext cx="881481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6" name="Shape 14"/>
          <p:cNvSpPr/>
          <p:nvPr/>
        </p:nvSpPr>
        <p:spPr>
          <a:xfrm>
            <a:off x="164592" y="2103120"/>
            <a:ext cx="54864" cy="42062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7" name="Text 15"/>
          <p:cNvSpPr/>
          <p:nvPr/>
        </p:nvSpPr>
        <p:spPr>
          <a:xfrm>
            <a:off x="274320" y="2139696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 terminar, cada grupo presenta el Canvas que completó en 90 segundos.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" y="2578608"/>
            <a:ext cx="8814816" cy="420624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9" name="Shape 17"/>
          <p:cNvSpPr/>
          <p:nvPr/>
        </p:nvSpPr>
        <p:spPr>
          <a:xfrm>
            <a:off x="164592" y="2578608"/>
            <a:ext cx="54864" cy="42062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0" name="Text 18"/>
          <p:cNvSpPr/>
          <p:nvPr/>
        </p:nvSpPr>
        <p:spPr>
          <a:xfrm>
            <a:off x="274320" y="2615184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El grupo DUEÑO del proyecto evalúa: ¿cuántos bloques acertaron? Cada bloque correcto = 1 punto.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4592" y="3054096"/>
            <a:ext cx="881481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2" name="Shape 20"/>
          <p:cNvSpPr/>
          <p:nvPr/>
        </p:nvSpPr>
        <p:spPr>
          <a:xfrm>
            <a:off x="164592" y="3054096"/>
            <a:ext cx="54864" cy="42062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3" name="Text 21"/>
          <p:cNvSpPr/>
          <p:nvPr/>
        </p:nvSpPr>
        <p:spPr>
          <a:xfrm>
            <a:off x="274320" y="3090672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El grupo con más puntos de acierto gana 1 punto extra en la participación de clase.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3602736"/>
            <a:ext cx="8814816" cy="658368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5" name="Text 23"/>
          <p:cNvSpPr/>
          <p:nvPr/>
        </p:nvSpPr>
        <p:spPr>
          <a:xfrm>
            <a:off x="256032" y="3621024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" y="38587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Canvas de otro grupo obliga a entender el modelo de negocio completo — no solo el propio. La competencia genera energía y el límite de tiempo elimina parálisis. Los grupos aprenden más del feedback de sus compañeros que de la teoría.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4592" y="4315968"/>
            <a:ext cx="8814816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8" name="Text 26"/>
          <p:cNvSpPr/>
          <p:nvPr/>
        </p:nvSpPr>
        <p:spPr>
          <a:xfrm>
            <a:off x="274320" y="43342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Materiales: Canvas en blanco impreso o proyectado · Marcadores de colores · Cronómetro visible en pantalla · Scoreboard en pizarra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21/28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Actividad 2 — Lean Startup Carrera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que completa el ciclo construir-medir-aprender más rápido gana · 20 min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8814816" cy="2743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6032" y="83210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¿Cómo se juega?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" y="1152144"/>
            <a:ext cx="2852928" cy="384048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37744" y="1170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CONSTRUIR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6272" y="1170432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194560" y="118872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591056"/>
            <a:ext cx="2852928" cy="2560320"/>
          </a:xfrm>
          <a:prstGeom prst="roundRect">
            <a:avLst>
              <a:gd name="adj" fmla="val 3571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4" name="Text 12"/>
          <p:cNvSpPr/>
          <p:nvPr/>
        </p:nvSpPr>
        <p:spPr>
          <a:xfrm>
            <a:off x="256032" y="1664208"/>
            <a:ext cx="26517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tiene 3 minutos para dibujar en papel el flujo de su PMV en 3 pasos. Solo lo esencial. La representación visual debe ser entendible por alguien que no conoce el proyecto.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63824" y="1152144"/>
            <a:ext cx="2852928" cy="384048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3236976" y="1170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MEDIR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75504" y="1170432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193792" y="118872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63824" y="1591056"/>
            <a:ext cx="2852928" cy="2560320"/>
          </a:xfrm>
          <a:prstGeom prst="roundRect">
            <a:avLst>
              <a:gd name="adj" fmla="val 3571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0" name="Text 18"/>
          <p:cNvSpPr/>
          <p:nvPr/>
        </p:nvSpPr>
        <p:spPr>
          <a:xfrm>
            <a:off x="3255264" y="1664208"/>
            <a:ext cx="26517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grupo analiza el dibujo y define: 2 métricas concretas para saber si el PMV funciona (números reales, no opiniones). Ej: '7 de 10 docentes completan el flujo sin ayuda en menos de 2 minutos'.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3056" y="1152144"/>
            <a:ext cx="2852928" cy="384048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6236208" y="1170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74736" y="1170432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8193024" y="118872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1591056"/>
            <a:ext cx="2852928" cy="2560320"/>
          </a:xfrm>
          <a:prstGeom prst="roundRect">
            <a:avLst>
              <a:gd name="adj" fmla="val 3571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6" name="Text 24"/>
          <p:cNvSpPr/>
          <p:nvPr/>
        </p:nvSpPr>
        <p:spPr>
          <a:xfrm>
            <a:off x="6254496" y="1664208"/>
            <a:ext cx="26517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original responde: ¿perseverar o pivotar? Fundamentar con 1 dato de sus entrevistas de campo. Presentar la decisión en 60 segundos ante la clase.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64592" y="4261104"/>
            <a:ext cx="8814816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74320" y="42793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grupo cuya decisión de perseverar/pivotar es más coherente con los datos presentados. Voto de la clase (mano alzada).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64592" y="4663440"/>
            <a:ext cx="8814816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274320" y="468172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funciona: simula exactamente lo que pasa en un Sprint Review real. Aprenden que medir no es preguntar '¿te gustó?' — es observar comportamiento.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22/28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Actividad 3 — Demo Day Express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demo de 90 segundos sin slides ni presentación · 15 min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8814816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6032" y="83210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¿Cómo se juega?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" y="1152144"/>
            <a:ext cx="881481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0" name="Shape 8"/>
          <p:cNvSpPr/>
          <p:nvPr/>
        </p:nvSpPr>
        <p:spPr>
          <a:xfrm>
            <a:off x="164592" y="1152144"/>
            <a:ext cx="54864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1" name="Text 9"/>
          <p:cNvSpPr/>
          <p:nvPr/>
        </p:nvSpPr>
        <p:spPr>
          <a:xfrm>
            <a:off x="274320" y="1188720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Cada grupo tiene exactamente 90 segundos. Sin slides. Sin papel. Solo el PMV en pantalla o en el celular.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4592" y="1627632"/>
            <a:ext cx="8814816" cy="420624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3" name="Shape 11"/>
          <p:cNvSpPr/>
          <p:nvPr/>
        </p:nvSpPr>
        <p:spPr>
          <a:xfrm>
            <a:off x="164592" y="1627632"/>
            <a:ext cx="54864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4" name="Text 12"/>
          <p:cNvSpPr/>
          <p:nvPr/>
        </p:nvSpPr>
        <p:spPr>
          <a:xfrm>
            <a:off x="274320" y="1664208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 esos 90 segundos: mostrar el problema en 20 seg + mostrar la solución funcionando en 50 seg + decir quién paga en 20 seg.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" y="2103120"/>
            <a:ext cx="881481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6" name="Shape 14"/>
          <p:cNvSpPr/>
          <p:nvPr/>
        </p:nvSpPr>
        <p:spPr>
          <a:xfrm>
            <a:off x="164592" y="2103120"/>
            <a:ext cx="54864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7" name="Text 15"/>
          <p:cNvSpPr/>
          <p:nvPr/>
        </p:nvSpPr>
        <p:spPr>
          <a:xfrm>
            <a:off x="274320" y="2139696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 el PMV no funciona durante la demo → el grupo pierde 30 segundos de presentación (el docente cronometra).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" y="2578608"/>
            <a:ext cx="8814816" cy="420624"/>
          </a:xfrm>
          <a:prstGeom prst="rect">
            <a:avLst/>
          </a:prstGeom>
          <a:solidFill>
            <a:srgbClr val="FAFAF7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9" name="Shape 17"/>
          <p:cNvSpPr/>
          <p:nvPr/>
        </p:nvSpPr>
        <p:spPr>
          <a:xfrm>
            <a:off x="164592" y="2578608"/>
            <a:ext cx="54864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0" name="Text 18"/>
          <p:cNvSpPr/>
          <p:nvPr/>
        </p:nvSpPr>
        <p:spPr>
          <a:xfrm>
            <a:off x="274320" y="2615184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Después de cada demo, 3 compañeros de otros grupos hacen 1 pregunta cada uno. El grupo responde con evidencia.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4592" y="3054096"/>
            <a:ext cx="8814816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2" name="Shape 20"/>
          <p:cNvSpPr/>
          <p:nvPr/>
        </p:nvSpPr>
        <p:spPr>
          <a:xfrm>
            <a:off x="164592" y="3054096"/>
            <a:ext cx="54864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3" name="Text 21"/>
          <p:cNvSpPr/>
          <p:nvPr/>
        </p:nvSpPr>
        <p:spPr>
          <a:xfrm>
            <a:off x="274320" y="3090672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La clase vota el mejor demo con aplausos. El ganador recibe +1 punto de participación.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3657600"/>
            <a:ext cx="8814816" cy="5852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256032" y="36758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" y="389534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segundos elimina el texto de relleno. El grupo debe saber exactamente qué hace el PMV, para quién y por qué alguien pagaría. Si no pueden explicarlo en 90 seg, el Canvas está incompleto. Es la mejor retroalimentación antes del Shark Tank real.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4592" y="4315968"/>
            <a:ext cx="8814816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74320" y="43342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dorada: si el PMV no funciona en vivo, no sirve para el cliente real. La demo es el momento de verdad.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23/28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Scoreboard de actividades en aula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participación — Se suman a la nota de participación del semestre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201168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10312" y="832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/ Proyecto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76272" y="822960"/>
            <a:ext cx="13716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2221992" y="8321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822960"/>
            <a:ext cx="13716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593592" y="8321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19472" y="822960"/>
            <a:ext cx="13716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4965192" y="8321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91072" y="822960"/>
            <a:ext cx="1463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336792" y="8321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54112" y="822960"/>
            <a:ext cx="1426464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7799832" y="8321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4592" y="1225296"/>
            <a:ext cx="201168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37744" y="1261872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PresenTech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76272" y="1225296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212848" y="1408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47872" y="1225296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3584448" y="1408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19472" y="1225296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4956048" y="1408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91072" y="1225296"/>
            <a:ext cx="146304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6327648" y="14081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54112" y="1225296"/>
            <a:ext cx="1426464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7790688" y="14081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" y="1975104"/>
            <a:ext cx="201168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37744" y="201168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AmigojoLive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1975104"/>
            <a:ext cx="137160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2212848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47872" y="1975104"/>
            <a:ext cx="137160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3584448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19472" y="1975104"/>
            <a:ext cx="137160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4956048" y="21579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1975104"/>
            <a:ext cx="146304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6327648" y="21579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54112" y="1975104"/>
            <a:ext cx="1426464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7790688" y="21579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4592" y="2724912"/>
            <a:ext cx="201168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237744" y="2761488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Comprendo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76272" y="2724912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2212848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47872" y="2724912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3584448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19472" y="2724912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4956048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91072" y="2724912"/>
            <a:ext cx="146304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6327648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754112" y="2724912"/>
            <a:ext cx="1426464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7790688" y="29077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64592" y="3474720"/>
            <a:ext cx="201168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237744" y="3511296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AlegriApp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76272" y="3474720"/>
            <a:ext cx="137160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8" name="Text 56"/>
          <p:cNvSpPr/>
          <p:nvPr/>
        </p:nvSpPr>
        <p:spPr>
          <a:xfrm>
            <a:off x="2212848" y="36576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547872" y="3474720"/>
            <a:ext cx="137160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3584448" y="36576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19472" y="3474720"/>
            <a:ext cx="137160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4956048" y="36576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91072" y="3474720"/>
            <a:ext cx="1463040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4" name="Text 62"/>
          <p:cNvSpPr/>
          <p:nvPr/>
        </p:nvSpPr>
        <p:spPr>
          <a:xfrm>
            <a:off x="6327648" y="36576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754112" y="3474720"/>
            <a:ext cx="1426464" cy="694944"/>
          </a:xfrm>
          <a:prstGeom prst="rect">
            <a:avLst/>
          </a:prstGeom>
          <a:solidFill>
            <a:srgbClr val="243B55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7790688" y="365760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64592" y="4224528"/>
            <a:ext cx="201168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8" name="Text 66"/>
          <p:cNvSpPr/>
          <p:nvPr/>
        </p:nvSpPr>
        <p:spPr>
          <a:xfrm>
            <a:off x="237744" y="4261104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DocuIA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176272" y="4224528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0" name="Text 68"/>
          <p:cNvSpPr/>
          <p:nvPr/>
        </p:nvSpPr>
        <p:spPr>
          <a:xfrm>
            <a:off x="2212848" y="44074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547872" y="4224528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2" name="Text 70"/>
          <p:cNvSpPr/>
          <p:nvPr/>
        </p:nvSpPr>
        <p:spPr>
          <a:xfrm>
            <a:off x="3584448" y="44074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919472" y="4224528"/>
            <a:ext cx="137160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4" name="Text 72"/>
          <p:cNvSpPr/>
          <p:nvPr/>
        </p:nvSpPr>
        <p:spPr>
          <a:xfrm>
            <a:off x="4956048" y="44074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291072" y="4224528"/>
            <a:ext cx="1463040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6" name="Text 74"/>
          <p:cNvSpPr/>
          <p:nvPr/>
        </p:nvSpPr>
        <p:spPr>
          <a:xfrm>
            <a:off x="6327648" y="44074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754112" y="4224528"/>
            <a:ext cx="1426464" cy="694944"/>
          </a:xfrm>
          <a:prstGeom prst="rect">
            <a:avLst/>
          </a:prstGeom>
          <a:solidFill>
            <a:srgbClr val="1B3A5C"/>
          </a:solidFill>
          <a:ln w="635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8" name="Text 76"/>
          <p:cNvSpPr/>
          <p:nvPr/>
        </p:nvSpPr>
        <p:spPr>
          <a:xfrm>
            <a:off x="7790688" y="44074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64592" y="4809744"/>
            <a:ext cx="8814816" cy="1828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0" name="Text 78"/>
          <p:cNvSpPr/>
          <p:nvPr/>
        </p:nvSpPr>
        <p:spPr>
          <a:xfrm>
            <a:off x="256032" y="481888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 Canvas Battle: _______  ·  Ganador Lean Carrera: _______  ·  Mejor Demo: _______  ·  Shark Tank: +5 pts Tarea 4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2" name="Text 80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24/28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ecuatorianas que usaron Canvas + Lean Startup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sus proyectos tienen en común con estas historias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4279392" cy="32918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6032" y="859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 Kushkipay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0672" y="877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207008"/>
            <a:ext cx="4279392" cy="1682496"/>
          </a:xfrm>
          <a:prstGeom prst="roundRect">
            <a:avLst>
              <a:gd name="adj" fmla="val 5435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1" name="Text 9"/>
          <p:cNvSpPr/>
          <p:nvPr/>
        </p:nvSpPr>
        <p:spPr>
          <a:xfrm>
            <a:off x="256032" y="128016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Comerciantes informales sin acceso a cobros digitales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" y="1591056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Segmento: PyMEs y mercados populares. Canal: agentes físicos. Ingreso: comisión 1.5-3%.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" y="201168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Validaron con 50 comerciantes manualmente antes de programar. Descubrieron que el problema era recibir, no enviar, dinero.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239572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$75M levantados · 50,000+ comerciantes · Ecuador, Perú, México, Chile.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822960"/>
            <a:ext cx="4279392" cy="329184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718304" y="859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 Novaestrat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52944" y="877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1207008"/>
            <a:ext cx="4279392" cy="1682496"/>
          </a:xfrm>
          <a:prstGeom prst="roundRect">
            <a:avLst>
              <a:gd name="adj" fmla="val 5435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9" name="Text 17"/>
          <p:cNvSpPr/>
          <p:nvPr/>
        </p:nvSpPr>
        <p:spPr>
          <a:xfrm>
            <a:off x="4718304" y="128016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Sin acceso a datos de mercado confiables en Ecuador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1591056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Segmento: empresas y gobierno. Canal: consultoría directa. Ingreso: proyectos B2B.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201168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Pivotaron de B2C a B2B cuando descubrieron que empresas pagaban 10x más que individuos.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8304" y="239572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Referente de datos en Ecuador · Clientes: BID, Gobierno, empresas multinacionales.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" y="2944368"/>
            <a:ext cx="4279392" cy="32918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4" name="Text 22"/>
          <p:cNvSpPr/>
          <p:nvPr/>
        </p:nvSpPr>
        <p:spPr>
          <a:xfrm>
            <a:off x="256032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 Tuti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90672" y="2999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4592" y="3328416"/>
            <a:ext cx="4279392" cy="1682496"/>
          </a:xfrm>
          <a:prstGeom prst="roundRect">
            <a:avLst>
              <a:gd name="adj" fmla="val 5435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256032" y="340156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Sin delivery rápido en ciudades intermedias Ecuador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" y="3712464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Segmento: restaurantes locales. Canal: app + redes sociales. Ingreso: comisión % por pedido.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" y="4133088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Empezaron en Ambato (no Quito) para evitar competir con Rappi desde el inicio.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" y="4517136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Expansión a 15 ciudades · Adquirida parcialmente · Modelo local-first exitoso.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26864" y="2944368"/>
            <a:ext cx="4279392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2" name="Text 30"/>
          <p:cNvSpPr/>
          <p:nvPr/>
        </p:nvSpPr>
        <p:spPr>
          <a:xfrm>
            <a:off x="4718304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 iDental Ecuador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552944" y="2999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26864" y="3328416"/>
            <a:ext cx="4279392" cy="1682496"/>
          </a:xfrm>
          <a:prstGeom prst="roundRect">
            <a:avLst>
              <a:gd name="adj" fmla="val 5435"/>
            </a:avLst>
          </a:prstGeom>
          <a:solidFill>
            <a:srgbClr val="F4F5F6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4718304" y="340156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Sin acceso a odontólogos en zonas rurales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18304" y="3712464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Segmento: personas sin clínica cercana. Canal: WhatsApp + telemedicina. Ingreso: consulta virtual.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18304" y="4133088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Pivotaron de app a WhatsApp cuando descubrieron que el 70% del segmento no descargaba apps.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18304" y="4517136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+5,000 pacientes atendidos · Premio Innovación Social Ecuador 2021.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del mundo que usaron Canvas + Lean Startup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que tienen ADN similar a sus proyectos Fe y Alegría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4279392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6032" y="859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Airbnb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0672" y="877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207008"/>
            <a:ext cx="4279392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1" name="Text 9"/>
          <p:cNvSpPr/>
          <p:nvPr/>
        </p:nvSpPr>
        <p:spPr>
          <a:xfrm>
            <a:off x="256032" y="128016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tenía cómo pagar alojamiento desconocido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" y="1572768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Segmento: viajeros con presupuesto ajustado + anfitriones con espacio extra.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" y="1975104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Fotografiaron ellos mismos los apartamentos de los primeros anfitriones. Aprendieron que la foto era la clave de confianza.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" y="2359152"/>
            <a:ext cx="4078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Sus proyectos: AlegriApp: la confianza entre docente y padre es su equivalente.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822960"/>
            <a:ext cx="4279392" cy="329184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718304" y="859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M-Pesa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52944" y="877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1207008"/>
            <a:ext cx="4279392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9" name="Text 17"/>
          <p:cNvSpPr/>
          <p:nvPr/>
        </p:nvSpPr>
        <p:spPr>
          <a:xfrm>
            <a:off x="4718304" y="128016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bancario en zonas rurales de África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1572768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Canal: red de agentes en tiendas locales. Ingreso: comisión por transacción.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8304" y="1975104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Validaron con 50 usuarios en un barrio de Nairobi antes de escalar a nivel nacional.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18304" y="2359152"/>
            <a:ext cx="4078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Sus proyectos: Sus proyectos validan en 1 UE antes de escalar a las 75 de Fe y Alegría.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2944368"/>
            <a:ext cx="4279392" cy="329184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4" name="Text 22"/>
          <p:cNvSpPr/>
          <p:nvPr/>
        </p:nvSpPr>
        <p:spPr>
          <a:xfrm>
            <a:off x="256032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Duolingo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090672" y="2999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3328416"/>
            <a:ext cx="4279392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7" name="Text 25"/>
          <p:cNvSpPr/>
          <p:nvPr/>
        </p:nvSpPr>
        <p:spPr>
          <a:xfrm>
            <a:off x="256032" y="340156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idiomas es caro y poco accesible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" y="3694176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Segmento masivo. Freemium. Canal: notificaciones push diarias.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6032" y="409651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Lanzaron solo con 3 idiomas. Midieron retención día 1, día 7 y día 30 antes de agregar más.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6032" y="4480560"/>
            <a:ext cx="4078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Sus proyectos: Comprendo: retención = cuántos docentes activan el bot la semana siguiente.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26864" y="2944368"/>
            <a:ext cx="4279392" cy="329184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2" name="Text 30"/>
          <p:cNvSpPr/>
          <p:nvPr/>
        </p:nvSpPr>
        <p:spPr>
          <a:xfrm>
            <a:off x="4718304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Bridge Intl. Academies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52944" y="2999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Kenia/Uganda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26864" y="3328416"/>
            <a:ext cx="4279392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5" name="Text 33"/>
          <p:cNvSpPr/>
          <p:nvPr/>
        </p:nvSpPr>
        <p:spPr>
          <a:xfrm>
            <a:off x="4718304" y="340156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básica de calidad inaccesible en zonas rurales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18304" y="3694176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El pagador era la comunidad, no el gobierno. Eso cambió todo el modelo.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18304" y="409651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Probaron en 1 escuela 6 meses antes de escalar. Medían aprendizaje real, no inscripciones.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18304" y="4480560"/>
            <a:ext cx="4078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Sus proyectos: Sus proyectos: el pagador es Fe y Alegría Central, no el docente individual.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40" name="Text 38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28600" y="3657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Ingeniería en Sistemas  |  Emprendimiento Tecnológico  |  Prof. Francisco Rodríguez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219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— Semana 9 · 12 de mayo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5577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Deploy producción · URL pública · 3 pantallas completas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2852928" cy="292608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8" name="Text 6"/>
          <p:cNvSpPr/>
          <p:nvPr/>
        </p:nvSpPr>
        <p:spPr>
          <a:xfrm>
            <a:off x="256032" y="832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Traer obligatoriamente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4592" y="1170432"/>
            <a:ext cx="2852928" cy="3364992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0" name="Shape 8"/>
          <p:cNvSpPr/>
          <p:nvPr/>
        </p:nvSpPr>
        <p:spPr>
          <a:xfrm>
            <a:off x="219456" y="1243584"/>
            <a:ext cx="2724912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1" name="Text 9"/>
          <p:cNvSpPr/>
          <p:nvPr/>
        </p:nvSpPr>
        <p:spPr>
          <a:xfrm>
            <a:off x="292608" y="12801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URL de deploy activa (no localhost) — el docente la abre desde su celular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" y="2011680"/>
            <a:ext cx="2724912" cy="69494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3" name="Text 11"/>
          <p:cNvSpPr/>
          <p:nvPr/>
        </p:nvSpPr>
        <p:spPr>
          <a:xfrm>
            <a:off x="292608" y="2048256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con mínimo 10 commits de distintos integrantes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" y="2779776"/>
            <a:ext cx="2724912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5" name="Text 13"/>
          <p:cNvSpPr/>
          <p:nvPr/>
        </p:nvSpPr>
        <p:spPr>
          <a:xfrm>
            <a:off x="292608" y="281635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Credenciales de acceso en el README del repo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" y="3547872"/>
            <a:ext cx="2724912" cy="69494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7" name="Text 15"/>
          <p:cNvSpPr/>
          <p:nvPr/>
        </p:nvSpPr>
        <p:spPr>
          <a:xfrm>
            <a:off x="292608" y="3584448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Sprint 2 completado: IA integrada end-to-end funcionando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63824" y="822960"/>
            <a:ext cx="2852928" cy="45720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9" name="Text 17"/>
          <p:cNvSpPr/>
          <p:nvPr/>
        </p:nvSpPr>
        <p:spPr>
          <a:xfrm>
            <a:off x="3264408" y="961644"/>
            <a:ext cx="265176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 en clase (3 min por grupo)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63824" y="1170432"/>
            <a:ext cx="2852928" cy="3364992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1" name="Shape 19"/>
          <p:cNvSpPr/>
          <p:nvPr/>
        </p:nvSpPr>
        <p:spPr>
          <a:xfrm>
            <a:off x="3218688" y="1243584"/>
            <a:ext cx="2724912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2" name="Text 20"/>
          <p:cNvSpPr/>
          <p:nvPr/>
        </p:nvSpPr>
        <p:spPr>
          <a:xfrm>
            <a:off x="3291840" y="12801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Mostrar la URL en un celular diferente al del desarrollador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18688" y="2011680"/>
            <a:ext cx="2724912" cy="69494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4" name="Text 22"/>
          <p:cNvSpPr/>
          <p:nvPr/>
        </p:nvSpPr>
        <p:spPr>
          <a:xfrm>
            <a:off x="3291840" y="2048256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Completar el flujo principal sin ayuda en menos de 2 minutos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18688" y="2779776"/>
            <a:ext cx="2724912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6" name="Text 24"/>
          <p:cNvSpPr/>
          <p:nvPr/>
        </p:nvSpPr>
        <p:spPr>
          <a:xfrm>
            <a:off x="3291840" y="281635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Mostrar en GitHub la cantidad de commits y autores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18688" y="3547872"/>
            <a:ext cx="2724912" cy="69494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8" name="Text 26"/>
          <p:cNvSpPr/>
          <p:nvPr/>
        </p:nvSpPr>
        <p:spPr>
          <a:xfrm>
            <a:off x="3291840" y="3584448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Presentar 1 métrica real de usuario que probó esta semana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63056" y="822960"/>
            <a:ext cx="2852928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0" name="Text 28"/>
          <p:cNvSpPr/>
          <p:nvPr/>
        </p:nvSpPr>
        <p:spPr>
          <a:xfrm>
            <a:off x="6254496" y="832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Fecha clave siguiente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63056" y="1170432"/>
            <a:ext cx="2852928" cy="3364992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2" name="Shape 30"/>
          <p:cNvSpPr/>
          <p:nvPr/>
        </p:nvSpPr>
        <p:spPr>
          <a:xfrm>
            <a:off x="6217920" y="1243584"/>
            <a:ext cx="2724912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3" name="Text 31"/>
          <p:cNvSpPr/>
          <p:nvPr/>
        </p:nvSpPr>
        <p:spPr>
          <a:xfrm>
            <a:off x="6291072" y="1280160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Sprint 3 entrega: 12 de mayo — deploy + 3 pantallas + credenciales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011680"/>
            <a:ext cx="2724912" cy="69494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5" name="Text 33"/>
          <p:cNvSpPr/>
          <p:nvPr/>
        </p:nvSpPr>
        <p:spPr>
          <a:xfrm>
            <a:off x="6291072" y="2048256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Sprint 4 (Semana 10, 19 mayo): PMV en campo con 10 usuarios reales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2779776"/>
            <a:ext cx="2724912" cy="694944"/>
          </a:xfrm>
          <a:prstGeom prst="rect">
            <a:avLst/>
          </a:prstGeom>
          <a:solidFill>
            <a:srgbClr val="F4F5F6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7" name="Text 35"/>
          <p:cNvSpPr/>
          <p:nvPr/>
        </p:nvSpPr>
        <p:spPr>
          <a:xfrm>
            <a:off x="6291072" y="2816352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Feriado: 25 de mayo — sin clase ni entrega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3547872"/>
            <a:ext cx="2724912" cy="694944"/>
          </a:xfrm>
          <a:prstGeom prst="rect">
            <a:avLst/>
          </a:prstGeom>
          <a:solidFill>
            <a:srgbClr val="FAFAF7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9" name="Text 37"/>
          <p:cNvSpPr/>
          <p:nvPr/>
        </p:nvSpPr>
        <p:spPr>
          <a:xfrm>
            <a:off x="6291072" y="3584448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Prototipo funcional final: 1 de junio — demo en clase ante Fe y Alegría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64592" y="4645152"/>
            <a:ext cx="8814816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27432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grupo no tiene URL activa el 12 de mayo → el Sprint 3 se califica con 0. El código en localhost no cuenta como entrega.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274320" y="4974336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· Emprendimiento Tecnológico · Francisco Rodríguez · NRC 2519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21040" y="49743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27/28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7498080" y="1097280"/>
            <a:ext cx="2011680" cy="201168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-548640" y="347472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274320" y="23774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 |  EMPRENDIMIENTO TECNOLÓGICO  |  FRANCISCO RODRÍGUEZ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"Construir un negocio sostenible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impacto social no es magia.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Canvas + Lean + datos reales."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71600" y="2231136"/>
            <a:ext cx="64008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proyectos tienen lo que la mayoría de startups no tienen: usuarios reales validados desde el día 1.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4+5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mayo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33472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09744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9744" y="3547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86016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86016" y="3547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campo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078224"/>
            <a:ext cx="8595360" cy="45720"/>
          </a:xfrm>
          <a:prstGeom prst="rect">
            <a:avLst/>
          </a:prstGeom>
          <a:solidFill>
            <a:srgbClr val="1E3545"/>
          </a:solidFill>
          <a:ln w="12700">
            <a:solidFill>
              <a:srgbClr val="1E354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274320" y="41879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Semana 9 · 12 de mayo · Traer deploy activo + GitHub con 10 commits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5171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Rodríguez  ·  Emprendimiento Tecnológico  ·  PUCE  ·  NRC 2519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6052</Words>
  <Application>Microsoft Office PowerPoint</Application>
  <PresentationFormat>Presentación en pantalla (16:9)</PresentationFormat>
  <Paragraphs>876</Paragraphs>
  <Slides>31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8 — Canvas Completo + Lean Startup + Actividades</dc:title>
  <dc:subject>PptxGenJS Presentation</dc:subject>
  <dc:creator>Francisco Rodríguez — PUCE</dc:creator>
  <cp:lastModifiedBy>RODRIGUEZ CLAVIJO FRANCISCO</cp:lastModifiedBy>
  <cp:revision>7</cp:revision>
  <dcterms:created xsi:type="dcterms:W3CDTF">2026-05-04T14:46:05Z</dcterms:created>
  <dcterms:modified xsi:type="dcterms:W3CDTF">2026-05-20T13:13:22Z</dcterms:modified>
</cp:coreProperties>
</file>