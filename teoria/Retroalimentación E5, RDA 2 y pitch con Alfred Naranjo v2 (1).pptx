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Hoy tenemos tres bloques: primero la retroalimentación de la tarea E5 (Business Model Canvas, proceso del trabajo del cliente y lienzo de propuesta de valor), luego el enunciado del RDA 2 con la plantilla del documento técnico, y al final cómo preparar el pitch del lunes, cuando nos visita Alfred Naranjo.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de la clase. El hilo conductor: todo lo que revisamos hoy (canvas, propuesta de valor, plan técnico) termina en el pitch del lunes, donde tendrán que convencer a una persona externa con evidencia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Anuncio central. Alfred Naranjo viene el lunes 19 de octubre a las 10h00 al TEDA. Hablará de Journey Maps, Service Blueprints y Value Stream Maps. Lo que dice la lámina sobre su trayectoria sale de su perfil público de LinkedIn (linkedin.com/in/anaranjoc). Pedir puntualidad: a las 10h00 empezamos. Cada equipo presenta su pitch con el PMV funcionando y los resultados de las 40 encuestas; Alfred actúa como jurado y nos dará retroalimentación desde la experiencia de servicio. Conviene que traigan impresa o en pantalla su hoja del proceso del trabajo del cliente, porque es el punto de partida natural de un journey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Entramos al primer bloque. Antes de dar la retroalimentación por equipo, repasamos los tres conceptos de la tarea, porque la mayoría de errores vienen de no ver cómo se conectan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analogía del zoom. El Business Model Canvas es el mapa de toda la ciudad: ves los barrios (clientes), las avenidas (canales) y la plata que entra y sale. Pero en el mapa no se ve a una persona caminando. El proceso del trabajo del cliente hace zoom a una calle y filma a esa persona paso a paso. El lienzo de la propuesta de valor toma lo que vimos en la película y diseña una llave que entre en esa cerradura concreta. Las tres láminas deben hablar del mismo cliente 1: si en la lámina 3 el cliente 1 es el colegio y en la lámina 7 es el docente, la cadena se rompe. Ese fue el error más serio que encontré esta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Business Model Canvas (Osterwalder y Pigneur) tiene nueve bloques. La analogía del plano: el lado derecho es la fachada y la sala, todo lo que el cliente ve y valora; el lado izquierdo es la cocina, las tuberías y los cimientos, lo que hace falta para cumplir la promesa; abajo está la cuenta, si la casa se puede pagar. Se llena en orden: 1 segmentos, 2 propuesta, 3 canales, 4 relación, 5 ingresos, 6 recursos, 7 actividades, 8 socios, 9 costos. Cuando quien usa no es quien paga (el estudiante usa Bocadoo, el restaurante paga; el niño usa la app, el colegio paga), hay dos segmentos y cada bloque se responde para los dos. Un bloque vacío para el cliente 2 es aceptable solo con una razón escrita, por ejemplo: «no paga porque la licencia la cubre la institución».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1, Segmentos de clientes. Los grupos concretos de personas u organizaciones a quienes servimos. Si quien usa no es quien paga, son dos segmentos. Va a la derecha y se llena primero: la propuesta, los canales y el precio cambian según quién sea el cliente. Es el destinatario de la carta. Ejemplo bien resuelto, de Bocadoo: «Dueños de restaurantes de almuerzo diario (4–10 mesas), zona PUCE/EPN.» Se puede contar, ubicar y visitar mañana. Ejemplo con error, de ECduLearn: Lámina 2: docentes y estudiantes. Canvas: «Colegios particulares (rectores y directivos)». Lienzo: el docente. Elegir un cliente 1 y repetirlo idéntico en las láminas 3, 6 y 7. Los textos entre comillas son copias literales de las entregas; las versiones «Mejor» son sugerencias y los [__] son datos que el equipo debe completar. Pregunta para abrir la discusión: ¿Podrían hablar mañana con 5 personas de su segmento? ¿Dónde las encuentran?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2, Propuesta de valor. El beneficio que recibe el cliente, comparado con lo que usa hoy, en una frase que él entendería. Va al centro porque une al cliente (derecha) con la operación (izquierda). Es la promesa escrita en la vitrina. Ejemplo bien resuelto, de TransporteSeguro: «Saber que su hijo llegó bien sin parar el trabajo para llamar o escribir.» Habla con las palabras del padre, no de la tecnología. Ejemplo con error, de JOBM Tech: «guía clara y rápida para resolver ejercicios exactos» Cualquiera la promete, hasta YouTube. «Un tutor universitario te manda en la tarde un audio de 90 s con el primer paso de tu ejercicio». Los textos entre comillas son copias literales de las entregas; las versiones «Mejor» son sugerencias y los [__] son datos que el equipo debe completar. Pregunta para abrir la discusión: Si quitan el nombre de su app, ¿la frase podría ser de su competidor?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3, Canales. El camino concreto por el que el cliente se entera, decide y usa el producto. Va junto al cliente porque es donde lo tocamos. Es la carretera que lleva a la tienda. Ejemplo bien resuelto, de Bocadoo (cliente 2): «QR en los comedores de las facultades, grupos de WhatsApp estudiantiles y enlace web de la app.» Se puede ejecutar el lunes y medir cuántos llegan. Ejemplo con error, de TransporteSeguro: «Página web, grupos de padres y WhatsApp.» ¿Qué grupos? ¿Quién los administra? «Comités de padres de 3 colegios fiscales de [sector], presentados por el rector». Los textos entre comillas son copias literales de las entregas; las versiones «Mejor» son sugerencias y los [__] son datos que el equipo debe completar. Pregunta para abrir la discusión: ¿Cuánto les cuesta conseguir su primer cliente por ese canal?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4, Relación con clientes. El tipo de trato con cada segmento: personal, autoservicio, comunidad, soporte. Decide si el cliente vuelve. Es la diferencia entre la tienda del barrio que te conoce y un cajero automático. Ejemplo bien resuelto, de FrameFlow: «Autoservicio guiado, apoyo por WhatsApp y acompañamiento presencial al inicio.» Se ajusta a trabajadores de oficios poco digitales. Ejemplo con error, de JOBM Tech: «acompañamiento humano asincrónico y seguimiento» ¿Quién, cuándo, por dónde? «El tutor pregunta a las 48 h por WhatsApp si terminó; el coordinador recibe un reporte mensual». Los textos entre comillas son copias literales de las entregas; las versiones «Mejor» son sugerencias y los [__] son datos que el equipo debe completar. Pregunta para abrir la discusión: ¿Qué hace su equipo para que un cliente use el producto por segunda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5, Fuentes de ingresos. El dinero que entra de cada segmento: precio tentativo y forma de cobro. Va abajo porque es la mitad de la cuenta del negocio: ingresos menos costos. Es la caja registradora. Ejemplo bien resuelto, de ConectaEDU: «Suscripción del docente: USD 6 al mes por materia, con prueba gratis. Tarjeta o transferencia.» Precio, forma de cobro y una segunda hipótesis: licencia por facultad. Ejemplo con error, de Developers CARF (cliente 2): «Retorno de inversión al reducir el costo por lead calificado.» Es un beneficio para Admisiones, no dinero que entra. «Admisiones paga USD [__] al año por convenio». Los textos entre comillas son copias literales de las entregas; las versiones «Mejor» son sugerencias y los [__] son datos que el equipo debe completar. Pregunta para abrir la discusión: ¿Quién firma el pago en su proyecto y de qué presupuesto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6, Recursos clave. Lo indispensable para que el modelo funcione: tecnología, personas, datos, dinero, permisos. Va a la izquierda, en la cocina del negocio. Son los ingredientes sin los que no hay plato. Ejemplo bien resuelto, de ECduLearn: «Plataforma web (React + Supabase), APIs de IA, base de datos de métricas de razonamiento, equipo de desarrollo.» Cosas concretas que se pueden listar y costear. Ejemplo con error, de Developers CARF: «Solución de software potenciada por modelos de IA LLM.» Eso es el producto. «Banco de mini-retos validado por directores de carrera y datos de la oferta académica». Los textos entre comillas son copias literales de las entregas; las versiones «Mejor» son sugerencias y los [__] son datos que el equipo debe completar. Pregunta para abrir la discusión: ¿Qué recurso tienen hoy que un competidor no podría copiar en un 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7, Actividades clave. Las acciones que sostienen la propuesta, escritas con verbos. Va en la cocina: es la rutina antes de abrir el restaurante. Si no se hace, la promesa no se cumple. Ejemplo bien resuelto, de Bocadoo: «Desarrollar y mantener la app y el QR. Incorporar y capacitar a cada restaurante. Digitalizar sus planes de tarjeta física.» Verbos, y cubren producto y clientes. Ejemplo con error, de TransporteSeguro: Una sola actividad: «Enviar el aviso de llegada por WhatsApp.» Falta lo difícil: conseguir y actualizar las rutas, sumar colegios y proteger los datos de menores. Los textos entre comillas son copias literales de las entregas; las versiones «Mejor» son sugerencias y los [__] son datos que el equipo debe completar. Pregunta para abrir la discusión: Si mañana se enferma todo el equipo, ¿qué actividad deja de funcionar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8, Socios clave. Organizaciones que aportan algo que no tenemos: datos, acceso, tecnología o credibilidad. Va a la izquierda porque refuerza la operación. Son los proveedores de confianza del restaurante. Ejemplo bien resuelto, de ConectaEDU: «Proveedor de IA por API (evaluamos Claude, Gemini y OpenAI; elegimos con una prueba de 10 tareas reales). Google Classroom y Moodle.» Nombres concretos y un criterio para elegir. Ejemplo con error, de Developers CARF: «Dirección de Admisiones PUCE» aparece como socio y también como cliente 2. Si paga, es cliente. Un socio sería: «Directores de carrera que validan los mini-retos». Los textos entre comillas son copias literales de las entregas; las versiones «Mejor» son sugerencias y los [__] son datos que el equipo debe completar. Pregunta para abrir la discusión: ¿Qué gana su socio por ayudarlos?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9, Estructura de costos. Los costos de operar el modelo, separados en fijos y variables, con valores aproximados. Va abajo, frente a los ingresos: si los costos ganan, el negocio no se sostiene. Es la factura mensual de la casa. Ejemplo bien resuelto, de ConectaEDU: «Variable: unos USD 0,01 por tarea calificada (3.000 tokens de entrada y 700 de salida).» Saben cuánto cuesta atender a un cliente más. Ejemplo con error, de JOBM Tech: «variables: datos y tiempo de tutores» Sin cifras ni costos fijos. «Fijo: coordinación, USD [__]/mes · Variable: datos móviles, USD [__] por tutor». Los textos entre comillas son copias literales de las entregas; las versiones «Mejor» son sugerencias y los [__] son datos que el equipo debe completar. Pregunta para abrir la discusión: ¿Cuánto cuesta atender a un cliente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Concepto de Customer Job. La frase del taladro se atribuye a Theodore Levitt, profesor de Harvard: el cliente no quiere la herramienta, quiere el resultado. El ejemplo del iPod en la lámina 5 de la plantilla lo muestra: el trabajo era «elegir la música que me acompaña al salir», y el proceso con CD tenía ocho pasos y varios dolores. Para su proyecto: ¿dónde empieza la tarea del cliente? ¿Qué pasos intermedios hace? ¿Cómo sabe que terminó? Los marcadores se ponen en los pasos donde aparece el problema, y se dice de qué tipo es: tiempo, dinero, riesgo, calidad, emoción. Cada marcador es una hipótesis que deben confirmar en entrevistas: «suponemos que lo hace tres veces por semana» está bien escrito porque se reconoce como suposición. Este proceso es la semilla del Journey Map del que hablará Alfred el lunes: el journey map agrega emociones, canales y puntos de contacto a esta misma película.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desarrollado con TransporteSeguro. La columna roja es una versión inventada para mostrar el error típico: escribir los pasos de la propia app. La columna verde resume lo que el equipo entregó de verdad (son 8 pasos; aquí se muestran 5): pasos de la vida real del padre antes de que exista la app. A los marcadores del equipo les agregué el paso y el tipo, que es lo que les faltó. La regla: si el cliente no puede hacer ese paso sin su app, ese paso no va en la hoja.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Value Proposition Canvas de Strategyzer tiene dos partes. El círculo (perfil del cliente) describe a la persona: trabajos, frustraciones (pains) y alegrías (gains). El cuadrado (mapa de valor) describe lo que ustedes ofrecen: productos y servicios, aliviadores de frustraciones y creadores de alegrías. La analogía del médico: el perfil es el diagnóstico y el mapa es la receta. Recetar sin diagnóstico es lo que pasa cuando el equipo llena primero el cuadrado con las funciones de su app y luego inventa frustraciones que encajen. Las frustraciones deben venir de evidencia: citas de entrevistas, porcentajes de la encuesta, observación. Las alegrías no son lo contrario de las frustraciones: son ganancias que el cliente desea, como «tener caja desde el día uno del 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Ejercicio rápido para hacer en clase con cualquier equipo: tomen cada aliviador y pregunten «¿a qué frustración apunta?». Si no apunta a ninguna, sobra. Luego al revés: cada frustración, «¿qué la alivia?». Si nada la alivia, es una oportunidad o una frustración que deben quitar del lienzo porque no la van a atender. Bocadoo es el ejemplo más limpio de la semana: las tres frustraciones (cartulina y cuaderno, fila lenta, pérdidas por fiar) tienen su aliviador (registro digital, QR rápido, saldo visible). A eso Strategyzer lo llama encaje problema-solución; el encaje producto-mercado llega después, cuando hay clientes reales que usan y pagan.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Comparación entre dos lienzos reales. El de Developers CARF tiene buenas ideas, pero tantas notas que no se distingue lo importante; además repite el asistente AurelioBot en varios bloques y promete una evaluación psicométrica que necesitaría un profesional que la valide. El de ConectaEDU es la referencia: cada frustración del docente tiene un aliviador concreto en el mismo orden. Ejercicio en clase: pedir a cada equipo que tache en su lienzo las notas que no apuntan a ninguna frustración o alegría.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la revisión de las ocho entregas recibidas (siete equipos: Developers CARF subió dos versiones distintas, una de Gabriel Aguinaga y otra de Paúl Rosero; la de Paúl no tiene a Gabriel en la lámina 2). Lo mejor de la semana: varios equipos pusieron datos de sus encuestas en el canvas (Bocadoo con el 78 % y el 47 %, FrameFlow con las pérdidas de 100 a 300 dólares, ConectaEDU con el costo por tarea calificada). Lo más grave: cuando el cliente 1 del canvas no es el mismo del proceso y del lienzo. Errores de forma: textos de instrucciones sin borrar («Escriban aquí su segmento»), recuadros «Su foto aquí», integrantes sin nombre, el nombre del equipo mal escrito en la portada (ECduLearm). Recordatorio: un solo archivo por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Bocadoo entregó la E5 más consistente de la semana: el mismo cliente 1 en las láminas 3, 6 y 7, dos segmentos bien separados (el dueño paga, el estudiante usa y no paga a Bocadoo) y frustraciones con datos de su encuesta. El lienzo encaja casi uno a uno. Para mejorar: el precio de 15 dólares es tentativo y debe probarse preguntando a dueños si lo pagarían y cuándo; el marcador C (no sabe quién renueva) puede ser una preocupación del equipo y no del dueño, así que hay que confirmarlo; y las ofertas flash para estudiantes amplían el alcance sin respaldo en el lienzo. En el pitch, lo más convincente sería una validación de QR en vivo y el número de restaurantes interesados.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Canvas real entregado por Bocadoo en la E5 (lámina 3). Observaciones: Bien, Segmentos: dos clientes con datos: 4–10 mesas; $3–3,50 por almuerzo; 3–5 días por semana. Bien, Ingresos: $15 al mes al restaurante, y explican por qué el estudiante no paga a Bocadoo. Corregir, Socios: Render y un «proveedor de pagos» sin nombre: ¿qué pasarela y qué comisión? Corregir, Relación (cliente 2): «ofertas flash» no aparece ni en el lienzo ni en las encuestas. Pregunta para el equipo: Si los dueños no aceptan pagar $15, ¿quién más podría pagar? Pidan al equipo que responda en voz alta y que el resto de la clase diga en qué bloque iría la corrección.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Láminas 6 y 7 reales de Bocadoo: arriba el proceso del trabajo del cliente, abajo el lienzo de propuesta de valor. Observaciones: Bien, Proceso: 8 pasos, desde ofrecer el plan hasta cuadrar la caja. Bien, Marcadores: 3, con tipo: dinero, tiempo y oportunidad. Bien, Lienzo: cada frustración tiene su aliviador. Corregir, Marcador C: ¿lo dijo un dueño o lo supone el equipo? Pregunta para el equipo: ¿En qué paso pierde más dinero el dueño, y cómo lo saben? Si se necesita ver el detalle, abrir el archivo original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TransporteSeguro hizo un proceso del trabajo muy bien narrado desde los ojos del padre o la madre, y uno de sus marcadores tiene una evidencia valiosa: los estudiantes evitan sacar el celular en la calle. Esa misma evidencia abre la pregunta técnica central: ¿cómo se detecta la llegada? Si depende de que el estudiante marque algo en el celular, choca con el miedo al robo; si es por ubicación automática, hay un tema serio de privacidad de menores. El socio clave (Municipio y operadores) aparece como algo que hoy no tienen: es el riesgo principal del modelo. Las actividades clave están muy delgadas, con una sola línea. En el pitch deben mostrar el aviso funcionando y su plan si los datos oficiales no llegan.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Canvas real entregado por TransporteSeguro en la E5 (lámina 3). Observaciones: Bien, Propuesta: escrita con las palabras del padre. Bien, Ingresos (cliente 2): no paga, y explican por qué: así la familia adopta la app. Corregir, Socios: dependen del Municipio y de datos «que hoy no tenemos». Corregir, Actividades: una sola línea; faltan mantener rutas y sumar colegios. Pregunta para el equipo: Si el Municipio no entrega los datos, ¿el negocio sigue existiendo? Pidan al equipo que responda en voz alta y que el resto de la clase diga en qué bloque iría la corrección.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Láminas 6 y 7 reales de TransporteSeguro: arriba el proceso del trabajo del cliente, abajo el lienzo de propuesta de valor. Observaciones: Bien, Proceso: contado desde el padre, paso a paso. Bien, Marcador: con evidencia: miedo a sacar el celular en la calle. Corregir, Marcadores: solo 2 y sin decir el tipo. Corregir, Lienzo: «aviso automático al llegar»: ¿cómo sabe la app que llegó? Pregunta para el equipo: ¿Qué tiene que hacer el estudiante para que salga el aviso? ¿Lo haría con miedo al robo? Si se necesita ver el detalle, abrir el archivo original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JOBM Tech tiene uno de los proyectos más pertinentes para Fe y Alegría y una idea de doble valor: el bachiller recibe ayuda y el universitario cumple horas de aprendizaje-servicio. El lienzo es concreto (audio de 60 a 90 segundos, diagrama manuscrito del primer paso, más de 45 minutos perdidos buscando). Lo débil: la lámina 6 quedó sin marcadores, con el texto de la plantilla; el canvas usa frases sueltas en minúscula y una palabra «CONVENIOS» suelta; y el ingreso de 2 a 3 dólares por apoyo no dice quién paga. Lo más probable es que pague la institución o un convenio, y eso debe quedar escrito. Para el RDA 2 deben decidir qué parte del servicio vive en la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Canvas real entregado por JOBM Tech en la E5 (lámina 3). Observaciones: Bien, Cliente 2: la universidad gana horas de aprendizaje-servicio: doble valor. Corregir, Propuesta: genérica: «guía clara y rápida…». Corregir, Ingresos: «$2–3 por apoyo .CONVENIOS»: ¿quién paga? Corregir, Forma: bloques de una palabra, en minúscula y sin nombres concretos. Pregunta para el equipo: ¿Quién paga: el estudiante, la familia, Fe y Alegría o la PUCE? Pidan al equipo que responda en voz alta y que el resto de la clase diga en qué bloque iría la corrección.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Láminas 6 y 7 reales de JOBM Tech: arriba el proceso del trabajo del cliente, abajo el lienzo de propuesta de valor. Observaciones: Bien, Proceso: 8 pasos realistas: YouTube, Brainly, comparar explicaciones. Bien, Lienzo: con cifras: más de 45 min buscando; resolver en 2 h o menos. Corregir, Marcadores: ninguno: quedó la flecha de la plantilla. Corregir, Abandono: no dicen en qué paso deja la tarea. Pregunta para el equipo: ¿En qué paso el estudiante se rinde y deja la tarea en blanco? Si se necesita ver el detalle, abrir el archivo original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ConectaEDU hizo el mejor trabajo de costos de la clase: estimaron tokens de entrada y salida y llegaron a un costo variable por tarea calificada y por consulta al tutor. Su proceso del trabajo tiene cuatro marcadores, cada uno con tipo (tiempo, criterio, calidad, repetición) e hipótesis. Además marcaron todo como hipótesis por validar, que es la actitud correcta. Puntos a trabajar: quién decide la compra (ellos mismos sugieren que puede ser la facultad); la privacidad de los trabajos de estudiantes que se envían a un proveedor de IA, sobre todo en planes gratuitos que usan los datos; y cómo van a medir que el tutor no alucina. En el pitch, la prueba más fuerte es comparar la nota de la IA con la del docente en tareas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Canvas real entregado por ConectaEDU en la E5 (lámina 3). Observaciones: Bien, Costos: con tokens: USD 0,01 por tarea y 0,004 por consulta. Bien, Socios: con nombre y un criterio: prueba con 10 tareas reales. Bien, Hipótesis: declaran qué datos falta validar. Corregir, Ingresos: ¿paga el docente o la facultad? Hoy hay dos respuestas. Pregunta para el equipo: ¿Qué le importa a un decano que no le importa al docente? Pidan al equipo que responda en voz alta y que el resto de la clase diga en qué bloque iría la corrección.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Láminas 6 y 7 reales de ConectaEDU: arriba el proceso del trabajo del cliente, abajo el lienzo de propuesta de valor. Observaciones: Bien, Marcadores: 4 (A–D) con paso, tipo e hipótesis: el modelo de la clase. Bien, Lienzo: encaja con los marcadores. Corregir, Evidencia: todo el perfil es hipótesis; falta un dato medido. Corregir, Privacidad: tareas de estudiantes enviadas a un proveedor de IA. Pregunta para el equipo: ¿Cuántos minutos tarda hoy un docente por tarea? ¿Lo midieron? Si se necesita ver el detalle, abrir el archivo original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Developers CARF tiene un argumento de negocio potente para el cliente que paga (la Dirección de Admisiones): reducir la deserción temprana, con un costo por desertor que deben respaldar con una fuente. Los mini-retos son una idea diferenciadora frente a los test de 70 preguntas. Problemas de forma: llegaron dos archivos con diferencias, el de Paúl sin Gabriel en el equipo, y la lámina 2 tiene el título «Idea de negocio» vacío. De fondo: el lienzo tiene demasiadas notas y se repite (AurelioBot aparece varias veces); el proceso del trabajo tiene un solo grupo de marcadores sin tipo; y la promesa de un test «evaluado psicométricamente» necesita un psicólogo u orientador que la respalde. Los aspirantes de 17 años son menores: cuidado con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Canvas real entregado por Developers CARF en la E5 (lámina 3). Observaciones: Bien, Propuesta: en una frase: «tu carrera ideal en 10 minutos». Corregir, Socios: Admisiones aparece como socio y como cliente 2. Corregir, Ingresos (cliente 2): «retorno de inversión» es un beneficio, no un pago. Corregir, Recursos: «solución de software con IA» es el producto. Pregunta para el equipo: ¿Cuánto pagaría Admisiones y de qué presupuesto sale? Pidan al equipo que responda en voz alta y que el resto de la clase diga en qué bloque iría la corrección.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Láminas 6 y 7 reales de Developers CARF: arriba el proceso del trabajo del cliente, abajo el lienzo de propuesta de valor. Observaciones: Bien, Proceso: 8 pasos del aspirante, desde buscar tests hasta inscribirse. Corregir, Marcadores: un solo grupo, sin paso ni tipo. Corregir, Lienzo: saturado: AurelioBot se repite en varios bloques. Corregir, Promesa: «test evaluado psicométricamente» necesita un profesional. Pregunta para el equipo: Si solo pudieran dejar 3 notas por bloque, ¿cuáles quedan? Si se necesita ver el detalle, abrir el archivo original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FrameFlow describió el proceso del trabajador con detalles que solo salen de entrevistas reales: el estado de WhatsApp que desaparece en 24 horas, los formularios en inglés, el pago por cotizar. La frustración está cuantificada (100 a 300 dólares en meses bajos) y los competidores tienen nombre. El hueco del modelo: los dos clientes no pagan, y quien financia todo (ferreterías y proveedores que pondrían anuncios) no aparece como segmento. Si el ingreso viene de ellos, son un tercer cliente con su propia propuesta de valor. También deben decir quién verifica los perfiles, porque «verificado» es parte de la promesa y cuesta tiempo. En forma: el texto del perfil del cliente se sale del círculo y quedaron recuadros de foto vacíos.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Canvas real entregado por FrameFlow en la E5 (lámina 3). Observaciones: Bien, Propuesta: muy concreta: gratis, en español y en 3 pasos. Bien, Segmentos: competidores con nombre: StarOfService, Fixando, Marketplace. Corregir, Ingresos: pagan las ferreterías, pero no son un segmento del canvas. Corregir, Costos: «aproximados» sin cifras, salvo el hosting de $10. Pregunta para el equipo: ¿Cuántos trabajadores registrados necesitan para que una ferretería pague $25? Pidan al equipo que responda en voz alta y que el resto de la clase diga en qué bloque iría la corrección.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Láminas 6 y 7 reales de FrameFlow: arriba el proceso del trabajo del cliente, abajo el lienzo de propuesta de valor. Observaciones: Bien, Proceso: conductas reales: el estado de WhatsApp dura 24 h. Bien, Frustración: con número: pierde $100–300 en meses bajos. Bien, Evidencia: una entrevistada: «superclaro y fluido». Corregir, Forma: el texto se sale del círculo y no se lee. Pregunta para el equipo: De los trabajadores que vieron el prototipo, ¿cuántos se registraron? Si se necesita ver el detalle, abrir el archivo original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ECduLearn tiene un dolor bien elegido (preparar ejercicios de razonamiento para aulas de 30 a 40 alumnos) y dos diferenciadores claros: el enfoque PISA y un tutor socrático que guía sin dar la respuesta. El problema principal es de coherencia: en la lámina 2 el cliente es el docente y el estudiante; en el canvas el cliente 1 es el colegio particular (con una propuesta sobre exámenes de admisión) y el docente pasa a cliente 2; y el proceso y el lienzo son del docente. Deben elegir un cliente 1 y alinear las tres láminas. En forma: el nombre del equipo dice ECduLearm en la portada, quedaron las frases «Escriban aquí su segmento» y falta el cuarto integrante. Si se van a colegios particulares, expliquen la relación con Fe y Alegría.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Canvas real entregado por ECduLearn en la E5 (lámina 3). Observaciones: Bien, Costos: variables bien vistos: tokens que crecen con los alumnos. Bien, Problema: con número: hasta 10 h por semana del docente. Corregir, Segmentos: cliente 1 = colegio, pero la lámina 2 y el lienzo son del docente. Corregir, Propuesta (cliente 1): habla de exámenes de admisión, no de PISA. Pregunta para el equipo: ¿Quién decide la compra y quién usa la app? ¿Para cuál hicieron el lienzo? Pidan al equipo que responda en voz alta y que el resto de la clase diga en qué bloque iría la corrección.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Láminas 6 y 7 reales de ECduLearn: arriba el proceso del trabajo del cliente, abajo el lienzo de propuesta de valor. Observaciones: Bien, Proceso: 8 pasos realistas de un docente que prepara su clase. Bien, Lienzo: encaje claro: horas perdidas → ejercicio listo. Corregir, Forma: quedaron «Escriban aquí su segmento» y el del trabajo. Corregir, Segmento: «Profesores de bachillerato»: ¿qué materia y qué colegio? Pregunta para el equipo: ¿Es el mismo docente el de su lienzo y el de su canvas? Si se necesita ver el detalle, abrir el archivo original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Banco de preguntas para cerrar la retroalimentación. Sugerencia de dinámica: cada equipo elige dos preguntas, las responde en un minuto y otro equipo hace de jurado y dice si la respuesta convence. Las preguntas de canvas apuntan al modelo de negocio; las de proceso, a si la evidencia es real; las de lienzo, al encaje; la última conecta con el pitch del lunes ante Alfred Naranjo.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bloque: el RDA 2. Vale 50 puntos. El enunciado y la plantilla están en el aula virtual. Aquí explicamos qué pide cada parte y por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analogía de la patineta viene de Henrik Kniberg, uno de los divulgadores de las metodologías ágiles: si el cliente necesita transportarse, no le entregues primero una rueda, luego un chasis y al final un auto. Entrégale una patineta, luego una bicicleta, luego una moto: en cada etapa puede moverse y darte retroalimentación. En el RDA 1 hicieron la patineta (el PMV). En el RDA 2 hacen la bicicleta: un producto que funciona y se usa. El error típico es pasar tres semanas en el login, la base de datos y el diseño, y llegar al final sin un recorrido completo que funcione.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jueves 12 de noviembre no es feriado; lo verifiqué. El lunes 2 (Día de Difuntos) y el martes 3 (Independencia de Cuenca) sí lo son y caen dentro del Sprint 2. El control del lunes 26 de octubre es el más importante para quienes van por Google Play, por la regla de los 12 testers durante 14 días que Google aplica a las cuentas personales nuevas. Quienes eligen la opción web no dependen de esa regla, pero ese mismo día deben tener la primera versión en línea con https. Todos deben tener la landing page publicada el 26 de octubre. Los controles no tienen nota aparte, pero cuentan dentro del criterio de gestión ágil.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cinco piezas: 1) la landing page, obligatoria para todos los equipos; 2) el producto publicado, sea app móvil en prueba cerrada de Google Play o app web con URL pública y https; 3) el repositorio público en GitHub con licencia MIT y un release etiquetado v1.0.0; 4) el documento técnico en Word, hecho con la plantilla; 5) un video demo de máximo tres minutos, en YouTube como no listado, donde se vea el producto en un celular real. Quienes vayan por Play agregan mi correo como tester.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Varios equipos ya tienen su prototipo como aplicación web (Bocadoo en Render, TransporteSeguro, ConectaEDU). Pueden seguir por ese camino. Una PWA (aplicación web progresiva) es una web que el celular puede instalar en la pantalla de inicio y que puede funcionar sin internet. Si después quieren estar en Google Play, herramientas como PWABuilder o Bubblewrap empaquetan esa web como un .aab; ahí aplican todas las reglas de Play, incluidos los 12 testers. En la rúbrica, el criterio «Producto funcional publicado» vale 10 puntos para cualquiera de las dos opciones. Los 3 puntos extra son solo para quien llegue a producción pública en Google Play. Decidan el camino antes del domingo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analogía del campeonato: un equipo no espera al final de la temporada para saber si juega bien; juega un partido cada semana, lo analiza y corrige. Cada sprint dura una semana: Sprint 0 del 15 al 18 de octubre, Sprint 1 del 19 al 25, Sprint 2 del 26 de octubre al 5 de noviembre (incluye los feriados del 2 y 3) y Sprint 3 del 6 al 12 de noviembre. El product backlog vive en GitHub Issues; cada historia lleva criterios de aceptación, prioridad MoSCoW (Must, Should, Could, Won't) y puntos (1, 2, 3, 5, 8). El tablero en GitHub Projects tiene columnas Backlog, Sprint, En curso, Revisión y Hecho, y su vista de Insights da el burndown. La «Definition of Done»: pull request revisado por otro integrante, criterios cumplidos, probado en un celular real. Importante: el cronograma tiene que coincidir con las fechas de los commits; si lo escriben al final, se nota.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analogía de la aduana: Google no revisa solo si la app funciona, revisa los papeles: identidad del desarrollador, política de privacidad, formulario de seguridad de los datos, clasificación de contenido, público objetivo y credenciales de prueba si hay login. Por eso tarda días, y por eso hay que empezar ya. Pasos: 1) abrir la cuenta en play.google.com/console (25 dólares, pago único, verificación de identidad); 2) definir el nombre del paquete; 3) generar el .aab con targetSdk 36; 4) activar la firma de apps de Play y guardar la clave de subida fuera de GitHub; 5) llenar la ficha; 6) publicar la política de privacidad (pueden usar su landing page); 7) prueba interna el jueves 22 de octubre; 8) prueba cerrada el lunes 26 de octubre con 12 o más testers inscritos. Si la app la usan niñas y niños de Fe y Alegría, se aplica la política de Familias: recomiendo que la cuenta sea del docente o del representante. Todo el detalle con ejemplos está en el enunciado.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equipos, sea cual sea su opción, publican una landing page. Algunos ya entregaron prototipos de app; la landing es aparte y complementa. La analogía de la vitrina: una tienda puede tener el mejor producto, pero si la vitrina está vacía nadie entra. La landing tiene un solo objetivo: que la persona dé el siguiente paso (unirse a la prueba en Play o entrar a la web). Ejemplo de encabezado: «Registra la asistencia de tu aula aunque no tengas internet». Ejemplo de problema: «7 de cada 10 docentes pierden más de 15 minutos por clase pasando lista» (con su dato real, no este). La misma página aloja la política de privacidad que pide Google Play. Vale 4 puntos en la rúbrica y debe estar publicada el lunes 26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Licencia MIT: es la licencia libre más simple y es adecuada para transferir conocimiento: cualquiera puede usar, copiar, modificar y redistribuir el código si conserva el aviso de copyright y la licencia. Tres límites: cubre solo el código (los logos y marcas no quedan liberados; para textos e imágenes propias pueden usar CC BY 4.0); deben revisar que las librerías tengan licencias compatibles (MIT, Apache 2.0 o BSD no dan problema; GPL, consultar); y cero datos personales en el repositorio. Uso de IA: la analogía del laboratorio es que un experimento solo vale si otro puede reproducirlo; por eso se registran herramientas, modelos, prompts y verificación. Las revistas piden declarar el uso de IA y no aceptan a la IA como autora. Si conectan GitHub con Zenodo, cada release recibe un DOI y el software se puede citar en el paper. Ese registro también puede ser una pregunta de investigación: qué parte del desarrollo asistió la IA y qué errores introdujo.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analogía: los planes gratuitos son un departamento amoblado; sirven para empezar ya, pero tienen reglas del dueño (límites, pausas). En el RDA 3 nos mudamos a la cuenta de Hostinger que ya tenemos, nuestra casa propia. Para que la mudanza sea fácil: base de datos SQL (Supabase usa Postgres; Firestore no es SQL y cuesta más migrar), una API REST propia y todas las direcciones y claves en variables de entorno. Supabase gratis: 500 MB de base de datos, 50 000 usuarios activos al mes y pausa tras una semana sin uso. Para la IA, los límites cambian seguido; anoten el plan y los límites el día que elijan. En el plan gratuito de Gemini, Google puede usar lo que se envía para mejorar sus productos: no manden datos personales ni de menores. Una clave de API dentro del .aab se extrae en minutos; la app llama al backend y el backend llama a la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plantilla tiene una portada, 16 secciones y 4 anexos. Piénsenla como un edificio con tres pisos: gestión (cómo trabajamos), ingeniería (qué construimos y cómo) y transferencia y difusión (para quién sirve y cómo se cuenta). Cada sección tiene etiquetas: PAPER si sirve para un artículo, FyA si sirve para la transferencia a Fe y Alegría y CONCURSO si sirve para postular. Las líneas grises con ▸ son instrucciones: se borran al terminar. Los textos entre corchetes se reemplazan. Los ejemplos son guía: una sección con el ejemplo copiado vale cero. La sección 2 conecta todo con el RDA 1 y con la E5: Lean Canvas, hipótesis, PMV, métrica y sostenibilidad.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analogía de la bitácora: un capitán anota cada día en el barco, no reconstruye el viaje cuando llega al puerto. Si escriben el documento el 11 de noviembre, el cronograma no coincidirá con los commits, las actas parecerán inventadas y se nota. La tabla de control de versiones de la plantilla ya trae las cuatro versiones con sus fechas: 0.1 al cierre del Sprint 0, 0.2 al cierre del Sprint 1, 0.3 al cierre del Sprint 2 y 1.0 para la entrega. Secciones que suelen quedar flojas: la 2 (que debe traer los números reales del RDA 1 y de la E5), la 9.2 (pruebas con usuarios con códigos U1, U2, sin nombres) y la 13 (manual pensado para un docente sin experiencia técnica). La sección 8.1, contribución por integrante, es la que uso para ajustar notas individuales.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rúbrica completa con lo que miro en cada criterio está en el enunciado. Lo que baja la nota de inmediato: prueba cerrada después del 26 de octubre o con menos de 12 testers; URL web caída o sin https; no tener landing page; claves o el keystore en GitHub; repositorio privado, sin licencia o con commits de una sola persona; cronograma escrito al final; usar IA sin declararla o no poder explicar el código; datos reales de estudiantes de Fe y Alegría en el repositorio. La nota es del equipo, pero la ajusto individualmente si alguien no tiene commits ni tareas en el tablero.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bloque. Primero adelantamos los tres conceptos que traerá Alfred, para que lleguen con vocabulario; luego vemos qué debe preparar cada equipo para el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Adelanto conceptual, sin quitarle protagonismo a Alfred. Journey Map: dibuja el recorrido del cliente de principio a fin (descubrir, decidir, usar, volver), con lo que hace, por qué canal y cómo se siente en cada paso; suele llevar una curva de emociones. Es su proceso del trabajo del cliente con emociones y puntos de contacto. Service Blueprint: toma ese recorrido y agrega lo que no se ve: lo que hace el personal frente al cliente, lo que hace detrás (la cocina) y los sistemas de soporte; la «línea de visibilidad» separa el comedor de la cocina. Value Stream Map: herramienta que viene del Lean de Toyota; dibuja el flujo de pasos para entregar algo y mide el tiempo que agrega valor frente al tiempo de espera; casi siempre la espera domina, como en un trámite. Para sus proyectos: Bocadoo puede hacer el VSM de la fila de almuerzo; TransporteSeguro, el journey del padre; ConectaEDU, el blueprint de la calificación.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analogía del tráiler: un tráiler no cuenta toda la película, muestra lo suficiente para que quieras entrar a verla. El pitch no explica cada función de la app; logra que el jurado quiera saber más y haga preguntas. Formato propuesto: cinco minutos de presentación y tres de preguntas de Alfred por equipo (ajustar según el tiempo total de la jornada). Reglas: máximo diez láminas, el PMV en vivo con un video corto de respaldo por si falla el internet, dos voces presentando para que no sea un desfile, todo el equipo responde preguntas. Lleguen a las 9h45 para probar equipos. Orden por sorteo para que todos preparen como si fueran primeros.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Estructura de diez láminas, cerca de 30 segundos cada una. 1) Gancho: abran con una persona concreta («Doña Rosa vende 25 planes de almuerzo al mes y los anota en un cuaderno») o con una cifra. 2) Problema: quién lo sufre y cuánto le cuesta. 3) Evidencia: cuántas entrevistas, tres cifras de las 40 encuestas y una cita textual. 4) Solución: la propuesta de valor del canvas, en una frase que el cliente entendería. 5) Demo: el recorrido central del PMV en vivo, en un celular. 6) Resultado del PMV: la métrica que definieron en el RDA 1, comparando lo esperado con lo obtenido. 7) Competencia: lo que el cliente usa hoy (incluido el cuaderno o WhatsApp) y por qué ustedes son mejores; nunca digan «no tenemos competencia». 8) Modelo de negocio: el canvas resumido, con quién paga, precio tentativo y costos fijos y variables. 9) Impacto social: qué cambia para Fe y Alegría o para la comunidad. 10) Equipo y pedido: quiénes son, qué viene en el RDA 2 (app en Play o web, landing page) y qué necesitan del público: testers, un aliado, datos, contactos.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jurado desconfía de los adjetivos («muchos», «la mayoría», «les encantó») y confía en cifras con contexto: cuántos de cuántos, el porcentaje y la pregunta exacta. La cifra de la lámina es un ejemplo de formato, no un dato real; cada equipo pone los suyos. De las 40 encuestas no muestren 40 gráficos: elijan las tres cifras que mejor prueban el problema o la disposición a usar o pagar. Las entrevistas valen tanto como las encuestas: digan cuántas hicieron y lleven una cita textual, con permiso de quien la dijo. Tengan a mano el Excel de las respuestas por si Alfred pregunta. El PMV debe poder probarse ahí mismo: un QR que lleve a la web o a la prueba. La hoja del proceso del trabajo del cliente sirve para el taller de journey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jurados de concursos de emprendimiento suelen evaluar estos seis aspectos, aunque cada concurso los nombra distinto. El ejercicio para el equipo: para cada pregunta, ¿qué lámina la responde? Si una pregunta no tiene lámina, ahí está el hueco. Errores frecuentes: leer las láminas de espaldas al público; decir que no hay competencia (siempre la hay: el cuaderno, WhatsApp, no hacer nada); una demo que depende del wifi sin video de respaldo; enumerar funciones técnicas en lugar de contar qué cambia para el cliente; y pasarse del tiempo, que en un concurso real corta la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sugerido para llegar al lunes. Jueves y viernes: corregir lo que señalé en la retroalimentación de la E5 (sobre todo coherencia del cliente 1 y marcadores) y elegir las tres cifras de las encuestas. Sábado: armar las diez láminas y grabar el video de respaldo del PMV. Domingo: ensayar dos veces con cronómetro y, en paralelo, cumplir el Control 1 del RDA 2 (repositorio con MIT, backlog, decisión app o web y cuenta de Play si aplica). Lunes: llegar a las 9h45 al TEDA. La prueba del «amigo de otro equipo» es la más honesta: si alguien que no conoce el proyecto no puede decir qué problema resuelven, el pitch todavía está confuso.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Recordar: el enunciado del RDA 2 y la plantilla están en el aula virtual; el Control 1 es el domingo 18 a las 23:59; el lunes 19 a las 10h00, pitch ante Alfred Naranjo en el TEDA.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8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37245"/>
            <a:ext cx="10566401" cy="408895"/>
          </a:xfrm>
          <a:prstGeom prst="rect">
            <a:avLst/>
          </a:prstGeom>
          <a:noFill/>
          <a:ln/>
        </p:spPr>
        <p:txBody>
          <a:bodyPr wrap="square" lIns="0" tIns="0" rIns="0" bIns="0" rtlCol="0" anchor="t"/>
          <a:lstStyle>
            <a:lvl1pPr algn="l" indent="0" marL="0">
              <a:lnSpc>
                <a:spcPct val="115000"/>
              </a:lnSpc>
              <a:buNone/>
              <a:defRPr lang="en-US" sz="2800" dirty="0">
                <a:solidFill>
                  <a:srgbClr val="173E78"/>
                </a:solidFill>
                <a:latin typeface="Domine" pitchFamily="34" charset="0"/>
                <a:ea typeface="Domine" pitchFamily="34" charset="-122"/>
                <a:cs typeface="Domin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650940"/>
            <a:ext cx="10566400" cy="4394260"/>
          </a:xfrm>
          <a:prstGeom prst="rect">
            <a:avLst/>
          </a:prstGeom>
          <a:noFill/>
          <a:ln/>
        </p:spPr>
        <p:txBody>
          <a:bodyPr wrap="square" lIns="0" tIns="0" rIns="0" bIns="0" rtlCol="0" anchor="t"/>
          <a:lstStyle>
            <a:lvl1pPr algn="l" indent="0" marL="0">
              <a:lnSpc>
                <a:spcPct val="140000"/>
              </a:lnSpc>
              <a:buNone/>
              <a:defRPr lang="en-US" sz="1600" dirty="0">
                <a:solidFill>
                  <a:srgbClr val="173E78"/>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8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37245"/>
            <a:ext cx="10566401" cy="408895"/>
          </a:xfrm>
          <a:prstGeom prst="rect">
            <a:avLst/>
          </a:prstGeom>
          <a:noFill/>
          <a:ln/>
        </p:spPr>
        <p:txBody>
          <a:bodyPr wrap="square" lIns="0" tIns="0" rIns="0" bIns="0" rtlCol="0" anchor="t"/>
          <a:lstStyle>
            <a:lvl1pPr algn="l" indent="0" marL="0">
              <a:lnSpc>
                <a:spcPct val="115000"/>
              </a:lnSpc>
              <a:buNone/>
              <a:defRPr lang="en-US" sz="2800" dirty="0">
                <a:solidFill>
                  <a:srgbClr val="173E78"/>
                </a:solidFill>
                <a:latin typeface="Domine" pitchFamily="34" charset="0"/>
                <a:ea typeface="Domine" pitchFamily="34" charset="-122"/>
                <a:cs typeface="Domin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650940"/>
            <a:ext cx="10566400" cy="4394260"/>
          </a:xfrm>
          <a:prstGeom prst="rect">
            <a:avLst/>
          </a:prstGeom>
          <a:noFill/>
          <a:ln/>
        </p:spPr>
        <p:txBody>
          <a:bodyPr wrap="square" lIns="0" tIns="0" rIns="0" bIns="0" rtlCol="0" anchor="t"/>
          <a:lstStyle>
            <a:lvl1pPr algn="l" indent="0" marL="0">
              <a:lnSpc>
                <a:spcPct val="140000"/>
              </a:lnSpc>
              <a:buNone/>
              <a:defRPr lang="en-US" sz="1600" dirty="0">
                <a:solidFill>
                  <a:srgbClr val="173E78"/>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24-2.jpe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image" Target="../media/image-27-2.jpeg"/><Relationship Id="rId3" Type="http://schemas.openxmlformats.org/officeDocument/2006/relationships/image" Target="../media/image-27-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image" Target="../media/image-30-2.jpeg"/><Relationship Id="rId3" Type="http://schemas.openxmlformats.org/officeDocument/2006/relationships/image" Target="../media/image-30-3.pn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image" Target="../media/image-32-2.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image" Target="../media/image-33-2.jpeg"/><Relationship Id="rId3" Type="http://schemas.openxmlformats.org/officeDocument/2006/relationships/image" Target="../media/image-33-3.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eg"/><Relationship Id="rId2" Type="http://schemas.openxmlformats.org/officeDocument/2006/relationships/image" Target="../media/image-36-2.jpeg"/><Relationship Id="rId3" Type="http://schemas.openxmlformats.org/officeDocument/2006/relationships/image" Target="../media/image-36-3.png"/><Relationship Id="rId4" Type="http://schemas.openxmlformats.org/officeDocument/2006/relationships/slideLayout" Target="../slideLayouts/slideLayout2.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image" Target="../media/image-38-2.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image" Target="../media/image-39-2.jpeg"/><Relationship Id="rId3" Type="http://schemas.openxmlformats.org/officeDocument/2006/relationships/image" Target="../media/image-39-3.png"/><Relationship Id="rId4" Type="http://schemas.openxmlformats.org/officeDocument/2006/relationships/slideLayout" Target="../slideLayouts/slideLayout2.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image" Target="../media/image-41-2.png"/><Relationship Id="rId3" Type="http://schemas.openxmlformats.org/officeDocument/2006/relationships/slideLayout" Target="../slideLayouts/slideLayout2.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eg"/><Relationship Id="rId2" Type="http://schemas.openxmlformats.org/officeDocument/2006/relationships/image" Target="../media/image-42-2.jpeg"/><Relationship Id="rId3" Type="http://schemas.openxmlformats.org/officeDocument/2006/relationships/image" Target="../media/image-42-3.png"/><Relationship Id="rId4" Type="http://schemas.openxmlformats.org/officeDocument/2006/relationships/slideLayout" Target="../slideLayouts/slideLayout2.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2.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slideLayout" Target="../slideLayouts/slideLayout2.xml"/><Relationship Id="rId8"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2.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E7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6B2B3"/>
          </a:solidFill>
          <a:ln/>
        </p:spPr>
      </p:sp>
      <p:sp>
        <p:nvSpPr>
          <p:cNvPr id="3" name="Shape 1"/>
          <p:cNvSpPr/>
          <p:nvPr/>
        </p:nvSpPr>
        <p:spPr>
          <a:xfrm>
            <a:off x="9474201" y="609600"/>
            <a:ext cx="1905000" cy="660400"/>
          </a:xfrm>
          <a:prstGeom prst="roundRect">
            <a:avLst>
              <a:gd name="adj" fmla="val 15385"/>
            </a:avLst>
          </a:prstGeom>
          <a:solidFill>
            <a:srgbClr val="FDFDFB"/>
          </a:solidFill>
          <a:ln/>
        </p:spPr>
      </p:sp>
      <p:pic>
        <p:nvPicPr>
          <p:cNvPr id="4" name="Image 0" descr="Logo PUCE 80 años">    </p:cNvPr>
          <p:cNvPicPr>
            <a:picLocks noChangeAspect="1"/>
          </p:cNvPicPr>
          <p:nvPr/>
        </p:nvPicPr>
        <p:blipFill>
          <a:blip r:embed="rId1"/>
          <a:srcRect l="-86" r="-86" t="0" b="0"/>
          <a:stretch/>
        </p:blipFill>
        <p:spPr>
          <a:xfrm>
            <a:off x="9601201" y="711200"/>
            <a:ext cx="1651000" cy="457200"/>
          </a:xfrm>
          <a:prstGeom prst="rect">
            <a:avLst/>
          </a:prstGeom>
        </p:spPr>
      </p:pic>
      <p:sp>
        <p:nvSpPr>
          <p:cNvPr id="5" name="Text 2"/>
          <p:cNvSpPr/>
          <p:nvPr/>
        </p:nvSpPr>
        <p:spPr>
          <a:xfrm>
            <a:off x="812800" y="2159057"/>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7FDCDC"/>
                </a:solidFill>
                <a:latin typeface="Nunito Sans" pitchFamily="34" charset="0"/>
                <a:ea typeface="Nunito Sans" pitchFamily="34" charset="-122"/>
                <a:cs typeface="Nunito Sans" pitchFamily="34" charset="-120"/>
              </a:rPr>
              <a:t>EMPRENDIMIENTO TECNOLÓGICO · SESIÓN DEL JUEVES 15 DE OCTUBRE</a:t>
            </a:r>
            <a:endParaRPr lang="en-US" sz="1400" dirty="0"/>
          </a:p>
        </p:txBody>
      </p:sp>
      <p:sp>
        <p:nvSpPr>
          <p:cNvPr id="6" name="Text 3"/>
          <p:cNvSpPr/>
          <p:nvPr>
            <p:ph type="title"/>
          </p:nvPr>
        </p:nvSpPr>
        <p:spPr>
          <a:xfrm>
            <a:off x="812800" y="2636554"/>
            <a:ext cx="9810751" cy="1254692"/>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3F6FA"/>
                </a:solidFill>
                <a:latin typeface="Domine" pitchFamily="18" charset="0"/>
                <a:ea typeface="Domine" pitchFamily="18" charset="-122"/>
                <a:cs typeface="Domine" pitchFamily="18" charset="-120"/>
              </a:rPr>
              <a:t>Del canvas al producto: retroalimentación, RDA 2 y pitch</a:t>
            </a:r>
            <a:endParaRPr lang="en-US" sz="4400" dirty="0"/>
          </a:p>
        </p:txBody>
      </p:sp>
      <p:sp>
        <p:nvSpPr>
          <p:cNvPr id="7" name="Text 4"/>
          <p:cNvSpPr/>
          <p:nvPr/>
        </p:nvSpPr>
        <p:spPr>
          <a:xfrm>
            <a:off x="812800" y="4094446"/>
            <a:ext cx="9156701" cy="629897"/>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6E8"/>
                </a:solidFill>
                <a:latin typeface="Nunito Sans" pitchFamily="34" charset="0"/>
                <a:ea typeface="Nunito Sans" pitchFamily="34" charset="-122"/>
                <a:cs typeface="Nunito Sans" pitchFamily="34" charset="-120"/>
              </a:rPr>
              <a:t>Qué aprendimos de la E5, cómo se arma el RDA 2 y qué presentarán el lunes ante Alfred Naranjo</a:t>
            </a:r>
            <a:endParaRPr lang="en-US" sz="1700" dirty="0"/>
          </a:p>
        </p:txBody>
      </p:sp>
      <p:sp>
        <p:nvSpPr>
          <p:cNvPr id="8" name="Text 5"/>
          <p:cNvSpPr/>
          <p:nvPr/>
        </p:nvSpPr>
        <p:spPr>
          <a:xfrm>
            <a:off x="812800" y="6169706"/>
            <a:ext cx="9156701" cy="25649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8"/>
                </a:solidFill>
                <a:latin typeface="Nunito Sans" pitchFamily="34" charset="0"/>
                <a:ea typeface="Nunito Sans" pitchFamily="34" charset="-122"/>
                <a:cs typeface="Nunito Sans" pitchFamily="34" charset="-120"/>
              </a:rPr>
              <a:t>Ing. Francisco Rodríguez, MsC · NRC 2667 · Pontificia Universidad Católica del Ecuador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AGENDA DE HOY</a:t>
            </a:r>
            <a:endParaRPr lang="en-US" sz="1200" dirty="0"/>
          </a:p>
        </p:txBody>
      </p:sp>
      <p:sp>
        <p:nvSpPr>
          <p:cNvPr id="3" name="Text 1"/>
          <p:cNvSpPr/>
          <p:nvPr>
            <p:ph type="title"/>
          </p:nvPr>
        </p:nvSpPr>
        <p:spPr>
          <a:xfrm>
            <a:off x="812800" y="949949"/>
            <a:ext cx="10883393" cy="843189"/>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Cuatro bloques, una sola idea: llegar al lunes listos para vender</a:t>
            </a:r>
            <a:endParaRPr lang="en-US" sz="2800" dirty="0"/>
          </a:p>
        </p:txBody>
      </p:sp>
      <p:sp>
        <p:nvSpPr>
          <p:cNvPr id="4" name="Shape 2"/>
          <p:cNvSpPr/>
          <p:nvPr/>
        </p:nvSpPr>
        <p:spPr>
          <a:xfrm>
            <a:off x="815975" y="2075714"/>
            <a:ext cx="2501900" cy="2482226"/>
          </a:xfrm>
          <a:prstGeom prst="roundRect">
            <a:avLst>
              <a:gd name="adj" fmla="val 3965"/>
            </a:avLst>
          </a:prstGeom>
          <a:solidFill>
            <a:srgbClr val="FDFDFB"/>
          </a:solidFill>
          <a:ln w="6350">
            <a:solidFill>
              <a:srgbClr val="DCE3EA"/>
            </a:solidFill>
            <a:prstDash val="solid"/>
          </a:ln>
        </p:spPr>
      </p:sp>
      <p:sp>
        <p:nvSpPr>
          <p:cNvPr id="5" name="Text 3"/>
          <p:cNvSpPr/>
          <p:nvPr/>
        </p:nvSpPr>
        <p:spPr>
          <a:xfrm>
            <a:off x="1045029" y="2304767"/>
            <a:ext cx="2105107"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6B2B3"/>
                </a:solidFill>
                <a:latin typeface="Domine" pitchFamily="18" charset="0"/>
                <a:ea typeface="Domine" pitchFamily="18" charset="-122"/>
                <a:cs typeface="Domine" pitchFamily="18" charset="-120"/>
              </a:rPr>
              <a:t>01</a:t>
            </a:r>
            <a:endParaRPr lang="en-US" sz="3200" dirty="0"/>
          </a:p>
        </p:txBody>
      </p:sp>
      <p:sp>
        <p:nvSpPr>
          <p:cNvPr id="6" name="Text 4"/>
          <p:cNvSpPr/>
          <p:nvPr/>
        </p:nvSpPr>
        <p:spPr>
          <a:xfrm>
            <a:off x="1045029" y="2812767"/>
            <a:ext cx="2105107" cy="284446"/>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3E78"/>
                </a:solidFill>
                <a:latin typeface="Nunito Sans" pitchFamily="34" charset="0"/>
                <a:ea typeface="Nunito Sans" pitchFamily="34" charset="-122"/>
                <a:cs typeface="Nunito Sans" pitchFamily="34" charset="-120"/>
              </a:rPr>
              <a:t>Conceptos de la E5</a:t>
            </a:r>
            <a:endParaRPr lang="en-US" sz="1700" dirty="0"/>
          </a:p>
        </p:txBody>
      </p:sp>
      <p:sp>
        <p:nvSpPr>
          <p:cNvPr id="7" name="Text 5"/>
          <p:cNvSpPr/>
          <p:nvPr/>
        </p:nvSpPr>
        <p:spPr>
          <a:xfrm>
            <a:off x="1045029" y="3173413"/>
            <a:ext cx="2105107" cy="118087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Business Model Canvas, proceso del trabajo del cliente y lienzo de propuesta de valor, con analogías.</a:t>
            </a:r>
            <a:endParaRPr lang="en-US" sz="1300" dirty="0"/>
          </a:p>
        </p:txBody>
      </p:sp>
      <p:sp>
        <p:nvSpPr>
          <p:cNvPr id="8" name="Shape 6"/>
          <p:cNvSpPr/>
          <p:nvPr/>
        </p:nvSpPr>
        <p:spPr>
          <a:xfrm>
            <a:off x="3502025" y="2075714"/>
            <a:ext cx="2501900" cy="2482226"/>
          </a:xfrm>
          <a:prstGeom prst="roundRect">
            <a:avLst>
              <a:gd name="adj" fmla="val 3965"/>
            </a:avLst>
          </a:prstGeom>
          <a:solidFill>
            <a:srgbClr val="FDFDFB"/>
          </a:solidFill>
          <a:ln w="6350">
            <a:solidFill>
              <a:srgbClr val="DCE3EA"/>
            </a:solidFill>
            <a:prstDash val="solid"/>
          </a:ln>
        </p:spPr>
      </p:sp>
      <p:sp>
        <p:nvSpPr>
          <p:cNvPr id="9" name="Text 7"/>
          <p:cNvSpPr/>
          <p:nvPr/>
        </p:nvSpPr>
        <p:spPr>
          <a:xfrm>
            <a:off x="3731079" y="2304767"/>
            <a:ext cx="2105107"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6B2B3"/>
                </a:solidFill>
                <a:latin typeface="Domine" pitchFamily="18" charset="0"/>
                <a:ea typeface="Domine" pitchFamily="18" charset="-122"/>
                <a:cs typeface="Domine" pitchFamily="18" charset="-120"/>
              </a:rPr>
              <a:t>02</a:t>
            </a:r>
            <a:endParaRPr lang="en-US" sz="3200" dirty="0"/>
          </a:p>
        </p:txBody>
      </p:sp>
      <p:sp>
        <p:nvSpPr>
          <p:cNvPr id="10" name="Text 8"/>
          <p:cNvSpPr/>
          <p:nvPr/>
        </p:nvSpPr>
        <p:spPr>
          <a:xfrm>
            <a:off x="3731079" y="2812767"/>
            <a:ext cx="2105107" cy="543492"/>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3E78"/>
                </a:solidFill>
                <a:latin typeface="Nunito Sans" pitchFamily="34" charset="0"/>
                <a:ea typeface="Nunito Sans" pitchFamily="34" charset="-122"/>
                <a:cs typeface="Nunito Sans" pitchFamily="34" charset="-120"/>
              </a:rPr>
              <a:t>Retroalimentación por equipo</a:t>
            </a:r>
            <a:endParaRPr lang="en-US" sz="1700" dirty="0"/>
          </a:p>
        </p:txBody>
      </p:sp>
      <p:sp>
        <p:nvSpPr>
          <p:cNvPr id="11" name="Text 9"/>
          <p:cNvSpPr/>
          <p:nvPr/>
        </p:nvSpPr>
        <p:spPr>
          <a:xfrm>
            <a:off x="3731079" y="3432459"/>
            <a:ext cx="2105107" cy="7186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Siete equipos: qué está bien, qué corregir y qué llevar al pitch.</a:t>
            </a:r>
            <a:endParaRPr lang="en-US" sz="1300" dirty="0"/>
          </a:p>
        </p:txBody>
      </p:sp>
      <p:sp>
        <p:nvSpPr>
          <p:cNvPr id="12" name="Shape 10"/>
          <p:cNvSpPr/>
          <p:nvPr/>
        </p:nvSpPr>
        <p:spPr>
          <a:xfrm>
            <a:off x="6188075" y="2075714"/>
            <a:ext cx="2501900" cy="2482226"/>
          </a:xfrm>
          <a:prstGeom prst="roundRect">
            <a:avLst>
              <a:gd name="adj" fmla="val 3965"/>
            </a:avLst>
          </a:prstGeom>
          <a:solidFill>
            <a:srgbClr val="FDFDFB"/>
          </a:solidFill>
          <a:ln w="6350">
            <a:solidFill>
              <a:srgbClr val="DCE3EA"/>
            </a:solidFill>
            <a:prstDash val="solid"/>
          </a:ln>
        </p:spPr>
      </p:sp>
      <p:sp>
        <p:nvSpPr>
          <p:cNvPr id="13" name="Text 11"/>
          <p:cNvSpPr/>
          <p:nvPr/>
        </p:nvSpPr>
        <p:spPr>
          <a:xfrm>
            <a:off x="6417129" y="2304767"/>
            <a:ext cx="2105107"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73E78"/>
                </a:solidFill>
                <a:latin typeface="Domine" pitchFamily="18" charset="0"/>
                <a:ea typeface="Domine" pitchFamily="18" charset="-122"/>
                <a:cs typeface="Domine" pitchFamily="18" charset="-120"/>
              </a:rPr>
              <a:t>03</a:t>
            </a:r>
            <a:endParaRPr lang="en-US" sz="3200" dirty="0"/>
          </a:p>
        </p:txBody>
      </p:sp>
      <p:sp>
        <p:nvSpPr>
          <p:cNvPr id="14" name="Text 12"/>
          <p:cNvSpPr/>
          <p:nvPr/>
        </p:nvSpPr>
        <p:spPr>
          <a:xfrm>
            <a:off x="6417129" y="2812767"/>
            <a:ext cx="2105107" cy="284446"/>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3E78"/>
                </a:solidFill>
                <a:latin typeface="Nunito Sans" pitchFamily="34" charset="0"/>
                <a:ea typeface="Nunito Sans" pitchFamily="34" charset="-122"/>
                <a:cs typeface="Nunito Sans" pitchFamily="34" charset="-120"/>
              </a:rPr>
              <a:t>RDA 2 y plantilla</a:t>
            </a:r>
            <a:endParaRPr lang="en-US" sz="1700" dirty="0"/>
          </a:p>
        </p:txBody>
      </p:sp>
      <p:sp>
        <p:nvSpPr>
          <p:cNvPr id="15" name="Text 13"/>
          <p:cNvSpPr/>
          <p:nvPr/>
        </p:nvSpPr>
        <p:spPr>
          <a:xfrm>
            <a:off x="6417129" y="3173413"/>
            <a:ext cx="2105107" cy="9497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Producto publicado, landing page, GitHub, Scrum y cómo llenar el documento técnico.</a:t>
            </a:r>
            <a:endParaRPr lang="en-US" sz="1300" dirty="0"/>
          </a:p>
        </p:txBody>
      </p:sp>
      <p:sp>
        <p:nvSpPr>
          <p:cNvPr id="16" name="Shape 14"/>
          <p:cNvSpPr/>
          <p:nvPr/>
        </p:nvSpPr>
        <p:spPr>
          <a:xfrm>
            <a:off x="8874126" y="2075714"/>
            <a:ext cx="2501900" cy="2482226"/>
          </a:xfrm>
          <a:prstGeom prst="roundRect">
            <a:avLst>
              <a:gd name="adj" fmla="val 3965"/>
            </a:avLst>
          </a:prstGeom>
          <a:solidFill>
            <a:srgbClr val="FDFDFB"/>
          </a:solidFill>
          <a:ln w="6350">
            <a:solidFill>
              <a:srgbClr val="DCE3EA"/>
            </a:solidFill>
            <a:prstDash val="solid"/>
          </a:ln>
        </p:spPr>
      </p:sp>
      <p:sp>
        <p:nvSpPr>
          <p:cNvPr id="17" name="Text 15"/>
          <p:cNvSpPr/>
          <p:nvPr/>
        </p:nvSpPr>
        <p:spPr>
          <a:xfrm>
            <a:off x="9103179" y="2304767"/>
            <a:ext cx="2105107"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73E78"/>
                </a:solidFill>
                <a:latin typeface="Domine" pitchFamily="18" charset="0"/>
                <a:ea typeface="Domine" pitchFamily="18" charset="-122"/>
                <a:cs typeface="Domine" pitchFamily="18" charset="-120"/>
              </a:rPr>
              <a:t>04</a:t>
            </a:r>
            <a:endParaRPr lang="en-US" sz="3200" dirty="0"/>
          </a:p>
        </p:txBody>
      </p:sp>
      <p:sp>
        <p:nvSpPr>
          <p:cNvPr id="18" name="Text 16"/>
          <p:cNvSpPr/>
          <p:nvPr/>
        </p:nvSpPr>
        <p:spPr>
          <a:xfrm>
            <a:off x="9103179" y="2812767"/>
            <a:ext cx="2105107" cy="284446"/>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3E78"/>
                </a:solidFill>
                <a:latin typeface="Nunito Sans" pitchFamily="34" charset="0"/>
                <a:ea typeface="Nunito Sans" pitchFamily="34" charset="-122"/>
                <a:cs typeface="Nunito Sans" pitchFamily="34" charset="-120"/>
              </a:rPr>
              <a:t>Pitch del lunes</a:t>
            </a:r>
            <a:endParaRPr lang="en-US" sz="1700" dirty="0"/>
          </a:p>
        </p:txBody>
      </p:sp>
      <p:sp>
        <p:nvSpPr>
          <p:cNvPr id="19" name="Text 17"/>
          <p:cNvSpPr/>
          <p:nvPr/>
        </p:nvSpPr>
        <p:spPr>
          <a:xfrm>
            <a:off x="9103179" y="3173413"/>
            <a:ext cx="2105107" cy="9497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Visita de Alfred Naranjo: qué debe preparar cada equipo para convencer a un jurado.</a:t>
            </a:r>
            <a:endParaRPr lang="en-US" sz="1300" dirty="0"/>
          </a:p>
        </p:txBody>
      </p:sp>
      <p:pic>
        <p:nvPicPr>
          <p:cNvPr id="20"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21" name="Text 18"/>
          <p:cNvSpPr/>
          <p:nvPr/>
        </p:nvSpPr>
        <p:spPr>
          <a:xfrm>
            <a:off x="8008847" y="6217898"/>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3E78"/>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DCDC"/>
                </a:solidFill>
                <a:latin typeface="Nunito Sans" pitchFamily="34" charset="0"/>
                <a:ea typeface="Nunito Sans" pitchFamily="34" charset="-122"/>
                <a:cs typeface="Nunito Sans" pitchFamily="34" charset="-120"/>
              </a:rPr>
              <a:t>JORNADA ESPECIAL · VISITA</a:t>
            </a:r>
            <a:endParaRPr lang="en-US" sz="1200" dirty="0"/>
          </a:p>
        </p:txBody>
      </p:sp>
      <p:sp>
        <p:nvSpPr>
          <p:cNvPr id="3" name="Text 1"/>
          <p:cNvSpPr/>
          <p:nvPr>
            <p:ph type="title"/>
          </p:nvPr>
        </p:nvSpPr>
        <p:spPr>
          <a:xfrm>
            <a:off x="812800" y="949950"/>
            <a:ext cx="10883393"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3F6FA"/>
                </a:solidFill>
                <a:latin typeface="Domine" pitchFamily="18" charset="0"/>
                <a:ea typeface="Domine" pitchFamily="18" charset="-122"/>
                <a:cs typeface="Domine" pitchFamily="18" charset="-120"/>
              </a:rPr>
              <a:t>El lunes nos visita Alfred Naranjo</a:t>
            </a:r>
            <a:endParaRPr lang="en-US" sz="3000" dirty="0"/>
          </a:p>
        </p:txBody>
      </p:sp>
      <p:sp>
        <p:nvSpPr>
          <p:cNvPr id="4" name="Text 2"/>
          <p:cNvSpPr/>
          <p:nvPr/>
        </p:nvSpPr>
        <p:spPr>
          <a:xfrm>
            <a:off x="812800" y="1642100"/>
            <a:ext cx="6383528"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DCE6F2"/>
                </a:solidFill>
                <a:latin typeface="Nunito Sans" pitchFamily="34" charset="0"/>
                <a:ea typeface="Nunito Sans" pitchFamily="34" charset="-122"/>
                <a:cs typeface="Nunito Sans" pitchFamily="34" charset="-120"/>
              </a:rPr>
              <a:t>Nos hablará de tres herramientas que usan las empresas para entender y mejorar la experiencia de sus clientes:</a:t>
            </a:r>
            <a:endParaRPr lang="en-US" sz="1500" dirty="0"/>
          </a:p>
        </p:txBody>
      </p:sp>
      <p:sp>
        <p:nvSpPr>
          <p:cNvPr id="5" name="Text 3"/>
          <p:cNvSpPr/>
          <p:nvPr/>
        </p:nvSpPr>
        <p:spPr>
          <a:xfrm>
            <a:off x="812800" y="2321550"/>
            <a:ext cx="6197600" cy="444500"/>
          </a:xfrm>
          <a:prstGeom prst="roundRect">
            <a:avLst>
              <a:gd name="adj" fmla="val 17143"/>
            </a:avLst>
          </a:prstGeom>
          <a:solidFill>
            <a:srgbClr val="7FDCDC"/>
          </a:solidFill>
          <a:ln/>
        </p:spPr>
        <p:txBody>
          <a:bodyPr wrap="square" lIns="130082" tIns="66582" rIns="0" bIns="41182" rtlCol="0" anchor="t">
            <a:normAutofit/>
          </a:bodyPr>
          <a:lstStyle/>
          <a:p>
            <a:pPr algn="l" indent="0" marL="0">
              <a:lnSpc>
                <a:spcPts val="2100"/>
              </a:lnSpc>
              <a:buNone/>
            </a:pPr>
            <a:r>
              <a:rPr lang="en-US" sz="1500" b="1" dirty="0">
                <a:solidFill>
                  <a:srgbClr val="173E78"/>
                </a:solidFill>
                <a:latin typeface="Nunito Sans" pitchFamily="34" charset="0"/>
                <a:ea typeface="Nunito Sans" pitchFamily="34" charset="-122"/>
                <a:cs typeface="Nunito Sans" pitchFamily="34" charset="-120"/>
              </a:rPr>
              <a:t>Journey Maps</a:t>
            </a:r>
            <a:endParaRPr lang="en-US" sz="1500" dirty="0"/>
          </a:p>
        </p:txBody>
      </p:sp>
      <p:sp>
        <p:nvSpPr>
          <p:cNvPr id="6" name="Text 4"/>
          <p:cNvSpPr/>
          <p:nvPr/>
        </p:nvSpPr>
        <p:spPr>
          <a:xfrm>
            <a:off x="812800" y="2854950"/>
            <a:ext cx="6197600" cy="444500"/>
          </a:xfrm>
          <a:prstGeom prst="roundRect">
            <a:avLst>
              <a:gd name="adj" fmla="val 17143"/>
            </a:avLst>
          </a:prstGeom>
          <a:solidFill>
            <a:srgbClr val="7FDCDC"/>
          </a:solidFill>
          <a:ln/>
        </p:spPr>
        <p:txBody>
          <a:bodyPr wrap="square" lIns="130082" tIns="66582" rIns="0" bIns="41182" rtlCol="0" anchor="t">
            <a:normAutofit/>
          </a:bodyPr>
          <a:lstStyle/>
          <a:p>
            <a:pPr algn="l" indent="0" marL="0">
              <a:lnSpc>
                <a:spcPts val="2100"/>
              </a:lnSpc>
              <a:buNone/>
            </a:pPr>
            <a:r>
              <a:rPr lang="en-US" sz="1500" b="1" dirty="0">
                <a:solidFill>
                  <a:srgbClr val="173E78"/>
                </a:solidFill>
                <a:latin typeface="Nunito Sans" pitchFamily="34" charset="0"/>
                <a:ea typeface="Nunito Sans" pitchFamily="34" charset="-122"/>
                <a:cs typeface="Nunito Sans" pitchFamily="34" charset="-120"/>
              </a:rPr>
              <a:t>Service Blueprints</a:t>
            </a:r>
            <a:endParaRPr lang="en-US" sz="1500" dirty="0"/>
          </a:p>
        </p:txBody>
      </p:sp>
      <p:sp>
        <p:nvSpPr>
          <p:cNvPr id="7" name="Text 5"/>
          <p:cNvSpPr/>
          <p:nvPr/>
        </p:nvSpPr>
        <p:spPr>
          <a:xfrm>
            <a:off x="812800" y="3388350"/>
            <a:ext cx="6197600" cy="444500"/>
          </a:xfrm>
          <a:prstGeom prst="roundRect">
            <a:avLst>
              <a:gd name="adj" fmla="val 17143"/>
            </a:avLst>
          </a:prstGeom>
          <a:solidFill>
            <a:srgbClr val="7FDCDC"/>
          </a:solidFill>
          <a:ln/>
        </p:spPr>
        <p:txBody>
          <a:bodyPr wrap="square" lIns="130082" tIns="66582" rIns="0" bIns="41182" rtlCol="0" anchor="t">
            <a:normAutofit/>
          </a:bodyPr>
          <a:lstStyle/>
          <a:p>
            <a:pPr algn="l" indent="0" marL="0">
              <a:lnSpc>
                <a:spcPts val="2100"/>
              </a:lnSpc>
              <a:buNone/>
            </a:pPr>
            <a:r>
              <a:rPr lang="en-US" sz="1500" b="1" dirty="0">
                <a:solidFill>
                  <a:srgbClr val="173E78"/>
                </a:solidFill>
                <a:latin typeface="Nunito Sans" pitchFamily="34" charset="0"/>
                <a:ea typeface="Nunito Sans" pitchFamily="34" charset="-122"/>
                <a:cs typeface="Nunito Sans" pitchFamily="34" charset="-120"/>
              </a:rPr>
              <a:t>Value Stream Maps</a:t>
            </a:r>
            <a:endParaRPr lang="en-US" sz="1500" dirty="0"/>
          </a:p>
        </p:txBody>
      </p:sp>
      <p:sp>
        <p:nvSpPr>
          <p:cNvPr id="8" name="Text 6"/>
          <p:cNvSpPr/>
          <p:nvPr/>
        </p:nvSpPr>
        <p:spPr>
          <a:xfrm>
            <a:off x="812800" y="3959850"/>
            <a:ext cx="6383528" cy="4875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8"/>
                </a:solidFill>
                <a:latin typeface="Nunito Sans" pitchFamily="34" charset="0"/>
                <a:ea typeface="Nunito Sans" pitchFamily="34" charset="-122"/>
                <a:cs typeface="Nunito Sans" pitchFamily="34" charset="-120"/>
              </a:rPr>
              <a:t>Según su perfil de LinkedIn: Wawa Labs; formación en innovación de modelos de negocio (MIT), design thinking (Harvard) y lean-agile; IDE Business School.</a:t>
            </a:r>
            <a:endParaRPr lang="en-US" sz="1300" dirty="0"/>
          </a:p>
        </p:txBody>
      </p:sp>
      <p:sp>
        <p:nvSpPr>
          <p:cNvPr id="9" name="Shape 7"/>
          <p:cNvSpPr/>
          <p:nvPr/>
        </p:nvSpPr>
        <p:spPr>
          <a:xfrm>
            <a:off x="7315200" y="1642100"/>
            <a:ext cx="4064000" cy="3309371"/>
          </a:xfrm>
          <a:prstGeom prst="roundRect">
            <a:avLst>
              <a:gd name="adj" fmla="val 3838"/>
            </a:avLst>
          </a:prstGeom>
          <a:solidFill>
            <a:srgbClr val="F7F8F5"/>
          </a:solidFill>
          <a:ln/>
        </p:spPr>
      </p:sp>
      <p:sp>
        <p:nvSpPr>
          <p:cNvPr id="10" name="Text 8"/>
          <p:cNvSpPr/>
          <p:nvPr/>
        </p:nvSpPr>
        <p:spPr>
          <a:xfrm>
            <a:off x="7620000" y="1946900"/>
            <a:ext cx="3558032" cy="25649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47A7B"/>
                </a:solidFill>
                <a:latin typeface="Nunito Sans" pitchFamily="34" charset="0"/>
                <a:ea typeface="Nunito Sans" pitchFamily="34" charset="-122"/>
                <a:cs typeface="Nunito Sans" pitchFamily="34" charset="-120"/>
              </a:rPr>
              <a:t>CUÁNDO Y DÓNDE</a:t>
            </a:r>
            <a:endParaRPr lang="en-US" sz="1300" dirty="0"/>
          </a:p>
        </p:txBody>
      </p:sp>
      <p:sp>
        <p:nvSpPr>
          <p:cNvPr id="11" name="Text 9"/>
          <p:cNvSpPr/>
          <p:nvPr/>
        </p:nvSpPr>
        <p:spPr>
          <a:xfrm>
            <a:off x="7620000" y="2304994"/>
            <a:ext cx="3558032" cy="919389"/>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73E78"/>
                </a:solidFill>
                <a:latin typeface="Domine" pitchFamily="18" charset="0"/>
                <a:ea typeface="Domine" pitchFamily="18" charset="-122"/>
                <a:cs typeface="Domine" pitchFamily="18" charset="-120"/>
              </a:rPr>
              <a:t>Lunes 19 de octubre</a:t>
            </a:r>
            <a:endParaRPr lang="en-US" sz="3200" dirty="0"/>
          </a:p>
        </p:txBody>
      </p:sp>
      <p:sp>
        <p:nvSpPr>
          <p:cNvPr id="12" name="Text 10"/>
          <p:cNvSpPr/>
          <p:nvPr/>
        </p:nvSpPr>
        <p:spPr>
          <a:xfrm>
            <a:off x="7620000" y="3325983"/>
            <a:ext cx="3558032" cy="472395"/>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47A7B"/>
                </a:solidFill>
                <a:latin typeface="Domine" pitchFamily="18" charset="0"/>
                <a:ea typeface="Domine" pitchFamily="18" charset="-122"/>
                <a:cs typeface="Domine" pitchFamily="18" charset="-120"/>
              </a:rPr>
              <a:t>10h00 · TEDA</a:t>
            </a:r>
            <a:endParaRPr lang="en-US" sz="3200" dirty="0"/>
          </a:p>
        </p:txBody>
      </p:sp>
      <p:sp>
        <p:nvSpPr>
          <p:cNvPr id="13" name="Text 11"/>
          <p:cNvSpPr/>
          <p:nvPr/>
        </p:nvSpPr>
        <p:spPr>
          <a:xfrm>
            <a:off x="7620000" y="3899977"/>
            <a:ext cx="3558032" cy="77209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A4E"/>
                </a:solidFill>
                <a:latin typeface="Nunito Sans" pitchFamily="34" charset="0"/>
                <a:ea typeface="Nunito Sans" pitchFamily="34" charset="-122"/>
                <a:cs typeface="Nunito Sans" pitchFamily="34" charset="-120"/>
              </a:rPr>
              <a:t>Cada equipo presenta su </a:t>
            </a:r>
            <a:r>
              <a:rPr lang="en-US" sz="1400" b="1" dirty="0">
                <a:solidFill>
                  <a:srgbClr val="2B3A4E"/>
                </a:solidFill>
                <a:latin typeface="Nunito Sans" pitchFamily="34" charset="0"/>
                <a:ea typeface="Nunito Sans" pitchFamily="34" charset="-122"/>
                <a:cs typeface="Nunito Sans" pitchFamily="34" charset="-120"/>
              </a:rPr>
              <a:t>pitch con el PMV y las encuestas</a:t>
            </a:r>
            <a:r>
              <a:rPr lang="en-US" sz="1400" dirty="0">
                <a:solidFill>
                  <a:srgbClr val="2B3A4E"/>
                </a:solidFill>
                <a:latin typeface="Nunito Sans" pitchFamily="34" charset="0"/>
                <a:ea typeface="Nunito Sans" pitchFamily="34" charset="-122"/>
                <a:cs typeface="Nunito Sans" pitchFamily="34" charset="-120"/>
              </a:rPr>
              <a:t>, como si Alfred fuera el jurado de un concurso.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B2B3"/>
        </a:solidFill>
      </p:bgPr>
    </p:bg>
    <p:spTree>
      <p:nvGrpSpPr>
        <p:cNvPr id="1" name=""/>
        <p:cNvGrpSpPr/>
        <p:nvPr/>
      </p:nvGrpSpPr>
      <p:grpSpPr>
        <a:xfrm>
          <a:off x="0" y="0"/>
          <a:ext cx="0" cy="0"/>
          <a:chOff x="0" y="0"/>
          <a:chExt cx="0" cy="0"/>
        </a:xfrm>
      </p:grpSpPr>
      <p:sp>
        <p:nvSpPr>
          <p:cNvPr id="2" name="Text 0"/>
          <p:cNvSpPr/>
          <p:nvPr/>
        </p:nvSpPr>
        <p:spPr>
          <a:xfrm>
            <a:off x="812800" y="2161550"/>
            <a:ext cx="10883393"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0F2B54"/>
                </a:solidFill>
                <a:latin typeface="Domine" pitchFamily="18" charset="0"/>
                <a:ea typeface="Domine" pitchFamily="18" charset="-122"/>
                <a:cs typeface="Domine" pitchFamily="18" charset="-120"/>
              </a:rPr>
              <a:t>01</a:t>
            </a:r>
            <a:endParaRPr lang="en-US" sz="8000" dirty="0"/>
          </a:p>
        </p:txBody>
      </p:sp>
      <p:sp>
        <p:nvSpPr>
          <p:cNvPr id="3" name="Text 1"/>
          <p:cNvSpPr/>
          <p:nvPr>
            <p:ph type="title"/>
          </p:nvPr>
        </p:nvSpPr>
        <p:spPr>
          <a:xfrm>
            <a:off x="812800" y="3355350"/>
            <a:ext cx="10883393"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0F2B54"/>
                </a:solidFill>
                <a:latin typeface="Domine" pitchFamily="18" charset="0"/>
                <a:ea typeface="Domine" pitchFamily="18" charset="-122"/>
                <a:cs typeface="Domine" pitchFamily="18" charset="-120"/>
              </a:rPr>
              <a:t>La E5 explicada, bloque por bloque</a:t>
            </a:r>
            <a:endParaRPr lang="en-US" sz="4000" dirty="0"/>
          </a:p>
        </p:txBody>
      </p:sp>
      <p:sp>
        <p:nvSpPr>
          <p:cNvPr id="4" name="Text 2"/>
          <p:cNvSpPr/>
          <p:nvPr/>
        </p:nvSpPr>
        <p:spPr>
          <a:xfrm>
            <a:off x="812800" y="4091950"/>
            <a:ext cx="8502650" cy="629897"/>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0F2B54"/>
                </a:solidFill>
                <a:latin typeface="Nunito Sans" pitchFamily="34" charset="0"/>
                <a:ea typeface="Nunito Sans" pitchFamily="34" charset="-122"/>
                <a:cs typeface="Nunito Sans" pitchFamily="34" charset="-120"/>
              </a:rPr>
              <a:t>Business Model Canvas, proceso del trabajo del cliente y lienzo de la propuesta de valor: qué son, para qué sirven y cómo se conectan.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CÓMO ENCAJAN LAS TRES HERRAMIENTAS</a:t>
            </a:r>
            <a:endParaRPr lang="en-US" sz="1200" dirty="0"/>
          </a:p>
        </p:txBody>
      </p:sp>
      <p:sp>
        <p:nvSpPr>
          <p:cNvPr id="3" name="Text 1"/>
          <p:cNvSpPr/>
          <p:nvPr>
            <p:ph type="title"/>
          </p:nvPr>
        </p:nvSpPr>
        <p:spPr>
          <a:xfrm>
            <a:off x="812800" y="949951"/>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Del mapa de la ciudad a la llave de una puerta</a:t>
            </a:r>
            <a:endParaRPr lang="en-US" sz="2800" dirty="0"/>
          </a:p>
        </p:txBody>
      </p:sp>
      <p:sp>
        <p:nvSpPr>
          <p:cNvPr id="4" name="Shape 2"/>
          <p:cNvSpPr/>
          <p:nvPr/>
        </p:nvSpPr>
        <p:spPr>
          <a:xfrm>
            <a:off x="815975" y="1641419"/>
            <a:ext cx="3075498" cy="2393440"/>
          </a:xfrm>
          <a:prstGeom prst="roundRect">
            <a:avLst>
              <a:gd name="adj" fmla="val 4112"/>
            </a:avLst>
          </a:prstGeom>
          <a:solidFill>
            <a:srgbClr val="FDFDFB"/>
          </a:solidFill>
          <a:ln w="6350">
            <a:solidFill>
              <a:srgbClr val="DCE3EA"/>
            </a:solidFill>
            <a:prstDash val="solid"/>
          </a:ln>
        </p:spPr>
      </p:sp>
      <p:sp>
        <p:nvSpPr>
          <p:cNvPr id="5" name="Text 3"/>
          <p:cNvSpPr/>
          <p:nvPr/>
        </p:nvSpPr>
        <p:spPr>
          <a:xfrm>
            <a:off x="1045029" y="1870472"/>
            <a:ext cx="2695913" cy="238749"/>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47A7B"/>
                </a:solidFill>
                <a:latin typeface="Nunito Sans" pitchFamily="34" charset="0"/>
                <a:ea typeface="Nunito Sans" pitchFamily="34" charset="-122"/>
                <a:cs typeface="Nunito Sans" pitchFamily="34" charset="-120"/>
              </a:rPr>
              <a:t>LÁMINA 3</a:t>
            </a:r>
            <a:endParaRPr lang="en-US" sz="1200" dirty="0"/>
          </a:p>
        </p:txBody>
      </p:sp>
      <p:sp>
        <p:nvSpPr>
          <p:cNvPr id="6" name="Text 4"/>
          <p:cNvSpPr/>
          <p:nvPr/>
        </p:nvSpPr>
        <p:spPr>
          <a:xfrm>
            <a:off x="1045029" y="2172723"/>
            <a:ext cx="2695913"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3E78"/>
                </a:solidFill>
                <a:latin typeface="Nunito Sans" pitchFamily="34" charset="0"/>
                <a:ea typeface="Nunito Sans" pitchFamily="34" charset="-122"/>
                <a:cs typeface="Nunito Sans" pitchFamily="34" charset="-120"/>
              </a:rPr>
              <a:t>Business Model Canvas</a:t>
            </a:r>
            <a:endParaRPr lang="en-US" sz="1800" dirty="0"/>
          </a:p>
        </p:txBody>
      </p:sp>
      <p:sp>
        <p:nvSpPr>
          <p:cNvPr id="7" name="Text 5"/>
          <p:cNvSpPr/>
          <p:nvPr/>
        </p:nvSpPr>
        <p:spPr>
          <a:xfrm>
            <a:off x="1045029" y="2535920"/>
            <a:ext cx="2695913" cy="126988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A4E"/>
                </a:solidFill>
                <a:latin typeface="Nunito Sans" pitchFamily="34" charset="0"/>
                <a:ea typeface="Nunito Sans" pitchFamily="34" charset="-122"/>
                <a:cs typeface="Nunito Sans" pitchFamily="34" charset="-120"/>
              </a:rPr>
              <a:t>El mapa de la ciudad.</a:t>
            </a:r>
            <a:r>
              <a:rPr lang="en-US" sz="1400" dirty="0">
                <a:solidFill>
                  <a:srgbClr val="2B3A4E"/>
                </a:solidFill>
                <a:latin typeface="Nunito Sans" pitchFamily="34" charset="0"/>
                <a:ea typeface="Nunito Sans" pitchFamily="34" charset="-122"/>
                <a:cs typeface="Nunito Sans" pitchFamily="34" charset="-120"/>
              </a:rPr>
              <a:t> Muestra el negocio completo en una hoja: para quién, qué ofrecemos, cómo operamos y si los números cierran.</a:t>
            </a:r>
            <a:endParaRPr lang="en-US" sz="1400" dirty="0"/>
          </a:p>
        </p:txBody>
      </p:sp>
      <p:pic>
        <p:nvPicPr>
          <p:cNvPr id="8" name="Image 0" descr="arrow-right">    </p:cNvPr>
          <p:cNvPicPr>
            <a:picLocks noChangeAspect="1"/>
          </p:cNvPicPr>
          <p:nvPr/>
        </p:nvPicPr>
        <p:blipFill>
          <a:blip r:embed="rId1"/>
          <a:srcRect l="0" r="0" t="0" b="0"/>
          <a:stretch/>
        </p:blipFill>
        <p:spPr>
          <a:xfrm>
            <a:off x="4021648" y="2711112"/>
            <a:ext cx="406400" cy="254000"/>
          </a:xfrm>
          <a:prstGeom prst="rect">
            <a:avLst/>
          </a:prstGeom>
        </p:spPr>
      </p:pic>
      <p:sp>
        <p:nvSpPr>
          <p:cNvPr id="9" name="Shape 6"/>
          <p:cNvSpPr/>
          <p:nvPr/>
        </p:nvSpPr>
        <p:spPr>
          <a:xfrm>
            <a:off x="4558223" y="1641419"/>
            <a:ext cx="3075555" cy="2393440"/>
          </a:xfrm>
          <a:prstGeom prst="roundRect">
            <a:avLst>
              <a:gd name="adj" fmla="val 4112"/>
            </a:avLst>
          </a:prstGeom>
          <a:solidFill>
            <a:srgbClr val="FDFDFB"/>
          </a:solidFill>
          <a:ln w="6350">
            <a:solidFill>
              <a:srgbClr val="DCE3EA"/>
            </a:solidFill>
            <a:prstDash val="solid"/>
          </a:ln>
        </p:spPr>
      </p:sp>
      <p:sp>
        <p:nvSpPr>
          <p:cNvPr id="10" name="Text 7"/>
          <p:cNvSpPr/>
          <p:nvPr/>
        </p:nvSpPr>
        <p:spPr>
          <a:xfrm>
            <a:off x="4787276" y="1870472"/>
            <a:ext cx="2695971" cy="238749"/>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47A7B"/>
                </a:solidFill>
                <a:latin typeface="Nunito Sans" pitchFamily="34" charset="0"/>
                <a:ea typeface="Nunito Sans" pitchFamily="34" charset="-122"/>
                <a:cs typeface="Nunito Sans" pitchFamily="34" charset="-120"/>
              </a:rPr>
              <a:t>LÁMINA 6</a:t>
            </a:r>
            <a:endParaRPr lang="en-US" sz="1200" dirty="0"/>
          </a:p>
        </p:txBody>
      </p:sp>
      <p:sp>
        <p:nvSpPr>
          <p:cNvPr id="11" name="Text 8"/>
          <p:cNvSpPr/>
          <p:nvPr/>
        </p:nvSpPr>
        <p:spPr>
          <a:xfrm>
            <a:off x="4787276" y="2172723"/>
            <a:ext cx="2695971" cy="5739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3E78"/>
                </a:solidFill>
                <a:latin typeface="Nunito Sans" pitchFamily="34" charset="0"/>
                <a:ea typeface="Nunito Sans" pitchFamily="34" charset="-122"/>
                <a:cs typeface="Nunito Sans" pitchFamily="34" charset="-120"/>
              </a:rPr>
              <a:t>Proceso del trabajo del cliente</a:t>
            </a:r>
            <a:endParaRPr lang="en-US" sz="1800" dirty="0"/>
          </a:p>
        </p:txBody>
      </p:sp>
      <p:sp>
        <p:nvSpPr>
          <p:cNvPr id="12" name="Text 9"/>
          <p:cNvSpPr/>
          <p:nvPr/>
        </p:nvSpPr>
        <p:spPr>
          <a:xfrm>
            <a:off x="4787276" y="2810216"/>
            <a:ext cx="2695971" cy="102098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A4E"/>
                </a:solidFill>
                <a:latin typeface="Nunito Sans" pitchFamily="34" charset="0"/>
                <a:ea typeface="Nunito Sans" pitchFamily="34" charset="-122"/>
                <a:cs typeface="Nunito Sans" pitchFamily="34" charset="-120"/>
              </a:rPr>
              <a:t>La película de una calle.</a:t>
            </a:r>
            <a:r>
              <a:rPr lang="en-US" sz="1400" dirty="0">
                <a:solidFill>
                  <a:srgbClr val="2B3A4E"/>
                </a:solidFill>
                <a:latin typeface="Nunito Sans" pitchFamily="34" charset="0"/>
                <a:ea typeface="Nunito Sans" pitchFamily="34" charset="-122"/>
                <a:cs typeface="Nunito Sans" pitchFamily="34" charset="-120"/>
              </a:rPr>
              <a:t> Seguimos al cliente 1 paso a paso, tal como hace su tarea hoy, y marcamos dónde duele.</a:t>
            </a:r>
            <a:endParaRPr lang="en-US" sz="1400" dirty="0"/>
          </a:p>
        </p:txBody>
      </p:sp>
      <p:pic>
        <p:nvPicPr>
          <p:cNvPr id="13" name="Image 1" descr="arrow-right">    </p:cNvPr>
          <p:cNvPicPr>
            <a:picLocks noChangeAspect="1"/>
          </p:cNvPicPr>
          <p:nvPr/>
        </p:nvPicPr>
        <p:blipFill>
          <a:blip r:embed="rId2"/>
          <a:srcRect l="0" r="0" t="0" b="0"/>
          <a:stretch/>
        </p:blipFill>
        <p:spPr>
          <a:xfrm>
            <a:off x="7763952" y="2711112"/>
            <a:ext cx="406400" cy="254000"/>
          </a:xfrm>
          <a:prstGeom prst="rect">
            <a:avLst/>
          </a:prstGeom>
        </p:spPr>
      </p:pic>
      <p:sp>
        <p:nvSpPr>
          <p:cNvPr id="14" name="Shape 10"/>
          <p:cNvSpPr/>
          <p:nvPr/>
        </p:nvSpPr>
        <p:spPr>
          <a:xfrm>
            <a:off x="8300527" y="1641419"/>
            <a:ext cx="3075498" cy="2393440"/>
          </a:xfrm>
          <a:prstGeom prst="roundRect">
            <a:avLst>
              <a:gd name="adj" fmla="val 4112"/>
            </a:avLst>
          </a:prstGeom>
          <a:solidFill>
            <a:srgbClr val="FDFDFB"/>
          </a:solidFill>
          <a:ln w="6350">
            <a:solidFill>
              <a:srgbClr val="DCE3EA"/>
            </a:solidFill>
            <a:prstDash val="solid"/>
          </a:ln>
        </p:spPr>
      </p:sp>
      <p:sp>
        <p:nvSpPr>
          <p:cNvPr id="15" name="Text 11"/>
          <p:cNvSpPr/>
          <p:nvPr/>
        </p:nvSpPr>
        <p:spPr>
          <a:xfrm>
            <a:off x="8529581" y="1870472"/>
            <a:ext cx="2695913" cy="238749"/>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47A7B"/>
                </a:solidFill>
                <a:latin typeface="Nunito Sans" pitchFamily="34" charset="0"/>
                <a:ea typeface="Nunito Sans" pitchFamily="34" charset="-122"/>
                <a:cs typeface="Nunito Sans" pitchFamily="34" charset="-120"/>
              </a:rPr>
              <a:t>LÁMINA 7</a:t>
            </a:r>
            <a:endParaRPr lang="en-US" sz="1200" dirty="0"/>
          </a:p>
        </p:txBody>
      </p:sp>
      <p:sp>
        <p:nvSpPr>
          <p:cNvPr id="16" name="Text 12"/>
          <p:cNvSpPr/>
          <p:nvPr/>
        </p:nvSpPr>
        <p:spPr>
          <a:xfrm>
            <a:off x="8529581" y="2172723"/>
            <a:ext cx="2695913" cy="5739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3E78"/>
                </a:solidFill>
                <a:latin typeface="Nunito Sans" pitchFamily="34" charset="0"/>
                <a:ea typeface="Nunito Sans" pitchFamily="34" charset="-122"/>
                <a:cs typeface="Nunito Sans" pitchFamily="34" charset="-120"/>
              </a:rPr>
              <a:t>Lienzo de la propuesta de valor</a:t>
            </a:r>
            <a:endParaRPr lang="en-US" sz="1800" dirty="0"/>
          </a:p>
        </p:txBody>
      </p:sp>
      <p:sp>
        <p:nvSpPr>
          <p:cNvPr id="17" name="Text 13"/>
          <p:cNvSpPr/>
          <p:nvPr/>
        </p:nvSpPr>
        <p:spPr>
          <a:xfrm>
            <a:off x="8529581" y="2810216"/>
            <a:ext cx="2695913" cy="102098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A4E"/>
                </a:solidFill>
                <a:latin typeface="Nunito Sans" pitchFamily="34" charset="0"/>
                <a:ea typeface="Nunito Sans" pitchFamily="34" charset="-122"/>
                <a:cs typeface="Nunito Sans" pitchFamily="34" charset="-120"/>
              </a:rPr>
              <a:t>La llave y la cerradura.</a:t>
            </a:r>
            <a:r>
              <a:rPr lang="en-US" sz="1400" dirty="0">
                <a:solidFill>
                  <a:srgbClr val="2B3A4E"/>
                </a:solidFill>
                <a:latin typeface="Nunito Sans" pitchFamily="34" charset="0"/>
                <a:ea typeface="Nunito Sans" pitchFamily="34" charset="-122"/>
                <a:cs typeface="Nunito Sans" pitchFamily="34" charset="-120"/>
              </a:rPr>
              <a:t> Diseñamos la solución para que encaje exactamente en los dolores que encontramos.</a:t>
            </a:r>
            <a:endParaRPr lang="en-US" sz="1400" dirty="0"/>
          </a:p>
        </p:txBody>
      </p:sp>
      <p:sp>
        <p:nvSpPr>
          <p:cNvPr id="18" name="Text 14"/>
          <p:cNvSpPr/>
          <p:nvPr/>
        </p:nvSpPr>
        <p:spPr>
          <a:xfrm>
            <a:off x="812800" y="4317436"/>
            <a:ext cx="10566401" cy="924492"/>
          </a:xfrm>
          <a:prstGeom prst="roundRect">
            <a:avLst>
              <a:gd name="adj" fmla="val 9616"/>
            </a:avLst>
          </a:prstGeom>
          <a:solidFill>
            <a:srgbClr val="E3F5F5"/>
          </a:solidFill>
          <a:ln/>
        </p:spPr>
        <p:txBody>
          <a:bodyPr wrap="square" lIns="202562" tIns="151762" rIns="0" bIns="126362" rtlCol="0" anchor="t">
            <a:normAutofit/>
          </a:bodyPr>
          <a:lstStyle/>
          <a:p>
            <a:pPr algn="l" indent="0" marL="0">
              <a:lnSpc>
                <a:spcPts val="2240"/>
              </a:lnSpc>
              <a:buNone/>
            </a:pPr>
            <a:r>
              <a:rPr lang="en-US" sz="1600" dirty="0">
                <a:solidFill>
                  <a:srgbClr val="173E78"/>
                </a:solidFill>
                <a:latin typeface="Nunito Sans" pitchFamily="34" charset="0"/>
                <a:ea typeface="Nunito Sans" pitchFamily="34" charset="-122"/>
                <a:cs typeface="Nunito Sans" pitchFamily="34" charset="-120"/>
              </a:rPr>
              <a:t>El canvas dice </a:t>
            </a:r>
            <a:r>
              <a:rPr lang="en-US" sz="1600" b="1" dirty="0">
                <a:solidFill>
                  <a:srgbClr val="173E78"/>
                </a:solidFill>
                <a:latin typeface="Nunito Sans" pitchFamily="34" charset="0"/>
                <a:ea typeface="Nunito Sans" pitchFamily="34" charset="-122"/>
                <a:cs typeface="Nunito Sans" pitchFamily="34" charset="-120"/>
              </a:rPr>
              <a:t>qué negocio</a:t>
            </a:r>
            <a:r>
              <a:rPr lang="en-US" sz="1600" dirty="0">
                <a:solidFill>
                  <a:srgbClr val="173E78"/>
                </a:solidFill>
                <a:latin typeface="Nunito Sans" pitchFamily="34" charset="0"/>
                <a:ea typeface="Nunito Sans" pitchFamily="34" charset="-122"/>
                <a:cs typeface="Nunito Sans" pitchFamily="34" charset="-120"/>
              </a:rPr>
              <a:t> es. El proceso dice </a:t>
            </a:r>
            <a:r>
              <a:rPr lang="en-US" sz="1600" b="1" dirty="0">
                <a:solidFill>
                  <a:srgbClr val="173E78"/>
                </a:solidFill>
                <a:latin typeface="Nunito Sans" pitchFamily="34" charset="0"/>
                <a:ea typeface="Nunito Sans" pitchFamily="34" charset="-122"/>
                <a:cs typeface="Nunito Sans" pitchFamily="34" charset="-120"/>
              </a:rPr>
              <a:t>dónde duele</a:t>
            </a:r>
            <a:r>
              <a:rPr lang="en-US" sz="1600" dirty="0">
                <a:solidFill>
                  <a:srgbClr val="173E78"/>
                </a:solidFill>
                <a:latin typeface="Nunito Sans" pitchFamily="34" charset="0"/>
                <a:ea typeface="Nunito Sans" pitchFamily="34" charset="-122"/>
                <a:cs typeface="Nunito Sans" pitchFamily="34" charset="-120"/>
              </a:rPr>
              <a:t>. El lienzo dice </a:t>
            </a:r>
            <a:r>
              <a:rPr lang="en-US" sz="1600" b="1" dirty="0">
                <a:solidFill>
                  <a:srgbClr val="173E78"/>
                </a:solidFill>
                <a:latin typeface="Nunito Sans" pitchFamily="34" charset="0"/>
                <a:ea typeface="Nunito Sans" pitchFamily="34" charset="-122"/>
                <a:cs typeface="Nunito Sans" pitchFamily="34" charset="-120"/>
              </a:rPr>
              <a:t>cómo lo aliviamos</a:t>
            </a:r>
            <a:r>
              <a:rPr lang="en-US" sz="1600" dirty="0">
                <a:solidFill>
                  <a:srgbClr val="173E78"/>
                </a:solidFill>
                <a:latin typeface="Nunito Sans" pitchFamily="34" charset="0"/>
                <a:ea typeface="Nunito Sans" pitchFamily="34" charset="-122"/>
                <a:cs typeface="Nunito Sans" pitchFamily="34" charset="-120"/>
              </a:rPr>
              <a:t>. Si una lámina contradice a otra, el problema no es de formato: es de idea.</a:t>
            </a:r>
            <a:endParaRPr lang="en-US" sz="1600" dirty="0"/>
          </a:p>
        </p:txBody>
      </p:sp>
      <p:pic>
        <p:nvPicPr>
          <p:cNvPr id="19" name="Image 2" descr="Logo PUCE">    </p:cNvPr>
          <p:cNvPicPr>
            <a:picLocks noChangeAspect="1"/>
          </p:cNvPicPr>
          <p:nvPr/>
        </p:nvPicPr>
        <p:blipFill>
          <a:blip r:embed="rId3"/>
          <a:srcRect l="-436" r="-436" t="0" b="0"/>
          <a:stretch/>
        </p:blipFill>
        <p:spPr>
          <a:xfrm>
            <a:off x="812800" y="6184900"/>
            <a:ext cx="1016000" cy="279400"/>
          </a:xfrm>
          <a:prstGeom prst="rect">
            <a:avLst/>
          </a:prstGeom>
        </p:spPr>
      </p:pic>
      <p:sp>
        <p:nvSpPr>
          <p:cNvPr id="20" name="Text 15"/>
          <p:cNvSpPr/>
          <p:nvPr/>
        </p:nvSpPr>
        <p:spPr>
          <a:xfrm>
            <a:off x="8008847" y="621790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3"/>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CONCEPTO 1 · BUSINESS MODEL CANVAS</a:t>
            </a:r>
            <a:endParaRPr lang="en-US" sz="1200" dirty="0"/>
          </a:p>
        </p:txBody>
      </p:sp>
      <p:sp>
        <p:nvSpPr>
          <p:cNvPr id="3" name="Text 1"/>
          <p:cNvSpPr/>
          <p:nvPr>
            <p:ph type="title"/>
          </p:nvPr>
        </p:nvSpPr>
        <p:spPr>
          <a:xfrm>
            <a:off x="812800" y="949951"/>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Un canvas es el plano de una casa</a:t>
            </a:r>
            <a:endParaRPr lang="en-US" sz="2800" dirty="0"/>
          </a:p>
        </p:txBody>
      </p:sp>
      <p:sp>
        <p:nvSpPr>
          <p:cNvPr id="4" name="Shape 2"/>
          <p:cNvSpPr/>
          <p:nvPr/>
        </p:nvSpPr>
        <p:spPr>
          <a:xfrm>
            <a:off x="815975" y="1590619"/>
            <a:ext cx="3397250" cy="1882775"/>
          </a:xfrm>
          <a:prstGeom prst="roundRect">
            <a:avLst>
              <a:gd name="adj" fmla="val 5228"/>
            </a:avLst>
          </a:prstGeom>
          <a:solidFill>
            <a:srgbClr val="FDFDFB"/>
          </a:solidFill>
          <a:ln w="6350">
            <a:solidFill>
              <a:srgbClr val="DCE3EA"/>
            </a:solidFill>
            <a:prstDash val="solid"/>
          </a:ln>
        </p:spPr>
      </p:sp>
      <p:sp>
        <p:nvSpPr>
          <p:cNvPr id="5" name="Text 3"/>
          <p:cNvSpPr/>
          <p:nvPr/>
        </p:nvSpPr>
        <p:spPr>
          <a:xfrm>
            <a:off x="1019629" y="1794275"/>
            <a:ext cx="3079641"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47A7B"/>
                </a:solidFill>
                <a:latin typeface="Nunito Sans" pitchFamily="34" charset="0"/>
                <a:ea typeface="Nunito Sans" pitchFamily="34" charset="-122"/>
                <a:cs typeface="Nunito Sans" pitchFamily="34" charset="-120"/>
              </a:rPr>
              <a:t>Lado derecho: la fachada</a:t>
            </a:r>
            <a:endParaRPr lang="en-US" sz="1600" dirty="0"/>
          </a:p>
        </p:txBody>
      </p:sp>
      <p:sp>
        <p:nvSpPr>
          <p:cNvPr id="6" name="Text 4"/>
          <p:cNvSpPr/>
          <p:nvPr/>
        </p:nvSpPr>
        <p:spPr>
          <a:xfrm>
            <a:off x="1019629" y="2114268"/>
            <a:ext cx="3079641" cy="118087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Lo que ve el cliente: </a:t>
            </a:r>
            <a:r>
              <a:rPr lang="en-US" sz="1300" b="1" dirty="0">
                <a:solidFill>
                  <a:srgbClr val="2B3A4E"/>
                </a:solidFill>
                <a:latin typeface="Nunito Sans" pitchFamily="34" charset="0"/>
                <a:ea typeface="Nunito Sans" pitchFamily="34" charset="-122"/>
                <a:cs typeface="Nunito Sans" pitchFamily="34" charset="-120"/>
              </a:rPr>
              <a:t>segmentos, propuesta de valor, canales, relación e ingresos</a:t>
            </a:r>
            <a:r>
              <a:rPr lang="en-US" sz="1300" dirty="0">
                <a:solidFill>
                  <a:srgbClr val="2B3A4E"/>
                </a:solidFill>
                <a:latin typeface="Nunito Sans" pitchFamily="34" charset="0"/>
                <a:ea typeface="Nunito Sans" pitchFamily="34" charset="-122"/>
                <a:cs typeface="Nunito Sans" pitchFamily="34" charset="-120"/>
              </a:rPr>
              <a:t>. Se llena primero, porque una casa se diseña para quien va a vivir en ella.</a:t>
            </a:r>
            <a:endParaRPr lang="en-US" sz="1300" dirty="0"/>
          </a:p>
        </p:txBody>
      </p:sp>
      <p:sp>
        <p:nvSpPr>
          <p:cNvPr id="7" name="Shape 5"/>
          <p:cNvSpPr/>
          <p:nvPr/>
        </p:nvSpPr>
        <p:spPr>
          <a:xfrm>
            <a:off x="4397375" y="1590619"/>
            <a:ext cx="3397250" cy="1882775"/>
          </a:xfrm>
          <a:prstGeom prst="roundRect">
            <a:avLst>
              <a:gd name="adj" fmla="val 5228"/>
            </a:avLst>
          </a:prstGeom>
          <a:solidFill>
            <a:srgbClr val="FDFDFB"/>
          </a:solidFill>
          <a:ln w="6350">
            <a:solidFill>
              <a:srgbClr val="DCE3EA"/>
            </a:solidFill>
            <a:prstDash val="solid"/>
          </a:ln>
        </p:spPr>
      </p:sp>
      <p:sp>
        <p:nvSpPr>
          <p:cNvPr id="8" name="Text 6"/>
          <p:cNvSpPr/>
          <p:nvPr/>
        </p:nvSpPr>
        <p:spPr>
          <a:xfrm>
            <a:off x="4601029" y="1794275"/>
            <a:ext cx="3079641"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47A7B"/>
                </a:solidFill>
                <a:latin typeface="Nunito Sans" pitchFamily="34" charset="0"/>
                <a:ea typeface="Nunito Sans" pitchFamily="34" charset="-122"/>
                <a:cs typeface="Nunito Sans" pitchFamily="34" charset="-120"/>
              </a:rPr>
              <a:t>Lado izquierdo: la cocina</a:t>
            </a:r>
            <a:endParaRPr lang="en-US" sz="1600" dirty="0"/>
          </a:p>
        </p:txBody>
      </p:sp>
      <p:sp>
        <p:nvSpPr>
          <p:cNvPr id="9" name="Text 7"/>
          <p:cNvSpPr/>
          <p:nvPr/>
        </p:nvSpPr>
        <p:spPr>
          <a:xfrm>
            <a:off x="4601029" y="2114268"/>
            <a:ext cx="3079641" cy="9497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Lo que el cliente no ve: </a:t>
            </a:r>
            <a:r>
              <a:rPr lang="en-US" sz="1300" b="1" dirty="0">
                <a:solidFill>
                  <a:srgbClr val="2B3A4E"/>
                </a:solidFill>
                <a:latin typeface="Nunito Sans" pitchFamily="34" charset="0"/>
                <a:ea typeface="Nunito Sans" pitchFamily="34" charset="-122"/>
                <a:cs typeface="Nunito Sans" pitchFamily="34" charset="-120"/>
              </a:rPr>
              <a:t>recursos, actividades y socios clave</a:t>
            </a:r>
            <a:r>
              <a:rPr lang="en-US" sz="1300" dirty="0">
                <a:solidFill>
                  <a:srgbClr val="2B3A4E"/>
                </a:solidFill>
                <a:latin typeface="Nunito Sans" pitchFamily="34" charset="0"/>
                <a:ea typeface="Nunito Sans" pitchFamily="34" charset="-122"/>
                <a:cs typeface="Nunito Sans" pitchFamily="34" charset="-120"/>
              </a:rPr>
              <a:t>. Son los cimientos y las tuberías que sostienen la promesa de la fachada.</a:t>
            </a:r>
            <a:endParaRPr lang="en-US" sz="1300" dirty="0"/>
          </a:p>
        </p:txBody>
      </p:sp>
      <p:sp>
        <p:nvSpPr>
          <p:cNvPr id="10" name="Shape 8"/>
          <p:cNvSpPr/>
          <p:nvPr/>
        </p:nvSpPr>
        <p:spPr>
          <a:xfrm>
            <a:off x="7978775" y="1590619"/>
            <a:ext cx="3397250" cy="1882775"/>
          </a:xfrm>
          <a:prstGeom prst="roundRect">
            <a:avLst>
              <a:gd name="adj" fmla="val 5228"/>
            </a:avLst>
          </a:prstGeom>
          <a:solidFill>
            <a:srgbClr val="FDFDFB"/>
          </a:solidFill>
          <a:ln w="6350">
            <a:solidFill>
              <a:srgbClr val="DCE3EA"/>
            </a:solidFill>
            <a:prstDash val="solid"/>
          </a:ln>
        </p:spPr>
      </p:sp>
      <p:sp>
        <p:nvSpPr>
          <p:cNvPr id="11" name="Text 9"/>
          <p:cNvSpPr/>
          <p:nvPr/>
        </p:nvSpPr>
        <p:spPr>
          <a:xfrm>
            <a:off x="8182429" y="1794275"/>
            <a:ext cx="3079641"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47A7B"/>
                </a:solidFill>
                <a:latin typeface="Nunito Sans" pitchFamily="34" charset="0"/>
                <a:ea typeface="Nunito Sans" pitchFamily="34" charset="-122"/>
                <a:cs typeface="Nunito Sans" pitchFamily="34" charset="-120"/>
              </a:rPr>
              <a:t>Abajo: la cuenta</a:t>
            </a:r>
            <a:endParaRPr lang="en-US" sz="1600" dirty="0"/>
          </a:p>
        </p:txBody>
      </p:sp>
      <p:sp>
        <p:nvSpPr>
          <p:cNvPr id="12" name="Text 10"/>
          <p:cNvSpPr/>
          <p:nvPr/>
        </p:nvSpPr>
        <p:spPr>
          <a:xfrm>
            <a:off x="8182429" y="2114268"/>
            <a:ext cx="3079641" cy="118087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Ingresos menos costos.</a:t>
            </a:r>
            <a:r>
              <a:rPr lang="en-US" sz="1300" dirty="0">
                <a:solidFill>
                  <a:srgbClr val="2B3A4E"/>
                </a:solidFill>
                <a:latin typeface="Nunito Sans" pitchFamily="34" charset="0"/>
                <a:ea typeface="Nunito Sans" pitchFamily="34" charset="-122"/>
                <a:cs typeface="Nunito Sans" pitchFamily="34" charset="-120"/>
              </a:rPr>
              <a:t> Una casa preciosa que nadie puede pagar no se construye. Separen lo fijo (arriendo, hosting) de lo variable (cada mensaje, cada consulta a la IA).</a:t>
            </a:r>
            <a:endParaRPr lang="en-US" sz="1300" dirty="0"/>
          </a:p>
        </p:txBody>
      </p:sp>
      <p:sp>
        <p:nvSpPr>
          <p:cNvPr id="13" name="Shape 11"/>
          <p:cNvSpPr/>
          <p:nvPr/>
        </p:nvSpPr>
        <p:spPr>
          <a:xfrm>
            <a:off x="812800" y="3705169"/>
            <a:ext cx="5190672" cy="1399041"/>
          </a:xfrm>
          <a:prstGeom prst="roundRect">
            <a:avLst>
              <a:gd name="adj" fmla="val 7262"/>
            </a:avLst>
          </a:prstGeom>
          <a:solidFill>
            <a:srgbClr val="173E78"/>
          </a:solidFill>
          <a:ln/>
        </p:spPr>
      </p:sp>
      <p:sp>
        <p:nvSpPr>
          <p:cNvPr id="14" name="Text 12"/>
          <p:cNvSpPr/>
          <p:nvPr/>
        </p:nvSpPr>
        <p:spPr>
          <a:xfrm>
            <a:off x="1016000" y="3908369"/>
            <a:ext cx="4927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FDCDC"/>
                </a:solidFill>
                <a:latin typeface="Nunito Sans" pitchFamily="34" charset="0"/>
                <a:ea typeface="Nunito Sans" pitchFamily="34" charset="-122"/>
                <a:cs typeface="Nunito Sans" pitchFamily="34" charset="-120"/>
              </a:rPr>
              <a:t>Regla de las dos puertas</a:t>
            </a:r>
            <a:endParaRPr lang="en-US" sz="1500" dirty="0"/>
          </a:p>
        </p:txBody>
      </p:sp>
      <p:sp>
        <p:nvSpPr>
          <p:cNvPr id="15" name="Text 13"/>
          <p:cNvSpPr/>
          <p:nvPr/>
        </p:nvSpPr>
        <p:spPr>
          <a:xfrm>
            <a:off x="1016000" y="4200469"/>
            <a:ext cx="4927800" cy="7186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6FA"/>
                </a:solidFill>
                <a:latin typeface="Nunito Sans" pitchFamily="34" charset="0"/>
                <a:ea typeface="Nunito Sans" pitchFamily="34" charset="-122"/>
                <a:cs typeface="Nunito Sans" pitchFamily="34" charset="-120"/>
              </a:rPr>
              <a:t>Si quien usa y quien paga son personas distintas, la casa tiene dos puertas: </a:t>
            </a:r>
            <a:r>
              <a:rPr lang="en-US" sz="1300" b="1" dirty="0">
                <a:solidFill>
                  <a:srgbClr val="F3F6FA"/>
                </a:solidFill>
                <a:latin typeface="Nunito Sans" pitchFamily="34" charset="0"/>
                <a:ea typeface="Nunito Sans" pitchFamily="34" charset="-122"/>
                <a:cs typeface="Nunito Sans" pitchFamily="34" charset="-120"/>
              </a:rPr>
              <a:t>dos clientes</a:t>
            </a:r>
            <a:r>
              <a:rPr lang="en-US" sz="1300" dirty="0">
                <a:solidFill>
                  <a:srgbClr val="F3F6FA"/>
                </a:solidFill>
                <a:latin typeface="Nunito Sans" pitchFamily="34" charset="0"/>
                <a:ea typeface="Nunito Sans" pitchFamily="34" charset="-122"/>
                <a:cs typeface="Nunito Sans" pitchFamily="34" charset="-120"/>
              </a:rPr>
              <a:t>, celeste y amarillo. Uber: pasajero y conductor.</a:t>
            </a:r>
            <a:endParaRPr lang="en-US" sz="1300" dirty="0"/>
          </a:p>
        </p:txBody>
      </p:sp>
      <p:sp>
        <p:nvSpPr>
          <p:cNvPr id="16" name="Shape 14"/>
          <p:cNvSpPr/>
          <p:nvPr/>
        </p:nvSpPr>
        <p:spPr>
          <a:xfrm>
            <a:off x="6184447" y="3708344"/>
            <a:ext cx="5191579" cy="1392691"/>
          </a:xfrm>
          <a:prstGeom prst="roundRect">
            <a:avLst>
              <a:gd name="adj" fmla="val 7067"/>
            </a:avLst>
          </a:prstGeom>
          <a:solidFill>
            <a:srgbClr val="FFF4DC"/>
          </a:solidFill>
          <a:ln w="6350">
            <a:solidFill>
              <a:srgbClr val="E8C877"/>
            </a:solidFill>
            <a:prstDash val="solid"/>
          </a:ln>
        </p:spPr>
      </p:sp>
      <p:sp>
        <p:nvSpPr>
          <p:cNvPr id="17" name="Text 15"/>
          <p:cNvSpPr/>
          <p:nvPr/>
        </p:nvSpPr>
        <p:spPr>
          <a:xfrm>
            <a:off x="6388100" y="3912000"/>
            <a:ext cx="4927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4B00"/>
                </a:solidFill>
                <a:latin typeface="Nunito Sans" pitchFamily="34" charset="0"/>
                <a:ea typeface="Nunito Sans" pitchFamily="34" charset="-122"/>
                <a:cs typeface="Nunito Sans" pitchFamily="34" charset="-120"/>
              </a:rPr>
              <a:t>Tres palabras prohibidas</a:t>
            </a:r>
            <a:endParaRPr lang="en-US" sz="1500" dirty="0"/>
          </a:p>
        </p:txBody>
      </p:sp>
      <p:sp>
        <p:nvSpPr>
          <p:cNvPr id="18" name="Text 16"/>
          <p:cNvSpPr/>
          <p:nvPr/>
        </p:nvSpPr>
        <p:spPr>
          <a:xfrm>
            <a:off x="6388100" y="4204100"/>
            <a:ext cx="4927800" cy="7186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2B00"/>
                </a:solidFill>
                <a:latin typeface="Nunito Sans" pitchFamily="34" charset="0"/>
                <a:ea typeface="Nunito Sans" pitchFamily="34" charset="-122"/>
                <a:cs typeface="Nunito Sans" pitchFamily="34" charset="-120"/>
              </a:rPr>
              <a:t>«Redes sociales», «alianzas» y «por definir». Nombren el grupo de Facebook, la institución concreta y el precio tentativo con su forma de cobro.</a:t>
            </a:r>
            <a:endParaRPr lang="en-US" sz="1300" dirty="0"/>
          </a:p>
        </p:txBody>
      </p:sp>
      <p:pic>
        <p:nvPicPr>
          <p:cNvPr id="19" name="Image 0" descr="Logo PUCE">    </p:cNvPr>
          <p:cNvPicPr>
            <a:picLocks noChangeAspect="1"/>
          </p:cNvPicPr>
          <p:nvPr/>
        </p:nvPicPr>
        <p:blipFill>
          <a:blip r:embed="rId1"/>
          <a:srcRect l="-436" r="-436" t="0" b="0"/>
          <a:stretch/>
        </p:blipFill>
        <p:spPr>
          <a:xfrm>
            <a:off x="812800" y="6184903"/>
            <a:ext cx="1016000" cy="279400"/>
          </a:xfrm>
          <a:prstGeom prst="rect">
            <a:avLst/>
          </a:prstGeom>
        </p:spPr>
      </p:pic>
      <p:sp>
        <p:nvSpPr>
          <p:cNvPr id="20" name="Text 17"/>
          <p:cNvSpPr/>
          <p:nvPr/>
        </p:nvSpPr>
        <p:spPr>
          <a:xfrm>
            <a:off x="8008847" y="621790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9474201" y="558800"/>
            <a:ext cx="360646" cy="781050"/>
          </a:xfrm>
          <a:prstGeom prst="roundRect">
            <a:avLst>
              <a:gd name="adj" fmla="val 7043"/>
            </a:avLst>
          </a:prstGeom>
          <a:solidFill>
            <a:srgbClr val="DCE3EA"/>
          </a:solidFill>
          <a:ln/>
        </p:spPr>
      </p:sp>
      <p:sp>
        <p:nvSpPr>
          <p:cNvPr id="3" name="Shape 1"/>
          <p:cNvSpPr/>
          <p:nvPr/>
        </p:nvSpPr>
        <p:spPr>
          <a:xfrm>
            <a:off x="9860246" y="558800"/>
            <a:ext cx="360703" cy="377825"/>
          </a:xfrm>
          <a:prstGeom prst="roundRect">
            <a:avLst>
              <a:gd name="adj" fmla="val 7042"/>
            </a:avLst>
          </a:prstGeom>
          <a:solidFill>
            <a:srgbClr val="DCE3EA"/>
          </a:solidFill>
          <a:ln/>
        </p:spPr>
      </p:sp>
      <p:sp>
        <p:nvSpPr>
          <p:cNvPr id="4" name="Shape 2"/>
          <p:cNvSpPr/>
          <p:nvPr/>
        </p:nvSpPr>
        <p:spPr>
          <a:xfrm>
            <a:off x="9860246" y="962025"/>
            <a:ext cx="360703" cy="377825"/>
          </a:xfrm>
          <a:prstGeom prst="roundRect">
            <a:avLst>
              <a:gd name="adj" fmla="val 7042"/>
            </a:avLst>
          </a:prstGeom>
          <a:solidFill>
            <a:srgbClr val="DCE3EA"/>
          </a:solidFill>
          <a:ln/>
        </p:spPr>
      </p:sp>
      <p:sp>
        <p:nvSpPr>
          <p:cNvPr id="5" name="Shape 3"/>
          <p:cNvSpPr/>
          <p:nvPr/>
        </p:nvSpPr>
        <p:spPr>
          <a:xfrm>
            <a:off x="10246349" y="558800"/>
            <a:ext cx="360646" cy="781050"/>
          </a:xfrm>
          <a:prstGeom prst="roundRect">
            <a:avLst>
              <a:gd name="adj" fmla="val 7043"/>
            </a:avLst>
          </a:prstGeom>
          <a:solidFill>
            <a:srgbClr val="DCE3EA"/>
          </a:solidFill>
          <a:ln/>
        </p:spPr>
      </p:sp>
      <p:sp>
        <p:nvSpPr>
          <p:cNvPr id="6" name="Shape 4"/>
          <p:cNvSpPr/>
          <p:nvPr/>
        </p:nvSpPr>
        <p:spPr>
          <a:xfrm>
            <a:off x="10632395" y="558800"/>
            <a:ext cx="360703" cy="377825"/>
          </a:xfrm>
          <a:prstGeom prst="roundRect">
            <a:avLst>
              <a:gd name="adj" fmla="val 7042"/>
            </a:avLst>
          </a:prstGeom>
          <a:solidFill>
            <a:srgbClr val="DCE3EA"/>
          </a:solidFill>
          <a:ln/>
        </p:spPr>
      </p:sp>
      <p:sp>
        <p:nvSpPr>
          <p:cNvPr id="7" name="Shape 5"/>
          <p:cNvSpPr/>
          <p:nvPr/>
        </p:nvSpPr>
        <p:spPr>
          <a:xfrm>
            <a:off x="10632395" y="962025"/>
            <a:ext cx="360703" cy="377825"/>
          </a:xfrm>
          <a:prstGeom prst="roundRect">
            <a:avLst>
              <a:gd name="adj" fmla="val 7042"/>
            </a:avLst>
          </a:prstGeom>
          <a:solidFill>
            <a:srgbClr val="DCE3EA"/>
          </a:solidFill>
          <a:ln/>
        </p:spPr>
      </p:sp>
      <p:sp>
        <p:nvSpPr>
          <p:cNvPr id="8" name="Shape 6"/>
          <p:cNvSpPr/>
          <p:nvPr/>
        </p:nvSpPr>
        <p:spPr>
          <a:xfrm>
            <a:off x="11018498" y="558800"/>
            <a:ext cx="360703" cy="781050"/>
          </a:xfrm>
          <a:prstGeom prst="roundRect">
            <a:avLst>
              <a:gd name="adj" fmla="val 7042"/>
            </a:avLst>
          </a:prstGeom>
          <a:solidFill>
            <a:srgbClr val="06B2B3"/>
          </a:solidFill>
          <a:ln/>
        </p:spPr>
      </p:sp>
      <p:sp>
        <p:nvSpPr>
          <p:cNvPr id="9" name="Shape 7"/>
          <p:cNvSpPr/>
          <p:nvPr/>
        </p:nvSpPr>
        <p:spPr>
          <a:xfrm>
            <a:off x="9474201" y="1365250"/>
            <a:ext cx="939800" cy="260350"/>
          </a:xfrm>
          <a:prstGeom prst="roundRect">
            <a:avLst>
              <a:gd name="adj" fmla="val 9756"/>
            </a:avLst>
          </a:prstGeom>
          <a:solidFill>
            <a:srgbClr val="DCE3EA"/>
          </a:solidFill>
          <a:ln/>
        </p:spPr>
      </p:sp>
      <p:sp>
        <p:nvSpPr>
          <p:cNvPr id="10" name="Shape 8"/>
          <p:cNvSpPr/>
          <p:nvPr/>
        </p:nvSpPr>
        <p:spPr>
          <a:xfrm>
            <a:off x="10439401" y="1365250"/>
            <a:ext cx="939800" cy="260350"/>
          </a:xfrm>
          <a:prstGeom prst="roundRect">
            <a:avLst>
              <a:gd name="adj" fmla="val 9756"/>
            </a:avLst>
          </a:prstGeom>
          <a:solidFill>
            <a:srgbClr val="DCE3EA"/>
          </a:solidFill>
          <a:ln/>
        </p:spPr>
      </p:sp>
      <p:sp>
        <p:nvSpPr>
          <p:cNvPr id="11" name="Text 9"/>
          <p:cNvSpPr/>
          <p:nvPr/>
        </p:nvSpPr>
        <p:spPr>
          <a:xfrm>
            <a:off x="812800" y="609600"/>
            <a:ext cx="8502650"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BLOQUE 1 DE 9 · LADO DEL CLIENTE</a:t>
            </a:r>
            <a:endParaRPr lang="en-US" sz="1200" dirty="0"/>
          </a:p>
        </p:txBody>
      </p:sp>
      <p:sp>
        <p:nvSpPr>
          <p:cNvPr id="12" name="Text 10"/>
          <p:cNvSpPr/>
          <p:nvPr>
            <p:ph type="title"/>
          </p:nvPr>
        </p:nvSpPr>
        <p:spPr>
          <a:xfrm>
            <a:off x="812800" y="886448"/>
            <a:ext cx="8502650"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Segmentos de clientes</a:t>
            </a:r>
            <a:endParaRPr lang="en-US" sz="2500" dirty="0"/>
          </a:p>
        </p:txBody>
      </p:sp>
      <p:sp>
        <p:nvSpPr>
          <p:cNvPr id="13" name="Shape 11"/>
          <p:cNvSpPr/>
          <p:nvPr/>
        </p:nvSpPr>
        <p:spPr>
          <a:xfrm>
            <a:off x="815975" y="1407148"/>
            <a:ext cx="5200650" cy="892402"/>
          </a:xfrm>
          <a:prstGeom prst="roundRect">
            <a:avLst>
              <a:gd name="adj" fmla="val 9606"/>
            </a:avLst>
          </a:prstGeom>
          <a:solidFill>
            <a:srgbClr val="FDFDFB"/>
          </a:solidFill>
          <a:ln w="6350">
            <a:solidFill>
              <a:srgbClr val="DCE3EA"/>
            </a:solidFill>
            <a:prstDash val="solid"/>
          </a:ln>
        </p:spPr>
      </p:sp>
      <p:sp>
        <p:nvSpPr>
          <p:cNvPr id="14" name="Text 12"/>
          <p:cNvSpPr/>
          <p:nvPr/>
        </p:nvSpPr>
        <p:spPr>
          <a:xfrm>
            <a:off x="981529" y="1521901"/>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Qué es · ¿Para quién creamos valor?</a:t>
            </a:r>
            <a:endParaRPr lang="en-US" sz="1300" dirty="0"/>
          </a:p>
        </p:txBody>
      </p:sp>
      <p:sp>
        <p:nvSpPr>
          <p:cNvPr id="15" name="Text 13"/>
          <p:cNvSpPr/>
          <p:nvPr/>
        </p:nvSpPr>
        <p:spPr>
          <a:xfrm>
            <a:off x="981529" y="1758097"/>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Los grupos concretos de personas u organizaciones a quienes servimos. Si quien usa no es quien paga, son dos segmentos.</a:t>
            </a:r>
            <a:endParaRPr lang="en-US" sz="1200" dirty="0"/>
          </a:p>
        </p:txBody>
      </p:sp>
      <p:sp>
        <p:nvSpPr>
          <p:cNvPr id="16" name="Shape 14"/>
          <p:cNvSpPr/>
          <p:nvPr/>
        </p:nvSpPr>
        <p:spPr>
          <a:xfrm>
            <a:off x="6175375" y="1407148"/>
            <a:ext cx="5200650" cy="892402"/>
          </a:xfrm>
          <a:prstGeom prst="roundRect">
            <a:avLst>
              <a:gd name="adj" fmla="val 9606"/>
            </a:avLst>
          </a:prstGeom>
          <a:solidFill>
            <a:srgbClr val="FDFDFB"/>
          </a:solidFill>
          <a:ln w="6350">
            <a:solidFill>
              <a:srgbClr val="DCE3EA"/>
            </a:solidFill>
            <a:prstDash val="solid"/>
          </a:ln>
        </p:spPr>
      </p:sp>
      <p:sp>
        <p:nvSpPr>
          <p:cNvPr id="17" name="Text 15"/>
          <p:cNvSpPr/>
          <p:nvPr/>
        </p:nvSpPr>
        <p:spPr>
          <a:xfrm>
            <a:off x="6340929" y="1521901"/>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Por qué va ahí</a:t>
            </a:r>
            <a:endParaRPr lang="en-US" sz="1300" dirty="0"/>
          </a:p>
        </p:txBody>
      </p:sp>
      <p:sp>
        <p:nvSpPr>
          <p:cNvPr id="18" name="Text 16"/>
          <p:cNvSpPr/>
          <p:nvPr/>
        </p:nvSpPr>
        <p:spPr>
          <a:xfrm>
            <a:off x="6340929" y="1758097"/>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Va a la derecha y se llena primero: la propuesta, los canales y el precio cambian según quién sea el cliente. Es el destinatario de la carta.</a:t>
            </a:r>
            <a:endParaRPr lang="en-US" sz="1200" dirty="0"/>
          </a:p>
        </p:txBody>
      </p:sp>
      <p:sp>
        <p:nvSpPr>
          <p:cNvPr id="19" name="Shape 17"/>
          <p:cNvSpPr/>
          <p:nvPr/>
        </p:nvSpPr>
        <p:spPr>
          <a:xfrm>
            <a:off x="812800" y="2455125"/>
            <a:ext cx="5207000" cy="1422343"/>
          </a:xfrm>
          <a:prstGeom prst="roundRect">
            <a:avLst>
              <a:gd name="adj" fmla="val 6250"/>
            </a:avLst>
          </a:prstGeom>
          <a:solidFill>
            <a:srgbClr val="E9F6EC"/>
          </a:solidFill>
          <a:ln/>
        </p:spPr>
      </p:sp>
      <p:sp>
        <p:nvSpPr>
          <p:cNvPr id="20" name="Shape 18"/>
          <p:cNvSpPr/>
          <p:nvPr/>
        </p:nvSpPr>
        <p:spPr>
          <a:xfrm>
            <a:off x="812800" y="2455125"/>
            <a:ext cx="5207000" cy="1422343"/>
          </a:xfrm>
          <a:custGeom>
            <a:avLst/>
            <a:gdLst/>
            <a:ahLst/>
            <a:cxnLst/>
            <a:rect l="l" t="t" r="r" b="b"/>
            <a:pathLst>
              <a:path w="5207000" h="1422343">
                <a:moveTo>
                  <a:pt x="88900" y="1422343"/>
                </a:moveTo>
                <a:lnTo>
                  <a:pt x="88900" y="1422343"/>
                </a:lnTo>
                <a:arcTo hR="88900" wR="88900" stAng="5400000" swAng="5400000"/>
                <a:lnTo>
                  <a:pt x="0" y="88900"/>
                </a:lnTo>
                <a:arcTo hR="88900" wR="88900" stAng="10800000" swAng="5400000"/>
                <a:lnTo>
                  <a:pt x="88900" y="0"/>
                </a:lnTo>
                <a:arcTo hR="88900" wR="38100" stAng="16200000" swAng="-5400000"/>
                <a:lnTo>
                  <a:pt x="50800" y="1333443"/>
                </a:lnTo>
                <a:arcTo hR="88900" wR="38100" stAng="10800000" swAng="-5400000"/>
                <a:close/>
              </a:path>
            </a:pathLst>
          </a:custGeom>
          <a:solidFill>
            <a:srgbClr val="2E7D44"/>
          </a:solidFill>
          <a:ln/>
        </p:spPr>
      </p:sp>
      <p:sp>
        <p:nvSpPr>
          <p:cNvPr id="21" name="Text 19"/>
          <p:cNvSpPr/>
          <p:nvPr/>
        </p:nvSpPr>
        <p:spPr>
          <a:xfrm>
            <a:off x="1028700" y="2582125"/>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4D29"/>
                </a:solidFill>
                <a:latin typeface="Nunito Sans" pitchFamily="34" charset="0"/>
                <a:ea typeface="Nunito Sans" pitchFamily="34" charset="-122"/>
                <a:cs typeface="Nunito Sans" pitchFamily="34" charset="-120"/>
              </a:rPr>
              <a:t>Así sí · Bocadoo</a:t>
            </a:r>
            <a:endParaRPr lang="en-US" sz="1400" dirty="0"/>
          </a:p>
        </p:txBody>
      </p:sp>
      <p:sp>
        <p:nvSpPr>
          <p:cNvPr id="22" name="Text 20"/>
          <p:cNvSpPr/>
          <p:nvPr/>
        </p:nvSpPr>
        <p:spPr>
          <a:xfrm>
            <a:off x="1028700" y="2846273"/>
            <a:ext cx="4970780" cy="452097"/>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1F3326"/>
                </a:solidFill>
                <a:latin typeface="Nunito Sans" pitchFamily="34" charset="0"/>
                <a:ea typeface="Nunito Sans" pitchFamily="34" charset="-122"/>
                <a:cs typeface="Nunito Sans" pitchFamily="34" charset="-120"/>
              </a:rPr>
              <a:t>«Dueños de restaurantes de almuerzo diario (4–10 mesas), zona PUCE/EPN.»</a:t>
            </a:r>
            <a:endParaRPr lang="en-US" sz="1200" dirty="0"/>
          </a:p>
        </p:txBody>
      </p:sp>
      <p:sp>
        <p:nvSpPr>
          <p:cNvPr id="23" name="Text 21"/>
          <p:cNvSpPr/>
          <p:nvPr/>
        </p:nvSpPr>
        <p:spPr>
          <a:xfrm>
            <a:off x="1028700" y="3323769"/>
            <a:ext cx="497078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D29"/>
                </a:solidFill>
                <a:latin typeface="Nunito Sans" pitchFamily="34" charset="0"/>
                <a:ea typeface="Nunito Sans" pitchFamily="34" charset="-122"/>
                <a:cs typeface="Nunito Sans" pitchFamily="34" charset="-120"/>
              </a:rPr>
              <a:t>Se puede contar, ubicar y visitar mañana.</a:t>
            </a:r>
            <a:endParaRPr lang="en-US" sz="1200" dirty="0"/>
          </a:p>
        </p:txBody>
      </p:sp>
      <p:sp>
        <p:nvSpPr>
          <p:cNvPr id="24" name="Shape 22"/>
          <p:cNvSpPr/>
          <p:nvPr/>
        </p:nvSpPr>
        <p:spPr>
          <a:xfrm>
            <a:off x="6172200" y="2455125"/>
            <a:ext cx="5207000" cy="1422343"/>
          </a:xfrm>
          <a:prstGeom prst="roundRect">
            <a:avLst>
              <a:gd name="adj" fmla="val 6250"/>
            </a:avLst>
          </a:prstGeom>
          <a:solidFill>
            <a:srgbClr val="FBEAEA"/>
          </a:solidFill>
          <a:ln/>
        </p:spPr>
      </p:sp>
      <p:sp>
        <p:nvSpPr>
          <p:cNvPr id="25" name="Shape 23"/>
          <p:cNvSpPr/>
          <p:nvPr/>
        </p:nvSpPr>
        <p:spPr>
          <a:xfrm>
            <a:off x="6172200" y="2455125"/>
            <a:ext cx="5207000" cy="1422343"/>
          </a:xfrm>
          <a:custGeom>
            <a:avLst/>
            <a:gdLst/>
            <a:ahLst/>
            <a:cxnLst/>
            <a:rect l="l" t="t" r="r" b="b"/>
            <a:pathLst>
              <a:path w="5207000" h="1422343">
                <a:moveTo>
                  <a:pt x="88900" y="1422343"/>
                </a:moveTo>
                <a:lnTo>
                  <a:pt x="88900" y="1422343"/>
                </a:lnTo>
                <a:arcTo hR="88900" wR="88900" stAng="5400000" swAng="5400000"/>
                <a:lnTo>
                  <a:pt x="0" y="88900"/>
                </a:lnTo>
                <a:arcTo hR="88900" wR="88900" stAng="10800000" swAng="5400000"/>
                <a:lnTo>
                  <a:pt x="88900" y="0"/>
                </a:lnTo>
                <a:arcTo hR="88900" wR="38100" stAng="16200000" swAng="-5400000"/>
                <a:lnTo>
                  <a:pt x="50800" y="1333443"/>
                </a:lnTo>
                <a:arcTo hR="88900" wR="38100" stAng="10800000" swAng="-5400000"/>
                <a:close/>
              </a:path>
            </a:pathLst>
          </a:custGeom>
          <a:solidFill>
            <a:srgbClr val="B23A3A"/>
          </a:solidFill>
          <a:ln/>
        </p:spPr>
      </p:sp>
      <p:sp>
        <p:nvSpPr>
          <p:cNvPr id="26" name="Text 24"/>
          <p:cNvSpPr/>
          <p:nvPr/>
        </p:nvSpPr>
        <p:spPr>
          <a:xfrm>
            <a:off x="6388100" y="2582125"/>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6E2020"/>
                </a:solidFill>
                <a:latin typeface="Nunito Sans" pitchFamily="34" charset="0"/>
                <a:ea typeface="Nunito Sans" pitchFamily="34" charset="-122"/>
                <a:cs typeface="Nunito Sans" pitchFamily="34" charset="-120"/>
              </a:rPr>
              <a:t>Así no · ECduLearn</a:t>
            </a:r>
            <a:endParaRPr lang="en-US" sz="1400" dirty="0"/>
          </a:p>
        </p:txBody>
      </p:sp>
      <p:sp>
        <p:nvSpPr>
          <p:cNvPr id="27" name="Text 25"/>
          <p:cNvSpPr/>
          <p:nvPr/>
        </p:nvSpPr>
        <p:spPr>
          <a:xfrm>
            <a:off x="6388100" y="2846273"/>
            <a:ext cx="4970780" cy="452097"/>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A1C1C"/>
                </a:solidFill>
                <a:latin typeface="Nunito Sans" pitchFamily="34" charset="0"/>
                <a:ea typeface="Nunito Sans" pitchFamily="34" charset="-122"/>
                <a:cs typeface="Nunito Sans" pitchFamily="34" charset="-120"/>
              </a:rPr>
              <a:t>Lámina 2: docentes y estudiantes. Canvas: «Colegios particulares (rectores y directivos)». Lienzo: el docente.</a:t>
            </a:r>
            <a:endParaRPr lang="en-US" sz="1200" dirty="0"/>
          </a:p>
        </p:txBody>
      </p:sp>
      <p:sp>
        <p:nvSpPr>
          <p:cNvPr id="28" name="Text 26"/>
          <p:cNvSpPr/>
          <p:nvPr/>
        </p:nvSpPr>
        <p:spPr>
          <a:xfrm>
            <a:off x="6388100" y="3323769"/>
            <a:ext cx="4970780" cy="45209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2020"/>
                </a:solidFill>
                <a:latin typeface="Nunito Sans" pitchFamily="34" charset="0"/>
                <a:ea typeface="Nunito Sans" pitchFamily="34" charset="-122"/>
                <a:cs typeface="Nunito Sans" pitchFamily="34" charset="-120"/>
              </a:rPr>
              <a:t>Corrección:</a:t>
            </a:r>
            <a:r>
              <a:rPr lang="en-US" sz="1200" dirty="0">
                <a:solidFill>
                  <a:srgbClr val="6E2020"/>
                </a:solidFill>
                <a:latin typeface="Nunito Sans" pitchFamily="34" charset="0"/>
                <a:ea typeface="Nunito Sans" pitchFamily="34" charset="-122"/>
                <a:cs typeface="Nunito Sans" pitchFamily="34" charset="-120"/>
              </a:rPr>
              <a:t> Elegir un cliente 1 y repetirlo idéntico en las láminas 3, 6 y 7.</a:t>
            </a:r>
            <a:endParaRPr lang="en-US" sz="1200" dirty="0"/>
          </a:p>
        </p:txBody>
      </p:sp>
      <p:sp>
        <p:nvSpPr>
          <p:cNvPr id="29" name="Text 27"/>
          <p:cNvSpPr/>
          <p:nvPr/>
        </p:nvSpPr>
        <p:spPr>
          <a:xfrm>
            <a:off x="812800" y="4029869"/>
            <a:ext cx="10566401" cy="493996"/>
          </a:xfrm>
          <a:prstGeom prst="roundRect">
            <a:avLst>
              <a:gd name="adj" fmla="val 17996"/>
            </a:avLst>
          </a:prstGeom>
          <a:solidFill>
            <a:srgbClr val="173E78"/>
          </a:solidFill>
          <a:ln/>
        </p:spPr>
        <p:txBody>
          <a:bodyPr wrap="square" lIns="164462" tIns="100962" rIns="0" bIns="75562" rtlCol="0" anchor="t">
            <a:normAutofit/>
          </a:bodyPr>
          <a:lstStyle/>
          <a:p>
            <a:pPr algn="l" indent="0" marL="0">
              <a:lnSpc>
                <a:spcPts val="1890"/>
              </a:lnSpc>
              <a:buNone/>
            </a:pPr>
            <a:r>
              <a:rPr lang="en-US" sz="1400" b="1" dirty="0">
                <a:solidFill>
                  <a:srgbClr val="F3F6FA"/>
                </a:solidFill>
                <a:latin typeface="Nunito Sans" pitchFamily="34" charset="0"/>
                <a:ea typeface="Nunito Sans" pitchFamily="34" charset="-122"/>
                <a:cs typeface="Nunito Sans" pitchFamily="34" charset="-120"/>
              </a:rPr>
              <a:t>Pregunta para la clase:</a:t>
            </a:r>
            <a:r>
              <a:rPr lang="en-US" sz="1400" dirty="0">
                <a:solidFill>
                  <a:srgbClr val="F3F6FA"/>
                </a:solidFill>
                <a:latin typeface="Nunito Sans" pitchFamily="34" charset="0"/>
                <a:ea typeface="Nunito Sans" pitchFamily="34" charset="-122"/>
                <a:cs typeface="Nunito Sans" pitchFamily="34" charset="-120"/>
              </a:rPr>
              <a:t> ¿Podrían hablar mañana con 5 personas de su segmento? ¿Dónde las encuentran?</a:t>
            </a:r>
            <a:endParaRPr lang="en-US" sz="1400" dirty="0"/>
          </a:p>
        </p:txBody>
      </p:sp>
      <p:pic>
        <p:nvPicPr>
          <p:cNvPr id="30"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31" name="Text 28"/>
          <p:cNvSpPr/>
          <p:nvPr/>
        </p:nvSpPr>
        <p:spPr>
          <a:xfrm>
            <a:off x="8008847" y="6217896"/>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9474201" y="558800"/>
            <a:ext cx="360646" cy="781050"/>
          </a:xfrm>
          <a:prstGeom prst="roundRect">
            <a:avLst>
              <a:gd name="adj" fmla="val 7043"/>
            </a:avLst>
          </a:prstGeom>
          <a:solidFill>
            <a:srgbClr val="DCE3EA"/>
          </a:solidFill>
          <a:ln/>
        </p:spPr>
      </p:sp>
      <p:sp>
        <p:nvSpPr>
          <p:cNvPr id="3" name="Shape 1"/>
          <p:cNvSpPr/>
          <p:nvPr/>
        </p:nvSpPr>
        <p:spPr>
          <a:xfrm>
            <a:off x="9860246" y="558800"/>
            <a:ext cx="360703" cy="377825"/>
          </a:xfrm>
          <a:prstGeom prst="roundRect">
            <a:avLst>
              <a:gd name="adj" fmla="val 7042"/>
            </a:avLst>
          </a:prstGeom>
          <a:solidFill>
            <a:srgbClr val="DCE3EA"/>
          </a:solidFill>
          <a:ln/>
        </p:spPr>
      </p:sp>
      <p:sp>
        <p:nvSpPr>
          <p:cNvPr id="4" name="Shape 2"/>
          <p:cNvSpPr/>
          <p:nvPr/>
        </p:nvSpPr>
        <p:spPr>
          <a:xfrm>
            <a:off x="9860246" y="962025"/>
            <a:ext cx="360703" cy="377825"/>
          </a:xfrm>
          <a:prstGeom prst="roundRect">
            <a:avLst>
              <a:gd name="adj" fmla="val 7042"/>
            </a:avLst>
          </a:prstGeom>
          <a:solidFill>
            <a:srgbClr val="DCE3EA"/>
          </a:solidFill>
          <a:ln/>
        </p:spPr>
      </p:sp>
      <p:sp>
        <p:nvSpPr>
          <p:cNvPr id="5" name="Shape 3"/>
          <p:cNvSpPr/>
          <p:nvPr/>
        </p:nvSpPr>
        <p:spPr>
          <a:xfrm>
            <a:off x="10246349" y="558800"/>
            <a:ext cx="360646" cy="781050"/>
          </a:xfrm>
          <a:prstGeom prst="roundRect">
            <a:avLst>
              <a:gd name="adj" fmla="val 7043"/>
            </a:avLst>
          </a:prstGeom>
          <a:solidFill>
            <a:srgbClr val="06B2B3"/>
          </a:solidFill>
          <a:ln/>
        </p:spPr>
      </p:sp>
      <p:sp>
        <p:nvSpPr>
          <p:cNvPr id="6" name="Shape 4"/>
          <p:cNvSpPr/>
          <p:nvPr/>
        </p:nvSpPr>
        <p:spPr>
          <a:xfrm>
            <a:off x="10632395" y="558800"/>
            <a:ext cx="360703" cy="377825"/>
          </a:xfrm>
          <a:prstGeom prst="roundRect">
            <a:avLst>
              <a:gd name="adj" fmla="val 7042"/>
            </a:avLst>
          </a:prstGeom>
          <a:solidFill>
            <a:srgbClr val="DCE3EA"/>
          </a:solidFill>
          <a:ln/>
        </p:spPr>
      </p:sp>
      <p:sp>
        <p:nvSpPr>
          <p:cNvPr id="7" name="Shape 5"/>
          <p:cNvSpPr/>
          <p:nvPr/>
        </p:nvSpPr>
        <p:spPr>
          <a:xfrm>
            <a:off x="10632395" y="962025"/>
            <a:ext cx="360703" cy="377825"/>
          </a:xfrm>
          <a:prstGeom prst="roundRect">
            <a:avLst>
              <a:gd name="adj" fmla="val 7042"/>
            </a:avLst>
          </a:prstGeom>
          <a:solidFill>
            <a:srgbClr val="DCE3EA"/>
          </a:solidFill>
          <a:ln/>
        </p:spPr>
      </p:sp>
      <p:sp>
        <p:nvSpPr>
          <p:cNvPr id="8" name="Shape 6"/>
          <p:cNvSpPr/>
          <p:nvPr/>
        </p:nvSpPr>
        <p:spPr>
          <a:xfrm>
            <a:off x="11018498" y="558800"/>
            <a:ext cx="360703" cy="781050"/>
          </a:xfrm>
          <a:prstGeom prst="roundRect">
            <a:avLst>
              <a:gd name="adj" fmla="val 7042"/>
            </a:avLst>
          </a:prstGeom>
          <a:solidFill>
            <a:srgbClr val="DCE3EA"/>
          </a:solidFill>
          <a:ln/>
        </p:spPr>
      </p:sp>
      <p:sp>
        <p:nvSpPr>
          <p:cNvPr id="9" name="Shape 7"/>
          <p:cNvSpPr/>
          <p:nvPr/>
        </p:nvSpPr>
        <p:spPr>
          <a:xfrm>
            <a:off x="9474201" y="1365250"/>
            <a:ext cx="939800" cy="260350"/>
          </a:xfrm>
          <a:prstGeom prst="roundRect">
            <a:avLst>
              <a:gd name="adj" fmla="val 9756"/>
            </a:avLst>
          </a:prstGeom>
          <a:solidFill>
            <a:srgbClr val="DCE3EA"/>
          </a:solidFill>
          <a:ln/>
        </p:spPr>
      </p:sp>
      <p:sp>
        <p:nvSpPr>
          <p:cNvPr id="10" name="Shape 8"/>
          <p:cNvSpPr/>
          <p:nvPr/>
        </p:nvSpPr>
        <p:spPr>
          <a:xfrm>
            <a:off x="10439401" y="1365250"/>
            <a:ext cx="939800" cy="260350"/>
          </a:xfrm>
          <a:prstGeom prst="roundRect">
            <a:avLst>
              <a:gd name="adj" fmla="val 9756"/>
            </a:avLst>
          </a:prstGeom>
          <a:solidFill>
            <a:srgbClr val="DCE3EA"/>
          </a:solidFill>
          <a:ln/>
        </p:spPr>
      </p:sp>
      <p:sp>
        <p:nvSpPr>
          <p:cNvPr id="11" name="Text 9"/>
          <p:cNvSpPr/>
          <p:nvPr/>
        </p:nvSpPr>
        <p:spPr>
          <a:xfrm>
            <a:off x="812800" y="609600"/>
            <a:ext cx="8502650"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BLOQUE 2 DE 9 · CENTRO</a:t>
            </a:r>
            <a:endParaRPr lang="en-US" sz="1200" dirty="0"/>
          </a:p>
        </p:txBody>
      </p:sp>
      <p:sp>
        <p:nvSpPr>
          <p:cNvPr id="12" name="Text 10"/>
          <p:cNvSpPr/>
          <p:nvPr>
            <p:ph type="title"/>
          </p:nvPr>
        </p:nvSpPr>
        <p:spPr>
          <a:xfrm>
            <a:off x="812800" y="886448"/>
            <a:ext cx="8502650"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Propuesta de valor</a:t>
            </a:r>
            <a:endParaRPr lang="en-US" sz="2500" dirty="0"/>
          </a:p>
        </p:txBody>
      </p:sp>
      <p:sp>
        <p:nvSpPr>
          <p:cNvPr id="13" name="Shape 11"/>
          <p:cNvSpPr/>
          <p:nvPr/>
        </p:nvSpPr>
        <p:spPr>
          <a:xfrm>
            <a:off x="815975" y="1407148"/>
            <a:ext cx="5200650" cy="892402"/>
          </a:xfrm>
          <a:prstGeom prst="roundRect">
            <a:avLst>
              <a:gd name="adj" fmla="val 9606"/>
            </a:avLst>
          </a:prstGeom>
          <a:solidFill>
            <a:srgbClr val="FDFDFB"/>
          </a:solidFill>
          <a:ln w="6350">
            <a:solidFill>
              <a:srgbClr val="DCE3EA"/>
            </a:solidFill>
            <a:prstDash val="solid"/>
          </a:ln>
        </p:spPr>
      </p:sp>
      <p:sp>
        <p:nvSpPr>
          <p:cNvPr id="14" name="Text 12"/>
          <p:cNvSpPr/>
          <p:nvPr/>
        </p:nvSpPr>
        <p:spPr>
          <a:xfrm>
            <a:off x="981529" y="1521901"/>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Qué es · ¿Qué problema resolvemos y por qué nos eligen?</a:t>
            </a:r>
            <a:endParaRPr lang="en-US" sz="1300" dirty="0"/>
          </a:p>
        </p:txBody>
      </p:sp>
      <p:sp>
        <p:nvSpPr>
          <p:cNvPr id="15" name="Text 13"/>
          <p:cNvSpPr/>
          <p:nvPr/>
        </p:nvSpPr>
        <p:spPr>
          <a:xfrm>
            <a:off x="981529" y="1758097"/>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El beneficio que recibe el cliente, comparado con lo que usa hoy, en una frase que él entendería.</a:t>
            </a:r>
            <a:endParaRPr lang="en-US" sz="1200" dirty="0"/>
          </a:p>
        </p:txBody>
      </p:sp>
      <p:sp>
        <p:nvSpPr>
          <p:cNvPr id="16" name="Shape 14"/>
          <p:cNvSpPr/>
          <p:nvPr/>
        </p:nvSpPr>
        <p:spPr>
          <a:xfrm>
            <a:off x="6175375" y="1407148"/>
            <a:ext cx="5200650" cy="892402"/>
          </a:xfrm>
          <a:prstGeom prst="roundRect">
            <a:avLst>
              <a:gd name="adj" fmla="val 9606"/>
            </a:avLst>
          </a:prstGeom>
          <a:solidFill>
            <a:srgbClr val="FDFDFB"/>
          </a:solidFill>
          <a:ln w="6350">
            <a:solidFill>
              <a:srgbClr val="DCE3EA"/>
            </a:solidFill>
            <a:prstDash val="solid"/>
          </a:ln>
        </p:spPr>
      </p:sp>
      <p:sp>
        <p:nvSpPr>
          <p:cNvPr id="17" name="Text 15"/>
          <p:cNvSpPr/>
          <p:nvPr/>
        </p:nvSpPr>
        <p:spPr>
          <a:xfrm>
            <a:off x="6340929" y="1521901"/>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Por qué va ahí</a:t>
            </a:r>
            <a:endParaRPr lang="en-US" sz="1300" dirty="0"/>
          </a:p>
        </p:txBody>
      </p:sp>
      <p:sp>
        <p:nvSpPr>
          <p:cNvPr id="18" name="Text 16"/>
          <p:cNvSpPr/>
          <p:nvPr/>
        </p:nvSpPr>
        <p:spPr>
          <a:xfrm>
            <a:off x="6340929" y="1758097"/>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Va al centro porque une al cliente (derecha) con la operación (izquierda). Es la promesa escrita en la vitrina.</a:t>
            </a:r>
            <a:endParaRPr lang="en-US" sz="1200" dirty="0"/>
          </a:p>
        </p:txBody>
      </p:sp>
      <p:sp>
        <p:nvSpPr>
          <p:cNvPr id="19" name="Shape 17"/>
          <p:cNvSpPr/>
          <p:nvPr/>
        </p:nvSpPr>
        <p:spPr>
          <a:xfrm>
            <a:off x="812800" y="2455125"/>
            <a:ext cx="5207000" cy="1422343"/>
          </a:xfrm>
          <a:prstGeom prst="roundRect">
            <a:avLst>
              <a:gd name="adj" fmla="val 6250"/>
            </a:avLst>
          </a:prstGeom>
          <a:solidFill>
            <a:srgbClr val="E9F6EC"/>
          </a:solidFill>
          <a:ln/>
        </p:spPr>
      </p:sp>
      <p:sp>
        <p:nvSpPr>
          <p:cNvPr id="20" name="Shape 18"/>
          <p:cNvSpPr/>
          <p:nvPr/>
        </p:nvSpPr>
        <p:spPr>
          <a:xfrm>
            <a:off x="812800" y="2455125"/>
            <a:ext cx="5207000" cy="1422343"/>
          </a:xfrm>
          <a:custGeom>
            <a:avLst/>
            <a:gdLst/>
            <a:ahLst/>
            <a:cxnLst/>
            <a:rect l="l" t="t" r="r" b="b"/>
            <a:pathLst>
              <a:path w="5207000" h="1422343">
                <a:moveTo>
                  <a:pt x="88900" y="1422343"/>
                </a:moveTo>
                <a:lnTo>
                  <a:pt x="88900" y="1422343"/>
                </a:lnTo>
                <a:arcTo hR="88900" wR="88900" stAng="5400000" swAng="5400000"/>
                <a:lnTo>
                  <a:pt x="0" y="88900"/>
                </a:lnTo>
                <a:arcTo hR="88900" wR="88900" stAng="10800000" swAng="5400000"/>
                <a:lnTo>
                  <a:pt x="88900" y="0"/>
                </a:lnTo>
                <a:arcTo hR="88900" wR="38100" stAng="16200000" swAng="-5400000"/>
                <a:lnTo>
                  <a:pt x="50800" y="1333443"/>
                </a:lnTo>
                <a:arcTo hR="88900" wR="38100" stAng="10800000" swAng="-5400000"/>
                <a:close/>
              </a:path>
            </a:pathLst>
          </a:custGeom>
          <a:solidFill>
            <a:srgbClr val="2E7D44"/>
          </a:solidFill>
          <a:ln/>
        </p:spPr>
      </p:sp>
      <p:sp>
        <p:nvSpPr>
          <p:cNvPr id="21" name="Text 19"/>
          <p:cNvSpPr/>
          <p:nvPr/>
        </p:nvSpPr>
        <p:spPr>
          <a:xfrm>
            <a:off x="1028700" y="2582125"/>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4D29"/>
                </a:solidFill>
                <a:latin typeface="Nunito Sans" pitchFamily="34" charset="0"/>
                <a:ea typeface="Nunito Sans" pitchFamily="34" charset="-122"/>
                <a:cs typeface="Nunito Sans" pitchFamily="34" charset="-120"/>
              </a:rPr>
              <a:t>Así sí · TransporteSeguro</a:t>
            </a:r>
            <a:endParaRPr lang="en-US" sz="1400" dirty="0"/>
          </a:p>
        </p:txBody>
      </p:sp>
      <p:sp>
        <p:nvSpPr>
          <p:cNvPr id="22" name="Text 20"/>
          <p:cNvSpPr/>
          <p:nvPr/>
        </p:nvSpPr>
        <p:spPr>
          <a:xfrm>
            <a:off x="1028700" y="2846273"/>
            <a:ext cx="4970780" cy="452097"/>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1F3326"/>
                </a:solidFill>
                <a:latin typeface="Nunito Sans" pitchFamily="34" charset="0"/>
                <a:ea typeface="Nunito Sans" pitchFamily="34" charset="-122"/>
                <a:cs typeface="Nunito Sans" pitchFamily="34" charset="-120"/>
              </a:rPr>
              <a:t>«Saber que su hijo llegó bien sin parar el trabajo para llamar o escribir.»</a:t>
            </a:r>
            <a:endParaRPr lang="en-US" sz="1200" dirty="0"/>
          </a:p>
        </p:txBody>
      </p:sp>
      <p:sp>
        <p:nvSpPr>
          <p:cNvPr id="23" name="Text 21"/>
          <p:cNvSpPr/>
          <p:nvPr/>
        </p:nvSpPr>
        <p:spPr>
          <a:xfrm>
            <a:off x="1028700" y="3323769"/>
            <a:ext cx="497078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D29"/>
                </a:solidFill>
                <a:latin typeface="Nunito Sans" pitchFamily="34" charset="0"/>
                <a:ea typeface="Nunito Sans" pitchFamily="34" charset="-122"/>
                <a:cs typeface="Nunito Sans" pitchFamily="34" charset="-120"/>
              </a:rPr>
              <a:t>Habla con las palabras del padre, no de la tecnología.</a:t>
            </a:r>
            <a:endParaRPr lang="en-US" sz="1200" dirty="0"/>
          </a:p>
        </p:txBody>
      </p:sp>
      <p:sp>
        <p:nvSpPr>
          <p:cNvPr id="24" name="Shape 22"/>
          <p:cNvSpPr/>
          <p:nvPr/>
        </p:nvSpPr>
        <p:spPr>
          <a:xfrm>
            <a:off x="6172200" y="2455125"/>
            <a:ext cx="5207000" cy="1422343"/>
          </a:xfrm>
          <a:prstGeom prst="roundRect">
            <a:avLst>
              <a:gd name="adj" fmla="val 6250"/>
            </a:avLst>
          </a:prstGeom>
          <a:solidFill>
            <a:srgbClr val="FBEAEA"/>
          </a:solidFill>
          <a:ln/>
        </p:spPr>
      </p:sp>
      <p:sp>
        <p:nvSpPr>
          <p:cNvPr id="25" name="Shape 23"/>
          <p:cNvSpPr/>
          <p:nvPr/>
        </p:nvSpPr>
        <p:spPr>
          <a:xfrm>
            <a:off x="6172200" y="2455125"/>
            <a:ext cx="5207000" cy="1422343"/>
          </a:xfrm>
          <a:custGeom>
            <a:avLst/>
            <a:gdLst/>
            <a:ahLst/>
            <a:cxnLst/>
            <a:rect l="l" t="t" r="r" b="b"/>
            <a:pathLst>
              <a:path w="5207000" h="1422343">
                <a:moveTo>
                  <a:pt x="88900" y="1422343"/>
                </a:moveTo>
                <a:lnTo>
                  <a:pt x="88900" y="1422343"/>
                </a:lnTo>
                <a:arcTo hR="88900" wR="88900" stAng="5400000" swAng="5400000"/>
                <a:lnTo>
                  <a:pt x="0" y="88900"/>
                </a:lnTo>
                <a:arcTo hR="88900" wR="88900" stAng="10800000" swAng="5400000"/>
                <a:lnTo>
                  <a:pt x="88900" y="0"/>
                </a:lnTo>
                <a:arcTo hR="88900" wR="38100" stAng="16200000" swAng="-5400000"/>
                <a:lnTo>
                  <a:pt x="50800" y="1333443"/>
                </a:lnTo>
                <a:arcTo hR="88900" wR="38100" stAng="10800000" swAng="-5400000"/>
                <a:close/>
              </a:path>
            </a:pathLst>
          </a:custGeom>
          <a:solidFill>
            <a:srgbClr val="B23A3A"/>
          </a:solidFill>
          <a:ln/>
        </p:spPr>
      </p:sp>
      <p:sp>
        <p:nvSpPr>
          <p:cNvPr id="26" name="Text 24"/>
          <p:cNvSpPr/>
          <p:nvPr/>
        </p:nvSpPr>
        <p:spPr>
          <a:xfrm>
            <a:off x="6388100" y="2582125"/>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6E2020"/>
                </a:solidFill>
                <a:latin typeface="Nunito Sans" pitchFamily="34" charset="0"/>
                <a:ea typeface="Nunito Sans" pitchFamily="34" charset="-122"/>
                <a:cs typeface="Nunito Sans" pitchFamily="34" charset="-120"/>
              </a:rPr>
              <a:t>Así no · JOBM Tech</a:t>
            </a:r>
            <a:endParaRPr lang="en-US" sz="1400" dirty="0"/>
          </a:p>
        </p:txBody>
      </p:sp>
      <p:sp>
        <p:nvSpPr>
          <p:cNvPr id="27" name="Text 25"/>
          <p:cNvSpPr/>
          <p:nvPr/>
        </p:nvSpPr>
        <p:spPr>
          <a:xfrm>
            <a:off x="6388100" y="2846273"/>
            <a:ext cx="4970780" cy="238749"/>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A1C1C"/>
                </a:solidFill>
                <a:latin typeface="Nunito Sans" pitchFamily="34" charset="0"/>
                <a:ea typeface="Nunito Sans" pitchFamily="34" charset="-122"/>
                <a:cs typeface="Nunito Sans" pitchFamily="34" charset="-120"/>
              </a:rPr>
              <a:t>«guía clara y rápida para resolver ejercicios exactos»</a:t>
            </a:r>
            <a:endParaRPr lang="en-US" sz="1200" dirty="0"/>
          </a:p>
        </p:txBody>
      </p:sp>
      <p:sp>
        <p:nvSpPr>
          <p:cNvPr id="28" name="Text 26"/>
          <p:cNvSpPr/>
          <p:nvPr/>
        </p:nvSpPr>
        <p:spPr>
          <a:xfrm>
            <a:off x="6388100" y="3110421"/>
            <a:ext cx="4970780" cy="665446"/>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2020"/>
                </a:solidFill>
                <a:latin typeface="Nunito Sans" pitchFamily="34" charset="0"/>
                <a:ea typeface="Nunito Sans" pitchFamily="34" charset="-122"/>
                <a:cs typeface="Nunito Sans" pitchFamily="34" charset="-120"/>
              </a:rPr>
              <a:t>Corrección:</a:t>
            </a:r>
            <a:r>
              <a:rPr lang="en-US" sz="1200" dirty="0">
                <a:solidFill>
                  <a:srgbClr val="6E2020"/>
                </a:solidFill>
                <a:latin typeface="Nunito Sans" pitchFamily="34" charset="0"/>
                <a:ea typeface="Nunito Sans" pitchFamily="34" charset="-122"/>
                <a:cs typeface="Nunito Sans" pitchFamily="34" charset="-120"/>
              </a:rPr>
              <a:t> Cualquiera la promete, hasta YouTube. «Un tutor universitario te manda en la tarde un audio de 90 s con el primer paso de tu ejercicio».</a:t>
            </a:r>
            <a:endParaRPr lang="en-US" sz="1200" dirty="0"/>
          </a:p>
        </p:txBody>
      </p:sp>
      <p:sp>
        <p:nvSpPr>
          <p:cNvPr id="29" name="Text 27"/>
          <p:cNvSpPr/>
          <p:nvPr/>
        </p:nvSpPr>
        <p:spPr>
          <a:xfrm>
            <a:off x="812800" y="4029866"/>
            <a:ext cx="10566401" cy="493996"/>
          </a:xfrm>
          <a:prstGeom prst="roundRect">
            <a:avLst>
              <a:gd name="adj" fmla="val 17996"/>
            </a:avLst>
          </a:prstGeom>
          <a:solidFill>
            <a:srgbClr val="173E78"/>
          </a:solidFill>
          <a:ln/>
        </p:spPr>
        <p:txBody>
          <a:bodyPr wrap="square" lIns="164462" tIns="100962" rIns="0" bIns="75562" rtlCol="0" anchor="t">
            <a:normAutofit/>
          </a:bodyPr>
          <a:lstStyle/>
          <a:p>
            <a:pPr algn="l" indent="0" marL="0">
              <a:lnSpc>
                <a:spcPts val="1890"/>
              </a:lnSpc>
              <a:buNone/>
            </a:pPr>
            <a:r>
              <a:rPr lang="en-US" sz="1400" b="1" dirty="0">
                <a:solidFill>
                  <a:srgbClr val="F3F6FA"/>
                </a:solidFill>
                <a:latin typeface="Nunito Sans" pitchFamily="34" charset="0"/>
                <a:ea typeface="Nunito Sans" pitchFamily="34" charset="-122"/>
                <a:cs typeface="Nunito Sans" pitchFamily="34" charset="-120"/>
              </a:rPr>
              <a:t>Pregunta para la clase:</a:t>
            </a:r>
            <a:r>
              <a:rPr lang="en-US" sz="1400" dirty="0">
                <a:solidFill>
                  <a:srgbClr val="F3F6FA"/>
                </a:solidFill>
                <a:latin typeface="Nunito Sans" pitchFamily="34" charset="0"/>
                <a:ea typeface="Nunito Sans" pitchFamily="34" charset="-122"/>
                <a:cs typeface="Nunito Sans" pitchFamily="34" charset="-120"/>
              </a:rPr>
              <a:t> Si quitan el nombre de su app, ¿la frase podría ser de su competidor?</a:t>
            </a:r>
            <a:endParaRPr lang="en-US" sz="1400" dirty="0"/>
          </a:p>
        </p:txBody>
      </p:sp>
      <p:pic>
        <p:nvPicPr>
          <p:cNvPr id="30" name="Image 0" descr="Logo PUCE">    </p:cNvPr>
          <p:cNvPicPr>
            <a:picLocks noChangeAspect="1"/>
          </p:cNvPicPr>
          <p:nvPr/>
        </p:nvPicPr>
        <p:blipFill>
          <a:blip r:embed="rId1"/>
          <a:srcRect l="-436" r="-436" t="0" b="0"/>
          <a:stretch/>
        </p:blipFill>
        <p:spPr>
          <a:xfrm>
            <a:off x="812800" y="6184897"/>
            <a:ext cx="1016000" cy="279400"/>
          </a:xfrm>
          <a:prstGeom prst="rect">
            <a:avLst/>
          </a:prstGeom>
        </p:spPr>
      </p:pic>
      <p:sp>
        <p:nvSpPr>
          <p:cNvPr id="31" name="Text 28"/>
          <p:cNvSpPr/>
          <p:nvPr/>
        </p:nvSpPr>
        <p:spPr>
          <a:xfrm>
            <a:off x="8008847" y="621790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9474201" y="558800"/>
            <a:ext cx="360646" cy="781050"/>
          </a:xfrm>
          <a:prstGeom prst="roundRect">
            <a:avLst>
              <a:gd name="adj" fmla="val 7043"/>
            </a:avLst>
          </a:prstGeom>
          <a:solidFill>
            <a:srgbClr val="DCE3EA"/>
          </a:solidFill>
          <a:ln/>
        </p:spPr>
      </p:sp>
      <p:sp>
        <p:nvSpPr>
          <p:cNvPr id="3" name="Shape 1"/>
          <p:cNvSpPr/>
          <p:nvPr/>
        </p:nvSpPr>
        <p:spPr>
          <a:xfrm>
            <a:off x="9860246" y="558800"/>
            <a:ext cx="360703" cy="377825"/>
          </a:xfrm>
          <a:prstGeom prst="roundRect">
            <a:avLst>
              <a:gd name="adj" fmla="val 7042"/>
            </a:avLst>
          </a:prstGeom>
          <a:solidFill>
            <a:srgbClr val="DCE3EA"/>
          </a:solidFill>
          <a:ln/>
        </p:spPr>
      </p:sp>
      <p:sp>
        <p:nvSpPr>
          <p:cNvPr id="4" name="Shape 2"/>
          <p:cNvSpPr/>
          <p:nvPr/>
        </p:nvSpPr>
        <p:spPr>
          <a:xfrm>
            <a:off x="9860246" y="962025"/>
            <a:ext cx="360703" cy="377825"/>
          </a:xfrm>
          <a:prstGeom prst="roundRect">
            <a:avLst>
              <a:gd name="adj" fmla="val 7042"/>
            </a:avLst>
          </a:prstGeom>
          <a:solidFill>
            <a:srgbClr val="DCE3EA"/>
          </a:solidFill>
          <a:ln/>
        </p:spPr>
      </p:sp>
      <p:sp>
        <p:nvSpPr>
          <p:cNvPr id="5" name="Shape 3"/>
          <p:cNvSpPr/>
          <p:nvPr/>
        </p:nvSpPr>
        <p:spPr>
          <a:xfrm>
            <a:off x="10246349" y="558800"/>
            <a:ext cx="360646" cy="781050"/>
          </a:xfrm>
          <a:prstGeom prst="roundRect">
            <a:avLst>
              <a:gd name="adj" fmla="val 7043"/>
            </a:avLst>
          </a:prstGeom>
          <a:solidFill>
            <a:srgbClr val="DCE3EA"/>
          </a:solidFill>
          <a:ln/>
        </p:spPr>
      </p:sp>
      <p:sp>
        <p:nvSpPr>
          <p:cNvPr id="6" name="Shape 4"/>
          <p:cNvSpPr/>
          <p:nvPr/>
        </p:nvSpPr>
        <p:spPr>
          <a:xfrm>
            <a:off x="10632395" y="558800"/>
            <a:ext cx="360703" cy="377825"/>
          </a:xfrm>
          <a:prstGeom prst="roundRect">
            <a:avLst>
              <a:gd name="adj" fmla="val 7042"/>
            </a:avLst>
          </a:prstGeom>
          <a:solidFill>
            <a:srgbClr val="DCE3EA"/>
          </a:solidFill>
          <a:ln/>
        </p:spPr>
      </p:sp>
      <p:sp>
        <p:nvSpPr>
          <p:cNvPr id="7" name="Shape 5"/>
          <p:cNvSpPr/>
          <p:nvPr/>
        </p:nvSpPr>
        <p:spPr>
          <a:xfrm>
            <a:off x="10632395" y="962025"/>
            <a:ext cx="360703" cy="377825"/>
          </a:xfrm>
          <a:prstGeom prst="roundRect">
            <a:avLst>
              <a:gd name="adj" fmla="val 7042"/>
            </a:avLst>
          </a:prstGeom>
          <a:solidFill>
            <a:srgbClr val="06B2B3"/>
          </a:solidFill>
          <a:ln/>
        </p:spPr>
      </p:sp>
      <p:sp>
        <p:nvSpPr>
          <p:cNvPr id="8" name="Shape 6"/>
          <p:cNvSpPr/>
          <p:nvPr/>
        </p:nvSpPr>
        <p:spPr>
          <a:xfrm>
            <a:off x="11018498" y="558800"/>
            <a:ext cx="360703" cy="781050"/>
          </a:xfrm>
          <a:prstGeom prst="roundRect">
            <a:avLst>
              <a:gd name="adj" fmla="val 7042"/>
            </a:avLst>
          </a:prstGeom>
          <a:solidFill>
            <a:srgbClr val="DCE3EA"/>
          </a:solidFill>
          <a:ln/>
        </p:spPr>
      </p:sp>
      <p:sp>
        <p:nvSpPr>
          <p:cNvPr id="9" name="Shape 7"/>
          <p:cNvSpPr/>
          <p:nvPr/>
        </p:nvSpPr>
        <p:spPr>
          <a:xfrm>
            <a:off x="9474201" y="1365250"/>
            <a:ext cx="939800" cy="260350"/>
          </a:xfrm>
          <a:prstGeom prst="roundRect">
            <a:avLst>
              <a:gd name="adj" fmla="val 9756"/>
            </a:avLst>
          </a:prstGeom>
          <a:solidFill>
            <a:srgbClr val="DCE3EA"/>
          </a:solidFill>
          <a:ln/>
        </p:spPr>
      </p:sp>
      <p:sp>
        <p:nvSpPr>
          <p:cNvPr id="10" name="Shape 8"/>
          <p:cNvSpPr/>
          <p:nvPr/>
        </p:nvSpPr>
        <p:spPr>
          <a:xfrm>
            <a:off x="10439401" y="1365250"/>
            <a:ext cx="939800" cy="260350"/>
          </a:xfrm>
          <a:prstGeom prst="roundRect">
            <a:avLst>
              <a:gd name="adj" fmla="val 9756"/>
            </a:avLst>
          </a:prstGeom>
          <a:solidFill>
            <a:srgbClr val="DCE3EA"/>
          </a:solidFill>
          <a:ln/>
        </p:spPr>
      </p:sp>
      <p:sp>
        <p:nvSpPr>
          <p:cNvPr id="11" name="Text 9"/>
          <p:cNvSpPr/>
          <p:nvPr/>
        </p:nvSpPr>
        <p:spPr>
          <a:xfrm>
            <a:off x="812800" y="609600"/>
            <a:ext cx="8502650"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BLOQUE 3 DE 9 · LADO DEL CLIENTE</a:t>
            </a:r>
            <a:endParaRPr lang="en-US" sz="1200" dirty="0"/>
          </a:p>
        </p:txBody>
      </p:sp>
      <p:sp>
        <p:nvSpPr>
          <p:cNvPr id="12" name="Text 10"/>
          <p:cNvSpPr/>
          <p:nvPr>
            <p:ph type="title"/>
          </p:nvPr>
        </p:nvSpPr>
        <p:spPr>
          <a:xfrm>
            <a:off x="812800" y="886451"/>
            <a:ext cx="8502650"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Canales</a:t>
            </a:r>
            <a:endParaRPr lang="en-US" sz="2500" dirty="0"/>
          </a:p>
        </p:txBody>
      </p:sp>
      <p:sp>
        <p:nvSpPr>
          <p:cNvPr id="13" name="Shape 11"/>
          <p:cNvSpPr/>
          <p:nvPr/>
        </p:nvSpPr>
        <p:spPr>
          <a:xfrm>
            <a:off x="815975" y="1407151"/>
            <a:ext cx="5200650" cy="1090499"/>
          </a:xfrm>
          <a:prstGeom prst="roundRect">
            <a:avLst>
              <a:gd name="adj" fmla="val 7861"/>
            </a:avLst>
          </a:prstGeom>
          <a:solidFill>
            <a:srgbClr val="FDFDFB"/>
          </a:solidFill>
          <a:ln w="6350">
            <a:solidFill>
              <a:srgbClr val="DCE3EA"/>
            </a:solidFill>
            <a:prstDash val="solid"/>
          </a:ln>
        </p:spPr>
      </p:sp>
      <p:sp>
        <p:nvSpPr>
          <p:cNvPr id="14" name="Text 12"/>
          <p:cNvSpPr/>
          <p:nvPr/>
        </p:nvSpPr>
        <p:spPr>
          <a:xfrm>
            <a:off x="981529" y="1521904"/>
            <a:ext cx="5015629" cy="421595"/>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Qué es · ¿Cómo nos conocen, nos compran y reciben el servicio?</a:t>
            </a:r>
            <a:endParaRPr lang="en-US" sz="1300" dirty="0"/>
          </a:p>
        </p:txBody>
      </p:sp>
      <p:sp>
        <p:nvSpPr>
          <p:cNvPr id="15" name="Text 13"/>
          <p:cNvSpPr/>
          <p:nvPr/>
        </p:nvSpPr>
        <p:spPr>
          <a:xfrm>
            <a:off x="981529" y="1956197"/>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El camino concreto por el que el cliente se entera, decide y usa el producto.</a:t>
            </a:r>
            <a:endParaRPr lang="en-US" sz="1200" dirty="0"/>
          </a:p>
        </p:txBody>
      </p:sp>
      <p:sp>
        <p:nvSpPr>
          <p:cNvPr id="16" name="Shape 14"/>
          <p:cNvSpPr/>
          <p:nvPr/>
        </p:nvSpPr>
        <p:spPr>
          <a:xfrm>
            <a:off x="6175375" y="1407151"/>
            <a:ext cx="5200650" cy="1090499"/>
          </a:xfrm>
          <a:prstGeom prst="roundRect">
            <a:avLst>
              <a:gd name="adj" fmla="val 7861"/>
            </a:avLst>
          </a:prstGeom>
          <a:solidFill>
            <a:srgbClr val="FDFDFB"/>
          </a:solidFill>
          <a:ln w="6350">
            <a:solidFill>
              <a:srgbClr val="DCE3EA"/>
            </a:solidFill>
            <a:prstDash val="solid"/>
          </a:ln>
        </p:spPr>
      </p:sp>
      <p:sp>
        <p:nvSpPr>
          <p:cNvPr id="17" name="Text 15"/>
          <p:cNvSpPr/>
          <p:nvPr/>
        </p:nvSpPr>
        <p:spPr>
          <a:xfrm>
            <a:off x="6340929" y="1521904"/>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Por qué va ahí</a:t>
            </a:r>
            <a:endParaRPr lang="en-US" sz="1300" dirty="0"/>
          </a:p>
        </p:txBody>
      </p:sp>
      <p:sp>
        <p:nvSpPr>
          <p:cNvPr id="18" name="Text 16"/>
          <p:cNvSpPr/>
          <p:nvPr/>
        </p:nvSpPr>
        <p:spPr>
          <a:xfrm>
            <a:off x="6340929" y="1758100"/>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Va junto al cliente porque es donde lo tocamos. Es la carretera que lleva a la tienda.</a:t>
            </a:r>
            <a:endParaRPr lang="en-US" sz="1200" dirty="0"/>
          </a:p>
        </p:txBody>
      </p:sp>
      <p:sp>
        <p:nvSpPr>
          <p:cNvPr id="19" name="Shape 17"/>
          <p:cNvSpPr/>
          <p:nvPr/>
        </p:nvSpPr>
        <p:spPr>
          <a:xfrm>
            <a:off x="812800" y="2653227"/>
            <a:ext cx="5207000" cy="1208995"/>
          </a:xfrm>
          <a:prstGeom prst="roundRect">
            <a:avLst>
              <a:gd name="adj" fmla="val 7353"/>
            </a:avLst>
          </a:prstGeom>
          <a:solidFill>
            <a:srgbClr val="E9F6EC"/>
          </a:solidFill>
          <a:ln/>
        </p:spPr>
      </p:sp>
      <p:sp>
        <p:nvSpPr>
          <p:cNvPr id="20" name="Shape 18"/>
          <p:cNvSpPr/>
          <p:nvPr/>
        </p:nvSpPr>
        <p:spPr>
          <a:xfrm>
            <a:off x="812800" y="2653227"/>
            <a:ext cx="5207000" cy="1208995"/>
          </a:xfrm>
          <a:custGeom>
            <a:avLst/>
            <a:gdLst/>
            <a:ahLst/>
            <a:cxnLst/>
            <a:rect l="l" t="t" r="r" b="b"/>
            <a:pathLst>
              <a:path w="5207000" h="1208995">
                <a:moveTo>
                  <a:pt x="88900" y="1208995"/>
                </a:moveTo>
                <a:lnTo>
                  <a:pt x="88900" y="1208995"/>
                </a:lnTo>
                <a:arcTo hR="88900" wR="88900" stAng="5400000" swAng="5400000"/>
                <a:lnTo>
                  <a:pt x="0" y="88900"/>
                </a:lnTo>
                <a:arcTo hR="88900" wR="88900" stAng="10800000" swAng="5400000"/>
                <a:lnTo>
                  <a:pt x="88900" y="0"/>
                </a:lnTo>
                <a:arcTo hR="88900" wR="38100" stAng="16200000" swAng="-5400000"/>
                <a:lnTo>
                  <a:pt x="50800" y="1120095"/>
                </a:lnTo>
                <a:arcTo hR="88900" wR="38100" stAng="10800000" swAng="-5400000"/>
                <a:close/>
              </a:path>
            </a:pathLst>
          </a:custGeom>
          <a:solidFill>
            <a:srgbClr val="2E7D44"/>
          </a:solidFill>
          <a:ln/>
        </p:spPr>
      </p:sp>
      <p:sp>
        <p:nvSpPr>
          <p:cNvPr id="21" name="Text 19"/>
          <p:cNvSpPr/>
          <p:nvPr/>
        </p:nvSpPr>
        <p:spPr>
          <a:xfrm>
            <a:off x="1028700" y="2780227"/>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4D29"/>
                </a:solidFill>
                <a:latin typeface="Nunito Sans" pitchFamily="34" charset="0"/>
                <a:ea typeface="Nunito Sans" pitchFamily="34" charset="-122"/>
                <a:cs typeface="Nunito Sans" pitchFamily="34" charset="-120"/>
              </a:rPr>
              <a:t>Así sí · Bocadoo (cliente 2)</a:t>
            </a:r>
            <a:endParaRPr lang="en-US" sz="1400" dirty="0"/>
          </a:p>
        </p:txBody>
      </p:sp>
      <p:sp>
        <p:nvSpPr>
          <p:cNvPr id="22" name="Text 20"/>
          <p:cNvSpPr/>
          <p:nvPr/>
        </p:nvSpPr>
        <p:spPr>
          <a:xfrm>
            <a:off x="1028700" y="3044372"/>
            <a:ext cx="4970780" cy="452097"/>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1F3326"/>
                </a:solidFill>
                <a:latin typeface="Nunito Sans" pitchFamily="34" charset="0"/>
                <a:ea typeface="Nunito Sans" pitchFamily="34" charset="-122"/>
                <a:cs typeface="Nunito Sans" pitchFamily="34" charset="-120"/>
              </a:rPr>
              <a:t>«QR en los comedores de las facultades, grupos de WhatsApp estudiantiles y enlace web de la app.»</a:t>
            </a:r>
            <a:endParaRPr lang="en-US" sz="1200" dirty="0"/>
          </a:p>
        </p:txBody>
      </p:sp>
      <p:sp>
        <p:nvSpPr>
          <p:cNvPr id="23" name="Text 21"/>
          <p:cNvSpPr/>
          <p:nvPr/>
        </p:nvSpPr>
        <p:spPr>
          <a:xfrm>
            <a:off x="1028700" y="3521869"/>
            <a:ext cx="497078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D29"/>
                </a:solidFill>
                <a:latin typeface="Nunito Sans" pitchFamily="34" charset="0"/>
                <a:ea typeface="Nunito Sans" pitchFamily="34" charset="-122"/>
                <a:cs typeface="Nunito Sans" pitchFamily="34" charset="-120"/>
              </a:rPr>
              <a:t>Se puede ejecutar el lunes y medir cuántos llegan.</a:t>
            </a:r>
            <a:endParaRPr lang="en-US" sz="1200" dirty="0"/>
          </a:p>
        </p:txBody>
      </p:sp>
      <p:sp>
        <p:nvSpPr>
          <p:cNvPr id="24" name="Shape 22"/>
          <p:cNvSpPr/>
          <p:nvPr/>
        </p:nvSpPr>
        <p:spPr>
          <a:xfrm>
            <a:off x="6172200" y="2653227"/>
            <a:ext cx="5207000" cy="1208995"/>
          </a:xfrm>
          <a:prstGeom prst="roundRect">
            <a:avLst>
              <a:gd name="adj" fmla="val 7353"/>
            </a:avLst>
          </a:prstGeom>
          <a:solidFill>
            <a:srgbClr val="FBEAEA"/>
          </a:solidFill>
          <a:ln/>
        </p:spPr>
      </p:sp>
      <p:sp>
        <p:nvSpPr>
          <p:cNvPr id="25" name="Shape 23"/>
          <p:cNvSpPr/>
          <p:nvPr/>
        </p:nvSpPr>
        <p:spPr>
          <a:xfrm>
            <a:off x="6172200" y="2653227"/>
            <a:ext cx="5207000" cy="1208995"/>
          </a:xfrm>
          <a:custGeom>
            <a:avLst/>
            <a:gdLst/>
            <a:ahLst/>
            <a:cxnLst/>
            <a:rect l="l" t="t" r="r" b="b"/>
            <a:pathLst>
              <a:path w="5207000" h="1208995">
                <a:moveTo>
                  <a:pt x="88900" y="1208995"/>
                </a:moveTo>
                <a:lnTo>
                  <a:pt x="88900" y="1208995"/>
                </a:lnTo>
                <a:arcTo hR="88900" wR="88900" stAng="5400000" swAng="5400000"/>
                <a:lnTo>
                  <a:pt x="0" y="88900"/>
                </a:lnTo>
                <a:arcTo hR="88900" wR="88900" stAng="10800000" swAng="5400000"/>
                <a:lnTo>
                  <a:pt x="88900" y="0"/>
                </a:lnTo>
                <a:arcTo hR="88900" wR="38100" stAng="16200000" swAng="-5400000"/>
                <a:lnTo>
                  <a:pt x="50800" y="1120095"/>
                </a:lnTo>
                <a:arcTo hR="88900" wR="38100" stAng="10800000" swAng="-5400000"/>
                <a:close/>
              </a:path>
            </a:pathLst>
          </a:custGeom>
          <a:solidFill>
            <a:srgbClr val="B23A3A"/>
          </a:solidFill>
          <a:ln/>
        </p:spPr>
      </p:sp>
      <p:sp>
        <p:nvSpPr>
          <p:cNvPr id="26" name="Text 24"/>
          <p:cNvSpPr/>
          <p:nvPr/>
        </p:nvSpPr>
        <p:spPr>
          <a:xfrm>
            <a:off x="6388100" y="2780227"/>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6E2020"/>
                </a:solidFill>
                <a:latin typeface="Nunito Sans" pitchFamily="34" charset="0"/>
                <a:ea typeface="Nunito Sans" pitchFamily="34" charset="-122"/>
                <a:cs typeface="Nunito Sans" pitchFamily="34" charset="-120"/>
              </a:rPr>
              <a:t>Así no · TransporteSeguro</a:t>
            </a:r>
            <a:endParaRPr lang="en-US" sz="1400" dirty="0"/>
          </a:p>
        </p:txBody>
      </p:sp>
      <p:sp>
        <p:nvSpPr>
          <p:cNvPr id="27" name="Text 25"/>
          <p:cNvSpPr/>
          <p:nvPr/>
        </p:nvSpPr>
        <p:spPr>
          <a:xfrm>
            <a:off x="6388100" y="3044372"/>
            <a:ext cx="4970780" cy="238749"/>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A1C1C"/>
                </a:solidFill>
                <a:latin typeface="Nunito Sans" pitchFamily="34" charset="0"/>
                <a:ea typeface="Nunito Sans" pitchFamily="34" charset="-122"/>
                <a:cs typeface="Nunito Sans" pitchFamily="34" charset="-120"/>
              </a:rPr>
              <a:t>«Página web, grupos de padres y WhatsApp.»</a:t>
            </a:r>
            <a:endParaRPr lang="en-US" sz="1200" dirty="0"/>
          </a:p>
        </p:txBody>
      </p:sp>
      <p:sp>
        <p:nvSpPr>
          <p:cNvPr id="28" name="Text 26"/>
          <p:cNvSpPr/>
          <p:nvPr/>
        </p:nvSpPr>
        <p:spPr>
          <a:xfrm>
            <a:off x="6388100" y="3308524"/>
            <a:ext cx="4970780" cy="45209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2020"/>
                </a:solidFill>
                <a:latin typeface="Nunito Sans" pitchFamily="34" charset="0"/>
                <a:ea typeface="Nunito Sans" pitchFamily="34" charset="-122"/>
                <a:cs typeface="Nunito Sans" pitchFamily="34" charset="-120"/>
              </a:rPr>
              <a:t>Corrección:</a:t>
            </a:r>
            <a:r>
              <a:rPr lang="en-US" sz="1200" dirty="0">
                <a:solidFill>
                  <a:srgbClr val="6E2020"/>
                </a:solidFill>
                <a:latin typeface="Nunito Sans" pitchFamily="34" charset="0"/>
                <a:ea typeface="Nunito Sans" pitchFamily="34" charset="-122"/>
                <a:cs typeface="Nunito Sans" pitchFamily="34" charset="-120"/>
              </a:rPr>
              <a:t> ¿Qué grupos? ¿Quién los administra? «Comités de padres de 3 colegios fiscales de [sector], presentados por el rector».</a:t>
            </a:r>
            <a:endParaRPr lang="en-US" sz="1200" dirty="0"/>
          </a:p>
        </p:txBody>
      </p:sp>
      <p:sp>
        <p:nvSpPr>
          <p:cNvPr id="29" name="Text 27"/>
          <p:cNvSpPr/>
          <p:nvPr/>
        </p:nvSpPr>
        <p:spPr>
          <a:xfrm>
            <a:off x="812800" y="4014620"/>
            <a:ext cx="10566401" cy="493996"/>
          </a:xfrm>
          <a:prstGeom prst="roundRect">
            <a:avLst>
              <a:gd name="adj" fmla="val 17996"/>
            </a:avLst>
          </a:prstGeom>
          <a:solidFill>
            <a:srgbClr val="173E78"/>
          </a:solidFill>
          <a:ln/>
        </p:spPr>
        <p:txBody>
          <a:bodyPr wrap="square" lIns="164462" tIns="100962" rIns="0" bIns="75562" rtlCol="0" anchor="t">
            <a:normAutofit/>
          </a:bodyPr>
          <a:lstStyle/>
          <a:p>
            <a:pPr algn="l" indent="0" marL="0">
              <a:lnSpc>
                <a:spcPts val="1890"/>
              </a:lnSpc>
              <a:buNone/>
            </a:pPr>
            <a:r>
              <a:rPr lang="en-US" sz="1400" b="1" dirty="0">
                <a:solidFill>
                  <a:srgbClr val="F3F6FA"/>
                </a:solidFill>
                <a:latin typeface="Nunito Sans" pitchFamily="34" charset="0"/>
                <a:ea typeface="Nunito Sans" pitchFamily="34" charset="-122"/>
                <a:cs typeface="Nunito Sans" pitchFamily="34" charset="-120"/>
              </a:rPr>
              <a:t>Pregunta para la clase:</a:t>
            </a:r>
            <a:r>
              <a:rPr lang="en-US" sz="1400" dirty="0">
                <a:solidFill>
                  <a:srgbClr val="F3F6FA"/>
                </a:solidFill>
                <a:latin typeface="Nunito Sans" pitchFamily="34" charset="0"/>
                <a:ea typeface="Nunito Sans" pitchFamily="34" charset="-122"/>
                <a:cs typeface="Nunito Sans" pitchFamily="34" charset="-120"/>
              </a:rPr>
              <a:t> ¿Cuánto les cuesta conseguir su primer cliente por ese canal?</a:t>
            </a:r>
            <a:endParaRPr lang="en-US" sz="1400" dirty="0"/>
          </a:p>
        </p:txBody>
      </p:sp>
      <p:pic>
        <p:nvPicPr>
          <p:cNvPr id="30"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31" name="Text 28"/>
          <p:cNvSpPr/>
          <p:nvPr/>
        </p:nvSpPr>
        <p:spPr>
          <a:xfrm>
            <a:off x="8008847" y="6217903"/>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9474201" y="558800"/>
            <a:ext cx="360646" cy="781050"/>
          </a:xfrm>
          <a:prstGeom prst="roundRect">
            <a:avLst>
              <a:gd name="adj" fmla="val 7043"/>
            </a:avLst>
          </a:prstGeom>
          <a:solidFill>
            <a:srgbClr val="DCE3EA"/>
          </a:solidFill>
          <a:ln/>
        </p:spPr>
      </p:sp>
      <p:sp>
        <p:nvSpPr>
          <p:cNvPr id="3" name="Shape 1"/>
          <p:cNvSpPr/>
          <p:nvPr/>
        </p:nvSpPr>
        <p:spPr>
          <a:xfrm>
            <a:off x="9860246" y="558800"/>
            <a:ext cx="360703" cy="377825"/>
          </a:xfrm>
          <a:prstGeom prst="roundRect">
            <a:avLst>
              <a:gd name="adj" fmla="val 7042"/>
            </a:avLst>
          </a:prstGeom>
          <a:solidFill>
            <a:srgbClr val="DCE3EA"/>
          </a:solidFill>
          <a:ln/>
        </p:spPr>
      </p:sp>
      <p:sp>
        <p:nvSpPr>
          <p:cNvPr id="4" name="Shape 2"/>
          <p:cNvSpPr/>
          <p:nvPr/>
        </p:nvSpPr>
        <p:spPr>
          <a:xfrm>
            <a:off x="9860246" y="962025"/>
            <a:ext cx="360703" cy="377825"/>
          </a:xfrm>
          <a:prstGeom prst="roundRect">
            <a:avLst>
              <a:gd name="adj" fmla="val 7042"/>
            </a:avLst>
          </a:prstGeom>
          <a:solidFill>
            <a:srgbClr val="DCE3EA"/>
          </a:solidFill>
          <a:ln/>
        </p:spPr>
      </p:sp>
      <p:sp>
        <p:nvSpPr>
          <p:cNvPr id="5" name="Shape 3"/>
          <p:cNvSpPr/>
          <p:nvPr/>
        </p:nvSpPr>
        <p:spPr>
          <a:xfrm>
            <a:off x="10246349" y="558800"/>
            <a:ext cx="360646" cy="781050"/>
          </a:xfrm>
          <a:prstGeom prst="roundRect">
            <a:avLst>
              <a:gd name="adj" fmla="val 7043"/>
            </a:avLst>
          </a:prstGeom>
          <a:solidFill>
            <a:srgbClr val="DCE3EA"/>
          </a:solidFill>
          <a:ln/>
        </p:spPr>
      </p:sp>
      <p:sp>
        <p:nvSpPr>
          <p:cNvPr id="6" name="Shape 4"/>
          <p:cNvSpPr/>
          <p:nvPr/>
        </p:nvSpPr>
        <p:spPr>
          <a:xfrm>
            <a:off x="10632395" y="558800"/>
            <a:ext cx="360703" cy="377825"/>
          </a:xfrm>
          <a:prstGeom prst="roundRect">
            <a:avLst>
              <a:gd name="adj" fmla="val 7042"/>
            </a:avLst>
          </a:prstGeom>
          <a:solidFill>
            <a:srgbClr val="06B2B3"/>
          </a:solidFill>
          <a:ln/>
        </p:spPr>
      </p:sp>
      <p:sp>
        <p:nvSpPr>
          <p:cNvPr id="7" name="Shape 5"/>
          <p:cNvSpPr/>
          <p:nvPr/>
        </p:nvSpPr>
        <p:spPr>
          <a:xfrm>
            <a:off x="10632395" y="962025"/>
            <a:ext cx="360703" cy="377825"/>
          </a:xfrm>
          <a:prstGeom prst="roundRect">
            <a:avLst>
              <a:gd name="adj" fmla="val 7042"/>
            </a:avLst>
          </a:prstGeom>
          <a:solidFill>
            <a:srgbClr val="DCE3EA"/>
          </a:solidFill>
          <a:ln/>
        </p:spPr>
      </p:sp>
      <p:sp>
        <p:nvSpPr>
          <p:cNvPr id="8" name="Shape 6"/>
          <p:cNvSpPr/>
          <p:nvPr/>
        </p:nvSpPr>
        <p:spPr>
          <a:xfrm>
            <a:off x="11018498" y="558800"/>
            <a:ext cx="360703" cy="781050"/>
          </a:xfrm>
          <a:prstGeom prst="roundRect">
            <a:avLst>
              <a:gd name="adj" fmla="val 7042"/>
            </a:avLst>
          </a:prstGeom>
          <a:solidFill>
            <a:srgbClr val="DCE3EA"/>
          </a:solidFill>
          <a:ln/>
        </p:spPr>
      </p:sp>
      <p:sp>
        <p:nvSpPr>
          <p:cNvPr id="9" name="Shape 7"/>
          <p:cNvSpPr/>
          <p:nvPr/>
        </p:nvSpPr>
        <p:spPr>
          <a:xfrm>
            <a:off x="9474201" y="1365250"/>
            <a:ext cx="939800" cy="260350"/>
          </a:xfrm>
          <a:prstGeom prst="roundRect">
            <a:avLst>
              <a:gd name="adj" fmla="val 9756"/>
            </a:avLst>
          </a:prstGeom>
          <a:solidFill>
            <a:srgbClr val="DCE3EA"/>
          </a:solidFill>
          <a:ln/>
        </p:spPr>
      </p:sp>
      <p:sp>
        <p:nvSpPr>
          <p:cNvPr id="10" name="Shape 8"/>
          <p:cNvSpPr/>
          <p:nvPr/>
        </p:nvSpPr>
        <p:spPr>
          <a:xfrm>
            <a:off x="10439401" y="1365250"/>
            <a:ext cx="939800" cy="260350"/>
          </a:xfrm>
          <a:prstGeom prst="roundRect">
            <a:avLst>
              <a:gd name="adj" fmla="val 9756"/>
            </a:avLst>
          </a:prstGeom>
          <a:solidFill>
            <a:srgbClr val="DCE3EA"/>
          </a:solidFill>
          <a:ln/>
        </p:spPr>
      </p:sp>
      <p:sp>
        <p:nvSpPr>
          <p:cNvPr id="11" name="Text 9"/>
          <p:cNvSpPr/>
          <p:nvPr/>
        </p:nvSpPr>
        <p:spPr>
          <a:xfrm>
            <a:off x="812800" y="609600"/>
            <a:ext cx="8502650"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BLOQUE 4 DE 9 · LADO DEL CLIENTE</a:t>
            </a:r>
            <a:endParaRPr lang="en-US" sz="1200" dirty="0"/>
          </a:p>
        </p:txBody>
      </p:sp>
      <p:sp>
        <p:nvSpPr>
          <p:cNvPr id="12" name="Text 10"/>
          <p:cNvSpPr/>
          <p:nvPr>
            <p:ph type="title"/>
          </p:nvPr>
        </p:nvSpPr>
        <p:spPr>
          <a:xfrm>
            <a:off x="812800" y="886451"/>
            <a:ext cx="8502650"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Relación con clientes</a:t>
            </a:r>
            <a:endParaRPr lang="en-US" sz="2500" dirty="0"/>
          </a:p>
        </p:txBody>
      </p:sp>
      <p:sp>
        <p:nvSpPr>
          <p:cNvPr id="13" name="Shape 11"/>
          <p:cNvSpPr/>
          <p:nvPr/>
        </p:nvSpPr>
        <p:spPr>
          <a:xfrm>
            <a:off x="815975" y="1407151"/>
            <a:ext cx="5200650" cy="892402"/>
          </a:xfrm>
          <a:prstGeom prst="roundRect">
            <a:avLst>
              <a:gd name="adj" fmla="val 9606"/>
            </a:avLst>
          </a:prstGeom>
          <a:solidFill>
            <a:srgbClr val="FDFDFB"/>
          </a:solidFill>
          <a:ln w="6350">
            <a:solidFill>
              <a:srgbClr val="DCE3EA"/>
            </a:solidFill>
            <a:prstDash val="solid"/>
          </a:ln>
        </p:spPr>
      </p:sp>
      <p:sp>
        <p:nvSpPr>
          <p:cNvPr id="14" name="Text 12"/>
          <p:cNvSpPr/>
          <p:nvPr/>
        </p:nvSpPr>
        <p:spPr>
          <a:xfrm>
            <a:off x="981529" y="1521904"/>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Qué es · ¿Cómo los atendemos y los mantenemos?</a:t>
            </a:r>
            <a:endParaRPr lang="en-US" sz="1300" dirty="0"/>
          </a:p>
        </p:txBody>
      </p:sp>
      <p:sp>
        <p:nvSpPr>
          <p:cNvPr id="15" name="Text 13"/>
          <p:cNvSpPr/>
          <p:nvPr/>
        </p:nvSpPr>
        <p:spPr>
          <a:xfrm>
            <a:off x="981529" y="1758100"/>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El tipo de trato con cada segmento: personal, autoservicio, comunidad, soporte.</a:t>
            </a:r>
            <a:endParaRPr lang="en-US" sz="1200" dirty="0"/>
          </a:p>
        </p:txBody>
      </p:sp>
      <p:sp>
        <p:nvSpPr>
          <p:cNvPr id="16" name="Shape 14"/>
          <p:cNvSpPr/>
          <p:nvPr/>
        </p:nvSpPr>
        <p:spPr>
          <a:xfrm>
            <a:off x="6175375" y="1407151"/>
            <a:ext cx="5200650" cy="892402"/>
          </a:xfrm>
          <a:prstGeom prst="roundRect">
            <a:avLst>
              <a:gd name="adj" fmla="val 9606"/>
            </a:avLst>
          </a:prstGeom>
          <a:solidFill>
            <a:srgbClr val="FDFDFB"/>
          </a:solidFill>
          <a:ln w="6350">
            <a:solidFill>
              <a:srgbClr val="DCE3EA"/>
            </a:solidFill>
            <a:prstDash val="solid"/>
          </a:ln>
        </p:spPr>
      </p:sp>
      <p:sp>
        <p:nvSpPr>
          <p:cNvPr id="17" name="Text 15"/>
          <p:cNvSpPr/>
          <p:nvPr/>
        </p:nvSpPr>
        <p:spPr>
          <a:xfrm>
            <a:off x="6340929" y="1521904"/>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Por qué va ahí</a:t>
            </a:r>
            <a:endParaRPr lang="en-US" sz="1300" dirty="0"/>
          </a:p>
        </p:txBody>
      </p:sp>
      <p:sp>
        <p:nvSpPr>
          <p:cNvPr id="18" name="Text 16"/>
          <p:cNvSpPr/>
          <p:nvPr/>
        </p:nvSpPr>
        <p:spPr>
          <a:xfrm>
            <a:off x="6340929" y="1758100"/>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Decide si el cliente vuelve. Es la diferencia entre la tienda del barrio que te conoce y un cajero automático.</a:t>
            </a:r>
            <a:endParaRPr lang="en-US" sz="1200" dirty="0"/>
          </a:p>
        </p:txBody>
      </p:sp>
      <p:sp>
        <p:nvSpPr>
          <p:cNvPr id="19" name="Shape 17"/>
          <p:cNvSpPr/>
          <p:nvPr/>
        </p:nvSpPr>
        <p:spPr>
          <a:xfrm>
            <a:off x="812800" y="2455131"/>
            <a:ext cx="5207000" cy="1208995"/>
          </a:xfrm>
          <a:prstGeom prst="roundRect">
            <a:avLst>
              <a:gd name="adj" fmla="val 7353"/>
            </a:avLst>
          </a:prstGeom>
          <a:solidFill>
            <a:srgbClr val="E9F6EC"/>
          </a:solidFill>
          <a:ln/>
        </p:spPr>
      </p:sp>
      <p:sp>
        <p:nvSpPr>
          <p:cNvPr id="20" name="Shape 18"/>
          <p:cNvSpPr/>
          <p:nvPr/>
        </p:nvSpPr>
        <p:spPr>
          <a:xfrm>
            <a:off x="812800" y="2455131"/>
            <a:ext cx="5207000" cy="1208995"/>
          </a:xfrm>
          <a:custGeom>
            <a:avLst/>
            <a:gdLst/>
            <a:ahLst/>
            <a:cxnLst/>
            <a:rect l="l" t="t" r="r" b="b"/>
            <a:pathLst>
              <a:path w="5207000" h="1208995">
                <a:moveTo>
                  <a:pt x="88900" y="1208995"/>
                </a:moveTo>
                <a:lnTo>
                  <a:pt x="88900" y="1208995"/>
                </a:lnTo>
                <a:arcTo hR="88900" wR="88900" stAng="5400000" swAng="5400000"/>
                <a:lnTo>
                  <a:pt x="0" y="88900"/>
                </a:lnTo>
                <a:arcTo hR="88900" wR="88900" stAng="10800000" swAng="5400000"/>
                <a:lnTo>
                  <a:pt x="88900" y="0"/>
                </a:lnTo>
                <a:arcTo hR="88900" wR="38100" stAng="16200000" swAng="-5400000"/>
                <a:lnTo>
                  <a:pt x="50800" y="1120095"/>
                </a:lnTo>
                <a:arcTo hR="88900" wR="38100" stAng="10800000" swAng="-5400000"/>
                <a:close/>
              </a:path>
            </a:pathLst>
          </a:custGeom>
          <a:solidFill>
            <a:srgbClr val="2E7D44"/>
          </a:solidFill>
          <a:ln/>
        </p:spPr>
      </p:sp>
      <p:sp>
        <p:nvSpPr>
          <p:cNvPr id="21" name="Text 19"/>
          <p:cNvSpPr/>
          <p:nvPr/>
        </p:nvSpPr>
        <p:spPr>
          <a:xfrm>
            <a:off x="1028700" y="2582131"/>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4D29"/>
                </a:solidFill>
                <a:latin typeface="Nunito Sans" pitchFamily="34" charset="0"/>
                <a:ea typeface="Nunito Sans" pitchFamily="34" charset="-122"/>
                <a:cs typeface="Nunito Sans" pitchFamily="34" charset="-120"/>
              </a:rPr>
              <a:t>Así sí · FrameFlow</a:t>
            </a:r>
            <a:endParaRPr lang="en-US" sz="1400" dirty="0"/>
          </a:p>
        </p:txBody>
      </p:sp>
      <p:sp>
        <p:nvSpPr>
          <p:cNvPr id="22" name="Text 20"/>
          <p:cNvSpPr/>
          <p:nvPr/>
        </p:nvSpPr>
        <p:spPr>
          <a:xfrm>
            <a:off x="1028700" y="2846276"/>
            <a:ext cx="4970780" cy="452097"/>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1F3326"/>
                </a:solidFill>
                <a:latin typeface="Nunito Sans" pitchFamily="34" charset="0"/>
                <a:ea typeface="Nunito Sans" pitchFamily="34" charset="-122"/>
                <a:cs typeface="Nunito Sans" pitchFamily="34" charset="-120"/>
              </a:rPr>
              <a:t>«Autoservicio guiado, apoyo por WhatsApp y acompañamiento presencial al inicio.»</a:t>
            </a:r>
            <a:endParaRPr lang="en-US" sz="1200" dirty="0"/>
          </a:p>
        </p:txBody>
      </p:sp>
      <p:sp>
        <p:nvSpPr>
          <p:cNvPr id="23" name="Text 21"/>
          <p:cNvSpPr/>
          <p:nvPr/>
        </p:nvSpPr>
        <p:spPr>
          <a:xfrm>
            <a:off x="1028700" y="3323772"/>
            <a:ext cx="497078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D29"/>
                </a:solidFill>
                <a:latin typeface="Nunito Sans" pitchFamily="34" charset="0"/>
                <a:ea typeface="Nunito Sans" pitchFamily="34" charset="-122"/>
                <a:cs typeface="Nunito Sans" pitchFamily="34" charset="-120"/>
              </a:rPr>
              <a:t>Se ajusta a trabajadores de oficios poco digitales.</a:t>
            </a:r>
            <a:endParaRPr lang="en-US" sz="1200" dirty="0"/>
          </a:p>
        </p:txBody>
      </p:sp>
      <p:sp>
        <p:nvSpPr>
          <p:cNvPr id="24" name="Shape 22"/>
          <p:cNvSpPr/>
          <p:nvPr/>
        </p:nvSpPr>
        <p:spPr>
          <a:xfrm>
            <a:off x="6172200" y="2455131"/>
            <a:ext cx="5207000" cy="1208995"/>
          </a:xfrm>
          <a:prstGeom prst="roundRect">
            <a:avLst>
              <a:gd name="adj" fmla="val 7353"/>
            </a:avLst>
          </a:prstGeom>
          <a:solidFill>
            <a:srgbClr val="FBEAEA"/>
          </a:solidFill>
          <a:ln/>
        </p:spPr>
      </p:sp>
      <p:sp>
        <p:nvSpPr>
          <p:cNvPr id="25" name="Shape 23"/>
          <p:cNvSpPr/>
          <p:nvPr/>
        </p:nvSpPr>
        <p:spPr>
          <a:xfrm>
            <a:off x="6172200" y="2455131"/>
            <a:ext cx="5207000" cy="1208995"/>
          </a:xfrm>
          <a:custGeom>
            <a:avLst/>
            <a:gdLst/>
            <a:ahLst/>
            <a:cxnLst/>
            <a:rect l="l" t="t" r="r" b="b"/>
            <a:pathLst>
              <a:path w="5207000" h="1208995">
                <a:moveTo>
                  <a:pt x="88900" y="1208995"/>
                </a:moveTo>
                <a:lnTo>
                  <a:pt x="88900" y="1208995"/>
                </a:lnTo>
                <a:arcTo hR="88900" wR="88900" stAng="5400000" swAng="5400000"/>
                <a:lnTo>
                  <a:pt x="0" y="88900"/>
                </a:lnTo>
                <a:arcTo hR="88900" wR="88900" stAng="10800000" swAng="5400000"/>
                <a:lnTo>
                  <a:pt x="88900" y="0"/>
                </a:lnTo>
                <a:arcTo hR="88900" wR="38100" stAng="16200000" swAng="-5400000"/>
                <a:lnTo>
                  <a:pt x="50800" y="1120095"/>
                </a:lnTo>
                <a:arcTo hR="88900" wR="38100" stAng="10800000" swAng="-5400000"/>
                <a:close/>
              </a:path>
            </a:pathLst>
          </a:custGeom>
          <a:solidFill>
            <a:srgbClr val="B23A3A"/>
          </a:solidFill>
          <a:ln/>
        </p:spPr>
      </p:sp>
      <p:sp>
        <p:nvSpPr>
          <p:cNvPr id="26" name="Text 24"/>
          <p:cNvSpPr/>
          <p:nvPr/>
        </p:nvSpPr>
        <p:spPr>
          <a:xfrm>
            <a:off x="6388100" y="2582131"/>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6E2020"/>
                </a:solidFill>
                <a:latin typeface="Nunito Sans" pitchFamily="34" charset="0"/>
                <a:ea typeface="Nunito Sans" pitchFamily="34" charset="-122"/>
                <a:cs typeface="Nunito Sans" pitchFamily="34" charset="-120"/>
              </a:rPr>
              <a:t>Así no · JOBM Tech</a:t>
            </a:r>
            <a:endParaRPr lang="en-US" sz="1400" dirty="0"/>
          </a:p>
        </p:txBody>
      </p:sp>
      <p:sp>
        <p:nvSpPr>
          <p:cNvPr id="27" name="Text 25"/>
          <p:cNvSpPr/>
          <p:nvPr/>
        </p:nvSpPr>
        <p:spPr>
          <a:xfrm>
            <a:off x="6388100" y="2846276"/>
            <a:ext cx="4970780" cy="238749"/>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A1C1C"/>
                </a:solidFill>
                <a:latin typeface="Nunito Sans" pitchFamily="34" charset="0"/>
                <a:ea typeface="Nunito Sans" pitchFamily="34" charset="-122"/>
                <a:cs typeface="Nunito Sans" pitchFamily="34" charset="-120"/>
              </a:rPr>
              <a:t>«acompañamiento humano asincrónico y seguimiento»</a:t>
            </a:r>
            <a:endParaRPr lang="en-US" sz="1200" dirty="0"/>
          </a:p>
        </p:txBody>
      </p:sp>
      <p:sp>
        <p:nvSpPr>
          <p:cNvPr id="28" name="Text 26"/>
          <p:cNvSpPr/>
          <p:nvPr/>
        </p:nvSpPr>
        <p:spPr>
          <a:xfrm>
            <a:off x="6388100" y="3110427"/>
            <a:ext cx="4970780" cy="45209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2020"/>
                </a:solidFill>
                <a:latin typeface="Nunito Sans" pitchFamily="34" charset="0"/>
                <a:ea typeface="Nunito Sans" pitchFamily="34" charset="-122"/>
                <a:cs typeface="Nunito Sans" pitchFamily="34" charset="-120"/>
              </a:rPr>
              <a:t>Corrección:</a:t>
            </a:r>
            <a:r>
              <a:rPr lang="en-US" sz="1200" dirty="0">
                <a:solidFill>
                  <a:srgbClr val="6E2020"/>
                </a:solidFill>
                <a:latin typeface="Nunito Sans" pitchFamily="34" charset="0"/>
                <a:ea typeface="Nunito Sans" pitchFamily="34" charset="-122"/>
                <a:cs typeface="Nunito Sans" pitchFamily="34" charset="-120"/>
              </a:rPr>
              <a:t> ¿Quién, cuándo, por dónde? «El tutor pregunta a las 48 h por WhatsApp si terminó; el coordinador recibe un reporte mensual».</a:t>
            </a:r>
            <a:endParaRPr lang="en-US" sz="1200" dirty="0"/>
          </a:p>
        </p:txBody>
      </p:sp>
      <p:sp>
        <p:nvSpPr>
          <p:cNvPr id="29" name="Text 27"/>
          <p:cNvSpPr/>
          <p:nvPr/>
        </p:nvSpPr>
        <p:spPr>
          <a:xfrm>
            <a:off x="812800" y="3816524"/>
            <a:ext cx="10566401" cy="493996"/>
          </a:xfrm>
          <a:prstGeom prst="roundRect">
            <a:avLst>
              <a:gd name="adj" fmla="val 17996"/>
            </a:avLst>
          </a:prstGeom>
          <a:solidFill>
            <a:srgbClr val="173E78"/>
          </a:solidFill>
          <a:ln/>
        </p:spPr>
        <p:txBody>
          <a:bodyPr wrap="square" lIns="164462" tIns="100962" rIns="0" bIns="75562" rtlCol="0" anchor="t">
            <a:normAutofit/>
          </a:bodyPr>
          <a:lstStyle/>
          <a:p>
            <a:pPr algn="l" indent="0" marL="0">
              <a:lnSpc>
                <a:spcPts val="1890"/>
              </a:lnSpc>
              <a:buNone/>
            </a:pPr>
            <a:r>
              <a:rPr lang="en-US" sz="1400" b="1" dirty="0">
                <a:solidFill>
                  <a:srgbClr val="F3F6FA"/>
                </a:solidFill>
                <a:latin typeface="Nunito Sans" pitchFamily="34" charset="0"/>
                <a:ea typeface="Nunito Sans" pitchFamily="34" charset="-122"/>
                <a:cs typeface="Nunito Sans" pitchFamily="34" charset="-120"/>
              </a:rPr>
              <a:t>Pregunta para la clase:</a:t>
            </a:r>
            <a:r>
              <a:rPr lang="en-US" sz="1400" dirty="0">
                <a:solidFill>
                  <a:srgbClr val="F3F6FA"/>
                </a:solidFill>
                <a:latin typeface="Nunito Sans" pitchFamily="34" charset="0"/>
                <a:ea typeface="Nunito Sans" pitchFamily="34" charset="-122"/>
                <a:cs typeface="Nunito Sans" pitchFamily="34" charset="-120"/>
              </a:rPr>
              <a:t> ¿Qué hace su equipo para que un cliente use el producto por segunda vez?</a:t>
            </a:r>
            <a:endParaRPr lang="en-US" sz="1400" dirty="0"/>
          </a:p>
        </p:txBody>
      </p:sp>
      <p:pic>
        <p:nvPicPr>
          <p:cNvPr id="30"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31" name="Text 28"/>
          <p:cNvSpPr/>
          <p:nvPr/>
        </p:nvSpPr>
        <p:spPr>
          <a:xfrm>
            <a:off x="8008847" y="6217903"/>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9474201" y="558800"/>
            <a:ext cx="360646" cy="781050"/>
          </a:xfrm>
          <a:prstGeom prst="roundRect">
            <a:avLst>
              <a:gd name="adj" fmla="val 7043"/>
            </a:avLst>
          </a:prstGeom>
          <a:solidFill>
            <a:srgbClr val="DCE3EA"/>
          </a:solidFill>
          <a:ln/>
        </p:spPr>
      </p:sp>
      <p:sp>
        <p:nvSpPr>
          <p:cNvPr id="3" name="Shape 1"/>
          <p:cNvSpPr/>
          <p:nvPr/>
        </p:nvSpPr>
        <p:spPr>
          <a:xfrm>
            <a:off x="9860246" y="558800"/>
            <a:ext cx="360703" cy="377825"/>
          </a:xfrm>
          <a:prstGeom prst="roundRect">
            <a:avLst>
              <a:gd name="adj" fmla="val 7042"/>
            </a:avLst>
          </a:prstGeom>
          <a:solidFill>
            <a:srgbClr val="DCE3EA"/>
          </a:solidFill>
          <a:ln/>
        </p:spPr>
      </p:sp>
      <p:sp>
        <p:nvSpPr>
          <p:cNvPr id="4" name="Shape 2"/>
          <p:cNvSpPr/>
          <p:nvPr/>
        </p:nvSpPr>
        <p:spPr>
          <a:xfrm>
            <a:off x="9860246" y="962031"/>
            <a:ext cx="360703" cy="377825"/>
          </a:xfrm>
          <a:prstGeom prst="roundRect">
            <a:avLst>
              <a:gd name="adj" fmla="val 7042"/>
            </a:avLst>
          </a:prstGeom>
          <a:solidFill>
            <a:srgbClr val="DCE3EA"/>
          </a:solidFill>
          <a:ln/>
        </p:spPr>
      </p:sp>
      <p:sp>
        <p:nvSpPr>
          <p:cNvPr id="5" name="Shape 3"/>
          <p:cNvSpPr/>
          <p:nvPr/>
        </p:nvSpPr>
        <p:spPr>
          <a:xfrm>
            <a:off x="10246349" y="558800"/>
            <a:ext cx="360646" cy="781050"/>
          </a:xfrm>
          <a:prstGeom prst="roundRect">
            <a:avLst>
              <a:gd name="adj" fmla="val 7043"/>
            </a:avLst>
          </a:prstGeom>
          <a:solidFill>
            <a:srgbClr val="DCE3EA"/>
          </a:solidFill>
          <a:ln/>
        </p:spPr>
      </p:sp>
      <p:sp>
        <p:nvSpPr>
          <p:cNvPr id="6" name="Shape 4"/>
          <p:cNvSpPr/>
          <p:nvPr/>
        </p:nvSpPr>
        <p:spPr>
          <a:xfrm>
            <a:off x="10632395" y="558800"/>
            <a:ext cx="360703" cy="377825"/>
          </a:xfrm>
          <a:prstGeom prst="roundRect">
            <a:avLst>
              <a:gd name="adj" fmla="val 7042"/>
            </a:avLst>
          </a:prstGeom>
          <a:solidFill>
            <a:srgbClr val="DCE3EA"/>
          </a:solidFill>
          <a:ln/>
        </p:spPr>
      </p:sp>
      <p:sp>
        <p:nvSpPr>
          <p:cNvPr id="7" name="Shape 5"/>
          <p:cNvSpPr/>
          <p:nvPr/>
        </p:nvSpPr>
        <p:spPr>
          <a:xfrm>
            <a:off x="10632395" y="962031"/>
            <a:ext cx="360703" cy="377825"/>
          </a:xfrm>
          <a:prstGeom prst="roundRect">
            <a:avLst>
              <a:gd name="adj" fmla="val 7042"/>
            </a:avLst>
          </a:prstGeom>
          <a:solidFill>
            <a:srgbClr val="DCE3EA"/>
          </a:solidFill>
          <a:ln/>
        </p:spPr>
      </p:sp>
      <p:sp>
        <p:nvSpPr>
          <p:cNvPr id="8" name="Shape 6"/>
          <p:cNvSpPr/>
          <p:nvPr/>
        </p:nvSpPr>
        <p:spPr>
          <a:xfrm>
            <a:off x="11018498" y="558800"/>
            <a:ext cx="360703" cy="781050"/>
          </a:xfrm>
          <a:prstGeom prst="roundRect">
            <a:avLst>
              <a:gd name="adj" fmla="val 7042"/>
            </a:avLst>
          </a:prstGeom>
          <a:solidFill>
            <a:srgbClr val="DCE3EA"/>
          </a:solidFill>
          <a:ln/>
        </p:spPr>
      </p:sp>
      <p:sp>
        <p:nvSpPr>
          <p:cNvPr id="9" name="Shape 7"/>
          <p:cNvSpPr/>
          <p:nvPr/>
        </p:nvSpPr>
        <p:spPr>
          <a:xfrm>
            <a:off x="9474201" y="1365256"/>
            <a:ext cx="939800" cy="260350"/>
          </a:xfrm>
          <a:prstGeom prst="roundRect">
            <a:avLst>
              <a:gd name="adj" fmla="val 9756"/>
            </a:avLst>
          </a:prstGeom>
          <a:solidFill>
            <a:srgbClr val="DCE3EA"/>
          </a:solidFill>
          <a:ln/>
        </p:spPr>
      </p:sp>
      <p:sp>
        <p:nvSpPr>
          <p:cNvPr id="10" name="Shape 8"/>
          <p:cNvSpPr/>
          <p:nvPr/>
        </p:nvSpPr>
        <p:spPr>
          <a:xfrm>
            <a:off x="10439401" y="1365256"/>
            <a:ext cx="939800" cy="260350"/>
          </a:xfrm>
          <a:prstGeom prst="roundRect">
            <a:avLst>
              <a:gd name="adj" fmla="val 9756"/>
            </a:avLst>
          </a:prstGeom>
          <a:solidFill>
            <a:srgbClr val="06B2B3"/>
          </a:solidFill>
          <a:ln/>
        </p:spPr>
      </p:sp>
      <p:sp>
        <p:nvSpPr>
          <p:cNvPr id="11" name="Text 9"/>
          <p:cNvSpPr/>
          <p:nvPr/>
        </p:nvSpPr>
        <p:spPr>
          <a:xfrm>
            <a:off x="812800" y="609600"/>
            <a:ext cx="8502650"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BLOQUE 5 DE 9 · LA CUENTA</a:t>
            </a:r>
            <a:endParaRPr lang="en-US" sz="1200" dirty="0"/>
          </a:p>
        </p:txBody>
      </p:sp>
      <p:sp>
        <p:nvSpPr>
          <p:cNvPr id="12" name="Text 10"/>
          <p:cNvSpPr/>
          <p:nvPr>
            <p:ph type="title"/>
          </p:nvPr>
        </p:nvSpPr>
        <p:spPr>
          <a:xfrm>
            <a:off x="812800" y="886451"/>
            <a:ext cx="8502650"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Fuentes de ingresos</a:t>
            </a:r>
            <a:endParaRPr lang="en-US" sz="2500" dirty="0"/>
          </a:p>
        </p:txBody>
      </p:sp>
      <p:sp>
        <p:nvSpPr>
          <p:cNvPr id="13" name="Shape 11"/>
          <p:cNvSpPr/>
          <p:nvPr/>
        </p:nvSpPr>
        <p:spPr>
          <a:xfrm>
            <a:off x="815975" y="1407151"/>
            <a:ext cx="5200650" cy="892402"/>
          </a:xfrm>
          <a:prstGeom prst="roundRect">
            <a:avLst>
              <a:gd name="adj" fmla="val 9606"/>
            </a:avLst>
          </a:prstGeom>
          <a:solidFill>
            <a:srgbClr val="FDFDFB"/>
          </a:solidFill>
          <a:ln w="6350">
            <a:solidFill>
              <a:srgbClr val="DCE3EA"/>
            </a:solidFill>
            <a:prstDash val="solid"/>
          </a:ln>
        </p:spPr>
      </p:sp>
      <p:sp>
        <p:nvSpPr>
          <p:cNvPr id="14" name="Text 12"/>
          <p:cNvSpPr/>
          <p:nvPr/>
        </p:nvSpPr>
        <p:spPr>
          <a:xfrm>
            <a:off x="981529" y="1521904"/>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Qué es · ¿Quién paga, cuánto y cómo?</a:t>
            </a:r>
            <a:endParaRPr lang="en-US" sz="1300" dirty="0"/>
          </a:p>
        </p:txBody>
      </p:sp>
      <p:sp>
        <p:nvSpPr>
          <p:cNvPr id="15" name="Text 13"/>
          <p:cNvSpPr/>
          <p:nvPr/>
        </p:nvSpPr>
        <p:spPr>
          <a:xfrm>
            <a:off x="981529" y="1758100"/>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El dinero que entra de cada segmento: precio tentativo y forma de cobro.</a:t>
            </a:r>
            <a:endParaRPr lang="en-US" sz="1200" dirty="0"/>
          </a:p>
        </p:txBody>
      </p:sp>
      <p:sp>
        <p:nvSpPr>
          <p:cNvPr id="16" name="Shape 14"/>
          <p:cNvSpPr/>
          <p:nvPr/>
        </p:nvSpPr>
        <p:spPr>
          <a:xfrm>
            <a:off x="6175375" y="1407151"/>
            <a:ext cx="5200650" cy="892402"/>
          </a:xfrm>
          <a:prstGeom prst="roundRect">
            <a:avLst>
              <a:gd name="adj" fmla="val 9606"/>
            </a:avLst>
          </a:prstGeom>
          <a:solidFill>
            <a:srgbClr val="FDFDFB"/>
          </a:solidFill>
          <a:ln w="6350">
            <a:solidFill>
              <a:srgbClr val="DCE3EA"/>
            </a:solidFill>
            <a:prstDash val="solid"/>
          </a:ln>
        </p:spPr>
      </p:sp>
      <p:sp>
        <p:nvSpPr>
          <p:cNvPr id="17" name="Text 15"/>
          <p:cNvSpPr/>
          <p:nvPr/>
        </p:nvSpPr>
        <p:spPr>
          <a:xfrm>
            <a:off x="6340929" y="1521904"/>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Por qué va ahí</a:t>
            </a:r>
            <a:endParaRPr lang="en-US" sz="1300" dirty="0"/>
          </a:p>
        </p:txBody>
      </p:sp>
      <p:sp>
        <p:nvSpPr>
          <p:cNvPr id="18" name="Text 16"/>
          <p:cNvSpPr/>
          <p:nvPr/>
        </p:nvSpPr>
        <p:spPr>
          <a:xfrm>
            <a:off x="6340929" y="1758100"/>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Va abajo porque es la mitad de la cuenta del negocio: ingresos menos costos. Es la caja registradora.</a:t>
            </a:r>
            <a:endParaRPr lang="en-US" sz="1200" dirty="0"/>
          </a:p>
        </p:txBody>
      </p:sp>
      <p:sp>
        <p:nvSpPr>
          <p:cNvPr id="19" name="Shape 17"/>
          <p:cNvSpPr/>
          <p:nvPr/>
        </p:nvSpPr>
        <p:spPr>
          <a:xfrm>
            <a:off x="812800" y="2455131"/>
            <a:ext cx="5207000" cy="1208995"/>
          </a:xfrm>
          <a:prstGeom prst="roundRect">
            <a:avLst>
              <a:gd name="adj" fmla="val 7353"/>
            </a:avLst>
          </a:prstGeom>
          <a:solidFill>
            <a:srgbClr val="E9F6EC"/>
          </a:solidFill>
          <a:ln/>
        </p:spPr>
      </p:sp>
      <p:sp>
        <p:nvSpPr>
          <p:cNvPr id="20" name="Shape 18"/>
          <p:cNvSpPr/>
          <p:nvPr/>
        </p:nvSpPr>
        <p:spPr>
          <a:xfrm>
            <a:off x="812800" y="2455131"/>
            <a:ext cx="5207000" cy="1208995"/>
          </a:xfrm>
          <a:custGeom>
            <a:avLst/>
            <a:gdLst/>
            <a:ahLst/>
            <a:cxnLst/>
            <a:rect l="l" t="t" r="r" b="b"/>
            <a:pathLst>
              <a:path w="5207000" h="1208995">
                <a:moveTo>
                  <a:pt x="88900" y="1208995"/>
                </a:moveTo>
                <a:lnTo>
                  <a:pt x="88900" y="1208995"/>
                </a:lnTo>
                <a:arcTo hR="88900" wR="88900" stAng="5400000" swAng="5400000"/>
                <a:lnTo>
                  <a:pt x="0" y="88900"/>
                </a:lnTo>
                <a:arcTo hR="88900" wR="88900" stAng="10800000" swAng="5400000"/>
                <a:lnTo>
                  <a:pt x="88900" y="0"/>
                </a:lnTo>
                <a:arcTo hR="88900" wR="38100" stAng="16200000" swAng="-5400000"/>
                <a:lnTo>
                  <a:pt x="50800" y="1120095"/>
                </a:lnTo>
                <a:arcTo hR="88900" wR="38100" stAng="10800000" swAng="-5400000"/>
                <a:close/>
              </a:path>
            </a:pathLst>
          </a:custGeom>
          <a:solidFill>
            <a:srgbClr val="2E7D44"/>
          </a:solidFill>
          <a:ln/>
        </p:spPr>
      </p:sp>
      <p:sp>
        <p:nvSpPr>
          <p:cNvPr id="21" name="Text 19"/>
          <p:cNvSpPr/>
          <p:nvPr/>
        </p:nvSpPr>
        <p:spPr>
          <a:xfrm>
            <a:off x="1028700" y="2582131"/>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4D29"/>
                </a:solidFill>
                <a:latin typeface="Nunito Sans" pitchFamily="34" charset="0"/>
                <a:ea typeface="Nunito Sans" pitchFamily="34" charset="-122"/>
                <a:cs typeface="Nunito Sans" pitchFamily="34" charset="-120"/>
              </a:rPr>
              <a:t>Así sí · ConectaEDU</a:t>
            </a:r>
            <a:endParaRPr lang="en-US" sz="1400" dirty="0"/>
          </a:p>
        </p:txBody>
      </p:sp>
      <p:sp>
        <p:nvSpPr>
          <p:cNvPr id="22" name="Text 20"/>
          <p:cNvSpPr/>
          <p:nvPr/>
        </p:nvSpPr>
        <p:spPr>
          <a:xfrm>
            <a:off x="1028700" y="2846276"/>
            <a:ext cx="4970780" cy="452097"/>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1F3326"/>
                </a:solidFill>
                <a:latin typeface="Nunito Sans" pitchFamily="34" charset="0"/>
                <a:ea typeface="Nunito Sans" pitchFamily="34" charset="-122"/>
                <a:cs typeface="Nunito Sans" pitchFamily="34" charset="-120"/>
              </a:rPr>
              <a:t>«Suscripción del docente: USD 6 al mes por materia, con prueba gratis. Tarjeta o transferencia.»</a:t>
            </a:r>
            <a:endParaRPr lang="en-US" sz="1200" dirty="0"/>
          </a:p>
        </p:txBody>
      </p:sp>
      <p:sp>
        <p:nvSpPr>
          <p:cNvPr id="23" name="Text 21"/>
          <p:cNvSpPr/>
          <p:nvPr/>
        </p:nvSpPr>
        <p:spPr>
          <a:xfrm>
            <a:off x="1028700" y="3323772"/>
            <a:ext cx="499110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D29"/>
                </a:solidFill>
                <a:latin typeface="Nunito Sans" pitchFamily="34" charset="0"/>
                <a:ea typeface="Nunito Sans" pitchFamily="34" charset="-122"/>
                <a:cs typeface="Nunito Sans" pitchFamily="34" charset="-120"/>
              </a:rPr>
              <a:t>Precio, forma de cobro y una segunda hipótesis: licencia por facultad.</a:t>
            </a:r>
            <a:endParaRPr lang="en-US" sz="1200" dirty="0"/>
          </a:p>
        </p:txBody>
      </p:sp>
      <p:sp>
        <p:nvSpPr>
          <p:cNvPr id="24" name="Shape 22"/>
          <p:cNvSpPr/>
          <p:nvPr/>
        </p:nvSpPr>
        <p:spPr>
          <a:xfrm>
            <a:off x="6172200" y="2455131"/>
            <a:ext cx="5207000" cy="1208995"/>
          </a:xfrm>
          <a:prstGeom prst="roundRect">
            <a:avLst>
              <a:gd name="adj" fmla="val 7353"/>
            </a:avLst>
          </a:prstGeom>
          <a:solidFill>
            <a:srgbClr val="FBEAEA"/>
          </a:solidFill>
          <a:ln/>
        </p:spPr>
      </p:sp>
      <p:sp>
        <p:nvSpPr>
          <p:cNvPr id="25" name="Shape 23"/>
          <p:cNvSpPr/>
          <p:nvPr/>
        </p:nvSpPr>
        <p:spPr>
          <a:xfrm>
            <a:off x="6172200" y="2455131"/>
            <a:ext cx="5207000" cy="1208995"/>
          </a:xfrm>
          <a:custGeom>
            <a:avLst/>
            <a:gdLst/>
            <a:ahLst/>
            <a:cxnLst/>
            <a:rect l="l" t="t" r="r" b="b"/>
            <a:pathLst>
              <a:path w="5207000" h="1208995">
                <a:moveTo>
                  <a:pt x="88900" y="1208995"/>
                </a:moveTo>
                <a:lnTo>
                  <a:pt x="88900" y="1208995"/>
                </a:lnTo>
                <a:arcTo hR="88900" wR="88900" stAng="5400000" swAng="5400000"/>
                <a:lnTo>
                  <a:pt x="0" y="88900"/>
                </a:lnTo>
                <a:arcTo hR="88900" wR="88900" stAng="10800000" swAng="5400000"/>
                <a:lnTo>
                  <a:pt x="88900" y="0"/>
                </a:lnTo>
                <a:arcTo hR="88900" wR="38100" stAng="16200000" swAng="-5400000"/>
                <a:lnTo>
                  <a:pt x="50800" y="1120095"/>
                </a:lnTo>
                <a:arcTo hR="88900" wR="38100" stAng="10800000" swAng="-5400000"/>
                <a:close/>
              </a:path>
            </a:pathLst>
          </a:custGeom>
          <a:solidFill>
            <a:srgbClr val="B23A3A"/>
          </a:solidFill>
          <a:ln/>
        </p:spPr>
      </p:sp>
      <p:sp>
        <p:nvSpPr>
          <p:cNvPr id="26" name="Text 24"/>
          <p:cNvSpPr/>
          <p:nvPr/>
        </p:nvSpPr>
        <p:spPr>
          <a:xfrm>
            <a:off x="6388100" y="2582131"/>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6E2020"/>
                </a:solidFill>
                <a:latin typeface="Nunito Sans" pitchFamily="34" charset="0"/>
                <a:ea typeface="Nunito Sans" pitchFamily="34" charset="-122"/>
                <a:cs typeface="Nunito Sans" pitchFamily="34" charset="-120"/>
              </a:rPr>
              <a:t>Así no · Developers CARF (cliente 2)</a:t>
            </a:r>
            <a:endParaRPr lang="en-US" sz="1400" dirty="0"/>
          </a:p>
        </p:txBody>
      </p:sp>
      <p:sp>
        <p:nvSpPr>
          <p:cNvPr id="27" name="Text 25"/>
          <p:cNvSpPr/>
          <p:nvPr/>
        </p:nvSpPr>
        <p:spPr>
          <a:xfrm>
            <a:off x="6388100" y="2846276"/>
            <a:ext cx="4970780" cy="238749"/>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A1C1C"/>
                </a:solidFill>
                <a:latin typeface="Nunito Sans" pitchFamily="34" charset="0"/>
                <a:ea typeface="Nunito Sans" pitchFamily="34" charset="-122"/>
                <a:cs typeface="Nunito Sans" pitchFamily="34" charset="-120"/>
              </a:rPr>
              <a:t>«Retorno de inversión al reducir el costo por lead calificado.»</a:t>
            </a:r>
            <a:endParaRPr lang="en-US" sz="1200" dirty="0"/>
          </a:p>
        </p:txBody>
      </p:sp>
      <p:sp>
        <p:nvSpPr>
          <p:cNvPr id="28" name="Text 26"/>
          <p:cNvSpPr/>
          <p:nvPr/>
        </p:nvSpPr>
        <p:spPr>
          <a:xfrm>
            <a:off x="6388100" y="3110427"/>
            <a:ext cx="4970780" cy="45209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2020"/>
                </a:solidFill>
                <a:latin typeface="Nunito Sans" pitchFamily="34" charset="0"/>
                <a:ea typeface="Nunito Sans" pitchFamily="34" charset="-122"/>
                <a:cs typeface="Nunito Sans" pitchFamily="34" charset="-120"/>
              </a:rPr>
              <a:t>Corrección:</a:t>
            </a:r>
            <a:r>
              <a:rPr lang="en-US" sz="1200" dirty="0">
                <a:solidFill>
                  <a:srgbClr val="6E2020"/>
                </a:solidFill>
                <a:latin typeface="Nunito Sans" pitchFamily="34" charset="0"/>
                <a:ea typeface="Nunito Sans" pitchFamily="34" charset="-122"/>
                <a:cs typeface="Nunito Sans" pitchFamily="34" charset="-120"/>
              </a:rPr>
              <a:t> Es un beneficio para Admisiones, no dinero que entra. «Admisiones paga USD [__] al año por convenio».</a:t>
            </a:r>
            <a:endParaRPr lang="en-US" sz="1200" dirty="0"/>
          </a:p>
        </p:txBody>
      </p:sp>
      <p:sp>
        <p:nvSpPr>
          <p:cNvPr id="29" name="Text 27"/>
          <p:cNvSpPr/>
          <p:nvPr/>
        </p:nvSpPr>
        <p:spPr>
          <a:xfrm>
            <a:off x="812800" y="3816524"/>
            <a:ext cx="10566401" cy="493996"/>
          </a:xfrm>
          <a:prstGeom prst="roundRect">
            <a:avLst>
              <a:gd name="adj" fmla="val 17996"/>
            </a:avLst>
          </a:prstGeom>
          <a:solidFill>
            <a:srgbClr val="173E78"/>
          </a:solidFill>
          <a:ln/>
        </p:spPr>
        <p:txBody>
          <a:bodyPr wrap="square" lIns="164462" tIns="100962" rIns="0" bIns="75562" rtlCol="0" anchor="t">
            <a:normAutofit/>
          </a:bodyPr>
          <a:lstStyle/>
          <a:p>
            <a:pPr algn="l" indent="0" marL="0">
              <a:lnSpc>
                <a:spcPts val="1890"/>
              </a:lnSpc>
              <a:buNone/>
            </a:pPr>
            <a:r>
              <a:rPr lang="en-US" sz="1400" b="1" dirty="0">
                <a:solidFill>
                  <a:srgbClr val="F3F6FA"/>
                </a:solidFill>
                <a:latin typeface="Nunito Sans" pitchFamily="34" charset="0"/>
                <a:ea typeface="Nunito Sans" pitchFamily="34" charset="-122"/>
                <a:cs typeface="Nunito Sans" pitchFamily="34" charset="-120"/>
              </a:rPr>
              <a:t>Pregunta para la clase:</a:t>
            </a:r>
            <a:r>
              <a:rPr lang="en-US" sz="1400" dirty="0">
                <a:solidFill>
                  <a:srgbClr val="F3F6FA"/>
                </a:solidFill>
                <a:latin typeface="Nunito Sans" pitchFamily="34" charset="0"/>
                <a:ea typeface="Nunito Sans" pitchFamily="34" charset="-122"/>
                <a:cs typeface="Nunito Sans" pitchFamily="34" charset="-120"/>
              </a:rPr>
              <a:t> ¿Quién firma el pago en su proyecto y de qué presupuesto sale?</a:t>
            </a:r>
            <a:endParaRPr lang="en-US" sz="1400" dirty="0"/>
          </a:p>
        </p:txBody>
      </p:sp>
      <p:pic>
        <p:nvPicPr>
          <p:cNvPr id="30" name="Image 0" descr="Logo PUCE">    </p:cNvPr>
          <p:cNvPicPr>
            <a:picLocks noChangeAspect="1"/>
          </p:cNvPicPr>
          <p:nvPr/>
        </p:nvPicPr>
        <p:blipFill>
          <a:blip r:embed="rId1"/>
          <a:srcRect l="-436" r="-436" t="0" b="0"/>
          <a:stretch/>
        </p:blipFill>
        <p:spPr>
          <a:xfrm>
            <a:off x="812800" y="6184906"/>
            <a:ext cx="1016000" cy="279400"/>
          </a:xfrm>
          <a:prstGeom prst="rect">
            <a:avLst/>
          </a:prstGeom>
        </p:spPr>
      </p:pic>
      <p:sp>
        <p:nvSpPr>
          <p:cNvPr id="31" name="Text 28"/>
          <p:cNvSpPr/>
          <p:nvPr/>
        </p:nvSpPr>
        <p:spPr>
          <a:xfrm>
            <a:off x="8008847" y="6217903"/>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9474201" y="558800"/>
            <a:ext cx="360646" cy="781050"/>
          </a:xfrm>
          <a:prstGeom prst="roundRect">
            <a:avLst>
              <a:gd name="adj" fmla="val 7043"/>
            </a:avLst>
          </a:prstGeom>
          <a:solidFill>
            <a:srgbClr val="DCE3EA"/>
          </a:solidFill>
          <a:ln/>
        </p:spPr>
      </p:sp>
      <p:sp>
        <p:nvSpPr>
          <p:cNvPr id="3" name="Shape 1"/>
          <p:cNvSpPr/>
          <p:nvPr/>
        </p:nvSpPr>
        <p:spPr>
          <a:xfrm>
            <a:off x="9860246" y="558800"/>
            <a:ext cx="360703" cy="377825"/>
          </a:xfrm>
          <a:prstGeom prst="roundRect">
            <a:avLst>
              <a:gd name="adj" fmla="val 7042"/>
            </a:avLst>
          </a:prstGeom>
          <a:solidFill>
            <a:srgbClr val="DCE3EA"/>
          </a:solidFill>
          <a:ln/>
        </p:spPr>
      </p:sp>
      <p:sp>
        <p:nvSpPr>
          <p:cNvPr id="4" name="Shape 2"/>
          <p:cNvSpPr/>
          <p:nvPr/>
        </p:nvSpPr>
        <p:spPr>
          <a:xfrm>
            <a:off x="9860246" y="962025"/>
            <a:ext cx="360703" cy="377825"/>
          </a:xfrm>
          <a:prstGeom prst="roundRect">
            <a:avLst>
              <a:gd name="adj" fmla="val 7042"/>
            </a:avLst>
          </a:prstGeom>
          <a:solidFill>
            <a:srgbClr val="06B2B3"/>
          </a:solidFill>
          <a:ln/>
        </p:spPr>
      </p:sp>
      <p:sp>
        <p:nvSpPr>
          <p:cNvPr id="5" name="Shape 3"/>
          <p:cNvSpPr/>
          <p:nvPr/>
        </p:nvSpPr>
        <p:spPr>
          <a:xfrm>
            <a:off x="10246349" y="558800"/>
            <a:ext cx="360646" cy="781050"/>
          </a:xfrm>
          <a:prstGeom prst="roundRect">
            <a:avLst>
              <a:gd name="adj" fmla="val 7043"/>
            </a:avLst>
          </a:prstGeom>
          <a:solidFill>
            <a:srgbClr val="DCE3EA"/>
          </a:solidFill>
          <a:ln/>
        </p:spPr>
      </p:sp>
      <p:sp>
        <p:nvSpPr>
          <p:cNvPr id="6" name="Shape 4"/>
          <p:cNvSpPr/>
          <p:nvPr/>
        </p:nvSpPr>
        <p:spPr>
          <a:xfrm>
            <a:off x="10632395" y="558800"/>
            <a:ext cx="360703" cy="377825"/>
          </a:xfrm>
          <a:prstGeom prst="roundRect">
            <a:avLst>
              <a:gd name="adj" fmla="val 7042"/>
            </a:avLst>
          </a:prstGeom>
          <a:solidFill>
            <a:srgbClr val="DCE3EA"/>
          </a:solidFill>
          <a:ln/>
        </p:spPr>
      </p:sp>
      <p:sp>
        <p:nvSpPr>
          <p:cNvPr id="7" name="Shape 5"/>
          <p:cNvSpPr/>
          <p:nvPr/>
        </p:nvSpPr>
        <p:spPr>
          <a:xfrm>
            <a:off x="10632395" y="962025"/>
            <a:ext cx="360703" cy="377825"/>
          </a:xfrm>
          <a:prstGeom prst="roundRect">
            <a:avLst>
              <a:gd name="adj" fmla="val 7042"/>
            </a:avLst>
          </a:prstGeom>
          <a:solidFill>
            <a:srgbClr val="DCE3EA"/>
          </a:solidFill>
          <a:ln/>
        </p:spPr>
      </p:sp>
      <p:sp>
        <p:nvSpPr>
          <p:cNvPr id="8" name="Shape 6"/>
          <p:cNvSpPr/>
          <p:nvPr/>
        </p:nvSpPr>
        <p:spPr>
          <a:xfrm>
            <a:off x="11018498" y="558800"/>
            <a:ext cx="360703" cy="781050"/>
          </a:xfrm>
          <a:prstGeom prst="roundRect">
            <a:avLst>
              <a:gd name="adj" fmla="val 7042"/>
            </a:avLst>
          </a:prstGeom>
          <a:solidFill>
            <a:srgbClr val="DCE3EA"/>
          </a:solidFill>
          <a:ln/>
        </p:spPr>
      </p:sp>
      <p:sp>
        <p:nvSpPr>
          <p:cNvPr id="9" name="Shape 7"/>
          <p:cNvSpPr/>
          <p:nvPr/>
        </p:nvSpPr>
        <p:spPr>
          <a:xfrm>
            <a:off x="9474201" y="1365250"/>
            <a:ext cx="939800" cy="260350"/>
          </a:xfrm>
          <a:prstGeom prst="roundRect">
            <a:avLst>
              <a:gd name="adj" fmla="val 9756"/>
            </a:avLst>
          </a:prstGeom>
          <a:solidFill>
            <a:srgbClr val="DCE3EA"/>
          </a:solidFill>
          <a:ln/>
        </p:spPr>
      </p:sp>
      <p:sp>
        <p:nvSpPr>
          <p:cNvPr id="10" name="Shape 8"/>
          <p:cNvSpPr/>
          <p:nvPr/>
        </p:nvSpPr>
        <p:spPr>
          <a:xfrm>
            <a:off x="10439401" y="1365250"/>
            <a:ext cx="939800" cy="260350"/>
          </a:xfrm>
          <a:prstGeom prst="roundRect">
            <a:avLst>
              <a:gd name="adj" fmla="val 9756"/>
            </a:avLst>
          </a:prstGeom>
          <a:solidFill>
            <a:srgbClr val="DCE3EA"/>
          </a:solidFill>
          <a:ln/>
        </p:spPr>
      </p:sp>
      <p:sp>
        <p:nvSpPr>
          <p:cNvPr id="11" name="Text 9"/>
          <p:cNvSpPr/>
          <p:nvPr/>
        </p:nvSpPr>
        <p:spPr>
          <a:xfrm>
            <a:off x="812800" y="609600"/>
            <a:ext cx="8502650"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BLOQUE 6 DE 9 · LA OPERACIÓN</a:t>
            </a:r>
            <a:endParaRPr lang="en-US" sz="1200" dirty="0"/>
          </a:p>
        </p:txBody>
      </p:sp>
      <p:sp>
        <p:nvSpPr>
          <p:cNvPr id="12" name="Text 10"/>
          <p:cNvSpPr/>
          <p:nvPr>
            <p:ph type="title"/>
          </p:nvPr>
        </p:nvSpPr>
        <p:spPr>
          <a:xfrm>
            <a:off x="812800" y="886445"/>
            <a:ext cx="8502650"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Recursos clave</a:t>
            </a:r>
            <a:endParaRPr lang="en-US" sz="2500" dirty="0"/>
          </a:p>
        </p:txBody>
      </p:sp>
      <p:sp>
        <p:nvSpPr>
          <p:cNvPr id="13" name="Shape 11"/>
          <p:cNvSpPr/>
          <p:nvPr/>
        </p:nvSpPr>
        <p:spPr>
          <a:xfrm>
            <a:off x="815975" y="1407145"/>
            <a:ext cx="5200650" cy="892402"/>
          </a:xfrm>
          <a:prstGeom prst="roundRect">
            <a:avLst>
              <a:gd name="adj" fmla="val 9606"/>
            </a:avLst>
          </a:prstGeom>
          <a:solidFill>
            <a:srgbClr val="FDFDFB"/>
          </a:solidFill>
          <a:ln w="6350">
            <a:solidFill>
              <a:srgbClr val="DCE3EA"/>
            </a:solidFill>
            <a:prstDash val="solid"/>
          </a:ln>
        </p:spPr>
      </p:sp>
      <p:sp>
        <p:nvSpPr>
          <p:cNvPr id="14" name="Text 12"/>
          <p:cNvSpPr/>
          <p:nvPr/>
        </p:nvSpPr>
        <p:spPr>
          <a:xfrm>
            <a:off x="981529" y="1521898"/>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Qué es · ¿Qué necesitamos tener?</a:t>
            </a:r>
            <a:endParaRPr lang="en-US" sz="1300" dirty="0"/>
          </a:p>
        </p:txBody>
      </p:sp>
      <p:sp>
        <p:nvSpPr>
          <p:cNvPr id="15" name="Text 13"/>
          <p:cNvSpPr/>
          <p:nvPr/>
        </p:nvSpPr>
        <p:spPr>
          <a:xfrm>
            <a:off x="981529" y="1758094"/>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Lo indispensable para que el modelo funcione: tecnología, personas, datos, dinero, permisos.</a:t>
            </a:r>
            <a:endParaRPr lang="en-US" sz="1200" dirty="0"/>
          </a:p>
        </p:txBody>
      </p:sp>
      <p:sp>
        <p:nvSpPr>
          <p:cNvPr id="16" name="Shape 14"/>
          <p:cNvSpPr/>
          <p:nvPr/>
        </p:nvSpPr>
        <p:spPr>
          <a:xfrm>
            <a:off x="6175375" y="1407145"/>
            <a:ext cx="5200650" cy="892402"/>
          </a:xfrm>
          <a:prstGeom prst="roundRect">
            <a:avLst>
              <a:gd name="adj" fmla="val 9606"/>
            </a:avLst>
          </a:prstGeom>
          <a:solidFill>
            <a:srgbClr val="FDFDFB"/>
          </a:solidFill>
          <a:ln w="6350">
            <a:solidFill>
              <a:srgbClr val="DCE3EA"/>
            </a:solidFill>
            <a:prstDash val="solid"/>
          </a:ln>
        </p:spPr>
      </p:sp>
      <p:sp>
        <p:nvSpPr>
          <p:cNvPr id="17" name="Text 15"/>
          <p:cNvSpPr/>
          <p:nvPr/>
        </p:nvSpPr>
        <p:spPr>
          <a:xfrm>
            <a:off x="6340929" y="1521898"/>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Por qué va ahí</a:t>
            </a:r>
            <a:endParaRPr lang="en-US" sz="1300" dirty="0"/>
          </a:p>
        </p:txBody>
      </p:sp>
      <p:sp>
        <p:nvSpPr>
          <p:cNvPr id="18" name="Text 16"/>
          <p:cNvSpPr/>
          <p:nvPr/>
        </p:nvSpPr>
        <p:spPr>
          <a:xfrm>
            <a:off x="6340929" y="1758094"/>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Va a la izquierda, en la cocina del negocio. Son los ingredientes sin los que no hay plato.</a:t>
            </a:r>
            <a:endParaRPr lang="en-US" sz="1200" dirty="0"/>
          </a:p>
        </p:txBody>
      </p:sp>
      <p:sp>
        <p:nvSpPr>
          <p:cNvPr id="19" name="Shape 17"/>
          <p:cNvSpPr/>
          <p:nvPr/>
        </p:nvSpPr>
        <p:spPr>
          <a:xfrm>
            <a:off x="812800" y="2455125"/>
            <a:ext cx="5207000" cy="1208995"/>
          </a:xfrm>
          <a:prstGeom prst="roundRect">
            <a:avLst>
              <a:gd name="adj" fmla="val 7353"/>
            </a:avLst>
          </a:prstGeom>
          <a:solidFill>
            <a:srgbClr val="E9F6EC"/>
          </a:solidFill>
          <a:ln/>
        </p:spPr>
      </p:sp>
      <p:sp>
        <p:nvSpPr>
          <p:cNvPr id="20" name="Shape 18"/>
          <p:cNvSpPr/>
          <p:nvPr/>
        </p:nvSpPr>
        <p:spPr>
          <a:xfrm>
            <a:off x="812800" y="2455125"/>
            <a:ext cx="5207000" cy="1208995"/>
          </a:xfrm>
          <a:custGeom>
            <a:avLst/>
            <a:gdLst/>
            <a:ahLst/>
            <a:cxnLst/>
            <a:rect l="l" t="t" r="r" b="b"/>
            <a:pathLst>
              <a:path w="5207000" h="1208995">
                <a:moveTo>
                  <a:pt x="88900" y="1208995"/>
                </a:moveTo>
                <a:lnTo>
                  <a:pt x="88900" y="1208995"/>
                </a:lnTo>
                <a:arcTo hR="88900" wR="88900" stAng="5400000" swAng="5400000"/>
                <a:lnTo>
                  <a:pt x="0" y="88900"/>
                </a:lnTo>
                <a:arcTo hR="88900" wR="88900" stAng="10800000" swAng="5400000"/>
                <a:lnTo>
                  <a:pt x="88900" y="0"/>
                </a:lnTo>
                <a:arcTo hR="88900" wR="38100" stAng="16200000" swAng="-5400000"/>
                <a:lnTo>
                  <a:pt x="50800" y="1120095"/>
                </a:lnTo>
                <a:arcTo hR="88900" wR="38100" stAng="10800000" swAng="-5400000"/>
                <a:close/>
              </a:path>
            </a:pathLst>
          </a:custGeom>
          <a:solidFill>
            <a:srgbClr val="2E7D44"/>
          </a:solidFill>
          <a:ln/>
        </p:spPr>
      </p:sp>
      <p:sp>
        <p:nvSpPr>
          <p:cNvPr id="21" name="Text 19"/>
          <p:cNvSpPr/>
          <p:nvPr/>
        </p:nvSpPr>
        <p:spPr>
          <a:xfrm>
            <a:off x="1028700" y="2582125"/>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4D29"/>
                </a:solidFill>
                <a:latin typeface="Nunito Sans" pitchFamily="34" charset="0"/>
                <a:ea typeface="Nunito Sans" pitchFamily="34" charset="-122"/>
                <a:cs typeface="Nunito Sans" pitchFamily="34" charset="-120"/>
              </a:rPr>
              <a:t>Así sí · ECduLearn</a:t>
            </a:r>
            <a:endParaRPr lang="en-US" sz="1400" dirty="0"/>
          </a:p>
        </p:txBody>
      </p:sp>
      <p:sp>
        <p:nvSpPr>
          <p:cNvPr id="22" name="Text 20"/>
          <p:cNvSpPr/>
          <p:nvPr/>
        </p:nvSpPr>
        <p:spPr>
          <a:xfrm>
            <a:off x="1028700" y="2846270"/>
            <a:ext cx="4970780" cy="452097"/>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1F3326"/>
                </a:solidFill>
                <a:latin typeface="Nunito Sans" pitchFamily="34" charset="0"/>
                <a:ea typeface="Nunito Sans" pitchFamily="34" charset="-122"/>
                <a:cs typeface="Nunito Sans" pitchFamily="34" charset="-120"/>
              </a:rPr>
              <a:t>«Plataforma web (React + Supabase), APIs de IA, base de datos de métricas de razonamiento, equipo de desarrollo.»</a:t>
            </a:r>
            <a:endParaRPr lang="en-US" sz="1200" dirty="0"/>
          </a:p>
        </p:txBody>
      </p:sp>
      <p:sp>
        <p:nvSpPr>
          <p:cNvPr id="23" name="Text 21"/>
          <p:cNvSpPr/>
          <p:nvPr/>
        </p:nvSpPr>
        <p:spPr>
          <a:xfrm>
            <a:off x="1028700" y="3323766"/>
            <a:ext cx="497078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D29"/>
                </a:solidFill>
                <a:latin typeface="Nunito Sans" pitchFamily="34" charset="0"/>
                <a:ea typeface="Nunito Sans" pitchFamily="34" charset="-122"/>
                <a:cs typeface="Nunito Sans" pitchFamily="34" charset="-120"/>
              </a:rPr>
              <a:t>Cosas concretas que se pueden listar y costear.</a:t>
            </a:r>
            <a:endParaRPr lang="en-US" sz="1200" dirty="0"/>
          </a:p>
        </p:txBody>
      </p:sp>
      <p:sp>
        <p:nvSpPr>
          <p:cNvPr id="24" name="Shape 22"/>
          <p:cNvSpPr/>
          <p:nvPr/>
        </p:nvSpPr>
        <p:spPr>
          <a:xfrm>
            <a:off x="6172200" y="2455125"/>
            <a:ext cx="5207000" cy="1208995"/>
          </a:xfrm>
          <a:prstGeom prst="roundRect">
            <a:avLst>
              <a:gd name="adj" fmla="val 7353"/>
            </a:avLst>
          </a:prstGeom>
          <a:solidFill>
            <a:srgbClr val="FBEAEA"/>
          </a:solidFill>
          <a:ln/>
        </p:spPr>
      </p:sp>
      <p:sp>
        <p:nvSpPr>
          <p:cNvPr id="25" name="Shape 23"/>
          <p:cNvSpPr/>
          <p:nvPr/>
        </p:nvSpPr>
        <p:spPr>
          <a:xfrm>
            <a:off x="6172200" y="2455125"/>
            <a:ext cx="5207000" cy="1208995"/>
          </a:xfrm>
          <a:custGeom>
            <a:avLst/>
            <a:gdLst/>
            <a:ahLst/>
            <a:cxnLst/>
            <a:rect l="l" t="t" r="r" b="b"/>
            <a:pathLst>
              <a:path w="5207000" h="1208995">
                <a:moveTo>
                  <a:pt x="88900" y="1208995"/>
                </a:moveTo>
                <a:lnTo>
                  <a:pt x="88900" y="1208995"/>
                </a:lnTo>
                <a:arcTo hR="88900" wR="88900" stAng="5400000" swAng="5400000"/>
                <a:lnTo>
                  <a:pt x="0" y="88900"/>
                </a:lnTo>
                <a:arcTo hR="88900" wR="88900" stAng="10800000" swAng="5400000"/>
                <a:lnTo>
                  <a:pt x="88900" y="0"/>
                </a:lnTo>
                <a:arcTo hR="88900" wR="38100" stAng="16200000" swAng="-5400000"/>
                <a:lnTo>
                  <a:pt x="50800" y="1120095"/>
                </a:lnTo>
                <a:arcTo hR="88900" wR="38100" stAng="10800000" swAng="-5400000"/>
                <a:close/>
              </a:path>
            </a:pathLst>
          </a:custGeom>
          <a:solidFill>
            <a:srgbClr val="B23A3A"/>
          </a:solidFill>
          <a:ln/>
        </p:spPr>
      </p:sp>
      <p:sp>
        <p:nvSpPr>
          <p:cNvPr id="26" name="Text 24"/>
          <p:cNvSpPr/>
          <p:nvPr/>
        </p:nvSpPr>
        <p:spPr>
          <a:xfrm>
            <a:off x="6388100" y="2582125"/>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6E2020"/>
                </a:solidFill>
                <a:latin typeface="Nunito Sans" pitchFamily="34" charset="0"/>
                <a:ea typeface="Nunito Sans" pitchFamily="34" charset="-122"/>
                <a:cs typeface="Nunito Sans" pitchFamily="34" charset="-120"/>
              </a:rPr>
              <a:t>Así no · Developers CARF</a:t>
            </a:r>
            <a:endParaRPr lang="en-US" sz="1400" dirty="0"/>
          </a:p>
        </p:txBody>
      </p:sp>
      <p:sp>
        <p:nvSpPr>
          <p:cNvPr id="27" name="Text 25"/>
          <p:cNvSpPr/>
          <p:nvPr/>
        </p:nvSpPr>
        <p:spPr>
          <a:xfrm>
            <a:off x="6388100" y="2846270"/>
            <a:ext cx="4970780" cy="238749"/>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A1C1C"/>
                </a:solidFill>
                <a:latin typeface="Nunito Sans" pitchFamily="34" charset="0"/>
                <a:ea typeface="Nunito Sans" pitchFamily="34" charset="-122"/>
                <a:cs typeface="Nunito Sans" pitchFamily="34" charset="-120"/>
              </a:rPr>
              <a:t>«Solución de software potenciada por modelos de IA LLM.»</a:t>
            </a:r>
            <a:endParaRPr lang="en-US" sz="1200" dirty="0"/>
          </a:p>
        </p:txBody>
      </p:sp>
      <p:sp>
        <p:nvSpPr>
          <p:cNvPr id="28" name="Text 26"/>
          <p:cNvSpPr/>
          <p:nvPr/>
        </p:nvSpPr>
        <p:spPr>
          <a:xfrm>
            <a:off x="6388100" y="3110421"/>
            <a:ext cx="4970780" cy="45209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2020"/>
                </a:solidFill>
                <a:latin typeface="Nunito Sans" pitchFamily="34" charset="0"/>
                <a:ea typeface="Nunito Sans" pitchFamily="34" charset="-122"/>
                <a:cs typeface="Nunito Sans" pitchFamily="34" charset="-120"/>
              </a:rPr>
              <a:t>Corrección:</a:t>
            </a:r>
            <a:r>
              <a:rPr lang="en-US" sz="1200" dirty="0">
                <a:solidFill>
                  <a:srgbClr val="6E2020"/>
                </a:solidFill>
                <a:latin typeface="Nunito Sans" pitchFamily="34" charset="0"/>
                <a:ea typeface="Nunito Sans" pitchFamily="34" charset="-122"/>
                <a:cs typeface="Nunito Sans" pitchFamily="34" charset="-120"/>
              </a:rPr>
              <a:t> Eso es el producto. «Banco de mini-retos validado por directores de carrera y datos de la oferta académica».</a:t>
            </a:r>
            <a:endParaRPr lang="en-US" sz="1200" dirty="0"/>
          </a:p>
        </p:txBody>
      </p:sp>
      <p:sp>
        <p:nvSpPr>
          <p:cNvPr id="29" name="Text 27"/>
          <p:cNvSpPr/>
          <p:nvPr/>
        </p:nvSpPr>
        <p:spPr>
          <a:xfrm>
            <a:off x="812800" y="3816517"/>
            <a:ext cx="10566401" cy="493996"/>
          </a:xfrm>
          <a:prstGeom prst="roundRect">
            <a:avLst>
              <a:gd name="adj" fmla="val 17996"/>
            </a:avLst>
          </a:prstGeom>
          <a:solidFill>
            <a:srgbClr val="173E78"/>
          </a:solidFill>
          <a:ln/>
        </p:spPr>
        <p:txBody>
          <a:bodyPr wrap="square" lIns="164462" tIns="100962" rIns="0" bIns="75562" rtlCol="0" anchor="t">
            <a:normAutofit/>
          </a:bodyPr>
          <a:lstStyle/>
          <a:p>
            <a:pPr algn="l" indent="0" marL="0">
              <a:lnSpc>
                <a:spcPts val="1890"/>
              </a:lnSpc>
              <a:buNone/>
            </a:pPr>
            <a:r>
              <a:rPr lang="en-US" sz="1400" b="1" dirty="0">
                <a:solidFill>
                  <a:srgbClr val="F3F6FA"/>
                </a:solidFill>
                <a:latin typeface="Nunito Sans" pitchFamily="34" charset="0"/>
                <a:ea typeface="Nunito Sans" pitchFamily="34" charset="-122"/>
                <a:cs typeface="Nunito Sans" pitchFamily="34" charset="-120"/>
              </a:rPr>
              <a:t>Pregunta para la clase:</a:t>
            </a:r>
            <a:r>
              <a:rPr lang="en-US" sz="1400" dirty="0">
                <a:solidFill>
                  <a:srgbClr val="F3F6FA"/>
                </a:solidFill>
                <a:latin typeface="Nunito Sans" pitchFamily="34" charset="0"/>
                <a:ea typeface="Nunito Sans" pitchFamily="34" charset="-122"/>
                <a:cs typeface="Nunito Sans" pitchFamily="34" charset="-120"/>
              </a:rPr>
              <a:t> ¿Qué recurso tienen hoy que un competidor no podría copiar en un mes?</a:t>
            </a:r>
            <a:endParaRPr lang="en-US" sz="1400" dirty="0"/>
          </a:p>
        </p:txBody>
      </p:sp>
      <p:pic>
        <p:nvPicPr>
          <p:cNvPr id="30"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31" name="Text 28"/>
          <p:cNvSpPr/>
          <p:nvPr/>
        </p:nvSpPr>
        <p:spPr>
          <a:xfrm>
            <a:off x="8008847" y="6217896"/>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9474201" y="558800"/>
            <a:ext cx="360646" cy="781050"/>
          </a:xfrm>
          <a:prstGeom prst="roundRect">
            <a:avLst>
              <a:gd name="adj" fmla="val 7043"/>
            </a:avLst>
          </a:prstGeom>
          <a:solidFill>
            <a:srgbClr val="DCE3EA"/>
          </a:solidFill>
          <a:ln/>
        </p:spPr>
      </p:sp>
      <p:sp>
        <p:nvSpPr>
          <p:cNvPr id="3" name="Shape 1"/>
          <p:cNvSpPr/>
          <p:nvPr/>
        </p:nvSpPr>
        <p:spPr>
          <a:xfrm>
            <a:off x="9860246" y="558800"/>
            <a:ext cx="360703" cy="377825"/>
          </a:xfrm>
          <a:prstGeom prst="roundRect">
            <a:avLst>
              <a:gd name="adj" fmla="val 7042"/>
            </a:avLst>
          </a:prstGeom>
          <a:solidFill>
            <a:srgbClr val="06B2B3"/>
          </a:solidFill>
          <a:ln/>
        </p:spPr>
      </p:sp>
      <p:sp>
        <p:nvSpPr>
          <p:cNvPr id="4" name="Shape 2"/>
          <p:cNvSpPr/>
          <p:nvPr/>
        </p:nvSpPr>
        <p:spPr>
          <a:xfrm>
            <a:off x="9860246" y="962025"/>
            <a:ext cx="360703" cy="377825"/>
          </a:xfrm>
          <a:prstGeom prst="roundRect">
            <a:avLst>
              <a:gd name="adj" fmla="val 7042"/>
            </a:avLst>
          </a:prstGeom>
          <a:solidFill>
            <a:srgbClr val="DCE3EA"/>
          </a:solidFill>
          <a:ln/>
        </p:spPr>
      </p:sp>
      <p:sp>
        <p:nvSpPr>
          <p:cNvPr id="5" name="Shape 3"/>
          <p:cNvSpPr/>
          <p:nvPr/>
        </p:nvSpPr>
        <p:spPr>
          <a:xfrm>
            <a:off x="10246349" y="558800"/>
            <a:ext cx="360646" cy="781050"/>
          </a:xfrm>
          <a:prstGeom prst="roundRect">
            <a:avLst>
              <a:gd name="adj" fmla="val 7043"/>
            </a:avLst>
          </a:prstGeom>
          <a:solidFill>
            <a:srgbClr val="DCE3EA"/>
          </a:solidFill>
          <a:ln/>
        </p:spPr>
      </p:sp>
      <p:sp>
        <p:nvSpPr>
          <p:cNvPr id="6" name="Shape 4"/>
          <p:cNvSpPr/>
          <p:nvPr/>
        </p:nvSpPr>
        <p:spPr>
          <a:xfrm>
            <a:off x="10632395" y="558800"/>
            <a:ext cx="360703" cy="377825"/>
          </a:xfrm>
          <a:prstGeom prst="roundRect">
            <a:avLst>
              <a:gd name="adj" fmla="val 7042"/>
            </a:avLst>
          </a:prstGeom>
          <a:solidFill>
            <a:srgbClr val="DCE3EA"/>
          </a:solidFill>
          <a:ln/>
        </p:spPr>
      </p:sp>
      <p:sp>
        <p:nvSpPr>
          <p:cNvPr id="7" name="Shape 5"/>
          <p:cNvSpPr/>
          <p:nvPr/>
        </p:nvSpPr>
        <p:spPr>
          <a:xfrm>
            <a:off x="10632395" y="962025"/>
            <a:ext cx="360703" cy="377825"/>
          </a:xfrm>
          <a:prstGeom prst="roundRect">
            <a:avLst>
              <a:gd name="adj" fmla="val 7042"/>
            </a:avLst>
          </a:prstGeom>
          <a:solidFill>
            <a:srgbClr val="DCE3EA"/>
          </a:solidFill>
          <a:ln/>
        </p:spPr>
      </p:sp>
      <p:sp>
        <p:nvSpPr>
          <p:cNvPr id="8" name="Shape 6"/>
          <p:cNvSpPr/>
          <p:nvPr/>
        </p:nvSpPr>
        <p:spPr>
          <a:xfrm>
            <a:off x="11018498" y="558800"/>
            <a:ext cx="360703" cy="781050"/>
          </a:xfrm>
          <a:prstGeom prst="roundRect">
            <a:avLst>
              <a:gd name="adj" fmla="val 7042"/>
            </a:avLst>
          </a:prstGeom>
          <a:solidFill>
            <a:srgbClr val="DCE3EA"/>
          </a:solidFill>
          <a:ln/>
        </p:spPr>
      </p:sp>
      <p:sp>
        <p:nvSpPr>
          <p:cNvPr id="9" name="Shape 7"/>
          <p:cNvSpPr/>
          <p:nvPr/>
        </p:nvSpPr>
        <p:spPr>
          <a:xfrm>
            <a:off x="9474201" y="1365250"/>
            <a:ext cx="939800" cy="260350"/>
          </a:xfrm>
          <a:prstGeom prst="roundRect">
            <a:avLst>
              <a:gd name="adj" fmla="val 9756"/>
            </a:avLst>
          </a:prstGeom>
          <a:solidFill>
            <a:srgbClr val="DCE3EA"/>
          </a:solidFill>
          <a:ln/>
        </p:spPr>
      </p:sp>
      <p:sp>
        <p:nvSpPr>
          <p:cNvPr id="10" name="Shape 8"/>
          <p:cNvSpPr/>
          <p:nvPr/>
        </p:nvSpPr>
        <p:spPr>
          <a:xfrm>
            <a:off x="10439401" y="1365250"/>
            <a:ext cx="939800" cy="260350"/>
          </a:xfrm>
          <a:prstGeom prst="roundRect">
            <a:avLst>
              <a:gd name="adj" fmla="val 9756"/>
            </a:avLst>
          </a:prstGeom>
          <a:solidFill>
            <a:srgbClr val="DCE3EA"/>
          </a:solidFill>
          <a:ln/>
        </p:spPr>
      </p:sp>
      <p:sp>
        <p:nvSpPr>
          <p:cNvPr id="11" name="Text 9"/>
          <p:cNvSpPr/>
          <p:nvPr/>
        </p:nvSpPr>
        <p:spPr>
          <a:xfrm>
            <a:off x="812800" y="609600"/>
            <a:ext cx="8502650"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BLOQUE 7 DE 9 · LA OPERACIÓN</a:t>
            </a:r>
            <a:endParaRPr lang="en-US" sz="1200" dirty="0"/>
          </a:p>
        </p:txBody>
      </p:sp>
      <p:sp>
        <p:nvSpPr>
          <p:cNvPr id="12" name="Text 10"/>
          <p:cNvSpPr/>
          <p:nvPr>
            <p:ph type="title"/>
          </p:nvPr>
        </p:nvSpPr>
        <p:spPr>
          <a:xfrm>
            <a:off x="812800" y="886445"/>
            <a:ext cx="8502650"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Actividades clave</a:t>
            </a:r>
            <a:endParaRPr lang="en-US" sz="2500" dirty="0"/>
          </a:p>
        </p:txBody>
      </p:sp>
      <p:sp>
        <p:nvSpPr>
          <p:cNvPr id="13" name="Shape 11"/>
          <p:cNvSpPr/>
          <p:nvPr/>
        </p:nvSpPr>
        <p:spPr>
          <a:xfrm>
            <a:off x="815975" y="1407145"/>
            <a:ext cx="5200650" cy="892402"/>
          </a:xfrm>
          <a:prstGeom prst="roundRect">
            <a:avLst>
              <a:gd name="adj" fmla="val 9606"/>
            </a:avLst>
          </a:prstGeom>
          <a:solidFill>
            <a:srgbClr val="FDFDFB"/>
          </a:solidFill>
          <a:ln w="6350">
            <a:solidFill>
              <a:srgbClr val="DCE3EA"/>
            </a:solidFill>
            <a:prstDash val="solid"/>
          </a:ln>
        </p:spPr>
      </p:sp>
      <p:sp>
        <p:nvSpPr>
          <p:cNvPr id="14" name="Text 12"/>
          <p:cNvSpPr/>
          <p:nvPr/>
        </p:nvSpPr>
        <p:spPr>
          <a:xfrm>
            <a:off x="981529" y="1521898"/>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Qué es · ¿Qué tenemos que hacer bien todos los días?</a:t>
            </a:r>
            <a:endParaRPr lang="en-US" sz="1300" dirty="0"/>
          </a:p>
        </p:txBody>
      </p:sp>
      <p:sp>
        <p:nvSpPr>
          <p:cNvPr id="15" name="Text 13"/>
          <p:cNvSpPr/>
          <p:nvPr/>
        </p:nvSpPr>
        <p:spPr>
          <a:xfrm>
            <a:off x="981529" y="1758094"/>
            <a:ext cx="5015629"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Las acciones que sostienen la propuesta, escritas con verbos.</a:t>
            </a:r>
            <a:endParaRPr lang="en-US" sz="1200" dirty="0"/>
          </a:p>
        </p:txBody>
      </p:sp>
      <p:sp>
        <p:nvSpPr>
          <p:cNvPr id="16" name="Shape 14"/>
          <p:cNvSpPr/>
          <p:nvPr/>
        </p:nvSpPr>
        <p:spPr>
          <a:xfrm>
            <a:off x="6175375" y="1407145"/>
            <a:ext cx="5200650" cy="892402"/>
          </a:xfrm>
          <a:prstGeom prst="roundRect">
            <a:avLst>
              <a:gd name="adj" fmla="val 9606"/>
            </a:avLst>
          </a:prstGeom>
          <a:solidFill>
            <a:srgbClr val="FDFDFB"/>
          </a:solidFill>
          <a:ln w="6350">
            <a:solidFill>
              <a:srgbClr val="DCE3EA"/>
            </a:solidFill>
            <a:prstDash val="solid"/>
          </a:ln>
        </p:spPr>
      </p:sp>
      <p:sp>
        <p:nvSpPr>
          <p:cNvPr id="17" name="Text 15"/>
          <p:cNvSpPr/>
          <p:nvPr/>
        </p:nvSpPr>
        <p:spPr>
          <a:xfrm>
            <a:off x="6340929" y="1521898"/>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Por qué va ahí</a:t>
            </a:r>
            <a:endParaRPr lang="en-US" sz="1300" dirty="0"/>
          </a:p>
        </p:txBody>
      </p:sp>
      <p:sp>
        <p:nvSpPr>
          <p:cNvPr id="18" name="Text 16"/>
          <p:cNvSpPr/>
          <p:nvPr/>
        </p:nvSpPr>
        <p:spPr>
          <a:xfrm>
            <a:off x="6340929" y="1758094"/>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Va en la cocina: es la rutina antes de abrir el restaurante. Si no se hace, la promesa no se cumple.</a:t>
            </a:r>
            <a:endParaRPr lang="en-US" sz="1200" dirty="0"/>
          </a:p>
        </p:txBody>
      </p:sp>
      <p:sp>
        <p:nvSpPr>
          <p:cNvPr id="19" name="Shape 17"/>
          <p:cNvSpPr/>
          <p:nvPr/>
        </p:nvSpPr>
        <p:spPr>
          <a:xfrm>
            <a:off x="812800" y="2455125"/>
            <a:ext cx="5207000" cy="1208995"/>
          </a:xfrm>
          <a:prstGeom prst="roundRect">
            <a:avLst>
              <a:gd name="adj" fmla="val 7353"/>
            </a:avLst>
          </a:prstGeom>
          <a:solidFill>
            <a:srgbClr val="E9F6EC"/>
          </a:solidFill>
          <a:ln/>
        </p:spPr>
      </p:sp>
      <p:sp>
        <p:nvSpPr>
          <p:cNvPr id="20" name="Shape 18"/>
          <p:cNvSpPr/>
          <p:nvPr/>
        </p:nvSpPr>
        <p:spPr>
          <a:xfrm>
            <a:off x="812800" y="2455125"/>
            <a:ext cx="5207000" cy="1208995"/>
          </a:xfrm>
          <a:custGeom>
            <a:avLst/>
            <a:gdLst/>
            <a:ahLst/>
            <a:cxnLst/>
            <a:rect l="l" t="t" r="r" b="b"/>
            <a:pathLst>
              <a:path w="5207000" h="1208995">
                <a:moveTo>
                  <a:pt x="88900" y="1208995"/>
                </a:moveTo>
                <a:lnTo>
                  <a:pt x="88900" y="1208995"/>
                </a:lnTo>
                <a:arcTo hR="88900" wR="88900" stAng="5400000" swAng="5400000"/>
                <a:lnTo>
                  <a:pt x="0" y="88900"/>
                </a:lnTo>
                <a:arcTo hR="88900" wR="88900" stAng="10800000" swAng="5400000"/>
                <a:lnTo>
                  <a:pt x="88900" y="0"/>
                </a:lnTo>
                <a:arcTo hR="88900" wR="38100" stAng="16200000" swAng="-5400000"/>
                <a:lnTo>
                  <a:pt x="50800" y="1120095"/>
                </a:lnTo>
                <a:arcTo hR="88900" wR="38100" stAng="10800000" swAng="-5400000"/>
                <a:close/>
              </a:path>
            </a:pathLst>
          </a:custGeom>
          <a:solidFill>
            <a:srgbClr val="2E7D44"/>
          </a:solidFill>
          <a:ln/>
        </p:spPr>
      </p:sp>
      <p:sp>
        <p:nvSpPr>
          <p:cNvPr id="21" name="Text 19"/>
          <p:cNvSpPr/>
          <p:nvPr/>
        </p:nvSpPr>
        <p:spPr>
          <a:xfrm>
            <a:off x="1028700" y="2582125"/>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4D29"/>
                </a:solidFill>
                <a:latin typeface="Nunito Sans" pitchFamily="34" charset="0"/>
                <a:ea typeface="Nunito Sans" pitchFamily="34" charset="-122"/>
                <a:cs typeface="Nunito Sans" pitchFamily="34" charset="-120"/>
              </a:rPr>
              <a:t>Así sí · Bocadoo</a:t>
            </a:r>
            <a:endParaRPr lang="en-US" sz="1400" dirty="0"/>
          </a:p>
        </p:txBody>
      </p:sp>
      <p:sp>
        <p:nvSpPr>
          <p:cNvPr id="22" name="Text 20"/>
          <p:cNvSpPr/>
          <p:nvPr/>
        </p:nvSpPr>
        <p:spPr>
          <a:xfrm>
            <a:off x="1028700" y="2846270"/>
            <a:ext cx="4970780" cy="452097"/>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1F3326"/>
                </a:solidFill>
                <a:latin typeface="Nunito Sans" pitchFamily="34" charset="0"/>
                <a:ea typeface="Nunito Sans" pitchFamily="34" charset="-122"/>
                <a:cs typeface="Nunito Sans" pitchFamily="34" charset="-120"/>
              </a:rPr>
              <a:t>«Desarrollar y mantener la app y el QR. Incorporar y capacitar a cada restaurante. Digitalizar sus planes de tarjeta física.»</a:t>
            </a:r>
            <a:endParaRPr lang="en-US" sz="1200" dirty="0"/>
          </a:p>
        </p:txBody>
      </p:sp>
      <p:sp>
        <p:nvSpPr>
          <p:cNvPr id="23" name="Text 21"/>
          <p:cNvSpPr/>
          <p:nvPr/>
        </p:nvSpPr>
        <p:spPr>
          <a:xfrm>
            <a:off x="1028700" y="3323766"/>
            <a:ext cx="497078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D29"/>
                </a:solidFill>
                <a:latin typeface="Nunito Sans" pitchFamily="34" charset="0"/>
                <a:ea typeface="Nunito Sans" pitchFamily="34" charset="-122"/>
                <a:cs typeface="Nunito Sans" pitchFamily="34" charset="-120"/>
              </a:rPr>
              <a:t>Verbos, y cubren producto y clientes.</a:t>
            </a:r>
            <a:endParaRPr lang="en-US" sz="1200" dirty="0"/>
          </a:p>
        </p:txBody>
      </p:sp>
      <p:sp>
        <p:nvSpPr>
          <p:cNvPr id="24" name="Shape 22"/>
          <p:cNvSpPr/>
          <p:nvPr/>
        </p:nvSpPr>
        <p:spPr>
          <a:xfrm>
            <a:off x="6172200" y="2455125"/>
            <a:ext cx="5207000" cy="1208995"/>
          </a:xfrm>
          <a:prstGeom prst="roundRect">
            <a:avLst>
              <a:gd name="adj" fmla="val 7353"/>
            </a:avLst>
          </a:prstGeom>
          <a:solidFill>
            <a:srgbClr val="FBEAEA"/>
          </a:solidFill>
          <a:ln/>
        </p:spPr>
      </p:sp>
      <p:sp>
        <p:nvSpPr>
          <p:cNvPr id="25" name="Shape 23"/>
          <p:cNvSpPr/>
          <p:nvPr/>
        </p:nvSpPr>
        <p:spPr>
          <a:xfrm>
            <a:off x="6172200" y="2455125"/>
            <a:ext cx="5207000" cy="1208995"/>
          </a:xfrm>
          <a:custGeom>
            <a:avLst/>
            <a:gdLst/>
            <a:ahLst/>
            <a:cxnLst/>
            <a:rect l="l" t="t" r="r" b="b"/>
            <a:pathLst>
              <a:path w="5207000" h="1208995">
                <a:moveTo>
                  <a:pt x="88900" y="1208995"/>
                </a:moveTo>
                <a:lnTo>
                  <a:pt x="88900" y="1208995"/>
                </a:lnTo>
                <a:arcTo hR="88900" wR="88900" stAng="5400000" swAng="5400000"/>
                <a:lnTo>
                  <a:pt x="0" y="88900"/>
                </a:lnTo>
                <a:arcTo hR="88900" wR="88900" stAng="10800000" swAng="5400000"/>
                <a:lnTo>
                  <a:pt x="88900" y="0"/>
                </a:lnTo>
                <a:arcTo hR="88900" wR="38100" stAng="16200000" swAng="-5400000"/>
                <a:lnTo>
                  <a:pt x="50800" y="1120095"/>
                </a:lnTo>
                <a:arcTo hR="88900" wR="38100" stAng="10800000" swAng="-5400000"/>
                <a:close/>
              </a:path>
            </a:pathLst>
          </a:custGeom>
          <a:solidFill>
            <a:srgbClr val="B23A3A"/>
          </a:solidFill>
          <a:ln/>
        </p:spPr>
      </p:sp>
      <p:sp>
        <p:nvSpPr>
          <p:cNvPr id="26" name="Text 24"/>
          <p:cNvSpPr/>
          <p:nvPr/>
        </p:nvSpPr>
        <p:spPr>
          <a:xfrm>
            <a:off x="6388100" y="2582125"/>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6E2020"/>
                </a:solidFill>
                <a:latin typeface="Nunito Sans" pitchFamily="34" charset="0"/>
                <a:ea typeface="Nunito Sans" pitchFamily="34" charset="-122"/>
                <a:cs typeface="Nunito Sans" pitchFamily="34" charset="-120"/>
              </a:rPr>
              <a:t>Así no · TransporteSeguro</a:t>
            </a:r>
            <a:endParaRPr lang="en-US" sz="1400" dirty="0"/>
          </a:p>
        </p:txBody>
      </p:sp>
      <p:sp>
        <p:nvSpPr>
          <p:cNvPr id="27" name="Text 25"/>
          <p:cNvSpPr/>
          <p:nvPr/>
        </p:nvSpPr>
        <p:spPr>
          <a:xfrm>
            <a:off x="6388100" y="2846270"/>
            <a:ext cx="4970780" cy="238749"/>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A1C1C"/>
                </a:solidFill>
                <a:latin typeface="Nunito Sans" pitchFamily="34" charset="0"/>
                <a:ea typeface="Nunito Sans" pitchFamily="34" charset="-122"/>
                <a:cs typeface="Nunito Sans" pitchFamily="34" charset="-120"/>
              </a:rPr>
              <a:t>Una sola actividad: «Enviar el aviso de llegada por WhatsApp.»</a:t>
            </a:r>
            <a:endParaRPr lang="en-US" sz="1200" dirty="0"/>
          </a:p>
        </p:txBody>
      </p:sp>
      <p:sp>
        <p:nvSpPr>
          <p:cNvPr id="28" name="Text 26"/>
          <p:cNvSpPr/>
          <p:nvPr/>
        </p:nvSpPr>
        <p:spPr>
          <a:xfrm>
            <a:off x="6388100" y="3110421"/>
            <a:ext cx="4970780" cy="45209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2020"/>
                </a:solidFill>
                <a:latin typeface="Nunito Sans" pitchFamily="34" charset="0"/>
                <a:ea typeface="Nunito Sans" pitchFamily="34" charset="-122"/>
                <a:cs typeface="Nunito Sans" pitchFamily="34" charset="-120"/>
              </a:rPr>
              <a:t>Corrección:</a:t>
            </a:r>
            <a:r>
              <a:rPr lang="en-US" sz="1200" dirty="0">
                <a:solidFill>
                  <a:srgbClr val="6E2020"/>
                </a:solidFill>
                <a:latin typeface="Nunito Sans" pitchFamily="34" charset="0"/>
                <a:ea typeface="Nunito Sans" pitchFamily="34" charset="-122"/>
                <a:cs typeface="Nunito Sans" pitchFamily="34" charset="-120"/>
              </a:rPr>
              <a:t> Falta lo difícil: conseguir y actualizar las rutas, sumar colegios y proteger los datos de menores.</a:t>
            </a:r>
            <a:endParaRPr lang="en-US" sz="1200" dirty="0"/>
          </a:p>
        </p:txBody>
      </p:sp>
      <p:sp>
        <p:nvSpPr>
          <p:cNvPr id="29" name="Text 27"/>
          <p:cNvSpPr/>
          <p:nvPr/>
        </p:nvSpPr>
        <p:spPr>
          <a:xfrm>
            <a:off x="812800" y="3816517"/>
            <a:ext cx="10566401" cy="493996"/>
          </a:xfrm>
          <a:prstGeom prst="roundRect">
            <a:avLst>
              <a:gd name="adj" fmla="val 17996"/>
            </a:avLst>
          </a:prstGeom>
          <a:solidFill>
            <a:srgbClr val="173E78"/>
          </a:solidFill>
          <a:ln/>
        </p:spPr>
        <p:txBody>
          <a:bodyPr wrap="square" lIns="164462" tIns="100962" rIns="0" bIns="75562" rtlCol="0" anchor="t">
            <a:normAutofit/>
          </a:bodyPr>
          <a:lstStyle/>
          <a:p>
            <a:pPr algn="l" indent="0" marL="0">
              <a:lnSpc>
                <a:spcPts val="1890"/>
              </a:lnSpc>
              <a:buNone/>
            </a:pPr>
            <a:r>
              <a:rPr lang="en-US" sz="1400" b="1" dirty="0">
                <a:solidFill>
                  <a:srgbClr val="F3F6FA"/>
                </a:solidFill>
                <a:latin typeface="Nunito Sans" pitchFamily="34" charset="0"/>
                <a:ea typeface="Nunito Sans" pitchFamily="34" charset="-122"/>
                <a:cs typeface="Nunito Sans" pitchFamily="34" charset="-120"/>
              </a:rPr>
              <a:t>Pregunta para la clase:</a:t>
            </a:r>
            <a:r>
              <a:rPr lang="en-US" sz="1400" dirty="0">
                <a:solidFill>
                  <a:srgbClr val="F3F6FA"/>
                </a:solidFill>
                <a:latin typeface="Nunito Sans" pitchFamily="34" charset="0"/>
                <a:ea typeface="Nunito Sans" pitchFamily="34" charset="-122"/>
                <a:cs typeface="Nunito Sans" pitchFamily="34" charset="-120"/>
              </a:rPr>
              <a:t> Si mañana se enferma todo el equipo, ¿qué actividad deja de funcionar primero?</a:t>
            </a:r>
            <a:endParaRPr lang="en-US" sz="1400" dirty="0"/>
          </a:p>
        </p:txBody>
      </p:sp>
      <p:pic>
        <p:nvPicPr>
          <p:cNvPr id="30"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31" name="Text 28"/>
          <p:cNvSpPr/>
          <p:nvPr/>
        </p:nvSpPr>
        <p:spPr>
          <a:xfrm>
            <a:off x="8008847" y="6217896"/>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9474201" y="558800"/>
            <a:ext cx="360646" cy="781050"/>
          </a:xfrm>
          <a:prstGeom prst="roundRect">
            <a:avLst>
              <a:gd name="adj" fmla="val 7043"/>
            </a:avLst>
          </a:prstGeom>
          <a:solidFill>
            <a:srgbClr val="06B2B3"/>
          </a:solidFill>
          <a:ln/>
        </p:spPr>
      </p:sp>
      <p:sp>
        <p:nvSpPr>
          <p:cNvPr id="3" name="Shape 1"/>
          <p:cNvSpPr/>
          <p:nvPr/>
        </p:nvSpPr>
        <p:spPr>
          <a:xfrm>
            <a:off x="9860246" y="558800"/>
            <a:ext cx="360703" cy="377825"/>
          </a:xfrm>
          <a:prstGeom prst="roundRect">
            <a:avLst>
              <a:gd name="adj" fmla="val 7042"/>
            </a:avLst>
          </a:prstGeom>
          <a:solidFill>
            <a:srgbClr val="DCE3EA"/>
          </a:solidFill>
          <a:ln/>
        </p:spPr>
      </p:sp>
      <p:sp>
        <p:nvSpPr>
          <p:cNvPr id="4" name="Shape 2"/>
          <p:cNvSpPr/>
          <p:nvPr/>
        </p:nvSpPr>
        <p:spPr>
          <a:xfrm>
            <a:off x="9860246" y="962025"/>
            <a:ext cx="360703" cy="377825"/>
          </a:xfrm>
          <a:prstGeom prst="roundRect">
            <a:avLst>
              <a:gd name="adj" fmla="val 7042"/>
            </a:avLst>
          </a:prstGeom>
          <a:solidFill>
            <a:srgbClr val="DCE3EA"/>
          </a:solidFill>
          <a:ln/>
        </p:spPr>
      </p:sp>
      <p:sp>
        <p:nvSpPr>
          <p:cNvPr id="5" name="Shape 3"/>
          <p:cNvSpPr/>
          <p:nvPr/>
        </p:nvSpPr>
        <p:spPr>
          <a:xfrm>
            <a:off x="10246349" y="558800"/>
            <a:ext cx="360646" cy="781050"/>
          </a:xfrm>
          <a:prstGeom prst="roundRect">
            <a:avLst>
              <a:gd name="adj" fmla="val 7043"/>
            </a:avLst>
          </a:prstGeom>
          <a:solidFill>
            <a:srgbClr val="DCE3EA"/>
          </a:solidFill>
          <a:ln/>
        </p:spPr>
      </p:sp>
      <p:sp>
        <p:nvSpPr>
          <p:cNvPr id="6" name="Shape 4"/>
          <p:cNvSpPr/>
          <p:nvPr/>
        </p:nvSpPr>
        <p:spPr>
          <a:xfrm>
            <a:off x="10632395" y="558800"/>
            <a:ext cx="360703" cy="377825"/>
          </a:xfrm>
          <a:prstGeom prst="roundRect">
            <a:avLst>
              <a:gd name="adj" fmla="val 7042"/>
            </a:avLst>
          </a:prstGeom>
          <a:solidFill>
            <a:srgbClr val="DCE3EA"/>
          </a:solidFill>
          <a:ln/>
        </p:spPr>
      </p:sp>
      <p:sp>
        <p:nvSpPr>
          <p:cNvPr id="7" name="Shape 5"/>
          <p:cNvSpPr/>
          <p:nvPr/>
        </p:nvSpPr>
        <p:spPr>
          <a:xfrm>
            <a:off x="10632395" y="962025"/>
            <a:ext cx="360703" cy="377825"/>
          </a:xfrm>
          <a:prstGeom prst="roundRect">
            <a:avLst>
              <a:gd name="adj" fmla="val 7042"/>
            </a:avLst>
          </a:prstGeom>
          <a:solidFill>
            <a:srgbClr val="DCE3EA"/>
          </a:solidFill>
          <a:ln/>
        </p:spPr>
      </p:sp>
      <p:sp>
        <p:nvSpPr>
          <p:cNvPr id="8" name="Shape 6"/>
          <p:cNvSpPr/>
          <p:nvPr/>
        </p:nvSpPr>
        <p:spPr>
          <a:xfrm>
            <a:off x="11018498" y="558800"/>
            <a:ext cx="360703" cy="781050"/>
          </a:xfrm>
          <a:prstGeom prst="roundRect">
            <a:avLst>
              <a:gd name="adj" fmla="val 7042"/>
            </a:avLst>
          </a:prstGeom>
          <a:solidFill>
            <a:srgbClr val="DCE3EA"/>
          </a:solidFill>
          <a:ln/>
        </p:spPr>
      </p:sp>
      <p:sp>
        <p:nvSpPr>
          <p:cNvPr id="9" name="Shape 7"/>
          <p:cNvSpPr/>
          <p:nvPr/>
        </p:nvSpPr>
        <p:spPr>
          <a:xfrm>
            <a:off x="9474201" y="1365250"/>
            <a:ext cx="939800" cy="260350"/>
          </a:xfrm>
          <a:prstGeom prst="roundRect">
            <a:avLst>
              <a:gd name="adj" fmla="val 9756"/>
            </a:avLst>
          </a:prstGeom>
          <a:solidFill>
            <a:srgbClr val="DCE3EA"/>
          </a:solidFill>
          <a:ln/>
        </p:spPr>
      </p:sp>
      <p:sp>
        <p:nvSpPr>
          <p:cNvPr id="10" name="Shape 8"/>
          <p:cNvSpPr/>
          <p:nvPr/>
        </p:nvSpPr>
        <p:spPr>
          <a:xfrm>
            <a:off x="10439401" y="1365250"/>
            <a:ext cx="939800" cy="260350"/>
          </a:xfrm>
          <a:prstGeom prst="roundRect">
            <a:avLst>
              <a:gd name="adj" fmla="val 9756"/>
            </a:avLst>
          </a:prstGeom>
          <a:solidFill>
            <a:srgbClr val="DCE3EA"/>
          </a:solidFill>
          <a:ln/>
        </p:spPr>
      </p:sp>
      <p:sp>
        <p:nvSpPr>
          <p:cNvPr id="11" name="Text 9"/>
          <p:cNvSpPr/>
          <p:nvPr/>
        </p:nvSpPr>
        <p:spPr>
          <a:xfrm>
            <a:off x="812800" y="609600"/>
            <a:ext cx="8502650"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BLOQUE 8 DE 9 · LA OPERACIÓN</a:t>
            </a:r>
            <a:endParaRPr lang="en-US" sz="1200" dirty="0"/>
          </a:p>
        </p:txBody>
      </p:sp>
      <p:sp>
        <p:nvSpPr>
          <p:cNvPr id="12" name="Text 10"/>
          <p:cNvSpPr/>
          <p:nvPr>
            <p:ph type="title"/>
          </p:nvPr>
        </p:nvSpPr>
        <p:spPr>
          <a:xfrm>
            <a:off x="812800" y="886445"/>
            <a:ext cx="8502650"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Socios clave</a:t>
            </a:r>
            <a:endParaRPr lang="en-US" sz="2500" dirty="0"/>
          </a:p>
        </p:txBody>
      </p:sp>
      <p:sp>
        <p:nvSpPr>
          <p:cNvPr id="13" name="Shape 11"/>
          <p:cNvSpPr/>
          <p:nvPr/>
        </p:nvSpPr>
        <p:spPr>
          <a:xfrm>
            <a:off x="815975" y="1407145"/>
            <a:ext cx="5200650" cy="892402"/>
          </a:xfrm>
          <a:prstGeom prst="roundRect">
            <a:avLst>
              <a:gd name="adj" fmla="val 9606"/>
            </a:avLst>
          </a:prstGeom>
          <a:solidFill>
            <a:srgbClr val="FDFDFB"/>
          </a:solidFill>
          <a:ln w="6350">
            <a:solidFill>
              <a:srgbClr val="DCE3EA"/>
            </a:solidFill>
            <a:prstDash val="solid"/>
          </a:ln>
        </p:spPr>
      </p:sp>
      <p:sp>
        <p:nvSpPr>
          <p:cNvPr id="14" name="Text 12"/>
          <p:cNvSpPr/>
          <p:nvPr/>
        </p:nvSpPr>
        <p:spPr>
          <a:xfrm>
            <a:off x="981529" y="1521898"/>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Qué es · ¿Quién nos ayuda con lo que no hacemos?</a:t>
            </a:r>
            <a:endParaRPr lang="en-US" sz="1300" dirty="0"/>
          </a:p>
        </p:txBody>
      </p:sp>
      <p:sp>
        <p:nvSpPr>
          <p:cNvPr id="15" name="Text 13"/>
          <p:cNvSpPr/>
          <p:nvPr/>
        </p:nvSpPr>
        <p:spPr>
          <a:xfrm>
            <a:off x="981529" y="1758100"/>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Organizaciones que aportan algo que no tenemos: datos, acceso, tecnología o credibilidad.</a:t>
            </a:r>
            <a:endParaRPr lang="en-US" sz="1200" dirty="0"/>
          </a:p>
        </p:txBody>
      </p:sp>
      <p:sp>
        <p:nvSpPr>
          <p:cNvPr id="16" name="Shape 14"/>
          <p:cNvSpPr/>
          <p:nvPr/>
        </p:nvSpPr>
        <p:spPr>
          <a:xfrm>
            <a:off x="6175375" y="1407145"/>
            <a:ext cx="5200650" cy="892402"/>
          </a:xfrm>
          <a:prstGeom prst="roundRect">
            <a:avLst>
              <a:gd name="adj" fmla="val 9606"/>
            </a:avLst>
          </a:prstGeom>
          <a:solidFill>
            <a:srgbClr val="FDFDFB"/>
          </a:solidFill>
          <a:ln w="6350">
            <a:solidFill>
              <a:srgbClr val="DCE3EA"/>
            </a:solidFill>
            <a:prstDash val="solid"/>
          </a:ln>
        </p:spPr>
      </p:sp>
      <p:sp>
        <p:nvSpPr>
          <p:cNvPr id="17" name="Text 15"/>
          <p:cNvSpPr/>
          <p:nvPr/>
        </p:nvSpPr>
        <p:spPr>
          <a:xfrm>
            <a:off x="6340929" y="1521898"/>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Por qué va ahí</a:t>
            </a:r>
            <a:endParaRPr lang="en-US" sz="1300" dirty="0"/>
          </a:p>
        </p:txBody>
      </p:sp>
      <p:sp>
        <p:nvSpPr>
          <p:cNvPr id="18" name="Text 16"/>
          <p:cNvSpPr/>
          <p:nvPr/>
        </p:nvSpPr>
        <p:spPr>
          <a:xfrm>
            <a:off x="6340929" y="1758100"/>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Va a la izquierda porque refuerza la operación. Son los proveedores de confianza del restaurante.</a:t>
            </a:r>
            <a:endParaRPr lang="en-US" sz="1200" dirty="0"/>
          </a:p>
        </p:txBody>
      </p:sp>
      <p:sp>
        <p:nvSpPr>
          <p:cNvPr id="19" name="Shape 17"/>
          <p:cNvSpPr/>
          <p:nvPr/>
        </p:nvSpPr>
        <p:spPr>
          <a:xfrm>
            <a:off x="812800" y="2455125"/>
            <a:ext cx="5207000" cy="1422343"/>
          </a:xfrm>
          <a:prstGeom prst="roundRect">
            <a:avLst>
              <a:gd name="adj" fmla="val 6250"/>
            </a:avLst>
          </a:prstGeom>
          <a:solidFill>
            <a:srgbClr val="E9F6EC"/>
          </a:solidFill>
          <a:ln/>
        </p:spPr>
      </p:sp>
      <p:sp>
        <p:nvSpPr>
          <p:cNvPr id="20" name="Shape 18"/>
          <p:cNvSpPr/>
          <p:nvPr/>
        </p:nvSpPr>
        <p:spPr>
          <a:xfrm>
            <a:off x="812800" y="2455125"/>
            <a:ext cx="5207000" cy="1422343"/>
          </a:xfrm>
          <a:custGeom>
            <a:avLst/>
            <a:gdLst/>
            <a:ahLst/>
            <a:cxnLst/>
            <a:rect l="l" t="t" r="r" b="b"/>
            <a:pathLst>
              <a:path w="5207000" h="1422343">
                <a:moveTo>
                  <a:pt x="88900" y="1422343"/>
                </a:moveTo>
                <a:lnTo>
                  <a:pt x="88900" y="1422343"/>
                </a:lnTo>
                <a:arcTo hR="88900" wR="88900" stAng="5400000" swAng="5400000"/>
                <a:lnTo>
                  <a:pt x="0" y="88900"/>
                </a:lnTo>
                <a:arcTo hR="88900" wR="88900" stAng="10800000" swAng="5400000"/>
                <a:lnTo>
                  <a:pt x="88900" y="0"/>
                </a:lnTo>
                <a:arcTo hR="88900" wR="38100" stAng="16200000" swAng="-5400000"/>
                <a:lnTo>
                  <a:pt x="50800" y="1333443"/>
                </a:lnTo>
                <a:arcTo hR="88900" wR="38100" stAng="10800000" swAng="-5400000"/>
                <a:close/>
              </a:path>
            </a:pathLst>
          </a:custGeom>
          <a:solidFill>
            <a:srgbClr val="2E7D44"/>
          </a:solidFill>
          <a:ln/>
        </p:spPr>
      </p:sp>
      <p:sp>
        <p:nvSpPr>
          <p:cNvPr id="21" name="Text 19"/>
          <p:cNvSpPr/>
          <p:nvPr/>
        </p:nvSpPr>
        <p:spPr>
          <a:xfrm>
            <a:off x="1028700" y="2582125"/>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4D29"/>
                </a:solidFill>
                <a:latin typeface="Nunito Sans" pitchFamily="34" charset="0"/>
                <a:ea typeface="Nunito Sans" pitchFamily="34" charset="-122"/>
                <a:cs typeface="Nunito Sans" pitchFamily="34" charset="-120"/>
              </a:rPr>
              <a:t>Así sí · ConectaEDU</a:t>
            </a:r>
            <a:endParaRPr lang="en-US" sz="1400" dirty="0"/>
          </a:p>
        </p:txBody>
      </p:sp>
      <p:sp>
        <p:nvSpPr>
          <p:cNvPr id="22" name="Text 20"/>
          <p:cNvSpPr/>
          <p:nvPr/>
        </p:nvSpPr>
        <p:spPr>
          <a:xfrm>
            <a:off x="1028700" y="2846270"/>
            <a:ext cx="4970780" cy="665446"/>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1F3326"/>
                </a:solidFill>
                <a:latin typeface="Nunito Sans" pitchFamily="34" charset="0"/>
                <a:ea typeface="Nunito Sans" pitchFamily="34" charset="-122"/>
                <a:cs typeface="Nunito Sans" pitchFamily="34" charset="-120"/>
              </a:rPr>
              <a:t>«Proveedor de IA por API (evaluamos Claude, Gemini y OpenAI; elegimos con una prueba de 10 tareas reales). Google Classroom y Moodle.»</a:t>
            </a:r>
            <a:endParaRPr lang="en-US" sz="1200" dirty="0"/>
          </a:p>
        </p:txBody>
      </p:sp>
      <p:sp>
        <p:nvSpPr>
          <p:cNvPr id="23" name="Text 21"/>
          <p:cNvSpPr/>
          <p:nvPr/>
        </p:nvSpPr>
        <p:spPr>
          <a:xfrm>
            <a:off x="1028700" y="3537117"/>
            <a:ext cx="497078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D29"/>
                </a:solidFill>
                <a:latin typeface="Nunito Sans" pitchFamily="34" charset="0"/>
                <a:ea typeface="Nunito Sans" pitchFamily="34" charset="-122"/>
                <a:cs typeface="Nunito Sans" pitchFamily="34" charset="-120"/>
              </a:rPr>
              <a:t>Nombres concretos y un criterio para elegir.</a:t>
            </a:r>
            <a:endParaRPr lang="en-US" sz="1200" dirty="0"/>
          </a:p>
        </p:txBody>
      </p:sp>
      <p:sp>
        <p:nvSpPr>
          <p:cNvPr id="24" name="Shape 22"/>
          <p:cNvSpPr/>
          <p:nvPr/>
        </p:nvSpPr>
        <p:spPr>
          <a:xfrm>
            <a:off x="6172200" y="2455125"/>
            <a:ext cx="5207000" cy="1422343"/>
          </a:xfrm>
          <a:prstGeom prst="roundRect">
            <a:avLst>
              <a:gd name="adj" fmla="val 6250"/>
            </a:avLst>
          </a:prstGeom>
          <a:solidFill>
            <a:srgbClr val="FBEAEA"/>
          </a:solidFill>
          <a:ln/>
        </p:spPr>
      </p:sp>
      <p:sp>
        <p:nvSpPr>
          <p:cNvPr id="25" name="Shape 23"/>
          <p:cNvSpPr/>
          <p:nvPr/>
        </p:nvSpPr>
        <p:spPr>
          <a:xfrm>
            <a:off x="6172200" y="2455125"/>
            <a:ext cx="5207000" cy="1422343"/>
          </a:xfrm>
          <a:custGeom>
            <a:avLst/>
            <a:gdLst/>
            <a:ahLst/>
            <a:cxnLst/>
            <a:rect l="l" t="t" r="r" b="b"/>
            <a:pathLst>
              <a:path w="5207000" h="1422343">
                <a:moveTo>
                  <a:pt x="88900" y="1422343"/>
                </a:moveTo>
                <a:lnTo>
                  <a:pt x="88900" y="1422343"/>
                </a:lnTo>
                <a:arcTo hR="88900" wR="88900" stAng="5400000" swAng="5400000"/>
                <a:lnTo>
                  <a:pt x="0" y="88900"/>
                </a:lnTo>
                <a:arcTo hR="88900" wR="88900" stAng="10800000" swAng="5400000"/>
                <a:lnTo>
                  <a:pt x="88900" y="0"/>
                </a:lnTo>
                <a:arcTo hR="88900" wR="38100" stAng="16200000" swAng="-5400000"/>
                <a:lnTo>
                  <a:pt x="50800" y="1333443"/>
                </a:lnTo>
                <a:arcTo hR="88900" wR="38100" stAng="10800000" swAng="-5400000"/>
                <a:close/>
              </a:path>
            </a:pathLst>
          </a:custGeom>
          <a:solidFill>
            <a:srgbClr val="B23A3A"/>
          </a:solidFill>
          <a:ln/>
        </p:spPr>
      </p:sp>
      <p:sp>
        <p:nvSpPr>
          <p:cNvPr id="26" name="Text 24"/>
          <p:cNvSpPr/>
          <p:nvPr/>
        </p:nvSpPr>
        <p:spPr>
          <a:xfrm>
            <a:off x="6388100" y="2582125"/>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6E2020"/>
                </a:solidFill>
                <a:latin typeface="Nunito Sans" pitchFamily="34" charset="0"/>
                <a:ea typeface="Nunito Sans" pitchFamily="34" charset="-122"/>
                <a:cs typeface="Nunito Sans" pitchFamily="34" charset="-120"/>
              </a:rPr>
              <a:t>Así no · Developers CARF</a:t>
            </a:r>
            <a:endParaRPr lang="en-US" sz="1400" dirty="0"/>
          </a:p>
        </p:txBody>
      </p:sp>
      <p:sp>
        <p:nvSpPr>
          <p:cNvPr id="27" name="Text 25"/>
          <p:cNvSpPr/>
          <p:nvPr/>
        </p:nvSpPr>
        <p:spPr>
          <a:xfrm>
            <a:off x="6388100" y="2846270"/>
            <a:ext cx="4970780" cy="452097"/>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A1C1C"/>
                </a:solidFill>
                <a:latin typeface="Nunito Sans" pitchFamily="34" charset="0"/>
                <a:ea typeface="Nunito Sans" pitchFamily="34" charset="-122"/>
                <a:cs typeface="Nunito Sans" pitchFamily="34" charset="-120"/>
              </a:rPr>
              <a:t>«Dirección de Admisiones PUCE» aparece como socio y también como cliente 2.</a:t>
            </a:r>
            <a:endParaRPr lang="en-US" sz="1200" dirty="0"/>
          </a:p>
        </p:txBody>
      </p:sp>
      <p:sp>
        <p:nvSpPr>
          <p:cNvPr id="28" name="Text 26"/>
          <p:cNvSpPr/>
          <p:nvPr/>
        </p:nvSpPr>
        <p:spPr>
          <a:xfrm>
            <a:off x="6388100" y="3323772"/>
            <a:ext cx="4970780" cy="45209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2020"/>
                </a:solidFill>
                <a:latin typeface="Nunito Sans" pitchFamily="34" charset="0"/>
                <a:ea typeface="Nunito Sans" pitchFamily="34" charset="-122"/>
                <a:cs typeface="Nunito Sans" pitchFamily="34" charset="-120"/>
              </a:rPr>
              <a:t>Corrección:</a:t>
            </a:r>
            <a:r>
              <a:rPr lang="en-US" sz="1200" dirty="0">
                <a:solidFill>
                  <a:srgbClr val="6E2020"/>
                </a:solidFill>
                <a:latin typeface="Nunito Sans" pitchFamily="34" charset="0"/>
                <a:ea typeface="Nunito Sans" pitchFamily="34" charset="-122"/>
                <a:cs typeface="Nunito Sans" pitchFamily="34" charset="-120"/>
              </a:rPr>
              <a:t> Si paga, es cliente. Un socio sería: «Directores de carrera que validan los mini-retos».</a:t>
            </a:r>
            <a:endParaRPr lang="en-US" sz="1200" dirty="0"/>
          </a:p>
        </p:txBody>
      </p:sp>
      <p:sp>
        <p:nvSpPr>
          <p:cNvPr id="29" name="Text 27"/>
          <p:cNvSpPr/>
          <p:nvPr/>
        </p:nvSpPr>
        <p:spPr>
          <a:xfrm>
            <a:off x="812800" y="4029869"/>
            <a:ext cx="10566401" cy="493996"/>
          </a:xfrm>
          <a:prstGeom prst="roundRect">
            <a:avLst>
              <a:gd name="adj" fmla="val 17996"/>
            </a:avLst>
          </a:prstGeom>
          <a:solidFill>
            <a:srgbClr val="173E78"/>
          </a:solidFill>
          <a:ln/>
        </p:spPr>
        <p:txBody>
          <a:bodyPr wrap="square" lIns="164462" tIns="100962" rIns="0" bIns="75562" rtlCol="0" anchor="t">
            <a:normAutofit/>
          </a:bodyPr>
          <a:lstStyle/>
          <a:p>
            <a:pPr algn="l" indent="0" marL="0">
              <a:lnSpc>
                <a:spcPts val="1890"/>
              </a:lnSpc>
              <a:buNone/>
            </a:pPr>
            <a:r>
              <a:rPr lang="en-US" sz="1400" b="1" dirty="0">
                <a:solidFill>
                  <a:srgbClr val="F3F6FA"/>
                </a:solidFill>
                <a:latin typeface="Nunito Sans" pitchFamily="34" charset="0"/>
                <a:ea typeface="Nunito Sans" pitchFamily="34" charset="-122"/>
                <a:cs typeface="Nunito Sans" pitchFamily="34" charset="-120"/>
              </a:rPr>
              <a:t>Pregunta para la clase:</a:t>
            </a:r>
            <a:r>
              <a:rPr lang="en-US" sz="1400" dirty="0">
                <a:solidFill>
                  <a:srgbClr val="F3F6FA"/>
                </a:solidFill>
                <a:latin typeface="Nunito Sans" pitchFamily="34" charset="0"/>
                <a:ea typeface="Nunito Sans" pitchFamily="34" charset="-122"/>
                <a:cs typeface="Nunito Sans" pitchFamily="34" charset="-120"/>
              </a:rPr>
              <a:t> ¿Qué gana su socio por ayudarlos?</a:t>
            </a:r>
            <a:endParaRPr lang="en-US" sz="1400" dirty="0"/>
          </a:p>
        </p:txBody>
      </p:sp>
      <p:pic>
        <p:nvPicPr>
          <p:cNvPr id="30"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31" name="Text 28"/>
          <p:cNvSpPr/>
          <p:nvPr/>
        </p:nvSpPr>
        <p:spPr>
          <a:xfrm>
            <a:off x="8008847" y="6217896"/>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9474201" y="558800"/>
            <a:ext cx="360646" cy="781050"/>
          </a:xfrm>
          <a:prstGeom prst="roundRect">
            <a:avLst>
              <a:gd name="adj" fmla="val 7043"/>
            </a:avLst>
          </a:prstGeom>
          <a:solidFill>
            <a:srgbClr val="DCE3EA"/>
          </a:solidFill>
          <a:ln/>
        </p:spPr>
      </p:sp>
      <p:sp>
        <p:nvSpPr>
          <p:cNvPr id="3" name="Shape 1"/>
          <p:cNvSpPr/>
          <p:nvPr/>
        </p:nvSpPr>
        <p:spPr>
          <a:xfrm>
            <a:off x="9860246" y="558800"/>
            <a:ext cx="360703" cy="377825"/>
          </a:xfrm>
          <a:prstGeom prst="roundRect">
            <a:avLst>
              <a:gd name="adj" fmla="val 7042"/>
            </a:avLst>
          </a:prstGeom>
          <a:solidFill>
            <a:srgbClr val="DCE3EA"/>
          </a:solidFill>
          <a:ln/>
        </p:spPr>
      </p:sp>
      <p:sp>
        <p:nvSpPr>
          <p:cNvPr id="4" name="Shape 2"/>
          <p:cNvSpPr/>
          <p:nvPr/>
        </p:nvSpPr>
        <p:spPr>
          <a:xfrm>
            <a:off x="9860246" y="962025"/>
            <a:ext cx="360703" cy="377825"/>
          </a:xfrm>
          <a:prstGeom prst="roundRect">
            <a:avLst>
              <a:gd name="adj" fmla="val 7042"/>
            </a:avLst>
          </a:prstGeom>
          <a:solidFill>
            <a:srgbClr val="DCE3EA"/>
          </a:solidFill>
          <a:ln/>
        </p:spPr>
      </p:sp>
      <p:sp>
        <p:nvSpPr>
          <p:cNvPr id="5" name="Shape 3"/>
          <p:cNvSpPr/>
          <p:nvPr/>
        </p:nvSpPr>
        <p:spPr>
          <a:xfrm>
            <a:off x="10246349" y="558800"/>
            <a:ext cx="360646" cy="781050"/>
          </a:xfrm>
          <a:prstGeom prst="roundRect">
            <a:avLst>
              <a:gd name="adj" fmla="val 7043"/>
            </a:avLst>
          </a:prstGeom>
          <a:solidFill>
            <a:srgbClr val="DCE3EA"/>
          </a:solidFill>
          <a:ln/>
        </p:spPr>
      </p:sp>
      <p:sp>
        <p:nvSpPr>
          <p:cNvPr id="6" name="Shape 4"/>
          <p:cNvSpPr/>
          <p:nvPr/>
        </p:nvSpPr>
        <p:spPr>
          <a:xfrm>
            <a:off x="10632395" y="558800"/>
            <a:ext cx="360703" cy="377825"/>
          </a:xfrm>
          <a:prstGeom prst="roundRect">
            <a:avLst>
              <a:gd name="adj" fmla="val 7042"/>
            </a:avLst>
          </a:prstGeom>
          <a:solidFill>
            <a:srgbClr val="DCE3EA"/>
          </a:solidFill>
          <a:ln/>
        </p:spPr>
      </p:sp>
      <p:sp>
        <p:nvSpPr>
          <p:cNvPr id="7" name="Shape 5"/>
          <p:cNvSpPr/>
          <p:nvPr/>
        </p:nvSpPr>
        <p:spPr>
          <a:xfrm>
            <a:off x="10632395" y="962025"/>
            <a:ext cx="360703" cy="377825"/>
          </a:xfrm>
          <a:prstGeom prst="roundRect">
            <a:avLst>
              <a:gd name="adj" fmla="val 7042"/>
            </a:avLst>
          </a:prstGeom>
          <a:solidFill>
            <a:srgbClr val="DCE3EA"/>
          </a:solidFill>
          <a:ln/>
        </p:spPr>
      </p:sp>
      <p:sp>
        <p:nvSpPr>
          <p:cNvPr id="8" name="Shape 6"/>
          <p:cNvSpPr/>
          <p:nvPr/>
        </p:nvSpPr>
        <p:spPr>
          <a:xfrm>
            <a:off x="11018498" y="558800"/>
            <a:ext cx="360703" cy="781050"/>
          </a:xfrm>
          <a:prstGeom prst="roundRect">
            <a:avLst>
              <a:gd name="adj" fmla="val 7042"/>
            </a:avLst>
          </a:prstGeom>
          <a:solidFill>
            <a:srgbClr val="DCE3EA"/>
          </a:solidFill>
          <a:ln/>
        </p:spPr>
      </p:sp>
      <p:sp>
        <p:nvSpPr>
          <p:cNvPr id="9" name="Shape 7"/>
          <p:cNvSpPr/>
          <p:nvPr/>
        </p:nvSpPr>
        <p:spPr>
          <a:xfrm>
            <a:off x="9474201" y="1365250"/>
            <a:ext cx="939800" cy="260350"/>
          </a:xfrm>
          <a:prstGeom prst="roundRect">
            <a:avLst>
              <a:gd name="adj" fmla="val 9756"/>
            </a:avLst>
          </a:prstGeom>
          <a:solidFill>
            <a:srgbClr val="06B2B3"/>
          </a:solidFill>
          <a:ln/>
        </p:spPr>
      </p:sp>
      <p:sp>
        <p:nvSpPr>
          <p:cNvPr id="10" name="Shape 8"/>
          <p:cNvSpPr/>
          <p:nvPr/>
        </p:nvSpPr>
        <p:spPr>
          <a:xfrm>
            <a:off x="10439401" y="1365250"/>
            <a:ext cx="939800" cy="260350"/>
          </a:xfrm>
          <a:prstGeom prst="roundRect">
            <a:avLst>
              <a:gd name="adj" fmla="val 9756"/>
            </a:avLst>
          </a:prstGeom>
          <a:solidFill>
            <a:srgbClr val="DCE3EA"/>
          </a:solidFill>
          <a:ln/>
        </p:spPr>
      </p:sp>
      <p:sp>
        <p:nvSpPr>
          <p:cNvPr id="11" name="Text 9"/>
          <p:cNvSpPr/>
          <p:nvPr/>
        </p:nvSpPr>
        <p:spPr>
          <a:xfrm>
            <a:off x="812800" y="609600"/>
            <a:ext cx="8502650"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BLOQUE 9 DE 9 · LA CUENTA</a:t>
            </a:r>
            <a:endParaRPr lang="en-US" sz="1200" dirty="0"/>
          </a:p>
        </p:txBody>
      </p:sp>
      <p:sp>
        <p:nvSpPr>
          <p:cNvPr id="12" name="Text 10"/>
          <p:cNvSpPr/>
          <p:nvPr>
            <p:ph type="title"/>
          </p:nvPr>
        </p:nvSpPr>
        <p:spPr>
          <a:xfrm>
            <a:off x="812800" y="886445"/>
            <a:ext cx="8502650"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Estructura de costos</a:t>
            </a:r>
            <a:endParaRPr lang="en-US" sz="2500" dirty="0"/>
          </a:p>
        </p:txBody>
      </p:sp>
      <p:sp>
        <p:nvSpPr>
          <p:cNvPr id="13" name="Shape 11"/>
          <p:cNvSpPr/>
          <p:nvPr/>
        </p:nvSpPr>
        <p:spPr>
          <a:xfrm>
            <a:off x="815975" y="1407145"/>
            <a:ext cx="5200650" cy="892402"/>
          </a:xfrm>
          <a:prstGeom prst="roundRect">
            <a:avLst>
              <a:gd name="adj" fmla="val 9606"/>
            </a:avLst>
          </a:prstGeom>
          <a:solidFill>
            <a:srgbClr val="FDFDFB"/>
          </a:solidFill>
          <a:ln w="6350">
            <a:solidFill>
              <a:srgbClr val="DCE3EA"/>
            </a:solidFill>
            <a:prstDash val="solid"/>
          </a:ln>
        </p:spPr>
      </p:sp>
      <p:sp>
        <p:nvSpPr>
          <p:cNvPr id="14" name="Text 12"/>
          <p:cNvSpPr/>
          <p:nvPr/>
        </p:nvSpPr>
        <p:spPr>
          <a:xfrm>
            <a:off x="981529" y="1521898"/>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Qué es · ¿Qué nos cuesta más?</a:t>
            </a:r>
            <a:endParaRPr lang="en-US" sz="1300" dirty="0"/>
          </a:p>
        </p:txBody>
      </p:sp>
      <p:sp>
        <p:nvSpPr>
          <p:cNvPr id="15" name="Text 13"/>
          <p:cNvSpPr/>
          <p:nvPr/>
        </p:nvSpPr>
        <p:spPr>
          <a:xfrm>
            <a:off x="981529" y="1758100"/>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Los costos de operar el modelo, separados en fijos y variables, con valores aproximados.</a:t>
            </a:r>
            <a:endParaRPr lang="en-US" sz="1200" dirty="0"/>
          </a:p>
        </p:txBody>
      </p:sp>
      <p:sp>
        <p:nvSpPr>
          <p:cNvPr id="16" name="Shape 14"/>
          <p:cNvSpPr/>
          <p:nvPr/>
        </p:nvSpPr>
        <p:spPr>
          <a:xfrm>
            <a:off x="6175375" y="1407145"/>
            <a:ext cx="5200650" cy="892402"/>
          </a:xfrm>
          <a:prstGeom prst="roundRect">
            <a:avLst>
              <a:gd name="adj" fmla="val 9606"/>
            </a:avLst>
          </a:prstGeom>
          <a:solidFill>
            <a:srgbClr val="FDFDFB"/>
          </a:solidFill>
          <a:ln w="6350">
            <a:solidFill>
              <a:srgbClr val="DCE3EA"/>
            </a:solidFill>
            <a:prstDash val="solid"/>
          </a:ln>
        </p:spPr>
      </p:sp>
      <p:sp>
        <p:nvSpPr>
          <p:cNvPr id="17" name="Text 15"/>
          <p:cNvSpPr/>
          <p:nvPr/>
        </p:nvSpPr>
        <p:spPr>
          <a:xfrm>
            <a:off x="6340929" y="1521898"/>
            <a:ext cx="5015629" cy="22349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47A7B"/>
                </a:solidFill>
                <a:latin typeface="Nunito Sans" pitchFamily="34" charset="0"/>
                <a:ea typeface="Nunito Sans" pitchFamily="34" charset="-122"/>
                <a:cs typeface="Nunito Sans" pitchFamily="34" charset="-120"/>
              </a:rPr>
              <a:t>Por qué va ahí</a:t>
            </a:r>
            <a:endParaRPr lang="en-US" sz="1300" dirty="0"/>
          </a:p>
        </p:txBody>
      </p:sp>
      <p:sp>
        <p:nvSpPr>
          <p:cNvPr id="18" name="Text 16"/>
          <p:cNvSpPr/>
          <p:nvPr/>
        </p:nvSpPr>
        <p:spPr>
          <a:xfrm>
            <a:off x="6340929" y="1758100"/>
            <a:ext cx="50156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Va abajo, frente a los ingresos: si los costos ganan, el negocio no se sostiene. Es la factura mensual de la casa.</a:t>
            </a:r>
            <a:endParaRPr lang="en-US" sz="1200" dirty="0"/>
          </a:p>
        </p:txBody>
      </p:sp>
      <p:sp>
        <p:nvSpPr>
          <p:cNvPr id="19" name="Shape 17"/>
          <p:cNvSpPr/>
          <p:nvPr/>
        </p:nvSpPr>
        <p:spPr>
          <a:xfrm>
            <a:off x="812800" y="2455125"/>
            <a:ext cx="5207000" cy="1208995"/>
          </a:xfrm>
          <a:prstGeom prst="roundRect">
            <a:avLst>
              <a:gd name="adj" fmla="val 7353"/>
            </a:avLst>
          </a:prstGeom>
          <a:solidFill>
            <a:srgbClr val="E9F6EC"/>
          </a:solidFill>
          <a:ln/>
        </p:spPr>
      </p:sp>
      <p:sp>
        <p:nvSpPr>
          <p:cNvPr id="20" name="Shape 18"/>
          <p:cNvSpPr/>
          <p:nvPr/>
        </p:nvSpPr>
        <p:spPr>
          <a:xfrm>
            <a:off x="812800" y="2455125"/>
            <a:ext cx="5207000" cy="1208995"/>
          </a:xfrm>
          <a:custGeom>
            <a:avLst/>
            <a:gdLst/>
            <a:ahLst/>
            <a:cxnLst/>
            <a:rect l="l" t="t" r="r" b="b"/>
            <a:pathLst>
              <a:path w="5207000" h="1208995">
                <a:moveTo>
                  <a:pt x="88900" y="1208995"/>
                </a:moveTo>
                <a:lnTo>
                  <a:pt x="88900" y="1208995"/>
                </a:lnTo>
                <a:arcTo hR="88900" wR="88900" stAng="5400000" swAng="5400000"/>
                <a:lnTo>
                  <a:pt x="0" y="88900"/>
                </a:lnTo>
                <a:arcTo hR="88900" wR="88900" stAng="10800000" swAng="5400000"/>
                <a:lnTo>
                  <a:pt x="88900" y="0"/>
                </a:lnTo>
                <a:arcTo hR="88900" wR="38100" stAng="16200000" swAng="-5400000"/>
                <a:lnTo>
                  <a:pt x="50800" y="1120095"/>
                </a:lnTo>
                <a:arcTo hR="88900" wR="38100" stAng="10800000" swAng="-5400000"/>
                <a:close/>
              </a:path>
            </a:pathLst>
          </a:custGeom>
          <a:solidFill>
            <a:srgbClr val="2E7D44"/>
          </a:solidFill>
          <a:ln/>
        </p:spPr>
      </p:sp>
      <p:sp>
        <p:nvSpPr>
          <p:cNvPr id="21" name="Text 19"/>
          <p:cNvSpPr/>
          <p:nvPr/>
        </p:nvSpPr>
        <p:spPr>
          <a:xfrm>
            <a:off x="1028700" y="2582125"/>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4D29"/>
                </a:solidFill>
                <a:latin typeface="Nunito Sans" pitchFamily="34" charset="0"/>
                <a:ea typeface="Nunito Sans" pitchFamily="34" charset="-122"/>
                <a:cs typeface="Nunito Sans" pitchFamily="34" charset="-120"/>
              </a:rPr>
              <a:t>Así sí · ConectaEDU</a:t>
            </a:r>
            <a:endParaRPr lang="en-US" sz="1400" dirty="0"/>
          </a:p>
        </p:txBody>
      </p:sp>
      <p:sp>
        <p:nvSpPr>
          <p:cNvPr id="22" name="Text 20"/>
          <p:cNvSpPr/>
          <p:nvPr/>
        </p:nvSpPr>
        <p:spPr>
          <a:xfrm>
            <a:off x="1028700" y="2846270"/>
            <a:ext cx="4970780" cy="452097"/>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1F3326"/>
                </a:solidFill>
                <a:latin typeface="Nunito Sans" pitchFamily="34" charset="0"/>
                <a:ea typeface="Nunito Sans" pitchFamily="34" charset="-122"/>
                <a:cs typeface="Nunito Sans" pitchFamily="34" charset="-120"/>
              </a:rPr>
              <a:t>«Variable: unos USD 0,01 por tarea calificada (3.000 tokens de entrada y 700 de salida).»</a:t>
            </a:r>
            <a:endParaRPr lang="en-US" sz="1200" dirty="0"/>
          </a:p>
        </p:txBody>
      </p:sp>
      <p:sp>
        <p:nvSpPr>
          <p:cNvPr id="23" name="Text 21"/>
          <p:cNvSpPr/>
          <p:nvPr/>
        </p:nvSpPr>
        <p:spPr>
          <a:xfrm>
            <a:off x="1028700" y="3323772"/>
            <a:ext cx="497078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D29"/>
                </a:solidFill>
                <a:latin typeface="Nunito Sans" pitchFamily="34" charset="0"/>
                <a:ea typeface="Nunito Sans" pitchFamily="34" charset="-122"/>
                <a:cs typeface="Nunito Sans" pitchFamily="34" charset="-120"/>
              </a:rPr>
              <a:t>Saben cuánto cuesta atender a un cliente más.</a:t>
            </a:r>
            <a:endParaRPr lang="en-US" sz="1200" dirty="0"/>
          </a:p>
        </p:txBody>
      </p:sp>
      <p:sp>
        <p:nvSpPr>
          <p:cNvPr id="24" name="Shape 22"/>
          <p:cNvSpPr/>
          <p:nvPr/>
        </p:nvSpPr>
        <p:spPr>
          <a:xfrm>
            <a:off x="6172200" y="2455125"/>
            <a:ext cx="5207000" cy="1208995"/>
          </a:xfrm>
          <a:prstGeom prst="roundRect">
            <a:avLst>
              <a:gd name="adj" fmla="val 7353"/>
            </a:avLst>
          </a:prstGeom>
          <a:solidFill>
            <a:srgbClr val="FBEAEA"/>
          </a:solidFill>
          <a:ln/>
        </p:spPr>
      </p:sp>
      <p:sp>
        <p:nvSpPr>
          <p:cNvPr id="25" name="Shape 23"/>
          <p:cNvSpPr/>
          <p:nvPr/>
        </p:nvSpPr>
        <p:spPr>
          <a:xfrm>
            <a:off x="6172200" y="2455125"/>
            <a:ext cx="5207000" cy="1208995"/>
          </a:xfrm>
          <a:custGeom>
            <a:avLst/>
            <a:gdLst/>
            <a:ahLst/>
            <a:cxnLst/>
            <a:rect l="l" t="t" r="r" b="b"/>
            <a:pathLst>
              <a:path w="5207000" h="1208995">
                <a:moveTo>
                  <a:pt x="88900" y="1208995"/>
                </a:moveTo>
                <a:lnTo>
                  <a:pt x="88900" y="1208995"/>
                </a:lnTo>
                <a:arcTo hR="88900" wR="88900" stAng="5400000" swAng="5400000"/>
                <a:lnTo>
                  <a:pt x="0" y="88900"/>
                </a:lnTo>
                <a:arcTo hR="88900" wR="88900" stAng="10800000" swAng="5400000"/>
                <a:lnTo>
                  <a:pt x="88900" y="0"/>
                </a:lnTo>
                <a:arcTo hR="88900" wR="38100" stAng="16200000" swAng="-5400000"/>
                <a:lnTo>
                  <a:pt x="50800" y="1120095"/>
                </a:lnTo>
                <a:arcTo hR="88900" wR="38100" stAng="10800000" swAng="-5400000"/>
                <a:close/>
              </a:path>
            </a:pathLst>
          </a:custGeom>
          <a:solidFill>
            <a:srgbClr val="B23A3A"/>
          </a:solidFill>
          <a:ln/>
        </p:spPr>
      </p:sp>
      <p:sp>
        <p:nvSpPr>
          <p:cNvPr id="26" name="Text 24"/>
          <p:cNvSpPr/>
          <p:nvPr/>
        </p:nvSpPr>
        <p:spPr>
          <a:xfrm>
            <a:off x="6388100" y="2582125"/>
            <a:ext cx="4970780"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6E2020"/>
                </a:solidFill>
                <a:latin typeface="Nunito Sans" pitchFamily="34" charset="0"/>
                <a:ea typeface="Nunito Sans" pitchFamily="34" charset="-122"/>
                <a:cs typeface="Nunito Sans" pitchFamily="34" charset="-120"/>
              </a:rPr>
              <a:t>Así no · JOBM Tech</a:t>
            </a:r>
            <a:endParaRPr lang="en-US" sz="1400" dirty="0"/>
          </a:p>
        </p:txBody>
      </p:sp>
      <p:sp>
        <p:nvSpPr>
          <p:cNvPr id="27" name="Text 25"/>
          <p:cNvSpPr/>
          <p:nvPr/>
        </p:nvSpPr>
        <p:spPr>
          <a:xfrm>
            <a:off x="6388100" y="2846270"/>
            <a:ext cx="4970780" cy="238749"/>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A1C1C"/>
                </a:solidFill>
                <a:latin typeface="Nunito Sans" pitchFamily="34" charset="0"/>
                <a:ea typeface="Nunito Sans" pitchFamily="34" charset="-122"/>
                <a:cs typeface="Nunito Sans" pitchFamily="34" charset="-120"/>
              </a:rPr>
              <a:t>«variables: datos y tiempo de tutores»</a:t>
            </a:r>
            <a:endParaRPr lang="en-US" sz="1200" dirty="0"/>
          </a:p>
        </p:txBody>
      </p:sp>
      <p:sp>
        <p:nvSpPr>
          <p:cNvPr id="28" name="Text 26"/>
          <p:cNvSpPr/>
          <p:nvPr/>
        </p:nvSpPr>
        <p:spPr>
          <a:xfrm>
            <a:off x="6388100" y="3110421"/>
            <a:ext cx="4970780" cy="45209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2020"/>
                </a:solidFill>
                <a:latin typeface="Nunito Sans" pitchFamily="34" charset="0"/>
                <a:ea typeface="Nunito Sans" pitchFamily="34" charset="-122"/>
                <a:cs typeface="Nunito Sans" pitchFamily="34" charset="-120"/>
              </a:rPr>
              <a:t>Corrección:</a:t>
            </a:r>
            <a:r>
              <a:rPr lang="en-US" sz="1200" dirty="0">
                <a:solidFill>
                  <a:srgbClr val="6E2020"/>
                </a:solidFill>
                <a:latin typeface="Nunito Sans" pitchFamily="34" charset="0"/>
                <a:ea typeface="Nunito Sans" pitchFamily="34" charset="-122"/>
                <a:cs typeface="Nunito Sans" pitchFamily="34" charset="-120"/>
              </a:rPr>
              <a:t> Sin cifras ni costos fijos. «Fijo: coordinación, USD [__]/mes · Variable: datos móviles, USD [__] por tutor».</a:t>
            </a:r>
            <a:endParaRPr lang="en-US" sz="1200" dirty="0"/>
          </a:p>
        </p:txBody>
      </p:sp>
      <p:sp>
        <p:nvSpPr>
          <p:cNvPr id="29" name="Text 27"/>
          <p:cNvSpPr/>
          <p:nvPr/>
        </p:nvSpPr>
        <p:spPr>
          <a:xfrm>
            <a:off x="812800" y="3816517"/>
            <a:ext cx="10566401" cy="493996"/>
          </a:xfrm>
          <a:prstGeom prst="roundRect">
            <a:avLst>
              <a:gd name="adj" fmla="val 17996"/>
            </a:avLst>
          </a:prstGeom>
          <a:solidFill>
            <a:srgbClr val="173E78"/>
          </a:solidFill>
          <a:ln/>
        </p:spPr>
        <p:txBody>
          <a:bodyPr wrap="square" lIns="164462" tIns="100962" rIns="0" bIns="75562" rtlCol="0" anchor="t">
            <a:normAutofit/>
          </a:bodyPr>
          <a:lstStyle/>
          <a:p>
            <a:pPr algn="l" indent="0" marL="0">
              <a:lnSpc>
                <a:spcPts val="1890"/>
              </a:lnSpc>
              <a:buNone/>
            </a:pPr>
            <a:r>
              <a:rPr lang="en-US" sz="1400" b="1" dirty="0">
                <a:solidFill>
                  <a:srgbClr val="F3F6FA"/>
                </a:solidFill>
                <a:latin typeface="Nunito Sans" pitchFamily="34" charset="0"/>
                <a:ea typeface="Nunito Sans" pitchFamily="34" charset="-122"/>
                <a:cs typeface="Nunito Sans" pitchFamily="34" charset="-120"/>
              </a:rPr>
              <a:t>Pregunta para la clase:</a:t>
            </a:r>
            <a:r>
              <a:rPr lang="en-US" sz="1400" dirty="0">
                <a:solidFill>
                  <a:srgbClr val="F3F6FA"/>
                </a:solidFill>
                <a:latin typeface="Nunito Sans" pitchFamily="34" charset="0"/>
                <a:ea typeface="Nunito Sans" pitchFamily="34" charset="-122"/>
                <a:cs typeface="Nunito Sans" pitchFamily="34" charset="-120"/>
              </a:rPr>
              <a:t> ¿Cuánto cuesta atender a un cliente más?</a:t>
            </a:r>
            <a:endParaRPr lang="en-US" sz="1400" dirty="0"/>
          </a:p>
        </p:txBody>
      </p:sp>
      <p:pic>
        <p:nvPicPr>
          <p:cNvPr id="30"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31" name="Text 28"/>
          <p:cNvSpPr/>
          <p:nvPr/>
        </p:nvSpPr>
        <p:spPr>
          <a:xfrm>
            <a:off x="8008847" y="6217896"/>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CONCEPTO 2 · PROCESO DEL TRABAJO DEL CLIENTE</a:t>
            </a:r>
            <a:endParaRPr lang="en-US" sz="1200" dirty="0"/>
          </a:p>
        </p:txBody>
      </p:sp>
      <p:sp>
        <p:nvSpPr>
          <p:cNvPr id="3" name="Text 1"/>
          <p:cNvSpPr/>
          <p:nvPr>
            <p:ph type="title"/>
          </p:nvPr>
        </p:nvSpPr>
        <p:spPr>
          <a:xfrm>
            <a:off x="812800" y="9499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Filmen al cliente cuadro por cuadro</a:t>
            </a:r>
            <a:endParaRPr lang="en-US" sz="2800" dirty="0"/>
          </a:p>
        </p:txBody>
      </p:sp>
      <p:sp>
        <p:nvSpPr>
          <p:cNvPr id="4" name="Text 2"/>
          <p:cNvSpPr/>
          <p:nvPr/>
        </p:nvSpPr>
        <p:spPr>
          <a:xfrm>
            <a:off x="812800" y="1587444"/>
            <a:ext cx="5520182"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2B3A4E"/>
                </a:solidFill>
                <a:latin typeface="Nunito Sans" pitchFamily="34" charset="0"/>
                <a:ea typeface="Nunito Sans" pitchFamily="34" charset="-122"/>
                <a:cs typeface="Nunito Sans" pitchFamily="34" charset="-120"/>
              </a:rPr>
              <a:t>El «trabajo» del cliente es lo que intenta lograr, no el producto que compra. La idea suele atribuirse a Theodore Levitt: nadie quiere un taladro, quiere </a:t>
            </a:r>
            <a:r>
              <a:rPr lang="en-US" sz="1500" b="1" dirty="0">
                <a:solidFill>
                  <a:srgbClr val="2B3A4E"/>
                </a:solidFill>
                <a:latin typeface="Nunito Sans" pitchFamily="34" charset="0"/>
                <a:ea typeface="Nunito Sans" pitchFamily="34" charset="-122"/>
                <a:cs typeface="Nunito Sans" pitchFamily="34" charset="-120"/>
              </a:rPr>
              <a:t>un agujero en la pared</a:t>
            </a:r>
            <a:r>
              <a:rPr lang="en-US" sz="1500" dirty="0">
                <a:solidFill>
                  <a:srgbClr val="2B3A4E"/>
                </a:solidFill>
                <a:latin typeface="Nunito Sans" pitchFamily="34" charset="0"/>
                <a:ea typeface="Nunito Sans" pitchFamily="34" charset="-122"/>
                <a:cs typeface="Nunito Sans" pitchFamily="34" charset="-120"/>
              </a:rPr>
              <a:t>.</a:t>
            </a:r>
            <a:endParaRPr lang="en-US" sz="1500" dirty="0"/>
          </a:p>
        </p:txBody>
      </p:sp>
      <p:sp>
        <p:nvSpPr>
          <p:cNvPr id="5" name="Text 3"/>
          <p:cNvSpPr/>
          <p:nvPr/>
        </p:nvSpPr>
        <p:spPr>
          <a:xfrm>
            <a:off x="812800" y="2543119"/>
            <a:ext cx="5520182"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2B3A4E"/>
                </a:solidFill>
                <a:latin typeface="Nunito Sans" pitchFamily="34" charset="0"/>
                <a:ea typeface="Nunito Sans" pitchFamily="34" charset="-122"/>
                <a:cs typeface="Nunito Sans" pitchFamily="34" charset="-120"/>
              </a:rPr>
              <a:t>La hoja es una película: dónde empieza, qué pasos sigue y cómo termina. Los </a:t>
            </a:r>
            <a:r>
              <a:rPr lang="en-US" sz="1500" b="1" dirty="0">
                <a:solidFill>
                  <a:srgbClr val="2B3A4E"/>
                </a:solidFill>
                <a:latin typeface="Nunito Sans" pitchFamily="34" charset="0"/>
                <a:ea typeface="Nunito Sans" pitchFamily="34" charset="-122"/>
                <a:cs typeface="Nunito Sans" pitchFamily="34" charset="-120"/>
              </a:rPr>
              <a:t>marcadores</a:t>
            </a:r>
            <a:r>
              <a:rPr lang="en-US" sz="1500" dirty="0">
                <a:solidFill>
                  <a:srgbClr val="2B3A4E"/>
                </a:solidFill>
                <a:latin typeface="Nunito Sans" pitchFamily="34" charset="0"/>
                <a:ea typeface="Nunito Sans" pitchFamily="34" charset="-122"/>
                <a:cs typeface="Nunito Sans" pitchFamily="34" charset="-120"/>
              </a:rPr>
              <a:t> son las escenas donde el cliente se frustra.</a:t>
            </a:r>
            <a:endParaRPr lang="en-US" sz="1500" dirty="0"/>
          </a:p>
        </p:txBody>
      </p:sp>
      <p:sp>
        <p:nvSpPr>
          <p:cNvPr id="6" name="Shape 4"/>
          <p:cNvSpPr/>
          <p:nvPr/>
        </p:nvSpPr>
        <p:spPr>
          <a:xfrm>
            <a:off x="6429375" y="1590619"/>
            <a:ext cx="4946650" cy="2523331"/>
          </a:xfrm>
          <a:prstGeom prst="roundRect">
            <a:avLst>
              <a:gd name="adj" fmla="val 3901"/>
            </a:avLst>
          </a:prstGeom>
          <a:solidFill>
            <a:srgbClr val="FDFDFB"/>
          </a:solidFill>
          <a:ln w="6350">
            <a:solidFill>
              <a:srgbClr val="DCE3EA"/>
            </a:solidFill>
            <a:prstDash val="solid"/>
          </a:ln>
        </p:spPr>
      </p:sp>
      <p:sp>
        <p:nvSpPr>
          <p:cNvPr id="7" name="Text 5"/>
          <p:cNvSpPr/>
          <p:nvPr/>
        </p:nvSpPr>
        <p:spPr>
          <a:xfrm>
            <a:off x="6633029" y="1794266"/>
            <a:ext cx="467552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Tipos de marcador</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43915" y="2122651"/>
          <a:ext cx="4528457" cy="1787638"/>
        </p:xfrm>
        <a:graphic>
          <a:graphicData uri="http://schemas.openxmlformats.org/drawingml/2006/table">
            <a:tbl>
              <a:tblPr/>
              <a:tblGrid>
                <a:gridCol w="1132114"/>
                <a:gridCol w="3396343"/>
              </a:tblGrid>
              <a:tr h="357528">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Tipo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BBBB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BB9"/>
                      </a:solidFill>
                      <a:prstDash val="solid"/>
                      <a:round/>
                      <a:headEnd type="none" w="med" len="med"/>
                      <a:tailEnd type="none" w="med" len="med"/>
                    </a:lnB>
                    <a:solidFill>
                      <a:srgbClr val="EAEAE8"/>
                    </a:solidFill>
                  </a:tcPr>
                </a:tc>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Ejemplo de esta semana</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BBBB9"/>
                      </a:solidFill>
                      <a:prstDash val="solid"/>
                      <a:round/>
                      <a:headEnd type="none" w="med" len="med"/>
                      <a:tailEnd type="none" w="med" len="med"/>
                    </a:lnL>
                    <a:lnR w="12700" cap="flat" cmpd="sng" algn="ctr">
                      <a:solidFill>
                        <a:srgbClr val="BBBB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BB9"/>
                      </a:solidFill>
                      <a:prstDash val="solid"/>
                      <a:round/>
                      <a:headEnd type="none" w="med" len="med"/>
                      <a:tailEnd type="none" w="med" len="med"/>
                    </a:lnB>
                    <a:solidFill>
                      <a:srgbClr val="EAEAE8"/>
                    </a:solidFill>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Tiempo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BB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Tachar tarjetas alarga la fila</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BB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Dinero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Lo fiado se pierde sin control</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Riesgo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Miedo a sacar el celular en el bus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Calidad</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Comentarios cortos o ninguno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bl>
          </a:graphicData>
        </a:graphic>
      </p:graphicFrame>
      <p:sp>
        <p:nvSpPr>
          <p:cNvPr id="9" name="Text 6"/>
          <p:cNvSpPr/>
          <p:nvPr/>
        </p:nvSpPr>
        <p:spPr>
          <a:xfrm>
            <a:off x="812800" y="4345725"/>
            <a:ext cx="10566401" cy="838200"/>
          </a:xfrm>
          <a:prstGeom prst="roundRect">
            <a:avLst>
              <a:gd name="adj" fmla="val 10606"/>
            </a:avLst>
          </a:prstGeom>
          <a:solidFill>
            <a:srgbClr val="FFF4DC"/>
          </a:solidFill>
          <a:ln/>
        </p:spPr>
        <p:txBody>
          <a:bodyPr wrap="square" lIns="177162" tIns="126362" rIns="0" bIns="100962" rtlCol="0" anchor="t">
            <a:normAutofit/>
          </a:bodyPr>
          <a:lstStyle/>
          <a:p>
            <a:pPr algn="l" indent="0" marL="0">
              <a:lnSpc>
                <a:spcPts val="2100"/>
              </a:lnSpc>
              <a:buNone/>
            </a:pPr>
            <a:r>
              <a:rPr lang="en-US" sz="1500" b="1" dirty="0">
                <a:solidFill>
                  <a:srgbClr val="7A4B00"/>
                </a:solidFill>
                <a:latin typeface="Nunito Sans" pitchFamily="34" charset="0"/>
                <a:ea typeface="Nunito Sans" pitchFamily="34" charset="-122"/>
                <a:cs typeface="Nunito Sans" pitchFamily="34" charset="-120"/>
              </a:rPr>
              <a:t>Error frecuente:</a:t>
            </a:r>
            <a:r>
              <a:rPr lang="en-US" sz="1500" dirty="0">
                <a:solidFill>
                  <a:srgbClr val="7A4B00"/>
                </a:solidFill>
                <a:latin typeface="Nunito Sans" pitchFamily="34" charset="0"/>
                <a:ea typeface="Nunito Sans" pitchFamily="34" charset="-122"/>
                <a:cs typeface="Nunito Sans" pitchFamily="34" charset="-120"/>
              </a:rPr>
              <a:t> escribir los pasos de su app («abre la app, escanea el QR»). La hoja describe lo que el cliente hace </a:t>
            </a:r>
            <a:r>
              <a:rPr lang="en-US" sz="1500" b="1" dirty="0">
                <a:solidFill>
                  <a:srgbClr val="7A4B00"/>
                </a:solidFill>
                <a:latin typeface="Nunito Sans" pitchFamily="34" charset="0"/>
                <a:ea typeface="Nunito Sans" pitchFamily="34" charset="-122"/>
                <a:cs typeface="Nunito Sans" pitchFamily="34" charset="-120"/>
              </a:rPr>
              <a:t>hoy</a:t>
            </a:r>
            <a:r>
              <a:rPr lang="en-US" sz="1500" dirty="0">
                <a:solidFill>
                  <a:srgbClr val="7A4B00"/>
                </a:solidFill>
                <a:latin typeface="Nunito Sans" pitchFamily="34" charset="0"/>
                <a:ea typeface="Nunito Sans" pitchFamily="34" charset="-122"/>
                <a:cs typeface="Nunito Sans" pitchFamily="34" charset="-120"/>
              </a:rPr>
              <a:t>, sin ustedes.</a:t>
            </a:r>
            <a:endParaRPr lang="en-US" sz="1500" dirty="0"/>
          </a:p>
        </p:txBody>
      </p:sp>
      <p:pic>
        <p:nvPicPr>
          <p:cNvPr id="10" name="Image 0" descr="Logo PUCE">    </p:cNvPr>
          <p:cNvPicPr>
            <a:picLocks noChangeAspect="1"/>
          </p:cNvPicPr>
          <p:nvPr/>
        </p:nvPicPr>
        <p:blipFill>
          <a:blip r:embed="rId1"/>
          <a:srcRect l="-436" r="-436" t="0" b="0"/>
          <a:stretch/>
        </p:blipFill>
        <p:spPr>
          <a:xfrm>
            <a:off x="812800" y="6184894"/>
            <a:ext cx="1016000" cy="279400"/>
          </a:xfrm>
          <a:prstGeom prst="rect">
            <a:avLst/>
          </a:prstGeom>
        </p:spPr>
      </p:pic>
      <p:sp>
        <p:nvSpPr>
          <p:cNvPr id="11" name="Text 7"/>
          <p:cNvSpPr/>
          <p:nvPr/>
        </p:nvSpPr>
        <p:spPr>
          <a:xfrm>
            <a:off x="8008847" y="6217896"/>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EJEMPLO DESARROLLADO · PROCESO DEL TRABAJO</a:t>
            </a:r>
            <a:endParaRPr lang="en-US" sz="1200" dirty="0"/>
          </a:p>
        </p:txBody>
      </p:sp>
      <p:sp>
        <p:nvSpPr>
          <p:cNvPr id="3" name="Text 1"/>
          <p:cNvSpPr/>
          <p:nvPr>
            <p:ph type="title"/>
          </p:nvPr>
        </p:nvSpPr>
        <p:spPr>
          <a:xfrm>
            <a:off x="812800" y="886458"/>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El mismo proceso, escrito mal y escrito bien</a:t>
            </a:r>
            <a:endParaRPr lang="en-US" sz="2500" dirty="0"/>
          </a:p>
        </p:txBody>
      </p:sp>
      <p:sp>
        <p:nvSpPr>
          <p:cNvPr id="4" name="Shape 2"/>
          <p:cNvSpPr/>
          <p:nvPr/>
        </p:nvSpPr>
        <p:spPr>
          <a:xfrm>
            <a:off x="812800" y="1416683"/>
            <a:ext cx="5194300" cy="2736056"/>
          </a:xfrm>
          <a:prstGeom prst="roundRect">
            <a:avLst>
              <a:gd name="adj" fmla="val 3249"/>
            </a:avLst>
          </a:prstGeom>
          <a:solidFill>
            <a:srgbClr val="FBEAEA"/>
          </a:solidFill>
          <a:ln/>
        </p:spPr>
      </p:sp>
      <p:sp>
        <p:nvSpPr>
          <p:cNvPr id="5" name="Shape 3"/>
          <p:cNvSpPr/>
          <p:nvPr/>
        </p:nvSpPr>
        <p:spPr>
          <a:xfrm>
            <a:off x="812800" y="1416683"/>
            <a:ext cx="5194300" cy="2736056"/>
          </a:xfrm>
          <a:custGeom>
            <a:avLst/>
            <a:gdLst/>
            <a:ahLst/>
            <a:cxnLst/>
            <a:rect l="l" t="t" r="r" b="b"/>
            <a:pathLst>
              <a:path w="5194300" h="2736056">
                <a:moveTo>
                  <a:pt x="88900" y="2736056"/>
                </a:moveTo>
                <a:lnTo>
                  <a:pt x="88900" y="2736056"/>
                </a:lnTo>
                <a:arcTo hR="88900" wR="88900" stAng="5400000" swAng="5400000"/>
                <a:lnTo>
                  <a:pt x="0" y="88900"/>
                </a:lnTo>
                <a:arcTo hR="88900" wR="88900" stAng="10800000" swAng="5400000"/>
                <a:lnTo>
                  <a:pt x="88900" y="0"/>
                </a:lnTo>
                <a:arcTo hR="88900" wR="38100" stAng="16200000" swAng="-5400000"/>
                <a:lnTo>
                  <a:pt x="50800" y="2647156"/>
                </a:lnTo>
                <a:arcTo hR="88900" wR="38100" stAng="10800000" swAng="-5400000"/>
                <a:close/>
              </a:path>
            </a:pathLst>
          </a:custGeom>
          <a:solidFill>
            <a:srgbClr val="B23A3A"/>
          </a:solidFill>
          <a:ln/>
        </p:spPr>
      </p:sp>
      <p:sp>
        <p:nvSpPr>
          <p:cNvPr id="6" name="Text 4"/>
          <p:cNvSpPr/>
          <p:nvPr/>
        </p:nvSpPr>
        <p:spPr>
          <a:xfrm>
            <a:off x="1054100" y="1581783"/>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6E2020"/>
                </a:solidFill>
                <a:latin typeface="Nunito Sans" pitchFamily="34" charset="0"/>
                <a:ea typeface="Nunito Sans" pitchFamily="34" charset="-122"/>
                <a:cs typeface="Nunito Sans" pitchFamily="34" charset="-120"/>
              </a:rPr>
              <a:t>Así no: los pasos de la app</a:t>
            </a:r>
            <a:endParaRPr lang="en-US" sz="1500" dirty="0"/>
          </a:p>
        </p:txBody>
      </p:sp>
      <p:sp>
        <p:nvSpPr>
          <p:cNvPr id="7" name="Text 5"/>
          <p:cNvSpPr/>
          <p:nvPr/>
        </p:nvSpPr>
        <p:spPr>
          <a:xfrm>
            <a:off x="1128883" y="1873883"/>
            <a:ext cx="4822973" cy="982889"/>
          </a:xfrm>
          <a:prstGeom prst="rect">
            <a:avLst/>
          </a:prstGeom>
          <a:noFill/>
          <a:ln/>
        </p:spPr>
        <p:txBody>
          <a:bodyPr wrap="square" lIns="0" tIns="0" rIns="0" bIns="0" rtlCol="0" anchor="t">
            <a:normAutofit/>
          </a:bodyPr>
          <a:lstStyle/>
          <a:p>
            <a:pPr algn="l" marL="179217" indent="-179217">
              <a:lnSpc>
                <a:spcPts val="1885"/>
              </a:lnSpc>
              <a:buSzPct val="100000"/>
              <a:buFontTx/>
              <a:buAutoNum type="arabicPeriod" startAt="1"/>
            </a:pPr>
            <a:r>
              <a:rPr lang="en-US" sz="1300" dirty="0">
                <a:solidFill>
                  <a:srgbClr val="3A1C1C"/>
                </a:solidFill>
                <a:latin typeface="Nunito Sans" pitchFamily="34" charset="0"/>
                <a:ea typeface="Nunito Sans" pitchFamily="34" charset="-122"/>
                <a:cs typeface="Nunito Sans" pitchFamily="34" charset="-120"/>
              </a:rPr>
              <a:t>Abre TransporteSeguro</a:t>
            </a:r>
            <a:endParaRPr lang="en-US" sz="1300" dirty="0"/>
          </a:p>
          <a:p>
            <a:pPr algn="l" marL="179217" indent="-179217">
              <a:lnSpc>
                <a:spcPts val="1885"/>
              </a:lnSpc>
              <a:buSzPct val="100000"/>
              <a:buFontTx/>
              <a:buAutoNum type="arabicPeriod" startAt="1"/>
            </a:pPr>
            <a:r>
              <a:rPr lang="en-US" sz="1300" dirty="0">
                <a:solidFill>
                  <a:srgbClr val="3A1C1C"/>
                </a:solidFill>
                <a:latin typeface="Nunito Sans" pitchFamily="34" charset="0"/>
                <a:ea typeface="Nunito Sans" pitchFamily="34" charset="-122"/>
                <a:cs typeface="Nunito Sans" pitchFamily="34" charset="-120"/>
              </a:rPr>
              <a:t>Elige la ruta del hijo</a:t>
            </a:r>
            <a:endParaRPr lang="en-US" sz="1300" dirty="0"/>
          </a:p>
          <a:p>
            <a:pPr algn="l" marL="179217" indent="-179217">
              <a:lnSpc>
                <a:spcPts val="1885"/>
              </a:lnSpc>
              <a:buSzPct val="100000"/>
              <a:buFontTx/>
              <a:buAutoNum type="arabicPeriod" startAt="1"/>
            </a:pPr>
            <a:r>
              <a:rPr lang="en-US" sz="1300" dirty="0">
                <a:solidFill>
                  <a:srgbClr val="3A1C1C"/>
                </a:solidFill>
                <a:latin typeface="Nunito Sans" pitchFamily="34" charset="0"/>
                <a:ea typeface="Nunito Sans" pitchFamily="34" charset="-122"/>
                <a:cs typeface="Nunito Sans" pitchFamily="34" charset="-120"/>
              </a:rPr>
              <a:t>Recibe el aviso de llegada</a:t>
            </a:r>
            <a:endParaRPr lang="en-US" sz="1300" dirty="0"/>
          </a:p>
          <a:p>
            <a:pPr algn="l" marL="179217" indent="-179217">
              <a:lnSpc>
                <a:spcPts val="1885"/>
              </a:lnSpc>
              <a:buSzPct val="100000"/>
              <a:buFontTx/>
              <a:buAutoNum type="arabicPeriod" startAt="1"/>
            </a:pPr>
            <a:r>
              <a:rPr lang="en-US" sz="1300" dirty="0">
                <a:solidFill>
                  <a:srgbClr val="3A1C1C"/>
                </a:solidFill>
                <a:latin typeface="Nunito Sans" pitchFamily="34" charset="0"/>
                <a:ea typeface="Nunito Sans" pitchFamily="34" charset="-122"/>
                <a:cs typeface="Nunito Sans" pitchFamily="34" charset="-120"/>
              </a:rPr>
              <a:t>Cierra la app</a:t>
            </a:r>
            <a:endParaRPr lang="en-US" sz="1300" dirty="0"/>
          </a:p>
        </p:txBody>
      </p:sp>
      <p:sp>
        <p:nvSpPr>
          <p:cNvPr id="8" name="Text 6"/>
          <p:cNvSpPr/>
          <p:nvPr/>
        </p:nvSpPr>
        <p:spPr>
          <a:xfrm>
            <a:off x="1054100" y="2894868"/>
            <a:ext cx="4905375" cy="25649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A1C1C"/>
                </a:solidFill>
                <a:latin typeface="Nunito Sans" pitchFamily="34" charset="0"/>
                <a:ea typeface="Nunito Sans" pitchFamily="34" charset="-122"/>
                <a:cs typeface="Nunito Sans" pitchFamily="34" charset="-120"/>
              </a:rPr>
              <a:t>Marcador:</a:t>
            </a:r>
            <a:r>
              <a:rPr lang="en-US" sz="1300" dirty="0">
                <a:solidFill>
                  <a:srgbClr val="3A1C1C"/>
                </a:solidFill>
                <a:latin typeface="Nunito Sans" pitchFamily="34" charset="0"/>
                <a:ea typeface="Nunito Sans" pitchFamily="34" charset="-122"/>
                <a:cs typeface="Nunito Sans" pitchFamily="34" charset="-120"/>
              </a:rPr>
              <a:t> «el proceso es lento»</a:t>
            </a:r>
            <a:endParaRPr lang="en-US" sz="1300" dirty="0"/>
          </a:p>
        </p:txBody>
      </p:sp>
      <p:sp>
        <p:nvSpPr>
          <p:cNvPr id="9" name="Text 7"/>
          <p:cNvSpPr/>
          <p:nvPr/>
        </p:nvSpPr>
        <p:spPr>
          <a:xfrm>
            <a:off x="1054100" y="3189461"/>
            <a:ext cx="4905375"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2020"/>
                </a:solidFill>
                <a:latin typeface="Nunito Sans" pitchFamily="34" charset="0"/>
                <a:ea typeface="Nunito Sans" pitchFamily="34" charset="-122"/>
                <a:cs typeface="Nunito Sans" pitchFamily="34" charset="-120"/>
              </a:rPr>
              <a:t>Describe la solución, no lo que el padre hace hoy. El marcador no dice en qué paso, de qué tipo es ni de dónde salió.</a:t>
            </a:r>
            <a:endParaRPr lang="en-US" sz="1200" dirty="0"/>
          </a:p>
        </p:txBody>
      </p:sp>
      <p:sp>
        <p:nvSpPr>
          <p:cNvPr id="10" name="Shape 8"/>
          <p:cNvSpPr/>
          <p:nvPr/>
        </p:nvSpPr>
        <p:spPr>
          <a:xfrm>
            <a:off x="6184900" y="1416683"/>
            <a:ext cx="5194300" cy="2736056"/>
          </a:xfrm>
          <a:prstGeom prst="roundRect">
            <a:avLst>
              <a:gd name="adj" fmla="val 3249"/>
            </a:avLst>
          </a:prstGeom>
          <a:solidFill>
            <a:srgbClr val="E9F6EC"/>
          </a:solidFill>
          <a:ln/>
        </p:spPr>
      </p:sp>
      <p:sp>
        <p:nvSpPr>
          <p:cNvPr id="11" name="Shape 9"/>
          <p:cNvSpPr/>
          <p:nvPr/>
        </p:nvSpPr>
        <p:spPr>
          <a:xfrm>
            <a:off x="6184900" y="1416683"/>
            <a:ext cx="5194300" cy="2736056"/>
          </a:xfrm>
          <a:custGeom>
            <a:avLst/>
            <a:gdLst/>
            <a:ahLst/>
            <a:cxnLst/>
            <a:rect l="l" t="t" r="r" b="b"/>
            <a:pathLst>
              <a:path w="5194300" h="2736056">
                <a:moveTo>
                  <a:pt x="88900" y="2736056"/>
                </a:moveTo>
                <a:lnTo>
                  <a:pt x="88900" y="2736056"/>
                </a:lnTo>
                <a:arcTo hR="88900" wR="88900" stAng="5400000" swAng="5400000"/>
                <a:lnTo>
                  <a:pt x="0" y="88900"/>
                </a:lnTo>
                <a:arcTo hR="88900" wR="88900" stAng="10800000" swAng="5400000"/>
                <a:lnTo>
                  <a:pt x="88900" y="0"/>
                </a:lnTo>
                <a:arcTo hR="88900" wR="38100" stAng="16200000" swAng="-5400000"/>
                <a:lnTo>
                  <a:pt x="50800" y="2647156"/>
                </a:lnTo>
                <a:arcTo hR="88900" wR="38100" stAng="10800000" swAng="-5400000"/>
                <a:close/>
              </a:path>
            </a:pathLst>
          </a:custGeom>
          <a:solidFill>
            <a:srgbClr val="2E7D44"/>
          </a:solidFill>
          <a:ln/>
        </p:spPr>
      </p:sp>
      <p:sp>
        <p:nvSpPr>
          <p:cNvPr id="12" name="Text 10"/>
          <p:cNvSpPr/>
          <p:nvPr/>
        </p:nvSpPr>
        <p:spPr>
          <a:xfrm>
            <a:off x="6426200" y="1581783"/>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4D29"/>
                </a:solidFill>
                <a:latin typeface="Nunito Sans" pitchFamily="34" charset="0"/>
                <a:ea typeface="Nunito Sans" pitchFamily="34" charset="-122"/>
                <a:cs typeface="Nunito Sans" pitchFamily="34" charset="-120"/>
              </a:rPr>
              <a:t>Así sí: lo que entregó el equipo</a:t>
            </a:r>
            <a:endParaRPr lang="en-US" sz="1500" dirty="0"/>
          </a:p>
        </p:txBody>
      </p:sp>
      <p:sp>
        <p:nvSpPr>
          <p:cNvPr id="13" name="Text 11"/>
          <p:cNvSpPr/>
          <p:nvPr/>
        </p:nvSpPr>
        <p:spPr>
          <a:xfrm>
            <a:off x="6500983" y="1873883"/>
            <a:ext cx="4822973" cy="1222262"/>
          </a:xfrm>
          <a:prstGeom prst="rect">
            <a:avLst/>
          </a:prstGeom>
          <a:noFill/>
          <a:ln/>
        </p:spPr>
        <p:txBody>
          <a:bodyPr wrap="square" lIns="0" tIns="0" rIns="0" bIns="0" rtlCol="0" anchor="t">
            <a:normAutofit/>
          </a:bodyPr>
          <a:lstStyle/>
          <a:p>
            <a:pPr algn="l" marL="179217" indent="-179217">
              <a:lnSpc>
                <a:spcPts val="1885"/>
              </a:lnSpc>
              <a:buSzPct val="100000"/>
              <a:buFontTx/>
              <a:buAutoNum type="arabicPeriod" startAt="1"/>
            </a:pPr>
            <a:r>
              <a:rPr lang="en-US" sz="1300" dirty="0">
                <a:solidFill>
                  <a:srgbClr val="1F3326"/>
                </a:solidFill>
                <a:latin typeface="Nunito Sans" pitchFamily="34" charset="0"/>
                <a:ea typeface="Nunito Sans" pitchFamily="34" charset="-122"/>
                <a:cs typeface="Nunito Sans" pitchFamily="34" charset="-120"/>
              </a:rPr>
              <a:t>Despide a su hijo y acuerdan la hora</a:t>
            </a:r>
            <a:endParaRPr lang="en-US" sz="1300" dirty="0"/>
          </a:p>
          <a:p>
            <a:pPr algn="l" marL="179217" indent="-179217">
              <a:lnSpc>
                <a:spcPts val="1885"/>
              </a:lnSpc>
              <a:buSzPct val="100000"/>
              <a:buFontTx/>
              <a:buAutoNum type="arabicPeriod" startAt="1"/>
            </a:pPr>
            <a:r>
              <a:rPr lang="en-US" sz="1300" dirty="0">
                <a:solidFill>
                  <a:srgbClr val="1F3326"/>
                </a:solidFill>
                <a:latin typeface="Nunito Sans" pitchFamily="34" charset="0"/>
                <a:ea typeface="Nunito Sans" pitchFamily="34" charset="-122"/>
                <a:cs typeface="Nunito Sans" pitchFamily="34" charset="-120"/>
              </a:rPr>
              <a:t>Empieza su jornada de trabajo</a:t>
            </a:r>
            <a:endParaRPr lang="en-US" sz="1300" dirty="0"/>
          </a:p>
          <a:p>
            <a:pPr algn="l" marL="179217" indent="-179217">
              <a:lnSpc>
                <a:spcPts val="1885"/>
              </a:lnSpc>
              <a:buSzPct val="100000"/>
              <a:buFontTx/>
              <a:buAutoNum type="arabicPeriod" startAt="1"/>
            </a:pPr>
            <a:r>
              <a:rPr lang="en-US" sz="1300" dirty="0">
                <a:solidFill>
                  <a:srgbClr val="1F3326"/>
                </a:solidFill>
                <a:latin typeface="Nunito Sans" pitchFamily="34" charset="0"/>
                <a:ea typeface="Nunito Sans" pitchFamily="34" charset="-122"/>
                <a:cs typeface="Nunito Sans" pitchFamily="34" charset="-120"/>
              </a:rPr>
              <a:t>Se pregunta si ya subió al bus</a:t>
            </a:r>
            <a:endParaRPr lang="en-US" sz="1300" dirty="0"/>
          </a:p>
          <a:p>
            <a:pPr algn="l" marL="179217" indent="-179217">
              <a:lnSpc>
                <a:spcPts val="1885"/>
              </a:lnSpc>
              <a:buSzPct val="100000"/>
              <a:buFontTx/>
              <a:buAutoNum type="arabicPeriod" startAt="1"/>
            </a:pPr>
            <a:r>
              <a:rPr lang="en-US" sz="1300" dirty="0">
                <a:solidFill>
                  <a:srgbClr val="1F3326"/>
                </a:solidFill>
                <a:latin typeface="Nunito Sans" pitchFamily="34" charset="0"/>
                <a:ea typeface="Nunito Sans" pitchFamily="34" charset="-122"/>
                <a:cs typeface="Nunito Sans" pitchFamily="34" charset="-120"/>
              </a:rPr>
              <a:t>Llama o escribe para confirmar</a:t>
            </a:r>
            <a:endParaRPr lang="en-US" sz="1300" dirty="0"/>
          </a:p>
          <a:p>
            <a:pPr algn="l" marL="179217" indent="-179217">
              <a:lnSpc>
                <a:spcPts val="1885"/>
              </a:lnSpc>
              <a:buSzPct val="100000"/>
              <a:buFontTx/>
              <a:buAutoNum type="arabicPeriod" startAt="1"/>
            </a:pPr>
            <a:r>
              <a:rPr lang="en-US" sz="1300" dirty="0">
                <a:solidFill>
                  <a:srgbClr val="1F3326"/>
                </a:solidFill>
                <a:latin typeface="Nunito Sans" pitchFamily="34" charset="0"/>
                <a:ea typeface="Nunito Sans" pitchFamily="34" charset="-122"/>
                <a:cs typeface="Nunito Sans" pitchFamily="34" charset="-120"/>
              </a:rPr>
              <a:t>Insiste cuando no le contestan</a:t>
            </a:r>
            <a:endParaRPr lang="en-US" sz="1300" dirty="0"/>
          </a:p>
        </p:txBody>
      </p:sp>
      <p:sp>
        <p:nvSpPr>
          <p:cNvPr id="14" name="Text 12"/>
          <p:cNvSpPr/>
          <p:nvPr/>
        </p:nvSpPr>
        <p:spPr>
          <a:xfrm>
            <a:off x="6426200" y="3134246"/>
            <a:ext cx="4905375" cy="87879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3326"/>
                </a:solidFill>
                <a:latin typeface="Nunito Sans" pitchFamily="34" charset="0"/>
                <a:ea typeface="Nunito Sans" pitchFamily="34" charset="-122"/>
                <a:cs typeface="Nunito Sans" pitchFamily="34" charset="-120"/>
              </a:rPr>
              <a:t>Paso 4 · Tiempo:</a:t>
            </a:r>
            <a:r>
              <a:rPr lang="en-US" sz="1200" dirty="0">
                <a:solidFill>
                  <a:srgbClr val="1F3326"/>
                </a:solidFill>
                <a:latin typeface="Nunito Sans" pitchFamily="34" charset="0"/>
                <a:ea typeface="Nunito Sans" pitchFamily="34" charset="-122"/>
                <a:cs typeface="Nunito Sans" pitchFamily="34" charset="-120"/>
              </a:rPr>
              <a:t> interrumpe su trabajo (suponen 3 veces por semana).</a:t>
            </a:r>
            <a:endParaRPr lang="en-US" sz="1200" dirty="0"/>
          </a:p>
          <a:p>
            <a:pPr algn="l" indent="0" marL="0">
              <a:lnSpc>
                <a:spcPts val="1680"/>
              </a:lnSpc>
              <a:buNone/>
            </a:pPr>
            <a:r>
              <a:rPr lang="en-US" sz="1200" b="1" dirty="0">
                <a:solidFill>
                  <a:srgbClr val="1F3326"/>
                </a:solidFill>
                <a:latin typeface="Nunito Sans" pitchFamily="34" charset="0"/>
                <a:ea typeface="Nunito Sans" pitchFamily="34" charset="-122"/>
                <a:cs typeface="Nunito Sans" pitchFamily="34" charset="-120"/>
              </a:rPr>
              <a:t>Paso 5 · Riesgo:</a:t>
            </a:r>
            <a:r>
              <a:rPr lang="en-US" sz="1200" dirty="0">
                <a:solidFill>
                  <a:srgbClr val="1F3326"/>
                </a:solidFill>
                <a:latin typeface="Nunito Sans" pitchFamily="34" charset="0"/>
                <a:ea typeface="Nunito Sans" pitchFamily="34" charset="-122"/>
                <a:cs typeface="Nunito Sans" pitchFamily="34" charset="-120"/>
              </a:rPr>
              <a:t> el hijo no contesta; evita sacar el celular por miedo a un robo.</a:t>
            </a:r>
            <a:endParaRPr lang="en-US" sz="1200" dirty="0"/>
          </a:p>
        </p:txBody>
      </p:sp>
      <p:sp>
        <p:nvSpPr>
          <p:cNvPr id="15" name="Text 13"/>
          <p:cNvSpPr/>
          <p:nvPr/>
        </p:nvSpPr>
        <p:spPr>
          <a:xfrm>
            <a:off x="812800" y="4317839"/>
            <a:ext cx="10566401" cy="493996"/>
          </a:xfrm>
          <a:prstGeom prst="roundRect">
            <a:avLst>
              <a:gd name="adj" fmla="val 17996"/>
            </a:avLst>
          </a:prstGeom>
          <a:solidFill>
            <a:srgbClr val="173E78"/>
          </a:solidFill>
          <a:ln/>
        </p:spPr>
        <p:txBody>
          <a:bodyPr wrap="square" lIns="164462" tIns="100962" rIns="0" bIns="75562" rtlCol="0" anchor="t">
            <a:normAutofit/>
          </a:bodyPr>
          <a:lstStyle/>
          <a:p>
            <a:pPr algn="l" indent="0" marL="0">
              <a:lnSpc>
                <a:spcPts val="1890"/>
              </a:lnSpc>
              <a:buNone/>
            </a:pPr>
            <a:r>
              <a:rPr lang="en-US" sz="1400" b="1" dirty="0">
                <a:solidFill>
                  <a:srgbClr val="F3F6FA"/>
                </a:solidFill>
                <a:latin typeface="Nunito Sans" pitchFamily="34" charset="0"/>
                <a:ea typeface="Nunito Sans" pitchFamily="34" charset="-122"/>
                <a:cs typeface="Nunito Sans" pitchFamily="34" charset="-120"/>
              </a:rPr>
              <a:t>Pregunta para la clase:</a:t>
            </a:r>
            <a:r>
              <a:rPr lang="en-US" sz="1400" dirty="0">
                <a:solidFill>
                  <a:srgbClr val="F3F6FA"/>
                </a:solidFill>
                <a:latin typeface="Nunito Sans" pitchFamily="34" charset="0"/>
                <a:ea typeface="Nunito Sans" pitchFamily="34" charset="-122"/>
                <a:cs typeface="Nunito Sans" pitchFamily="34" charset="-120"/>
              </a:rPr>
              <a:t> ¿Su hoja describe lo que el cliente hace hoy o lo que hará con su app?</a:t>
            </a:r>
            <a:endParaRPr lang="en-US" sz="1400" dirty="0"/>
          </a:p>
        </p:txBody>
      </p:sp>
      <p:pic>
        <p:nvPicPr>
          <p:cNvPr id="16"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7" name="Text 14"/>
          <p:cNvSpPr/>
          <p:nvPr/>
        </p:nvSpPr>
        <p:spPr>
          <a:xfrm>
            <a:off x="8008847" y="6217903"/>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CONCEPTO 3 · LIENZO DE LA PROPUESTA DE VALOR</a:t>
            </a:r>
            <a:endParaRPr lang="en-US" sz="1200" dirty="0"/>
          </a:p>
        </p:txBody>
      </p:sp>
      <p:sp>
        <p:nvSpPr>
          <p:cNvPr id="3" name="Text 1"/>
          <p:cNvSpPr/>
          <p:nvPr>
            <p:ph type="title"/>
          </p:nvPr>
        </p:nvSpPr>
        <p:spPr>
          <a:xfrm>
            <a:off x="812800" y="949958"/>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Primero el diagnóstico, después la receta</a:t>
            </a:r>
            <a:endParaRPr lang="en-US" sz="2800" dirty="0"/>
          </a:p>
        </p:txBody>
      </p:sp>
      <p:sp>
        <p:nvSpPr>
          <p:cNvPr id="4" name="Shape 2"/>
          <p:cNvSpPr/>
          <p:nvPr/>
        </p:nvSpPr>
        <p:spPr>
          <a:xfrm>
            <a:off x="815975" y="1590625"/>
            <a:ext cx="5175250" cy="2180148"/>
          </a:xfrm>
          <a:prstGeom prst="roundRect">
            <a:avLst>
              <a:gd name="adj" fmla="val 4515"/>
            </a:avLst>
          </a:prstGeom>
          <a:solidFill>
            <a:srgbClr val="E9F6EC"/>
          </a:solidFill>
          <a:ln w="6350">
            <a:solidFill>
              <a:srgbClr val="9BCBA6"/>
            </a:solidFill>
            <a:prstDash val="solid"/>
          </a:ln>
        </p:spPr>
      </p:sp>
      <p:sp>
        <p:nvSpPr>
          <p:cNvPr id="5" name="Text 3"/>
          <p:cNvSpPr/>
          <p:nvPr/>
        </p:nvSpPr>
        <p:spPr>
          <a:xfrm>
            <a:off x="1045029" y="1819672"/>
            <a:ext cx="4858657" cy="238749"/>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EL CUADRADO · LA RECETA</a:t>
            </a:r>
            <a:endParaRPr lang="en-US" sz="1200" dirty="0"/>
          </a:p>
        </p:txBody>
      </p:sp>
      <p:sp>
        <p:nvSpPr>
          <p:cNvPr id="6" name="Text 4"/>
          <p:cNvSpPr/>
          <p:nvPr/>
        </p:nvSpPr>
        <p:spPr>
          <a:xfrm>
            <a:off x="1045029" y="2134629"/>
            <a:ext cx="4858657"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4D29"/>
                </a:solidFill>
                <a:latin typeface="Nunito Sans" pitchFamily="34" charset="0"/>
                <a:ea typeface="Nunito Sans" pitchFamily="34" charset="-122"/>
                <a:cs typeface="Nunito Sans" pitchFamily="34" charset="-120"/>
              </a:rPr>
              <a:t>Mapa de valor</a:t>
            </a:r>
            <a:endParaRPr lang="en-US" sz="1800" dirty="0"/>
          </a:p>
        </p:txBody>
      </p:sp>
      <p:sp>
        <p:nvSpPr>
          <p:cNvPr id="7" name="Text 5"/>
          <p:cNvSpPr/>
          <p:nvPr/>
        </p:nvSpPr>
        <p:spPr>
          <a:xfrm>
            <a:off x="1129611" y="2510520"/>
            <a:ext cx="4766455" cy="798796"/>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b="1" dirty="0">
                <a:solidFill>
                  <a:srgbClr val="1F3326"/>
                </a:solidFill>
                <a:latin typeface="Nunito Sans" pitchFamily="34" charset="0"/>
                <a:ea typeface="Nunito Sans" pitchFamily="34" charset="-122"/>
                <a:cs typeface="Nunito Sans" pitchFamily="34" charset="-120"/>
              </a:rPr>
              <a:t>Productos y servicios:</a:t>
            </a:r>
            <a:r>
              <a:rPr lang="en-US" sz="1400" dirty="0">
                <a:solidFill>
                  <a:srgbClr val="1F3326"/>
                </a:solidFill>
                <a:latin typeface="Nunito Sans" pitchFamily="34" charset="0"/>
                <a:ea typeface="Nunito Sans" pitchFamily="34" charset="-122"/>
                <a:cs typeface="Nunito Sans" pitchFamily="34" charset="-120"/>
              </a:rPr>
              <a:t> lo que ustedes ofrecen.</a:t>
            </a:r>
            <a:endParaRPr lang="en-US" sz="1400" dirty="0"/>
          </a:p>
          <a:p>
            <a:pPr algn="l" marL="169418" indent="-169418">
              <a:lnSpc>
                <a:spcPts val="2030"/>
              </a:lnSpc>
              <a:buSzPct val="100000"/>
              <a:buChar char="•"/>
            </a:pPr>
            <a:r>
              <a:rPr lang="en-US" sz="1400" b="1" dirty="0">
                <a:solidFill>
                  <a:srgbClr val="1F3326"/>
                </a:solidFill>
                <a:latin typeface="Nunito Sans" pitchFamily="34" charset="0"/>
                <a:ea typeface="Nunito Sans" pitchFamily="34" charset="-122"/>
                <a:cs typeface="Nunito Sans" pitchFamily="34" charset="-120"/>
              </a:rPr>
              <a:t>Aliviadores:</a:t>
            </a:r>
            <a:r>
              <a:rPr lang="en-US" sz="1400" dirty="0">
                <a:solidFill>
                  <a:srgbClr val="1F3326"/>
                </a:solidFill>
                <a:latin typeface="Nunito Sans" pitchFamily="34" charset="0"/>
                <a:ea typeface="Nunito Sans" pitchFamily="34" charset="-122"/>
                <a:cs typeface="Nunito Sans" pitchFamily="34" charset="-120"/>
              </a:rPr>
              <a:t> cómo quitan cada frustración.</a:t>
            </a:r>
            <a:endParaRPr lang="en-US" sz="1400" dirty="0"/>
          </a:p>
          <a:p>
            <a:pPr algn="l" marL="169418" indent="-169418">
              <a:lnSpc>
                <a:spcPts val="2030"/>
              </a:lnSpc>
              <a:buSzPct val="100000"/>
              <a:buChar char="•"/>
            </a:pPr>
            <a:r>
              <a:rPr lang="en-US" sz="1400" b="1" dirty="0">
                <a:solidFill>
                  <a:srgbClr val="1F3326"/>
                </a:solidFill>
                <a:latin typeface="Nunito Sans" pitchFamily="34" charset="0"/>
                <a:ea typeface="Nunito Sans" pitchFamily="34" charset="-122"/>
                <a:cs typeface="Nunito Sans" pitchFamily="34" charset="-120"/>
              </a:rPr>
              <a:t>Creadores de alegría:</a:t>
            </a:r>
            <a:r>
              <a:rPr lang="en-US" sz="1400" dirty="0">
                <a:solidFill>
                  <a:srgbClr val="1F3326"/>
                </a:solidFill>
                <a:latin typeface="Nunito Sans" pitchFamily="34" charset="0"/>
                <a:ea typeface="Nunito Sans" pitchFamily="34" charset="-122"/>
                <a:cs typeface="Nunito Sans" pitchFamily="34" charset="-120"/>
              </a:rPr>
              <a:t> qué ganancia extra producen.</a:t>
            </a:r>
            <a:endParaRPr lang="en-US" sz="1400" dirty="0"/>
          </a:p>
        </p:txBody>
      </p:sp>
      <p:sp>
        <p:nvSpPr>
          <p:cNvPr id="8" name="Shape 6"/>
          <p:cNvSpPr/>
          <p:nvPr/>
        </p:nvSpPr>
        <p:spPr>
          <a:xfrm>
            <a:off x="6200775" y="1590625"/>
            <a:ext cx="5175250" cy="2180148"/>
          </a:xfrm>
          <a:prstGeom prst="roundRect">
            <a:avLst>
              <a:gd name="adj" fmla="val 4515"/>
            </a:avLst>
          </a:prstGeom>
          <a:solidFill>
            <a:srgbClr val="FBEAEA"/>
          </a:solidFill>
          <a:ln w="6350">
            <a:solidFill>
              <a:srgbClr val="D9A3A3"/>
            </a:solidFill>
            <a:prstDash val="solid"/>
          </a:ln>
        </p:spPr>
      </p:sp>
      <p:sp>
        <p:nvSpPr>
          <p:cNvPr id="9" name="Text 7"/>
          <p:cNvSpPr/>
          <p:nvPr/>
        </p:nvSpPr>
        <p:spPr>
          <a:xfrm>
            <a:off x="6429829" y="1819672"/>
            <a:ext cx="4858657" cy="238749"/>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A2E2E"/>
                </a:solidFill>
                <a:latin typeface="Nunito Sans" pitchFamily="34" charset="0"/>
                <a:ea typeface="Nunito Sans" pitchFamily="34" charset="-122"/>
                <a:cs typeface="Nunito Sans" pitchFamily="34" charset="-120"/>
              </a:rPr>
              <a:t>EL CÍRCULO · EL DIAGNÓSTICO</a:t>
            </a:r>
            <a:endParaRPr lang="en-US" sz="1200" dirty="0"/>
          </a:p>
        </p:txBody>
      </p:sp>
      <p:sp>
        <p:nvSpPr>
          <p:cNvPr id="10" name="Text 8"/>
          <p:cNvSpPr/>
          <p:nvPr/>
        </p:nvSpPr>
        <p:spPr>
          <a:xfrm>
            <a:off x="6429829" y="2134629"/>
            <a:ext cx="4858657"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6E2020"/>
                </a:solidFill>
                <a:latin typeface="Nunito Sans" pitchFamily="34" charset="0"/>
                <a:ea typeface="Nunito Sans" pitchFamily="34" charset="-122"/>
                <a:cs typeface="Nunito Sans" pitchFamily="34" charset="-120"/>
              </a:rPr>
              <a:t>Perfil del cliente</a:t>
            </a:r>
            <a:endParaRPr lang="en-US" sz="1800" dirty="0"/>
          </a:p>
        </p:txBody>
      </p:sp>
      <p:sp>
        <p:nvSpPr>
          <p:cNvPr id="11" name="Text 9"/>
          <p:cNvSpPr/>
          <p:nvPr/>
        </p:nvSpPr>
        <p:spPr>
          <a:xfrm>
            <a:off x="6514411" y="2510520"/>
            <a:ext cx="4766455" cy="1056595"/>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b="1" dirty="0">
                <a:solidFill>
                  <a:srgbClr val="3A1C1C"/>
                </a:solidFill>
                <a:latin typeface="Nunito Sans" pitchFamily="34" charset="0"/>
                <a:ea typeface="Nunito Sans" pitchFamily="34" charset="-122"/>
                <a:cs typeface="Nunito Sans" pitchFamily="34" charset="-120"/>
              </a:rPr>
              <a:t>Trabajos:</a:t>
            </a:r>
            <a:r>
              <a:rPr lang="en-US" sz="1400" dirty="0">
                <a:solidFill>
                  <a:srgbClr val="3A1C1C"/>
                </a:solidFill>
                <a:latin typeface="Nunito Sans" pitchFamily="34" charset="0"/>
                <a:ea typeface="Nunito Sans" pitchFamily="34" charset="-122"/>
                <a:cs typeface="Nunito Sans" pitchFamily="34" charset="-120"/>
              </a:rPr>
              <a:t> lo que intenta lograr.</a:t>
            </a:r>
            <a:endParaRPr lang="en-US" sz="1400" dirty="0"/>
          </a:p>
          <a:p>
            <a:pPr algn="l" marL="169418" indent="-169418">
              <a:lnSpc>
                <a:spcPts val="2030"/>
              </a:lnSpc>
              <a:buSzPct val="100000"/>
              <a:buChar char="•"/>
            </a:pPr>
            <a:r>
              <a:rPr lang="en-US" sz="1400" b="1" dirty="0">
                <a:solidFill>
                  <a:srgbClr val="3A1C1C"/>
                </a:solidFill>
                <a:latin typeface="Nunito Sans" pitchFamily="34" charset="0"/>
                <a:ea typeface="Nunito Sans" pitchFamily="34" charset="-122"/>
                <a:cs typeface="Nunito Sans" pitchFamily="34" charset="-120"/>
              </a:rPr>
              <a:t>Frustraciones:</a:t>
            </a:r>
            <a:r>
              <a:rPr lang="en-US" sz="1400" dirty="0">
                <a:solidFill>
                  <a:srgbClr val="3A1C1C"/>
                </a:solidFill>
                <a:latin typeface="Nunito Sans" pitchFamily="34" charset="0"/>
                <a:ea typeface="Nunito Sans" pitchFamily="34" charset="-122"/>
                <a:cs typeface="Nunito Sans" pitchFamily="34" charset="-120"/>
              </a:rPr>
              <a:t> lo que le molesta, le cuesta o le da miedo.</a:t>
            </a:r>
            <a:endParaRPr lang="en-US" sz="1400" dirty="0"/>
          </a:p>
          <a:p>
            <a:pPr algn="l" marL="169418" indent="-169418">
              <a:lnSpc>
                <a:spcPts val="2030"/>
              </a:lnSpc>
              <a:buSzPct val="100000"/>
              <a:buChar char="•"/>
            </a:pPr>
            <a:r>
              <a:rPr lang="en-US" sz="1400" b="1" dirty="0">
                <a:solidFill>
                  <a:srgbClr val="3A1C1C"/>
                </a:solidFill>
                <a:latin typeface="Nunito Sans" pitchFamily="34" charset="0"/>
                <a:ea typeface="Nunito Sans" pitchFamily="34" charset="-122"/>
                <a:cs typeface="Nunito Sans" pitchFamily="34" charset="-120"/>
              </a:rPr>
              <a:t>Alegrías:</a:t>
            </a:r>
            <a:r>
              <a:rPr lang="en-US" sz="1400" dirty="0">
                <a:solidFill>
                  <a:srgbClr val="3A1C1C"/>
                </a:solidFill>
                <a:latin typeface="Nunito Sans" pitchFamily="34" charset="0"/>
                <a:ea typeface="Nunito Sans" pitchFamily="34" charset="-122"/>
                <a:cs typeface="Nunito Sans" pitchFamily="34" charset="-120"/>
              </a:rPr>
              <a:t> lo que le haría feliz o le ahorraría.</a:t>
            </a:r>
            <a:endParaRPr lang="en-US" sz="1400" dirty="0"/>
          </a:p>
        </p:txBody>
      </p:sp>
      <p:sp>
        <p:nvSpPr>
          <p:cNvPr id="12" name="Text 10"/>
          <p:cNvSpPr/>
          <p:nvPr/>
        </p:nvSpPr>
        <p:spPr>
          <a:xfrm>
            <a:off x="812800" y="4002546"/>
            <a:ext cx="10566401" cy="882650"/>
          </a:xfrm>
          <a:prstGeom prst="roundRect">
            <a:avLst>
              <a:gd name="adj" fmla="val 10072"/>
            </a:avLst>
          </a:prstGeom>
          <a:solidFill>
            <a:srgbClr val="E3F5F5"/>
          </a:solidFill>
          <a:ln/>
        </p:spPr>
        <p:txBody>
          <a:bodyPr wrap="square" lIns="189862" tIns="139062" rIns="0" bIns="113662" rtlCol="0" anchor="t">
            <a:normAutofit/>
          </a:bodyPr>
          <a:lstStyle/>
          <a:p>
            <a:pPr algn="l" indent="0" marL="0">
              <a:lnSpc>
                <a:spcPts val="2175"/>
              </a:lnSpc>
              <a:buNone/>
            </a:pPr>
            <a:r>
              <a:rPr lang="en-US" sz="1500" dirty="0">
                <a:solidFill>
                  <a:srgbClr val="173E78"/>
                </a:solidFill>
                <a:latin typeface="Nunito Sans" pitchFamily="34" charset="0"/>
                <a:ea typeface="Nunito Sans" pitchFamily="34" charset="-122"/>
                <a:cs typeface="Nunito Sans" pitchFamily="34" charset="-120"/>
              </a:rPr>
              <a:t>Un buen médico no receta antes de escuchar. El círculo se llena primero, con lo que dijeron las entrevistas y las 40 encuestas; el cuadrado se diseña después, para responderle punto por punto.</a:t>
            </a:r>
            <a:endParaRPr lang="en-US" sz="1500" dirty="0"/>
          </a:p>
        </p:txBody>
      </p:sp>
      <p:pic>
        <p:nvPicPr>
          <p:cNvPr id="13"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4" name="Text 11"/>
          <p:cNvSpPr/>
          <p:nvPr/>
        </p:nvSpPr>
        <p:spPr>
          <a:xfrm>
            <a:off x="8008847" y="6217903"/>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CONCEPTO 3 · EL ENCAJE</a:t>
            </a:r>
            <a:endParaRPr lang="en-US" sz="1200" dirty="0"/>
          </a:p>
        </p:txBody>
      </p:sp>
      <p:sp>
        <p:nvSpPr>
          <p:cNvPr id="3" name="Text 1"/>
          <p:cNvSpPr/>
          <p:nvPr>
            <p:ph type="title"/>
          </p:nvPr>
        </p:nvSpPr>
        <p:spPr>
          <a:xfrm>
            <a:off x="812800" y="949958"/>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La llave tiene que entrar en la cerradura</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686" y="1598336"/>
          <a:ext cx="10555515" cy="2532289"/>
        </p:xfrm>
        <a:graphic>
          <a:graphicData uri="http://schemas.openxmlformats.org/drawingml/2006/table">
            <a:tbl>
              <a:tblPr/>
              <a:tblGrid>
                <a:gridCol w="2533324"/>
                <a:gridCol w="1055552"/>
                <a:gridCol w="2533324"/>
                <a:gridCol w="4433316"/>
              </a:tblGrid>
              <a:tr h="633072">
                <a:tc>
                  <a:txBody>
                    <a:bodyPr/>
                    <a:lstStyle/>
                    <a:p>
                      <a:pPr indent="0" marL="0">
                        <a:lnSpc>
                          <a:spcPts val="1960"/>
                        </a:lnSpc>
                        <a:buNone/>
                      </a:pPr>
                      <a:r>
                        <a:rPr lang="en-US" sz="1400" b="1" dirty="0">
                          <a:solidFill>
                            <a:srgbClr val="2B3A4E"/>
                          </a:solidFill>
                          <a:latin typeface="Nunito Sans" pitchFamily="34" charset="0"/>
                          <a:ea typeface="Nunito Sans" pitchFamily="34" charset="-122"/>
                          <a:cs typeface="Nunito Sans" pitchFamily="34" charset="-120"/>
                        </a:rPr>
                        <a:t>Mapa de valor</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c>
                  <a:txBody>
                    <a:bodyPr/>
                    <a:lstStyle/>
                    <a:p>
                      <a:pPr indent="0" marL="0">
                        <a:lnSpc>
                          <a:spcPts val="1960"/>
                        </a:lnSpc>
                        <a:buNone/>
                      </a:pPr>
                      <a:r>
                        <a:rPr lang="en-US" sz="1400" b="1" dirty="0">
                          <a:solidFill>
                            <a:srgbClr val="2B3A4E"/>
                          </a:solidFill>
                          <a:latin typeface="Nunito Sans" pitchFamily="34" charset="0"/>
                          <a:ea typeface="Nunito Sans" pitchFamily="34" charset="-122"/>
                          <a:cs typeface="Nunito Sans" pitchFamily="34" charset="-120"/>
                        </a:rPr>
                        <a:t>encaja con</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7B8B5"/>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c>
                  <a:txBody>
                    <a:bodyPr/>
                    <a:lstStyle/>
                    <a:p>
                      <a:pPr indent="0" marL="0">
                        <a:lnSpc>
                          <a:spcPts val="1960"/>
                        </a:lnSpc>
                        <a:buNone/>
                      </a:pPr>
                      <a:r>
                        <a:rPr lang="en-US" sz="1400" b="1" dirty="0">
                          <a:solidFill>
                            <a:srgbClr val="2B3A4E"/>
                          </a:solidFill>
                          <a:latin typeface="Nunito Sans" pitchFamily="34" charset="0"/>
                          <a:ea typeface="Nunito Sans" pitchFamily="34" charset="-122"/>
                          <a:cs typeface="Nunito Sans" pitchFamily="34" charset="-120"/>
                        </a:rPr>
                        <a:t>Perfil del cliente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7B8B5"/>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c>
                  <a:txBody>
                    <a:bodyPr/>
                    <a:lstStyle/>
                    <a:p>
                      <a:pPr indent="0" marL="0">
                        <a:lnSpc>
                          <a:spcPts val="1960"/>
                        </a:lnSpc>
                        <a:buNone/>
                      </a:pPr>
                      <a:r>
                        <a:rPr lang="en-US" sz="1400" b="1" dirty="0">
                          <a:solidFill>
                            <a:srgbClr val="2B3A4E"/>
                          </a:solidFill>
                          <a:latin typeface="Nunito Sans" pitchFamily="34" charset="0"/>
                          <a:ea typeface="Nunito Sans" pitchFamily="34" charset="-122"/>
                          <a:cs typeface="Nunito Sans" pitchFamily="34" charset="-120"/>
                        </a:rPr>
                        <a:t>Ejemplo real (Bocadoo)</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7B8B5"/>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r>
              <a:tr h="633072">
                <a:tc>
                  <a:txBody>
                    <a:bodyPr/>
                    <a:lstStyle/>
                    <a:p>
                      <a:pPr indent="0" marL="0">
                        <a:lnSpc>
                          <a:spcPts val="1960"/>
                        </a:lnSpc>
                        <a:buNone/>
                      </a:pPr>
                      <a:r>
                        <a:rPr lang="en-US" sz="1400" dirty="0">
                          <a:solidFill>
                            <a:srgbClr val="2B3A4E"/>
                          </a:solidFill>
                          <a:latin typeface="Nunito Sans" pitchFamily="34" charset="0"/>
                          <a:ea typeface="Nunito Sans" pitchFamily="34" charset="-122"/>
                          <a:cs typeface="Nunito Sans" pitchFamily="34" charset="-120"/>
                        </a:rPr>
                        <a:t>Productos y servicios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960"/>
                        </a:lnSpc>
                        <a:buNone/>
                      </a:pPr>
                      <a:r>
                        <a:rPr lang="en-US" sz="1400" dirty="0">
                          <a:solidFill>
                            <a:srgbClr val="2B3A4E"/>
                          </a:solidFill>
                          <a:latin typeface="Nunito Sans" pitchFamily="34" charset="0"/>
                          <a:ea typeface="Nunito Sans" pitchFamily="34" charset="-122"/>
                          <a:cs typeface="Nunito Sans" pitchFamily="34" charset="-120"/>
                        </a:rPr>
                        <a: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960"/>
                        </a:lnSpc>
                        <a:buNone/>
                      </a:pPr>
                      <a:r>
                        <a:rPr lang="en-US" sz="1400" dirty="0">
                          <a:solidFill>
                            <a:srgbClr val="2B3A4E"/>
                          </a:solidFill>
                          <a:latin typeface="Nunito Sans" pitchFamily="34" charset="0"/>
                          <a:ea typeface="Nunito Sans" pitchFamily="34" charset="-122"/>
                          <a:cs typeface="Nunito Sans" pitchFamily="34" charset="-120"/>
                        </a:rPr>
                        <a:t>Trabajos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960"/>
                        </a:lnSpc>
                        <a:buNone/>
                      </a:pPr>
                      <a:r>
                        <a:rPr lang="en-US" sz="1400" dirty="0">
                          <a:solidFill>
                            <a:srgbClr val="2B3A4E"/>
                          </a:solidFill>
                          <a:latin typeface="Nunito Sans" pitchFamily="34" charset="0"/>
                          <a:ea typeface="Nunito Sans" pitchFamily="34" charset="-122"/>
                          <a:cs typeface="Nunito Sans" pitchFamily="34" charset="-120"/>
                        </a:rPr>
                        <a:t>App de planes y QR → vender y controlar planes de almuerzo</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633072">
                <a:tc>
                  <a:txBody>
                    <a:bodyPr/>
                    <a:lstStyle/>
                    <a:p>
                      <a:pPr indent="0" marL="0">
                        <a:lnSpc>
                          <a:spcPts val="1960"/>
                        </a:lnSpc>
                        <a:buNone/>
                      </a:pPr>
                      <a:r>
                        <a:rPr lang="en-US" sz="1400" dirty="0">
                          <a:solidFill>
                            <a:srgbClr val="2B3A4E"/>
                          </a:solidFill>
                          <a:latin typeface="Nunito Sans" pitchFamily="34" charset="0"/>
                          <a:ea typeface="Nunito Sans" pitchFamily="34" charset="-122"/>
                          <a:cs typeface="Nunito Sans" pitchFamily="34" charset="-120"/>
                        </a:rPr>
                        <a:t>Aliviadores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960"/>
                        </a:lnSpc>
                        <a:buNone/>
                      </a:pPr>
                      <a:r>
                        <a:rPr lang="en-US" sz="1400" dirty="0">
                          <a:solidFill>
                            <a:srgbClr val="2B3A4E"/>
                          </a:solidFill>
                          <a:latin typeface="Nunito Sans" pitchFamily="34" charset="0"/>
                          <a:ea typeface="Nunito Sans" pitchFamily="34" charset="-122"/>
                          <a:cs typeface="Nunito Sans" pitchFamily="34" charset="-120"/>
                        </a:rPr>
                        <a: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960"/>
                        </a:lnSpc>
                        <a:buNone/>
                      </a:pPr>
                      <a:r>
                        <a:rPr lang="en-US" sz="1400" dirty="0">
                          <a:solidFill>
                            <a:srgbClr val="2B3A4E"/>
                          </a:solidFill>
                          <a:latin typeface="Nunito Sans" pitchFamily="34" charset="0"/>
                          <a:ea typeface="Nunito Sans" pitchFamily="34" charset="-122"/>
                          <a:cs typeface="Nunito Sans" pitchFamily="34" charset="-120"/>
                        </a:rPr>
                        <a:t>Frustraciones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960"/>
                        </a:lnSpc>
                        <a:buNone/>
                      </a:pPr>
                      <a:r>
                        <a:rPr lang="en-US" sz="1400" dirty="0">
                          <a:solidFill>
                            <a:srgbClr val="2B3A4E"/>
                          </a:solidFill>
                          <a:latin typeface="Nunito Sans" pitchFamily="34" charset="0"/>
                          <a:ea typeface="Nunito Sans" pitchFamily="34" charset="-122"/>
                          <a:cs typeface="Nunito Sans" pitchFamily="34" charset="-120"/>
                        </a:rPr>
                        <a:t>Validación por QR en segundos → fila lenta en hora pico</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633072">
                <a:tc>
                  <a:txBody>
                    <a:bodyPr/>
                    <a:lstStyle/>
                    <a:p>
                      <a:pPr indent="0" marL="0">
                        <a:lnSpc>
                          <a:spcPts val="1960"/>
                        </a:lnSpc>
                        <a:buNone/>
                      </a:pPr>
                      <a:r>
                        <a:rPr lang="en-US" sz="1400" dirty="0">
                          <a:solidFill>
                            <a:srgbClr val="2B3A4E"/>
                          </a:solidFill>
                          <a:latin typeface="Nunito Sans" pitchFamily="34" charset="0"/>
                          <a:ea typeface="Nunito Sans" pitchFamily="34" charset="-122"/>
                          <a:cs typeface="Nunito Sans" pitchFamily="34" charset="-120"/>
                        </a:rPr>
                        <a:t>Creadores de alegría</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960"/>
                        </a:lnSpc>
                        <a:buNone/>
                      </a:pPr>
                      <a:r>
                        <a:rPr lang="en-US" sz="1400" dirty="0">
                          <a:solidFill>
                            <a:srgbClr val="2B3A4E"/>
                          </a:solidFill>
                          <a:latin typeface="Nunito Sans" pitchFamily="34" charset="0"/>
                          <a:ea typeface="Nunito Sans" pitchFamily="34" charset="-122"/>
                          <a:cs typeface="Nunito Sans" pitchFamily="34" charset="-120"/>
                        </a:rPr>
                        <a: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960"/>
                        </a:lnSpc>
                        <a:buNone/>
                      </a:pPr>
                      <a:r>
                        <a:rPr lang="en-US" sz="1400" dirty="0">
                          <a:solidFill>
                            <a:srgbClr val="2B3A4E"/>
                          </a:solidFill>
                          <a:latin typeface="Nunito Sans" pitchFamily="34" charset="0"/>
                          <a:ea typeface="Nunito Sans" pitchFamily="34" charset="-122"/>
                          <a:cs typeface="Nunito Sans" pitchFamily="34" charset="-120"/>
                        </a:rPr>
                        <a:t>Alegrías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960"/>
                        </a:lnSpc>
                        <a:buNone/>
                      </a:pPr>
                      <a:r>
                        <a:rPr lang="en-US" sz="1400" dirty="0">
                          <a:solidFill>
                            <a:srgbClr val="2B3A4E"/>
                          </a:solidFill>
                          <a:latin typeface="Nunito Sans" pitchFamily="34" charset="0"/>
                          <a:ea typeface="Nunito Sans" pitchFamily="34" charset="-122"/>
                          <a:cs typeface="Nunito Sans" pitchFamily="34" charset="-120"/>
                        </a:rPr>
                        <a:t>Cobro anticipado en la app → tener caja desde el día uno</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bl>
          </a:graphicData>
        </a:graphic>
      </p:graphicFrame>
      <p:sp>
        <p:nvSpPr>
          <p:cNvPr id="5" name="Shape 2"/>
          <p:cNvSpPr/>
          <p:nvPr/>
        </p:nvSpPr>
        <p:spPr>
          <a:xfrm>
            <a:off x="815975" y="4362400"/>
            <a:ext cx="5187950" cy="867002"/>
          </a:xfrm>
          <a:prstGeom prst="roundRect">
            <a:avLst>
              <a:gd name="adj" fmla="val 9888"/>
            </a:avLst>
          </a:prstGeom>
          <a:solidFill>
            <a:srgbClr val="FDFDFB"/>
          </a:solidFill>
          <a:ln w="6350">
            <a:solidFill>
              <a:srgbClr val="DCE3EA"/>
            </a:solidFill>
            <a:prstDash val="solid"/>
          </a:ln>
        </p:spPr>
      </p:sp>
      <p:sp>
        <p:nvSpPr>
          <p:cNvPr id="6" name="Text 3"/>
          <p:cNvSpPr/>
          <p:nvPr/>
        </p:nvSpPr>
        <p:spPr>
          <a:xfrm>
            <a:off x="1019629" y="4540647"/>
            <a:ext cx="49240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Aliviador sin frustración</a:t>
            </a:r>
            <a:endParaRPr lang="en-US" sz="1500" dirty="0"/>
          </a:p>
        </p:txBody>
      </p:sp>
      <p:sp>
        <p:nvSpPr>
          <p:cNvPr id="7" name="Text 4"/>
          <p:cNvSpPr/>
          <p:nvPr/>
        </p:nvSpPr>
        <p:spPr>
          <a:xfrm>
            <a:off x="1019629" y="4820047"/>
            <a:ext cx="4924062" cy="25649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Sobra. Es una función que nadie pidió: sáquenla del PMV.</a:t>
            </a:r>
            <a:endParaRPr lang="en-US" sz="1300" dirty="0"/>
          </a:p>
        </p:txBody>
      </p:sp>
      <p:sp>
        <p:nvSpPr>
          <p:cNvPr id="8" name="Shape 5"/>
          <p:cNvSpPr/>
          <p:nvPr/>
        </p:nvSpPr>
        <p:spPr>
          <a:xfrm>
            <a:off x="6188075" y="4362400"/>
            <a:ext cx="5187950" cy="867002"/>
          </a:xfrm>
          <a:prstGeom prst="roundRect">
            <a:avLst>
              <a:gd name="adj" fmla="val 9888"/>
            </a:avLst>
          </a:prstGeom>
          <a:solidFill>
            <a:srgbClr val="FDFDFB"/>
          </a:solidFill>
          <a:ln w="6350">
            <a:solidFill>
              <a:srgbClr val="DCE3EA"/>
            </a:solidFill>
            <a:prstDash val="solid"/>
          </a:ln>
        </p:spPr>
      </p:sp>
      <p:sp>
        <p:nvSpPr>
          <p:cNvPr id="9" name="Text 6"/>
          <p:cNvSpPr/>
          <p:nvPr/>
        </p:nvSpPr>
        <p:spPr>
          <a:xfrm>
            <a:off x="6391729" y="4540647"/>
            <a:ext cx="49240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Frustración sin aliviador</a:t>
            </a:r>
            <a:endParaRPr lang="en-US" sz="1500" dirty="0"/>
          </a:p>
        </p:txBody>
      </p:sp>
      <p:sp>
        <p:nvSpPr>
          <p:cNvPr id="10" name="Text 7"/>
          <p:cNvSpPr/>
          <p:nvPr/>
        </p:nvSpPr>
        <p:spPr>
          <a:xfrm>
            <a:off x="6391729" y="4820047"/>
            <a:ext cx="4924062" cy="25649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Ahí está la oportunidad que todavía no aprovechan.</a:t>
            </a:r>
            <a:endParaRPr lang="en-US" sz="1300" dirty="0"/>
          </a:p>
        </p:txBody>
      </p:sp>
      <p:pic>
        <p:nvPicPr>
          <p:cNvPr id="11"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2" name="Text 8"/>
          <p:cNvSpPr/>
          <p:nvPr/>
        </p:nvSpPr>
        <p:spPr>
          <a:xfrm>
            <a:off x="8008847" y="6217903"/>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EJEMPLO DESARROLLADO · LIENZO DE PROPUESTA DE VALOR</a:t>
            </a:r>
            <a:endParaRPr lang="en-US" sz="1200" dirty="0"/>
          </a:p>
        </p:txBody>
      </p:sp>
      <p:sp>
        <p:nvSpPr>
          <p:cNvPr id="3" name="Text 1"/>
          <p:cNvSpPr/>
          <p:nvPr>
            <p:ph type="title"/>
          </p:nvPr>
        </p:nvSpPr>
        <p:spPr>
          <a:xfrm>
            <a:off x="812800" y="886458"/>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Lienzo saturado o lienzo que encaja</a:t>
            </a:r>
            <a:endParaRPr lang="en-US" sz="2500" dirty="0"/>
          </a:p>
        </p:txBody>
      </p:sp>
      <p:sp>
        <p:nvSpPr>
          <p:cNvPr id="4" name="Shape 2"/>
          <p:cNvSpPr/>
          <p:nvPr/>
        </p:nvSpPr>
        <p:spPr>
          <a:xfrm>
            <a:off x="812800" y="1416683"/>
            <a:ext cx="5194300" cy="2233329"/>
          </a:xfrm>
          <a:prstGeom prst="roundRect">
            <a:avLst>
              <a:gd name="adj" fmla="val 3981"/>
            </a:avLst>
          </a:prstGeom>
          <a:solidFill>
            <a:srgbClr val="FBEAEA"/>
          </a:solidFill>
          <a:ln/>
        </p:spPr>
      </p:sp>
      <p:sp>
        <p:nvSpPr>
          <p:cNvPr id="5" name="Shape 3"/>
          <p:cNvSpPr/>
          <p:nvPr/>
        </p:nvSpPr>
        <p:spPr>
          <a:xfrm>
            <a:off x="812800" y="1416683"/>
            <a:ext cx="5194300" cy="2233329"/>
          </a:xfrm>
          <a:custGeom>
            <a:avLst/>
            <a:gdLst/>
            <a:ahLst/>
            <a:cxnLst/>
            <a:rect l="l" t="t" r="r" b="b"/>
            <a:pathLst>
              <a:path w="5194300" h="2233329">
                <a:moveTo>
                  <a:pt x="88900" y="2233329"/>
                </a:moveTo>
                <a:lnTo>
                  <a:pt x="88900" y="2233329"/>
                </a:lnTo>
                <a:arcTo hR="88900" wR="88900" stAng="5400000" swAng="5400000"/>
                <a:lnTo>
                  <a:pt x="0" y="88900"/>
                </a:lnTo>
                <a:arcTo hR="88900" wR="88900" stAng="10800000" swAng="5400000"/>
                <a:lnTo>
                  <a:pt x="88900" y="0"/>
                </a:lnTo>
                <a:arcTo hR="88900" wR="38100" stAng="16200000" swAng="-5400000"/>
                <a:lnTo>
                  <a:pt x="50800" y="2144429"/>
                </a:lnTo>
                <a:arcTo hR="88900" wR="38100" stAng="10800000" swAng="-5400000"/>
                <a:close/>
              </a:path>
            </a:pathLst>
          </a:custGeom>
          <a:solidFill>
            <a:srgbClr val="B23A3A"/>
          </a:solidFill>
          <a:ln/>
        </p:spPr>
      </p:sp>
      <p:sp>
        <p:nvSpPr>
          <p:cNvPr id="6" name="Text 4"/>
          <p:cNvSpPr/>
          <p:nvPr/>
        </p:nvSpPr>
        <p:spPr>
          <a:xfrm>
            <a:off x="1054100" y="1581783"/>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6E2020"/>
                </a:solidFill>
                <a:latin typeface="Nunito Sans" pitchFamily="34" charset="0"/>
                <a:ea typeface="Nunito Sans" pitchFamily="34" charset="-122"/>
                <a:cs typeface="Nunito Sans" pitchFamily="34" charset="-120"/>
              </a:rPr>
              <a:t>Así no · Developers CARF</a:t>
            </a:r>
            <a:endParaRPr lang="en-US" sz="1500" dirty="0"/>
          </a:p>
        </p:txBody>
      </p:sp>
      <p:sp>
        <p:nvSpPr>
          <p:cNvPr id="7" name="Text 5"/>
          <p:cNvSpPr/>
          <p:nvPr/>
        </p:nvSpPr>
        <p:spPr>
          <a:xfrm>
            <a:off x="1145794" y="1873883"/>
            <a:ext cx="4806061" cy="982889"/>
          </a:xfrm>
          <a:prstGeom prst="rect">
            <a:avLst/>
          </a:prstGeom>
          <a:noFill/>
          <a:ln/>
        </p:spPr>
        <p:txBody>
          <a:bodyPr wrap="square" lIns="0" tIns="0" rIns="0" bIns="0" rtlCol="0" anchor="t">
            <a:normAutofit/>
          </a:bodyPr>
          <a:lstStyle/>
          <a:p>
            <a:pPr algn="l" marL="162306" indent="-162306">
              <a:lnSpc>
                <a:spcPts val="1885"/>
              </a:lnSpc>
              <a:buSzPct val="100000"/>
              <a:buChar char="•"/>
            </a:pPr>
            <a:r>
              <a:rPr lang="en-US" sz="1300" dirty="0">
                <a:solidFill>
                  <a:srgbClr val="3A1C1C"/>
                </a:solidFill>
                <a:latin typeface="Nunito Sans" pitchFamily="34" charset="0"/>
                <a:ea typeface="Nunito Sans" pitchFamily="34" charset="-122"/>
                <a:cs typeface="Nunito Sans" pitchFamily="34" charset="-120"/>
              </a:rPr>
              <a:t>Más de 20 notas en el lienzo</a:t>
            </a:r>
            <a:endParaRPr lang="en-US" sz="1300" dirty="0"/>
          </a:p>
          <a:p>
            <a:pPr algn="l" marL="162306" indent="-162306">
              <a:lnSpc>
                <a:spcPts val="1885"/>
              </a:lnSpc>
              <a:buSzPct val="100000"/>
              <a:buChar char="•"/>
            </a:pPr>
            <a:r>
              <a:rPr lang="en-US" sz="1300" dirty="0">
                <a:solidFill>
                  <a:srgbClr val="3A1C1C"/>
                </a:solidFill>
                <a:latin typeface="Nunito Sans" pitchFamily="34" charset="0"/>
                <a:ea typeface="Nunito Sans" pitchFamily="34" charset="-122"/>
                <a:cs typeface="Nunito Sans" pitchFamily="34" charset="-120"/>
              </a:rPr>
              <a:t>«AurelioBot» repetido en varios bloques</a:t>
            </a:r>
            <a:endParaRPr lang="en-US" sz="1300" dirty="0"/>
          </a:p>
          <a:p>
            <a:pPr algn="l" marL="162306" indent="-162306">
              <a:lnSpc>
                <a:spcPts val="1885"/>
              </a:lnSpc>
              <a:buSzPct val="100000"/>
              <a:buChar char="•"/>
            </a:pPr>
            <a:r>
              <a:rPr lang="en-US" sz="1300" dirty="0">
                <a:solidFill>
                  <a:srgbClr val="3A1C1C"/>
                </a:solidFill>
                <a:latin typeface="Nunito Sans" pitchFamily="34" charset="0"/>
                <a:ea typeface="Nunito Sans" pitchFamily="34" charset="-122"/>
                <a:cs typeface="Nunito Sans" pitchFamily="34" charset="-120"/>
              </a:rPr>
              <a:t>Creadores de alegría que repiten los productos</a:t>
            </a:r>
            <a:endParaRPr lang="en-US" sz="1300" dirty="0"/>
          </a:p>
          <a:p>
            <a:pPr algn="l" marL="162306" indent="-162306">
              <a:lnSpc>
                <a:spcPts val="1885"/>
              </a:lnSpc>
              <a:buSzPct val="100000"/>
              <a:buChar char="•"/>
            </a:pPr>
            <a:r>
              <a:rPr lang="en-US" sz="1300" dirty="0">
                <a:solidFill>
                  <a:srgbClr val="3A1C1C"/>
                </a:solidFill>
                <a:latin typeface="Nunito Sans" pitchFamily="34" charset="0"/>
                <a:ea typeface="Nunito Sans" pitchFamily="34" charset="-122"/>
                <a:cs typeface="Nunito Sans" pitchFamily="34" charset="-120"/>
              </a:rPr>
              <a:t>«Test evaluado psicométricamente», sin quién lo respalde</a:t>
            </a:r>
            <a:endParaRPr lang="en-US" sz="1300" dirty="0"/>
          </a:p>
        </p:txBody>
      </p:sp>
      <p:sp>
        <p:nvSpPr>
          <p:cNvPr id="8" name="Text 6"/>
          <p:cNvSpPr/>
          <p:nvPr/>
        </p:nvSpPr>
        <p:spPr>
          <a:xfrm>
            <a:off x="1054100" y="2894868"/>
            <a:ext cx="4905375"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2020"/>
                </a:solidFill>
                <a:latin typeface="Nunito Sans" pitchFamily="34" charset="0"/>
                <a:ea typeface="Nunito Sans" pitchFamily="34" charset="-122"/>
                <a:cs typeface="Nunito Sans" pitchFamily="34" charset="-120"/>
              </a:rPr>
              <a:t>Más notas no es más valor. Un jurado no encuentra la idea central.</a:t>
            </a:r>
            <a:endParaRPr lang="en-US" sz="1200" dirty="0"/>
          </a:p>
        </p:txBody>
      </p:sp>
      <p:sp>
        <p:nvSpPr>
          <p:cNvPr id="9" name="Shape 7"/>
          <p:cNvSpPr/>
          <p:nvPr/>
        </p:nvSpPr>
        <p:spPr>
          <a:xfrm>
            <a:off x="6184900" y="1416683"/>
            <a:ext cx="5194300" cy="2233329"/>
          </a:xfrm>
          <a:prstGeom prst="roundRect">
            <a:avLst>
              <a:gd name="adj" fmla="val 3981"/>
            </a:avLst>
          </a:prstGeom>
          <a:solidFill>
            <a:srgbClr val="E9F6EC"/>
          </a:solidFill>
          <a:ln/>
        </p:spPr>
      </p:sp>
      <p:sp>
        <p:nvSpPr>
          <p:cNvPr id="10" name="Shape 8"/>
          <p:cNvSpPr/>
          <p:nvPr/>
        </p:nvSpPr>
        <p:spPr>
          <a:xfrm>
            <a:off x="6184900" y="1416683"/>
            <a:ext cx="5194300" cy="2233329"/>
          </a:xfrm>
          <a:custGeom>
            <a:avLst/>
            <a:gdLst/>
            <a:ahLst/>
            <a:cxnLst/>
            <a:rect l="l" t="t" r="r" b="b"/>
            <a:pathLst>
              <a:path w="5194300" h="2233329">
                <a:moveTo>
                  <a:pt x="88900" y="2233329"/>
                </a:moveTo>
                <a:lnTo>
                  <a:pt x="88900" y="2233329"/>
                </a:lnTo>
                <a:arcTo hR="88900" wR="88900" stAng="5400000" swAng="5400000"/>
                <a:lnTo>
                  <a:pt x="0" y="88900"/>
                </a:lnTo>
                <a:arcTo hR="88900" wR="88900" stAng="10800000" swAng="5400000"/>
                <a:lnTo>
                  <a:pt x="88900" y="0"/>
                </a:lnTo>
                <a:arcTo hR="88900" wR="38100" stAng="16200000" swAng="-5400000"/>
                <a:lnTo>
                  <a:pt x="50800" y="2144429"/>
                </a:lnTo>
                <a:arcTo hR="88900" wR="38100" stAng="10800000" swAng="-5400000"/>
                <a:close/>
              </a:path>
            </a:pathLst>
          </a:custGeom>
          <a:solidFill>
            <a:srgbClr val="2E7D44"/>
          </a:solidFill>
          <a:ln/>
        </p:spPr>
      </p:sp>
      <p:sp>
        <p:nvSpPr>
          <p:cNvPr id="11" name="Text 9"/>
          <p:cNvSpPr/>
          <p:nvPr/>
        </p:nvSpPr>
        <p:spPr>
          <a:xfrm>
            <a:off x="6426200" y="1581783"/>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4D29"/>
                </a:solidFill>
                <a:latin typeface="Nunito Sans" pitchFamily="34" charset="0"/>
                <a:ea typeface="Nunito Sans" pitchFamily="34" charset="-122"/>
                <a:cs typeface="Nunito Sans" pitchFamily="34" charset="-120"/>
              </a:rPr>
              <a:t>Así sí · ConectaEDU</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37086" y="1884768"/>
          <a:ext cx="4751615" cy="1323295"/>
        </p:xfrm>
        <a:graphic>
          <a:graphicData uri="http://schemas.openxmlformats.org/drawingml/2006/table">
            <a:tbl>
              <a:tblPr/>
              <a:tblGrid>
                <a:gridCol w="2375807"/>
                <a:gridCol w="2375807"/>
              </a:tblGrid>
              <a:tr h="330824">
                <a:tc>
                  <a:txBody>
                    <a:bodyPr/>
                    <a:lstStyle/>
                    <a:p>
                      <a:pPr indent="0" marL="0">
                        <a:lnSpc>
                          <a:spcPts val="1680"/>
                        </a:lnSpc>
                        <a:buNone/>
                      </a:pPr>
                      <a:r>
                        <a:rPr lang="en-US" sz="1200" b="1" dirty="0">
                          <a:solidFill>
                            <a:srgbClr val="1F3326"/>
                          </a:solidFill>
                          <a:latin typeface="Nunito Sans" pitchFamily="34" charset="0"/>
                          <a:ea typeface="Nunito Sans" pitchFamily="34" charset="-122"/>
                          <a:cs typeface="Nunito Sans" pitchFamily="34" charset="-120"/>
                        </a:rPr>
                        <a:t>Frustración</a:t>
                      </a:r>
                      <a:endParaRPr lang="en-US" sz="1200" dirty="0">
                        <a:latin typeface="Nunito Sans" charset="0"/>
                        <a:ea typeface="Nunito Sans" charset="0"/>
                        <a:cs typeface="Nunito Sans" charset="0"/>
                      </a:endParaRPr>
                    </a:p>
                  </a:txBody>
                  <a:tcPr marL="53340" marR="53340" marT="53340" marB="53340" anchor="t">
                    <a:lnL w="12700" cap="flat" cmpd="sng" algn="ctr">
                      <a:solidFill>
                        <a:srgbClr val="BAC4BC"/>
                      </a:solidFill>
                      <a:prstDash val="solid"/>
                      <a:round/>
                      <a:headEnd type="none" w="med" len="med"/>
                      <a:tailEnd type="none" w="med" len="med"/>
                    </a:lnL>
                    <a:lnR w="12700" cap="flat" cmpd="sng" algn="ctr">
                      <a:solidFill>
                        <a:srgbClr val="ADB6AF"/>
                      </a:solidFill>
                      <a:prstDash val="solid"/>
                      <a:round/>
                      <a:headEnd type="none" w="med" len="med"/>
                      <a:tailEnd type="none" w="med" len="med"/>
                    </a:lnR>
                    <a:lnT w="12700" cap="flat" cmpd="sng" algn="ctr">
                      <a:solidFill>
                        <a:srgbClr val="BAC4BC"/>
                      </a:solidFill>
                      <a:prstDash val="solid"/>
                      <a:round/>
                      <a:headEnd type="none" w="med" len="med"/>
                      <a:tailEnd type="none" w="med" len="med"/>
                    </a:lnT>
                    <a:lnB w="12700" cap="flat" cmpd="sng" algn="ctr">
                      <a:solidFill>
                        <a:srgbClr val="ADB6AF"/>
                      </a:solidFill>
                      <a:prstDash val="solid"/>
                      <a:round/>
                      <a:headEnd type="none" w="med" len="med"/>
                      <a:tailEnd type="none" w="med" len="med"/>
                    </a:lnB>
                    <a:solidFill>
                      <a:srgbClr val="D8E4DB"/>
                    </a:solidFill>
                  </a:tcPr>
                </a:tc>
                <a:tc>
                  <a:txBody>
                    <a:bodyPr/>
                    <a:lstStyle/>
                    <a:p>
                      <a:pPr indent="0" marL="0">
                        <a:lnSpc>
                          <a:spcPts val="1680"/>
                        </a:lnSpc>
                        <a:buNone/>
                      </a:pPr>
                      <a:r>
                        <a:rPr lang="en-US" sz="1200" b="1" dirty="0">
                          <a:solidFill>
                            <a:srgbClr val="1F3326"/>
                          </a:solidFill>
                          <a:latin typeface="Nunito Sans" pitchFamily="34" charset="0"/>
                          <a:ea typeface="Nunito Sans" pitchFamily="34" charset="-122"/>
                          <a:cs typeface="Nunito Sans" pitchFamily="34" charset="-120"/>
                        </a:rPr>
                        <a:t>Aliviador</a:t>
                      </a:r>
                      <a:endParaRPr lang="en-US" sz="1200" dirty="0">
                        <a:latin typeface="Nunito Sans" charset="0"/>
                        <a:ea typeface="Nunito Sans" charset="0"/>
                        <a:cs typeface="Nunito Sans" charset="0"/>
                      </a:endParaRPr>
                    </a:p>
                  </a:txBody>
                  <a:tcPr marL="53340" marR="53340" marT="53340" marB="53340" anchor="t">
                    <a:lnL w="12700" cap="flat" cmpd="sng" algn="ctr">
                      <a:solidFill>
                        <a:srgbClr val="ADB6AF"/>
                      </a:solidFill>
                      <a:prstDash val="solid"/>
                      <a:round/>
                      <a:headEnd type="none" w="med" len="med"/>
                      <a:tailEnd type="none" w="med" len="med"/>
                    </a:lnL>
                    <a:lnR w="12700" cap="flat" cmpd="sng" algn="ctr">
                      <a:solidFill>
                        <a:srgbClr val="ADB6AF"/>
                      </a:solidFill>
                      <a:prstDash val="solid"/>
                      <a:round/>
                      <a:headEnd type="none" w="med" len="med"/>
                      <a:tailEnd type="none" w="med" len="med"/>
                    </a:lnR>
                    <a:lnT w="12700" cap="flat" cmpd="sng" algn="ctr">
                      <a:solidFill>
                        <a:srgbClr val="BAC4BC"/>
                      </a:solidFill>
                      <a:prstDash val="solid"/>
                      <a:round/>
                      <a:headEnd type="none" w="med" len="med"/>
                      <a:tailEnd type="none" w="med" len="med"/>
                    </a:lnT>
                    <a:lnB w="12700" cap="flat" cmpd="sng" algn="ctr">
                      <a:solidFill>
                        <a:srgbClr val="ADB6AF"/>
                      </a:solidFill>
                      <a:prstDash val="solid"/>
                      <a:round/>
                      <a:headEnd type="none" w="med" len="med"/>
                      <a:tailEnd type="none" w="med" len="med"/>
                    </a:lnB>
                    <a:solidFill>
                      <a:srgbClr val="D8E4DB"/>
                    </a:solidFill>
                  </a:tcPr>
                </a:tc>
              </a:tr>
              <a:tr h="330824">
                <a:tc>
                  <a:txBody>
                    <a:bodyPr/>
                    <a:lstStyle/>
                    <a:p>
                      <a:pPr indent="0" marL="0">
                        <a:lnSpc>
                          <a:spcPts val="1680"/>
                        </a:lnSpc>
                        <a:buNone/>
                      </a:pPr>
                      <a:r>
                        <a:rPr lang="en-US" sz="1200" dirty="0">
                          <a:solidFill>
                            <a:srgbClr val="1F3326"/>
                          </a:solidFill>
                          <a:latin typeface="Nunito Sans" pitchFamily="34" charset="0"/>
                          <a:ea typeface="Nunito Sans" pitchFamily="34" charset="-122"/>
                          <a:cs typeface="Nunito Sans" pitchFamily="34" charset="-120"/>
                        </a:rPr>
                        <a:t>Horas calificando a mano</a:t>
                      </a:r>
                      <a:endParaRPr lang="en-US" sz="1200" dirty="0">
                        <a:latin typeface="Nunito Sans" charset="0"/>
                        <a:ea typeface="Nunito Sans" charset="0"/>
                        <a:cs typeface="Nunito Sans" charset="0"/>
                      </a:endParaRPr>
                    </a:p>
                  </a:txBody>
                  <a:tcPr marL="53340" marR="53340" marT="53340" marB="53340" anchor="t">
                    <a:lnL w="12700" cap="flat" cmpd="sng" algn="ctr">
                      <a:solidFill>
                        <a:srgbClr val="BAC4BC"/>
                      </a:solidFill>
                      <a:prstDash val="solid"/>
                      <a:round/>
                      <a:headEnd type="none" w="med" len="med"/>
                      <a:tailEnd type="none" w="med" len="med"/>
                    </a:lnL>
                    <a:lnR w="12700" cap="flat" cmpd="sng" algn="ctr">
                      <a:solidFill>
                        <a:srgbClr val="BAC4BC"/>
                      </a:solidFill>
                      <a:prstDash val="solid"/>
                      <a:round/>
                      <a:headEnd type="none" w="med" len="med"/>
                      <a:tailEnd type="none" w="med" len="med"/>
                    </a:lnR>
                    <a:lnT w="12700" cap="flat" cmpd="sng" algn="ctr">
                      <a:solidFill>
                        <a:srgbClr val="ADB6AF"/>
                      </a:solidFill>
                      <a:prstDash val="solid"/>
                      <a:round/>
                      <a:headEnd type="none" w="med" len="med"/>
                      <a:tailEnd type="none" w="med" len="med"/>
                    </a:lnT>
                    <a:lnB w="12700" cap="flat" cmpd="sng" algn="ctr">
                      <a:solidFill>
                        <a:srgbClr val="BAC4BC"/>
                      </a:solidFill>
                      <a:prstDash val="solid"/>
                      <a:round/>
                      <a:headEnd type="none" w="med" len="med"/>
                      <a:tailEnd type="none" w="med" len="med"/>
                    </a:lnB>
                  </a:tcPr>
                </a:tc>
                <a:tc>
                  <a:txBody>
                    <a:bodyPr/>
                    <a:lstStyle/>
                    <a:p>
                      <a:pPr indent="0" marL="0">
                        <a:lnSpc>
                          <a:spcPts val="1680"/>
                        </a:lnSpc>
                        <a:buNone/>
                      </a:pPr>
                      <a:r>
                        <a:rPr lang="en-US" sz="1200" dirty="0">
                          <a:solidFill>
                            <a:srgbClr val="1F3326"/>
                          </a:solidFill>
                          <a:latin typeface="Nunito Sans" pitchFamily="34" charset="0"/>
                          <a:ea typeface="Nunito Sans" pitchFamily="34" charset="-122"/>
                          <a:cs typeface="Nunito Sans" pitchFamily="34" charset="-120"/>
                        </a:rPr>
                        <a:t>Hace la primera revisión</a:t>
                      </a:r>
                      <a:endParaRPr lang="en-US" sz="1200" dirty="0">
                        <a:latin typeface="Nunito Sans" charset="0"/>
                        <a:ea typeface="Nunito Sans" charset="0"/>
                        <a:cs typeface="Nunito Sans" charset="0"/>
                      </a:endParaRPr>
                    </a:p>
                  </a:txBody>
                  <a:tcPr marL="53340" marR="53340" marT="53340" marB="53340" anchor="t">
                    <a:lnL w="12700" cap="flat" cmpd="sng" algn="ctr">
                      <a:solidFill>
                        <a:srgbClr val="BAC4BC"/>
                      </a:solidFill>
                      <a:prstDash val="solid"/>
                      <a:round/>
                      <a:headEnd type="none" w="med" len="med"/>
                      <a:tailEnd type="none" w="med" len="med"/>
                    </a:lnL>
                    <a:lnR w="12700" cap="flat" cmpd="sng" algn="ctr">
                      <a:solidFill>
                        <a:srgbClr val="BAC4BC"/>
                      </a:solidFill>
                      <a:prstDash val="solid"/>
                      <a:round/>
                      <a:headEnd type="none" w="med" len="med"/>
                      <a:tailEnd type="none" w="med" len="med"/>
                    </a:lnR>
                    <a:lnT w="12700" cap="flat" cmpd="sng" algn="ctr">
                      <a:solidFill>
                        <a:srgbClr val="ADB6AF"/>
                      </a:solidFill>
                      <a:prstDash val="solid"/>
                      <a:round/>
                      <a:headEnd type="none" w="med" len="med"/>
                      <a:tailEnd type="none" w="med" len="med"/>
                    </a:lnT>
                    <a:lnB w="12700" cap="flat" cmpd="sng" algn="ctr">
                      <a:solidFill>
                        <a:srgbClr val="BAC4BC"/>
                      </a:solidFill>
                      <a:prstDash val="solid"/>
                      <a:round/>
                      <a:headEnd type="none" w="med" len="med"/>
                      <a:tailEnd type="none" w="med" len="med"/>
                    </a:lnB>
                  </a:tcPr>
                </a:tc>
              </a:tr>
              <a:tr h="330824">
                <a:tc>
                  <a:txBody>
                    <a:bodyPr/>
                    <a:lstStyle/>
                    <a:p>
                      <a:pPr indent="0" marL="0">
                        <a:lnSpc>
                          <a:spcPts val="1680"/>
                        </a:lnSpc>
                        <a:buNone/>
                      </a:pPr>
                      <a:r>
                        <a:rPr lang="en-US" sz="1200" dirty="0">
                          <a:solidFill>
                            <a:srgbClr val="1F3326"/>
                          </a:solidFill>
                          <a:latin typeface="Nunito Sans" pitchFamily="34" charset="0"/>
                          <a:ea typeface="Nunito Sans" pitchFamily="34" charset="-122"/>
                          <a:cs typeface="Nunito Sans" pitchFamily="34" charset="-120"/>
                        </a:rPr>
                        <a:t>Comentarios cortos</a:t>
                      </a:r>
                      <a:endParaRPr lang="en-US" sz="1200" dirty="0">
                        <a:latin typeface="Nunito Sans" charset="0"/>
                        <a:ea typeface="Nunito Sans" charset="0"/>
                        <a:cs typeface="Nunito Sans" charset="0"/>
                      </a:endParaRPr>
                    </a:p>
                  </a:txBody>
                  <a:tcPr marL="53340" marR="53340" marT="53340" marB="53340" anchor="t">
                    <a:lnL w="12700" cap="flat" cmpd="sng" algn="ctr">
                      <a:solidFill>
                        <a:srgbClr val="BAC4BC"/>
                      </a:solidFill>
                      <a:prstDash val="solid"/>
                      <a:round/>
                      <a:headEnd type="none" w="med" len="med"/>
                      <a:tailEnd type="none" w="med" len="med"/>
                    </a:lnL>
                    <a:lnR w="12700" cap="flat" cmpd="sng" algn="ctr">
                      <a:solidFill>
                        <a:srgbClr val="BAC4BC"/>
                      </a:solidFill>
                      <a:prstDash val="solid"/>
                      <a:round/>
                      <a:headEnd type="none" w="med" len="med"/>
                      <a:tailEnd type="none" w="med" len="med"/>
                    </a:lnR>
                    <a:lnT w="12700" cap="flat" cmpd="sng" algn="ctr">
                      <a:solidFill>
                        <a:srgbClr val="BAC4BC"/>
                      </a:solidFill>
                      <a:prstDash val="solid"/>
                      <a:round/>
                      <a:headEnd type="none" w="med" len="med"/>
                      <a:tailEnd type="none" w="med" len="med"/>
                    </a:lnT>
                    <a:lnB w="12700" cap="flat" cmpd="sng" algn="ctr">
                      <a:solidFill>
                        <a:srgbClr val="BAC4BC"/>
                      </a:solidFill>
                      <a:prstDash val="solid"/>
                      <a:round/>
                      <a:headEnd type="none" w="med" len="med"/>
                      <a:tailEnd type="none" w="med" len="med"/>
                    </a:lnB>
                  </a:tcPr>
                </a:tc>
                <a:tc>
                  <a:txBody>
                    <a:bodyPr/>
                    <a:lstStyle/>
                    <a:p>
                      <a:pPr indent="0" marL="0">
                        <a:lnSpc>
                          <a:spcPts val="1680"/>
                        </a:lnSpc>
                        <a:buNone/>
                      </a:pPr>
                      <a:r>
                        <a:rPr lang="en-US" sz="1200" dirty="0">
                          <a:solidFill>
                            <a:srgbClr val="1F3326"/>
                          </a:solidFill>
                          <a:latin typeface="Nunito Sans" pitchFamily="34" charset="0"/>
                          <a:ea typeface="Nunito Sans" pitchFamily="34" charset="-122"/>
                          <a:cs typeface="Nunito Sans" pitchFamily="34" charset="-120"/>
                        </a:rPr>
                        <a:t>Comentarios por criterio</a:t>
                      </a:r>
                      <a:endParaRPr lang="en-US" sz="1200" dirty="0">
                        <a:latin typeface="Nunito Sans" charset="0"/>
                        <a:ea typeface="Nunito Sans" charset="0"/>
                        <a:cs typeface="Nunito Sans" charset="0"/>
                      </a:endParaRPr>
                    </a:p>
                  </a:txBody>
                  <a:tcPr marL="53340" marR="53340" marT="53340" marB="53340" anchor="t">
                    <a:lnL w="12700" cap="flat" cmpd="sng" algn="ctr">
                      <a:solidFill>
                        <a:srgbClr val="BAC4BC"/>
                      </a:solidFill>
                      <a:prstDash val="solid"/>
                      <a:round/>
                      <a:headEnd type="none" w="med" len="med"/>
                      <a:tailEnd type="none" w="med" len="med"/>
                    </a:lnL>
                    <a:lnR w="12700" cap="flat" cmpd="sng" algn="ctr">
                      <a:solidFill>
                        <a:srgbClr val="BAC4BC"/>
                      </a:solidFill>
                      <a:prstDash val="solid"/>
                      <a:round/>
                      <a:headEnd type="none" w="med" len="med"/>
                      <a:tailEnd type="none" w="med" len="med"/>
                    </a:lnR>
                    <a:lnT w="12700" cap="flat" cmpd="sng" algn="ctr">
                      <a:solidFill>
                        <a:srgbClr val="BAC4BC"/>
                      </a:solidFill>
                      <a:prstDash val="solid"/>
                      <a:round/>
                      <a:headEnd type="none" w="med" len="med"/>
                      <a:tailEnd type="none" w="med" len="med"/>
                    </a:lnT>
                    <a:lnB w="12700" cap="flat" cmpd="sng" algn="ctr">
                      <a:solidFill>
                        <a:srgbClr val="BAC4BC"/>
                      </a:solidFill>
                      <a:prstDash val="solid"/>
                      <a:round/>
                      <a:headEnd type="none" w="med" len="med"/>
                      <a:tailEnd type="none" w="med" len="med"/>
                    </a:lnB>
                  </a:tcPr>
                </a:tc>
              </a:tr>
              <a:tr h="330824">
                <a:tc>
                  <a:txBody>
                    <a:bodyPr/>
                    <a:lstStyle/>
                    <a:p>
                      <a:pPr indent="0" marL="0">
                        <a:lnSpc>
                          <a:spcPts val="1680"/>
                        </a:lnSpc>
                        <a:buNone/>
                      </a:pPr>
                      <a:r>
                        <a:rPr lang="en-US" sz="1200" dirty="0">
                          <a:solidFill>
                            <a:srgbClr val="1F3326"/>
                          </a:solidFill>
                          <a:latin typeface="Nunito Sans" pitchFamily="34" charset="0"/>
                          <a:ea typeface="Nunito Sans" pitchFamily="34" charset="-122"/>
                          <a:cs typeface="Nunito Sans" pitchFamily="34" charset="-120"/>
                        </a:rPr>
                        <a:t>Las mismas dudas</a:t>
                      </a:r>
                      <a:endParaRPr lang="en-US" sz="1200" dirty="0">
                        <a:latin typeface="Nunito Sans" charset="0"/>
                        <a:ea typeface="Nunito Sans" charset="0"/>
                        <a:cs typeface="Nunito Sans" charset="0"/>
                      </a:endParaRPr>
                    </a:p>
                  </a:txBody>
                  <a:tcPr marL="53340" marR="53340" marT="53340" marB="53340" anchor="t">
                    <a:lnL w="12700" cap="flat" cmpd="sng" algn="ctr">
                      <a:solidFill>
                        <a:srgbClr val="BAC4BC"/>
                      </a:solidFill>
                      <a:prstDash val="solid"/>
                      <a:round/>
                      <a:headEnd type="none" w="med" len="med"/>
                      <a:tailEnd type="none" w="med" len="med"/>
                    </a:lnL>
                    <a:lnR w="12700" cap="flat" cmpd="sng" algn="ctr">
                      <a:solidFill>
                        <a:srgbClr val="BAC4BC"/>
                      </a:solidFill>
                      <a:prstDash val="solid"/>
                      <a:round/>
                      <a:headEnd type="none" w="med" len="med"/>
                      <a:tailEnd type="none" w="med" len="med"/>
                    </a:lnR>
                    <a:lnT w="12700" cap="flat" cmpd="sng" algn="ctr">
                      <a:solidFill>
                        <a:srgbClr val="BAC4BC"/>
                      </a:solidFill>
                      <a:prstDash val="solid"/>
                      <a:round/>
                      <a:headEnd type="none" w="med" len="med"/>
                      <a:tailEnd type="none" w="med" len="med"/>
                    </a:lnT>
                    <a:lnB w="12700" cap="flat" cmpd="sng" algn="ctr">
                      <a:solidFill>
                        <a:srgbClr val="BAC4BC"/>
                      </a:solidFill>
                      <a:prstDash val="solid"/>
                      <a:round/>
                      <a:headEnd type="none" w="med" len="med"/>
                      <a:tailEnd type="none" w="med" len="med"/>
                    </a:lnB>
                  </a:tcPr>
                </a:tc>
                <a:tc>
                  <a:txBody>
                    <a:bodyPr/>
                    <a:lstStyle/>
                    <a:p>
                      <a:pPr indent="0" marL="0">
                        <a:lnSpc>
                          <a:spcPts val="1680"/>
                        </a:lnSpc>
                        <a:buNone/>
                      </a:pPr>
                      <a:r>
                        <a:rPr lang="en-US" sz="1200" dirty="0">
                          <a:solidFill>
                            <a:srgbClr val="1F3326"/>
                          </a:solidFill>
                          <a:latin typeface="Nunito Sans" pitchFamily="34" charset="0"/>
                          <a:ea typeface="Nunito Sans" pitchFamily="34" charset="-122"/>
                          <a:cs typeface="Nunito Sans" pitchFamily="34" charset="-120"/>
                        </a:rPr>
                        <a:t>El tutor las responde</a:t>
                      </a:r>
                      <a:endParaRPr lang="en-US" sz="1200" dirty="0">
                        <a:latin typeface="Nunito Sans" charset="0"/>
                        <a:ea typeface="Nunito Sans" charset="0"/>
                        <a:cs typeface="Nunito Sans" charset="0"/>
                      </a:endParaRPr>
                    </a:p>
                  </a:txBody>
                  <a:tcPr marL="53340" marR="53340" marT="53340" marB="53340" anchor="t">
                    <a:lnL w="12700" cap="flat" cmpd="sng" algn="ctr">
                      <a:solidFill>
                        <a:srgbClr val="BAC4BC"/>
                      </a:solidFill>
                      <a:prstDash val="solid"/>
                      <a:round/>
                      <a:headEnd type="none" w="med" len="med"/>
                      <a:tailEnd type="none" w="med" len="med"/>
                    </a:lnL>
                    <a:lnR w="12700" cap="flat" cmpd="sng" algn="ctr">
                      <a:solidFill>
                        <a:srgbClr val="BAC4BC"/>
                      </a:solidFill>
                      <a:prstDash val="solid"/>
                      <a:round/>
                      <a:headEnd type="none" w="med" len="med"/>
                      <a:tailEnd type="none" w="med" len="med"/>
                    </a:lnR>
                    <a:lnT w="12700" cap="flat" cmpd="sng" algn="ctr">
                      <a:solidFill>
                        <a:srgbClr val="BAC4BC"/>
                      </a:solidFill>
                      <a:prstDash val="solid"/>
                      <a:round/>
                      <a:headEnd type="none" w="med" len="med"/>
                      <a:tailEnd type="none" w="med" len="med"/>
                    </a:lnT>
                    <a:lnB w="12700" cap="flat" cmpd="sng" algn="ctr">
                      <a:solidFill>
                        <a:srgbClr val="BAC4BC"/>
                      </a:solidFill>
                      <a:prstDash val="solid"/>
                      <a:round/>
                      <a:headEnd type="none" w="med" len="med"/>
                      <a:tailEnd type="none" w="med" len="med"/>
                    </a:lnB>
                  </a:tcPr>
                </a:tc>
              </a:tr>
            </a:tbl>
          </a:graphicData>
        </a:graphic>
      </p:graphicFrame>
      <p:sp>
        <p:nvSpPr>
          <p:cNvPr id="13" name="Text 10"/>
          <p:cNvSpPr/>
          <p:nvPr/>
        </p:nvSpPr>
        <p:spPr>
          <a:xfrm>
            <a:off x="6426200" y="3271565"/>
            <a:ext cx="4905375"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D29"/>
                </a:solidFill>
                <a:latin typeface="Nunito Sans" pitchFamily="34" charset="0"/>
                <a:ea typeface="Nunito Sans" pitchFamily="34" charset="-122"/>
                <a:cs typeface="Nunito Sans" pitchFamily="34" charset="-120"/>
              </a:rPr>
              <a:t>Tres frustraciones, tres aliviadores, uno a uno.</a:t>
            </a:r>
            <a:endParaRPr lang="en-US" sz="1200" dirty="0"/>
          </a:p>
        </p:txBody>
      </p:sp>
      <p:sp>
        <p:nvSpPr>
          <p:cNvPr id="14" name="Text 11"/>
          <p:cNvSpPr/>
          <p:nvPr/>
        </p:nvSpPr>
        <p:spPr>
          <a:xfrm>
            <a:off x="812800" y="3815110"/>
            <a:ext cx="10566401" cy="493996"/>
          </a:xfrm>
          <a:prstGeom prst="roundRect">
            <a:avLst>
              <a:gd name="adj" fmla="val 17996"/>
            </a:avLst>
          </a:prstGeom>
          <a:solidFill>
            <a:srgbClr val="173E78"/>
          </a:solidFill>
          <a:ln/>
        </p:spPr>
        <p:txBody>
          <a:bodyPr wrap="square" lIns="164462" tIns="100962" rIns="0" bIns="75562" rtlCol="0" anchor="t">
            <a:normAutofit/>
          </a:bodyPr>
          <a:lstStyle/>
          <a:p>
            <a:pPr algn="l" indent="0" marL="0">
              <a:lnSpc>
                <a:spcPts val="1890"/>
              </a:lnSpc>
              <a:buNone/>
            </a:pPr>
            <a:r>
              <a:rPr lang="en-US" sz="1400" b="1" dirty="0">
                <a:solidFill>
                  <a:srgbClr val="F3F6FA"/>
                </a:solidFill>
                <a:latin typeface="Nunito Sans" pitchFamily="34" charset="0"/>
                <a:ea typeface="Nunito Sans" pitchFamily="34" charset="-122"/>
                <a:cs typeface="Nunito Sans" pitchFamily="34" charset="-120"/>
              </a:rPr>
              <a:t>Pregunta para la clase:</a:t>
            </a:r>
            <a:r>
              <a:rPr lang="en-US" sz="1400" dirty="0">
                <a:solidFill>
                  <a:srgbClr val="F3F6FA"/>
                </a:solidFill>
                <a:latin typeface="Nunito Sans" pitchFamily="34" charset="0"/>
                <a:ea typeface="Nunito Sans" pitchFamily="34" charset="-122"/>
                <a:cs typeface="Nunito Sans" pitchFamily="34" charset="-120"/>
              </a:rPr>
              <a:t> ¿Qué nota de su lienzo podrían borrar sin que cambie nada?</a:t>
            </a:r>
            <a:endParaRPr lang="en-US" sz="1400" dirty="0"/>
          </a:p>
        </p:txBody>
      </p:sp>
      <p:pic>
        <p:nvPicPr>
          <p:cNvPr id="15"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6" name="Text 12"/>
          <p:cNvSpPr/>
          <p:nvPr/>
        </p:nvSpPr>
        <p:spPr>
          <a:xfrm>
            <a:off x="8008847" y="6217903"/>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LO QUE VI EN LAS SIETE ENTREGAS</a:t>
            </a:r>
            <a:endParaRPr lang="en-US" sz="1200" dirty="0"/>
          </a:p>
        </p:txBody>
      </p:sp>
      <p:sp>
        <p:nvSpPr>
          <p:cNvPr id="3" name="Text 1"/>
          <p:cNvSpPr/>
          <p:nvPr>
            <p:ph type="title"/>
          </p:nvPr>
        </p:nvSpPr>
        <p:spPr>
          <a:xfrm>
            <a:off x="812800" y="949958"/>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Cinco patrones antes de ir equipo por equipo</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686" y="1572936"/>
          <a:ext cx="10555515" cy="2376261"/>
        </p:xfrm>
        <a:graphic>
          <a:graphicData uri="http://schemas.openxmlformats.org/drawingml/2006/table">
            <a:tbl>
              <a:tblPr/>
              <a:tblGrid>
                <a:gridCol w="3799985"/>
                <a:gridCol w="2955544"/>
                <a:gridCol w="3799985"/>
              </a:tblGrid>
              <a:tr h="357528">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Patrón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Dónde apareció</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7B8B5"/>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Qué hacer</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7B8B5"/>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Bien: datos reales dentro del canvas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Bocadoo, FrameFlow, ConectaEDU</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Que todos lo hagan: cifra y fuente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El cliente 1 cambia entre láminas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ECduLearn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Un solo cliente 1 en láminas 3, 6 y 7</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Marcadores ausentes o sin tipo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JOBM Tech, Developers CARF</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Marcador en el paso, con su tipo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Quien paga no está en el canvas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FrameFlow, JOBM Tech</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El pagador es un segmento más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588622">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Restos de la plantilla, fotos o archivos duplicados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ECduLearn, FrameFlow, Developers CARF</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Revisar la lista de la lámina 14</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bl>
          </a:graphicData>
        </a:graphic>
      </p:graphicFrame>
      <p:pic>
        <p:nvPicPr>
          <p:cNvPr id="5" name="Image 0" descr="Logo PUCE">    </p:cNvPr>
          <p:cNvPicPr>
            <a:picLocks noChangeAspect="1"/>
          </p:cNvPicPr>
          <p:nvPr/>
        </p:nvPicPr>
        <p:blipFill>
          <a:blip r:embed="rId1"/>
          <a:srcRect l="-436" r="-436" t="0" b="0"/>
          <a:stretch/>
        </p:blipFill>
        <p:spPr>
          <a:xfrm>
            <a:off x="812800" y="6184912"/>
            <a:ext cx="1016000" cy="279400"/>
          </a:xfrm>
          <a:prstGeom prst="rect">
            <a:avLst/>
          </a:prstGeom>
        </p:spPr>
      </p:pic>
      <p:sp>
        <p:nvSpPr>
          <p:cNvPr id="6" name="Text 2"/>
          <p:cNvSpPr/>
          <p:nvPr/>
        </p:nvSpPr>
        <p:spPr>
          <a:xfrm>
            <a:off x="8008847" y="6217903"/>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RETROALIMENTACIÓN E5 · EQUIPO 1 DE 7</a:t>
            </a:r>
            <a:endParaRPr lang="en-US" sz="1200" dirty="0"/>
          </a:p>
        </p:txBody>
      </p:sp>
      <p:sp>
        <p:nvSpPr>
          <p:cNvPr id="3" name="Text 1"/>
          <p:cNvSpPr/>
          <p:nvPr>
            <p:ph type="title"/>
          </p:nvPr>
        </p:nvSpPr>
        <p:spPr>
          <a:xfrm>
            <a:off x="812800" y="9372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Bocadoo</a:t>
            </a:r>
            <a:endParaRPr lang="en-US" sz="2800" dirty="0"/>
          </a:p>
        </p:txBody>
      </p:sp>
      <p:sp>
        <p:nvSpPr>
          <p:cNvPr id="4" name="Text 2"/>
          <p:cNvSpPr/>
          <p:nvPr/>
        </p:nvSpPr>
        <p:spPr>
          <a:xfrm>
            <a:off x="812800" y="1409638"/>
            <a:ext cx="10883393" cy="26539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878"/>
                </a:solidFill>
                <a:latin typeface="Nunito Sans" pitchFamily="34" charset="0"/>
                <a:ea typeface="Nunito Sans" pitchFamily="34" charset="-122"/>
                <a:cs typeface="Nunito Sans" pitchFamily="34" charset="-120"/>
              </a:rPr>
              <a:t>Planes de almuerzo prepagados con QR para restaurantes cerca de la PUCE y la EPN.</a:t>
            </a:r>
            <a:endParaRPr lang="en-US" sz="1400" dirty="0"/>
          </a:p>
        </p:txBody>
      </p:sp>
      <p:sp>
        <p:nvSpPr>
          <p:cNvPr id="5" name="Shape 3"/>
          <p:cNvSpPr/>
          <p:nvPr/>
        </p:nvSpPr>
        <p:spPr>
          <a:xfrm>
            <a:off x="815975" y="1830611"/>
            <a:ext cx="3414146" cy="2047875"/>
          </a:xfrm>
          <a:prstGeom prst="roundRect">
            <a:avLst>
              <a:gd name="adj" fmla="val 4806"/>
            </a:avLst>
          </a:prstGeom>
          <a:solidFill>
            <a:srgbClr val="FDFDFB"/>
          </a:solidFill>
          <a:ln w="6350">
            <a:solidFill>
              <a:srgbClr val="DCE3EA"/>
            </a:solidFill>
            <a:prstDash val="solid"/>
          </a:ln>
        </p:spPr>
      </p:sp>
      <p:sp>
        <p:nvSpPr>
          <p:cNvPr id="6" name="Text 4"/>
          <p:cNvSpPr/>
          <p:nvPr/>
        </p:nvSpPr>
        <p:spPr>
          <a:xfrm>
            <a:off x="1006929" y="2008857"/>
            <a:ext cx="31232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47A7B"/>
                </a:solidFill>
                <a:latin typeface="Nunito Sans" pitchFamily="34" charset="0"/>
                <a:ea typeface="Nunito Sans" pitchFamily="34" charset="-122"/>
                <a:cs typeface="Nunito Sans" pitchFamily="34" charset="-120"/>
              </a:rPr>
              <a:t>Lo que está bien</a:t>
            </a:r>
            <a:endParaRPr lang="en-US" sz="1500" dirty="0"/>
          </a:p>
        </p:txBody>
      </p:sp>
      <p:sp>
        <p:nvSpPr>
          <p:cNvPr id="7" name="Text 5"/>
          <p:cNvSpPr/>
          <p:nvPr/>
        </p:nvSpPr>
        <p:spPr>
          <a:xfrm>
            <a:off x="1098623" y="2313657"/>
            <a:ext cx="3023892" cy="1411968"/>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Dos clientes bien separados: el dueño paga y el estudiante usa.</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Datos de la encuesta dentro del canvas: 78 % y 47 %.</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Proceso de 8 pasos con marcadores de dinero, tiempo y oportunidad.</a:t>
            </a:r>
            <a:endParaRPr lang="en-US" sz="1300" dirty="0"/>
          </a:p>
        </p:txBody>
      </p:sp>
      <p:sp>
        <p:nvSpPr>
          <p:cNvPr id="8" name="Shape 6"/>
          <p:cNvSpPr/>
          <p:nvPr/>
        </p:nvSpPr>
        <p:spPr>
          <a:xfrm>
            <a:off x="4388871" y="1830611"/>
            <a:ext cx="3414202" cy="2047875"/>
          </a:xfrm>
          <a:prstGeom prst="roundRect">
            <a:avLst>
              <a:gd name="adj" fmla="val 4806"/>
            </a:avLst>
          </a:prstGeom>
          <a:solidFill>
            <a:srgbClr val="FFFBF0"/>
          </a:solidFill>
          <a:ln w="6350">
            <a:solidFill>
              <a:srgbClr val="DCE3EA"/>
            </a:solidFill>
            <a:prstDash val="solid"/>
          </a:ln>
        </p:spPr>
      </p:sp>
      <p:sp>
        <p:nvSpPr>
          <p:cNvPr id="9" name="Text 7"/>
          <p:cNvSpPr/>
          <p:nvPr/>
        </p:nvSpPr>
        <p:spPr>
          <a:xfrm>
            <a:off x="4579824" y="2008857"/>
            <a:ext cx="31232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4B00"/>
                </a:solidFill>
                <a:latin typeface="Nunito Sans" pitchFamily="34" charset="0"/>
                <a:ea typeface="Nunito Sans" pitchFamily="34" charset="-122"/>
                <a:cs typeface="Nunito Sans" pitchFamily="34" charset="-120"/>
              </a:rPr>
              <a:t>Qué corregir</a:t>
            </a:r>
            <a:endParaRPr lang="en-US" sz="1500" dirty="0"/>
          </a:p>
        </p:txBody>
      </p:sp>
      <p:sp>
        <p:nvSpPr>
          <p:cNvPr id="10" name="Text 8"/>
          <p:cNvSpPr/>
          <p:nvPr/>
        </p:nvSpPr>
        <p:spPr>
          <a:xfrm>
            <a:off x="4671518" y="2313657"/>
            <a:ext cx="3023950" cy="1411968"/>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Validen los $15 al mes con dueños reales; hoy es una suposición.</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«Ofertas flash» está en el canvas pero no en el lienzo: decidan si va.</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El marcador C (retención) es idea suya: confírmenlo con los dueños.</a:t>
            </a:r>
            <a:endParaRPr lang="en-US" sz="1300" dirty="0"/>
          </a:p>
        </p:txBody>
      </p:sp>
      <p:sp>
        <p:nvSpPr>
          <p:cNvPr id="11" name="Shape 9"/>
          <p:cNvSpPr/>
          <p:nvPr/>
        </p:nvSpPr>
        <p:spPr>
          <a:xfrm>
            <a:off x="7961823" y="1830611"/>
            <a:ext cx="3414202" cy="2047875"/>
          </a:xfrm>
          <a:prstGeom prst="roundRect">
            <a:avLst>
              <a:gd name="adj" fmla="val 4806"/>
            </a:avLst>
          </a:prstGeom>
          <a:solidFill>
            <a:srgbClr val="FDFDFB"/>
          </a:solidFill>
          <a:ln w="6350">
            <a:solidFill>
              <a:srgbClr val="DCE3EA"/>
            </a:solidFill>
            <a:prstDash val="solid"/>
          </a:ln>
        </p:spPr>
      </p:sp>
      <p:sp>
        <p:nvSpPr>
          <p:cNvPr id="12" name="Text 10"/>
          <p:cNvSpPr/>
          <p:nvPr/>
        </p:nvSpPr>
        <p:spPr>
          <a:xfrm>
            <a:off x="8152777" y="2008857"/>
            <a:ext cx="31232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Para el pitch del lunes</a:t>
            </a:r>
            <a:endParaRPr lang="en-US" sz="1500" dirty="0"/>
          </a:p>
        </p:txBody>
      </p:sp>
      <p:sp>
        <p:nvSpPr>
          <p:cNvPr id="13" name="Text 11"/>
          <p:cNvSpPr/>
          <p:nvPr/>
        </p:nvSpPr>
        <p:spPr>
          <a:xfrm>
            <a:off x="8244471" y="2313657"/>
            <a:ext cx="3023950" cy="1411968"/>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Demo del QR en vivo con un plan cargado.</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Cuántos restaurantes dijeron «lo probaría».</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El 78 % con su pregunta exacta y el número de encuestados.</a:t>
            </a:r>
            <a:endParaRPr lang="en-US" sz="1300" dirty="0"/>
          </a:p>
        </p:txBody>
      </p:sp>
      <p:pic>
        <p:nvPicPr>
          <p:cNvPr id="14"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5" name="Text 12"/>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DEMO · EL CANVAS REAL DE BOCADOO</a:t>
            </a:r>
            <a:endParaRPr lang="en-US" sz="1200" dirty="0"/>
          </a:p>
        </p:txBody>
      </p:sp>
      <p:sp>
        <p:nvSpPr>
          <p:cNvPr id="3" name="Text 1"/>
          <p:cNvSpPr/>
          <p:nvPr>
            <p:ph type="title"/>
          </p:nvPr>
        </p:nvSpPr>
        <p:spPr>
          <a:xfrm>
            <a:off x="812800" y="886445"/>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Qué está bien y qué hay que corregir</a:t>
            </a:r>
            <a:endParaRPr lang="en-US" sz="2500" dirty="0"/>
          </a:p>
        </p:txBody>
      </p:sp>
      <p:sp>
        <p:nvSpPr>
          <p:cNvPr id="4" name="Shape 2"/>
          <p:cNvSpPr/>
          <p:nvPr/>
        </p:nvSpPr>
        <p:spPr>
          <a:xfrm>
            <a:off x="812800" y="1403970"/>
            <a:ext cx="6413500" cy="3822700"/>
          </a:xfrm>
          <a:prstGeom prst="roundRect">
            <a:avLst>
              <a:gd name="adj" fmla="val 1329"/>
            </a:avLst>
          </a:prstGeom>
          <a:solidFill>
            <a:srgbClr val="FFFFFF"/>
          </a:solidFill>
          <a:ln/>
        </p:spPr>
      </p:sp>
      <p:pic>
        <p:nvPicPr>
          <p:cNvPr id="5" name="Image 0" descr="Business Model Canvas entregado por Bocadoo">    </p:cNvPr>
          <p:cNvPicPr>
            <a:picLocks noChangeAspect="1"/>
          </p:cNvPicPr>
          <p:nvPr/>
        </p:nvPicPr>
        <p:blipFill>
          <a:blip r:embed="rId1"/>
          <a:srcRect l="-18" r="-18" t="0" b="0"/>
          <a:stretch/>
        </p:blipFill>
        <p:spPr>
          <a:xfrm>
            <a:off x="819150" y="1410320"/>
            <a:ext cx="6400800" cy="3810000"/>
          </a:xfrm>
          <a:prstGeom prst="roundRect">
            <a:avLst>
              <a:gd name="adj" fmla="val 1167"/>
            </a:avLst>
          </a:prstGeom>
        </p:spPr>
      </p:pic>
      <p:sp>
        <p:nvSpPr>
          <p:cNvPr id="6" name="Shape 3"/>
          <p:cNvSpPr/>
          <p:nvPr/>
        </p:nvSpPr>
        <p:spPr>
          <a:xfrm>
            <a:off x="815975" y="1407145"/>
            <a:ext cx="6407150" cy="3816350"/>
          </a:xfrm>
          <a:prstGeom prst="roundRect">
            <a:avLst>
              <a:gd name="adj" fmla="val 1248"/>
            </a:avLst>
          </a:prstGeom>
          <a:noFill/>
          <a:ln w="6350">
            <a:solidFill>
              <a:srgbClr val="DCE3EA"/>
            </a:solidFill>
            <a:prstDash val="solid"/>
          </a:ln>
        </p:spPr>
      </p:sp>
      <p:sp>
        <p:nvSpPr>
          <p:cNvPr id="7" name="Text 4"/>
          <p:cNvSpPr/>
          <p:nvPr/>
        </p:nvSpPr>
        <p:spPr>
          <a:xfrm>
            <a:off x="7429500" y="1403970"/>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1F6B33"/>
                </a:solidFill>
                <a:latin typeface="Nunito Sans" pitchFamily="34" charset="0"/>
                <a:ea typeface="Nunito Sans" pitchFamily="34" charset="-122"/>
                <a:cs typeface="Nunito Sans" pitchFamily="34" charset="-120"/>
              </a:rPr>
              <a:t>BIEN · Segmentos:</a:t>
            </a:r>
            <a:r>
              <a:rPr lang="en-US" sz="1200" dirty="0">
                <a:solidFill>
                  <a:srgbClr val="2B3A4E"/>
                </a:solidFill>
                <a:latin typeface="Nunito Sans" pitchFamily="34" charset="0"/>
                <a:ea typeface="Nunito Sans" pitchFamily="34" charset="-122"/>
                <a:cs typeface="Nunito Sans" pitchFamily="34" charset="-120"/>
              </a:rPr>
              <a:t> dos clientes con datos: 4–10 mesas; $3–3,50 por almuerzo; 3–5 días por semana.</a:t>
            </a:r>
            <a:endParaRPr lang="en-US" sz="1200" dirty="0"/>
          </a:p>
        </p:txBody>
      </p:sp>
      <p:sp>
        <p:nvSpPr>
          <p:cNvPr id="8" name="Text 5"/>
          <p:cNvSpPr/>
          <p:nvPr/>
        </p:nvSpPr>
        <p:spPr>
          <a:xfrm>
            <a:off x="7429500" y="1913446"/>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1F6B33"/>
                </a:solidFill>
                <a:latin typeface="Nunito Sans" pitchFamily="34" charset="0"/>
                <a:ea typeface="Nunito Sans" pitchFamily="34" charset="-122"/>
                <a:cs typeface="Nunito Sans" pitchFamily="34" charset="-120"/>
              </a:rPr>
              <a:t>BIEN · Ingresos:</a:t>
            </a:r>
            <a:r>
              <a:rPr lang="en-US" sz="1200" dirty="0">
                <a:solidFill>
                  <a:srgbClr val="2B3A4E"/>
                </a:solidFill>
                <a:latin typeface="Nunito Sans" pitchFamily="34" charset="0"/>
                <a:ea typeface="Nunito Sans" pitchFamily="34" charset="-122"/>
                <a:cs typeface="Nunito Sans" pitchFamily="34" charset="-120"/>
              </a:rPr>
              <a:t> $15 al mes al restaurante, y explican por qué el estudiante no paga a Bocadoo.</a:t>
            </a:r>
            <a:endParaRPr lang="en-US" sz="1200" dirty="0"/>
          </a:p>
        </p:txBody>
      </p:sp>
      <p:sp>
        <p:nvSpPr>
          <p:cNvPr id="9" name="Text 6"/>
          <p:cNvSpPr/>
          <p:nvPr/>
        </p:nvSpPr>
        <p:spPr>
          <a:xfrm>
            <a:off x="7429500" y="2422922"/>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A12F2F"/>
                </a:solidFill>
                <a:latin typeface="Nunito Sans" pitchFamily="34" charset="0"/>
                <a:ea typeface="Nunito Sans" pitchFamily="34" charset="-122"/>
                <a:cs typeface="Nunito Sans" pitchFamily="34" charset="-120"/>
              </a:rPr>
              <a:t>CORREGIR · Socios:</a:t>
            </a:r>
            <a:r>
              <a:rPr lang="en-US" sz="1200" dirty="0">
                <a:solidFill>
                  <a:srgbClr val="2B3A4E"/>
                </a:solidFill>
                <a:latin typeface="Nunito Sans" pitchFamily="34" charset="0"/>
                <a:ea typeface="Nunito Sans" pitchFamily="34" charset="-122"/>
                <a:cs typeface="Nunito Sans" pitchFamily="34" charset="-120"/>
              </a:rPr>
              <a:t> Render y un «proveedor de pagos» sin nombre: ¿qué pasarela y qué comisión?</a:t>
            </a:r>
            <a:endParaRPr lang="en-US" sz="1200" dirty="0"/>
          </a:p>
        </p:txBody>
      </p:sp>
      <p:sp>
        <p:nvSpPr>
          <p:cNvPr id="10" name="Text 7"/>
          <p:cNvSpPr/>
          <p:nvPr/>
        </p:nvSpPr>
        <p:spPr>
          <a:xfrm>
            <a:off x="7429500" y="2932385"/>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A12F2F"/>
                </a:solidFill>
                <a:latin typeface="Nunito Sans" pitchFamily="34" charset="0"/>
                <a:ea typeface="Nunito Sans" pitchFamily="34" charset="-122"/>
                <a:cs typeface="Nunito Sans" pitchFamily="34" charset="-120"/>
              </a:rPr>
              <a:t>CORREGIR · Relación (cliente 2):</a:t>
            </a:r>
            <a:r>
              <a:rPr lang="en-US" sz="1200" dirty="0">
                <a:solidFill>
                  <a:srgbClr val="2B3A4E"/>
                </a:solidFill>
                <a:latin typeface="Nunito Sans" pitchFamily="34" charset="0"/>
                <a:ea typeface="Nunito Sans" pitchFamily="34" charset="-122"/>
                <a:cs typeface="Nunito Sans" pitchFamily="34" charset="-120"/>
              </a:rPr>
              <a:t> «ofertas flash» no aparece ni en el lienzo ni en las encuestas.</a:t>
            </a:r>
            <a:endParaRPr lang="en-US" sz="1200" dirty="0"/>
          </a:p>
        </p:txBody>
      </p:sp>
      <p:sp>
        <p:nvSpPr>
          <p:cNvPr id="11" name="Text 8"/>
          <p:cNvSpPr/>
          <p:nvPr/>
        </p:nvSpPr>
        <p:spPr>
          <a:xfrm>
            <a:off x="7429500" y="3441861"/>
            <a:ext cx="3949700" cy="639989"/>
          </a:xfrm>
          <a:prstGeom prst="roundRect">
            <a:avLst>
              <a:gd name="adj" fmla="val 11906"/>
            </a:avLst>
          </a:prstGeom>
          <a:solidFill>
            <a:srgbClr val="173E78"/>
          </a:solidFill>
          <a:ln/>
        </p:spPr>
        <p:txBody>
          <a:bodyPr wrap="square" lIns="117382" tIns="91982" rIns="7273" bIns="66582" rtlCol="0" anchor="t">
            <a:normAutofit/>
          </a:bodyPr>
          <a:lstStyle/>
          <a:p>
            <a:pPr algn="l" indent="0" marL="0">
              <a:lnSpc>
                <a:spcPts val="1620"/>
              </a:lnSpc>
              <a:buNone/>
            </a:pPr>
            <a:r>
              <a:rPr lang="en-US" sz="1200" b="1" dirty="0">
                <a:solidFill>
                  <a:srgbClr val="F3F6FA"/>
                </a:solidFill>
                <a:latin typeface="Nunito Sans" pitchFamily="34" charset="0"/>
                <a:ea typeface="Nunito Sans" pitchFamily="34" charset="-122"/>
                <a:cs typeface="Nunito Sans" pitchFamily="34" charset="-120"/>
              </a:rPr>
              <a:t>Pregunta al equipo:</a:t>
            </a:r>
            <a:r>
              <a:rPr lang="en-US" sz="1200" dirty="0">
                <a:solidFill>
                  <a:srgbClr val="F3F6FA"/>
                </a:solidFill>
                <a:latin typeface="Nunito Sans" pitchFamily="34" charset="0"/>
                <a:ea typeface="Nunito Sans" pitchFamily="34" charset="-122"/>
                <a:cs typeface="Nunito Sans" pitchFamily="34" charset="-120"/>
              </a:rPr>
              <a:t> Si los dueños no aceptan pagar $15, ¿quién más podría pagar?</a:t>
            </a:r>
            <a:endParaRPr lang="en-US" sz="1200" dirty="0"/>
          </a:p>
        </p:txBody>
      </p:sp>
      <p:pic>
        <p:nvPicPr>
          <p:cNvPr id="12" name="Image 1" descr="Logo PUCE">    </p:cNvPr>
          <p:cNvPicPr>
            <a:picLocks noChangeAspect="1"/>
          </p:cNvPicPr>
          <p:nvPr/>
        </p:nvPicPr>
        <p:blipFill>
          <a:blip r:embed="rId2"/>
          <a:srcRect l="-436" r="-436" t="0" b="0"/>
          <a:stretch/>
        </p:blipFill>
        <p:spPr>
          <a:xfrm>
            <a:off x="812800" y="6184900"/>
            <a:ext cx="1016000" cy="279400"/>
          </a:xfrm>
          <a:prstGeom prst="rect">
            <a:avLst/>
          </a:prstGeom>
        </p:spPr>
      </p:pic>
      <p:sp>
        <p:nvSpPr>
          <p:cNvPr id="13" name="Text 9"/>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DEMO · PROCESO (ARRIBA) Y LIENZO (ABAJO) DE BOCADOO</a:t>
            </a:r>
            <a:endParaRPr lang="en-US" sz="1200" dirty="0"/>
          </a:p>
        </p:txBody>
      </p:sp>
      <p:sp>
        <p:nvSpPr>
          <p:cNvPr id="3" name="Text 1"/>
          <p:cNvSpPr/>
          <p:nvPr>
            <p:ph type="title"/>
          </p:nvPr>
        </p:nvSpPr>
        <p:spPr>
          <a:xfrm>
            <a:off x="812800" y="886445"/>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El cliente 1, paso a paso y en el lienzo</a:t>
            </a:r>
            <a:endParaRPr lang="en-US" sz="2500" dirty="0"/>
          </a:p>
        </p:txBody>
      </p:sp>
      <p:sp>
        <p:nvSpPr>
          <p:cNvPr id="4" name="Shape 2"/>
          <p:cNvSpPr/>
          <p:nvPr/>
        </p:nvSpPr>
        <p:spPr>
          <a:xfrm>
            <a:off x="812800" y="1403970"/>
            <a:ext cx="3175000" cy="1968500"/>
          </a:xfrm>
          <a:prstGeom prst="roundRect">
            <a:avLst>
              <a:gd name="adj" fmla="val 2581"/>
            </a:avLst>
          </a:prstGeom>
          <a:solidFill>
            <a:srgbClr val="FFFFFF"/>
          </a:solidFill>
          <a:ln/>
        </p:spPr>
      </p:sp>
      <p:pic>
        <p:nvPicPr>
          <p:cNvPr id="5" name="Image 0" descr="Proceso del trabajo del cliente de Bocadoo">    </p:cNvPr>
          <p:cNvPicPr>
            <a:picLocks noChangeAspect="1"/>
          </p:cNvPicPr>
          <p:nvPr/>
        </p:nvPicPr>
        <p:blipFill>
          <a:blip r:embed="rId1"/>
          <a:srcRect l="-191" r="-191" t="0" b="0"/>
          <a:stretch/>
        </p:blipFill>
        <p:spPr>
          <a:xfrm>
            <a:off x="819150" y="1410320"/>
            <a:ext cx="3162300" cy="1955800"/>
          </a:xfrm>
          <a:prstGeom prst="roundRect">
            <a:avLst>
              <a:gd name="adj" fmla="val 2273"/>
            </a:avLst>
          </a:prstGeom>
        </p:spPr>
      </p:pic>
      <p:sp>
        <p:nvSpPr>
          <p:cNvPr id="6" name="Shape 3"/>
          <p:cNvSpPr/>
          <p:nvPr/>
        </p:nvSpPr>
        <p:spPr>
          <a:xfrm>
            <a:off x="815975" y="1407145"/>
            <a:ext cx="3168650" cy="1962150"/>
          </a:xfrm>
          <a:prstGeom prst="roundRect">
            <a:avLst>
              <a:gd name="adj" fmla="val 2427"/>
            </a:avLst>
          </a:prstGeom>
          <a:noFill/>
          <a:ln w="6350">
            <a:solidFill>
              <a:srgbClr val="DCE3EA"/>
            </a:solidFill>
            <a:prstDash val="solid"/>
          </a:ln>
        </p:spPr>
      </p:sp>
      <p:sp>
        <p:nvSpPr>
          <p:cNvPr id="7" name="Shape 4"/>
          <p:cNvSpPr/>
          <p:nvPr/>
        </p:nvSpPr>
        <p:spPr>
          <a:xfrm>
            <a:off x="812800" y="3448670"/>
            <a:ext cx="3175000" cy="1968500"/>
          </a:xfrm>
          <a:prstGeom prst="roundRect">
            <a:avLst>
              <a:gd name="adj" fmla="val 2581"/>
            </a:avLst>
          </a:prstGeom>
          <a:solidFill>
            <a:srgbClr val="FFFFFF"/>
          </a:solidFill>
          <a:ln/>
        </p:spPr>
      </p:sp>
      <p:pic>
        <p:nvPicPr>
          <p:cNvPr id="8" name="Image 1" descr="Lienzo de propuesta de valor de Bocadoo">    </p:cNvPr>
          <p:cNvPicPr>
            <a:picLocks noChangeAspect="1"/>
          </p:cNvPicPr>
          <p:nvPr/>
        </p:nvPicPr>
        <p:blipFill>
          <a:blip r:embed="rId2"/>
          <a:srcRect l="-191" r="-191" t="0" b="0"/>
          <a:stretch/>
        </p:blipFill>
        <p:spPr>
          <a:xfrm>
            <a:off x="819150" y="3455020"/>
            <a:ext cx="3162300" cy="1955800"/>
          </a:xfrm>
          <a:prstGeom prst="roundRect">
            <a:avLst>
              <a:gd name="adj" fmla="val 2273"/>
            </a:avLst>
          </a:prstGeom>
        </p:spPr>
      </p:pic>
      <p:sp>
        <p:nvSpPr>
          <p:cNvPr id="9" name="Shape 5"/>
          <p:cNvSpPr/>
          <p:nvPr/>
        </p:nvSpPr>
        <p:spPr>
          <a:xfrm>
            <a:off x="815975" y="3451845"/>
            <a:ext cx="3168650" cy="1962150"/>
          </a:xfrm>
          <a:prstGeom prst="roundRect">
            <a:avLst>
              <a:gd name="adj" fmla="val 2427"/>
            </a:avLst>
          </a:prstGeom>
          <a:noFill/>
          <a:ln w="6350">
            <a:solidFill>
              <a:srgbClr val="DCE3EA"/>
            </a:solidFill>
            <a:prstDash val="solid"/>
          </a:ln>
        </p:spPr>
      </p:sp>
      <p:sp>
        <p:nvSpPr>
          <p:cNvPr id="10" name="Text 6"/>
          <p:cNvSpPr/>
          <p:nvPr/>
        </p:nvSpPr>
        <p:spPr>
          <a:xfrm>
            <a:off x="4191000" y="1403970"/>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1F6B33"/>
                </a:solidFill>
                <a:latin typeface="Nunito Sans" pitchFamily="34" charset="0"/>
                <a:ea typeface="Nunito Sans" pitchFamily="34" charset="-122"/>
                <a:cs typeface="Nunito Sans" pitchFamily="34" charset="-120"/>
              </a:rPr>
              <a:t>BIEN · Proceso:</a:t>
            </a:r>
            <a:r>
              <a:rPr lang="en-US" sz="1300" dirty="0">
                <a:solidFill>
                  <a:srgbClr val="2B3A4E"/>
                </a:solidFill>
                <a:latin typeface="Nunito Sans" pitchFamily="34" charset="0"/>
                <a:ea typeface="Nunito Sans" pitchFamily="34" charset="-122"/>
                <a:cs typeface="Nunito Sans" pitchFamily="34" charset="-120"/>
              </a:rPr>
              <a:t> 8 pasos, desde ofrecer el plan hasta cuadrar la caja.</a:t>
            </a:r>
            <a:endParaRPr lang="en-US" sz="1300" dirty="0"/>
          </a:p>
        </p:txBody>
      </p:sp>
      <p:sp>
        <p:nvSpPr>
          <p:cNvPr id="11" name="Text 7"/>
          <p:cNvSpPr/>
          <p:nvPr/>
        </p:nvSpPr>
        <p:spPr>
          <a:xfrm>
            <a:off x="4191000" y="1733376"/>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1F6B33"/>
                </a:solidFill>
                <a:latin typeface="Nunito Sans" pitchFamily="34" charset="0"/>
                <a:ea typeface="Nunito Sans" pitchFamily="34" charset="-122"/>
                <a:cs typeface="Nunito Sans" pitchFamily="34" charset="-120"/>
              </a:rPr>
              <a:t>BIEN · Marcadores:</a:t>
            </a:r>
            <a:r>
              <a:rPr lang="en-US" sz="1300" dirty="0">
                <a:solidFill>
                  <a:srgbClr val="2B3A4E"/>
                </a:solidFill>
                <a:latin typeface="Nunito Sans" pitchFamily="34" charset="0"/>
                <a:ea typeface="Nunito Sans" pitchFamily="34" charset="-122"/>
                <a:cs typeface="Nunito Sans" pitchFamily="34" charset="-120"/>
              </a:rPr>
              <a:t> 3, con tipo: dinero, tiempo y oportunidad.</a:t>
            </a:r>
            <a:endParaRPr lang="en-US" sz="1300" dirty="0"/>
          </a:p>
        </p:txBody>
      </p:sp>
      <p:sp>
        <p:nvSpPr>
          <p:cNvPr id="12" name="Text 8"/>
          <p:cNvSpPr/>
          <p:nvPr/>
        </p:nvSpPr>
        <p:spPr>
          <a:xfrm>
            <a:off x="4191000" y="2062783"/>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1F6B33"/>
                </a:solidFill>
                <a:latin typeface="Nunito Sans" pitchFamily="34" charset="0"/>
                <a:ea typeface="Nunito Sans" pitchFamily="34" charset="-122"/>
                <a:cs typeface="Nunito Sans" pitchFamily="34" charset="-120"/>
              </a:rPr>
              <a:t>BIEN · Lienzo:</a:t>
            </a:r>
            <a:r>
              <a:rPr lang="en-US" sz="1300" dirty="0">
                <a:solidFill>
                  <a:srgbClr val="2B3A4E"/>
                </a:solidFill>
                <a:latin typeface="Nunito Sans" pitchFamily="34" charset="0"/>
                <a:ea typeface="Nunito Sans" pitchFamily="34" charset="-122"/>
                <a:cs typeface="Nunito Sans" pitchFamily="34" charset="-120"/>
              </a:rPr>
              <a:t> cada frustración tiene su aliviador.</a:t>
            </a:r>
            <a:endParaRPr lang="en-US" sz="1300" dirty="0"/>
          </a:p>
        </p:txBody>
      </p:sp>
      <p:sp>
        <p:nvSpPr>
          <p:cNvPr id="13" name="Text 9"/>
          <p:cNvSpPr/>
          <p:nvPr/>
        </p:nvSpPr>
        <p:spPr>
          <a:xfrm>
            <a:off x="4191000" y="2392189"/>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A12F2F"/>
                </a:solidFill>
                <a:latin typeface="Nunito Sans" pitchFamily="34" charset="0"/>
                <a:ea typeface="Nunito Sans" pitchFamily="34" charset="-122"/>
                <a:cs typeface="Nunito Sans" pitchFamily="34" charset="-120"/>
              </a:rPr>
              <a:t>CORREGIR · Marcador C:</a:t>
            </a:r>
            <a:r>
              <a:rPr lang="en-US" sz="1300" dirty="0">
                <a:solidFill>
                  <a:srgbClr val="2B3A4E"/>
                </a:solidFill>
                <a:latin typeface="Nunito Sans" pitchFamily="34" charset="0"/>
                <a:ea typeface="Nunito Sans" pitchFamily="34" charset="-122"/>
                <a:cs typeface="Nunito Sans" pitchFamily="34" charset="-120"/>
              </a:rPr>
              <a:t> ¿lo dijo un dueño o lo supone el equipo?</a:t>
            </a:r>
            <a:endParaRPr lang="en-US" sz="1300" dirty="0"/>
          </a:p>
        </p:txBody>
      </p:sp>
      <p:sp>
        <p:nvSpPr>
          <p:cNvPr id="14" name="Text 10"/>
          <p:cNvSpPr/>
          <p:nvPr/>
        </p:nvSpPr>
        <p:spPr>
          <a:xfrm>
            <a:off x="4191000" y="2721595"/>
            <a:ext cx="7188200" cy="476874"/>
          </a:xfrm>
          <a:prstGeom prst="roundRect">
            <a:avLst>
              <a:gd name="adj" fmla="val 15979"/>
            </a:avLst>
          </a:prstGeom>
          <a:solidFill>
            <a:srgbClr val="173E78"/>
          </a:solidFill>
          <a:ln/>
        </p:spPr>
        <p:txBody>
          <a:bodyPr wrap="square" lIns="142782" tIns="104682" rIns="0" bIns="79282" rtlCol="0" anchor="t">
            <a:normAutofit/>
          </a:bodyPr>
          <a:lstStyle/>
          <a:p>
            <a:pPr algn="l" indent="0" marL="0">
              <a:lnSpc>
                <a:spcPts val="1755"/>
              </a:lnSpc>
              <a:buNone/>
            </a:pPr>
            <a:r>
              <a:rPr lang="en-US" sz="1300" b="1" dirty="0">
                <a:solidFill>
                  <a:srgbClr val="F3F6FA"/>
                </a:solidFill>
                <a:latin typeface="Nunito Sans" pitchFamily="34" charset="0"/>
                <a:ea typeface="Nunito Sans" pitchFamily="34" charset="-122"/>
                <a:cs typeface="Nunito Sans" pitchFamily="34" charset="-120"/>
              </a:rPr>
              <a:t>Pregunta al equipo:</a:t>
            </a:r>
            <a:r>
              <a:rPr lang="en-US" sz="1300" dirty="0">
                <a:solidFill>
                  <a:srgbClr val="F3F6FA"/>
                </a:solidFill>
                <a:latin typeface="Nunito Sans" pitchFamily="34" charset="0"/>
                <a:ea typeface="Nunito Sans" pitchFamily="34" charset="-122"/>
                <a:cs typeface="Nunito Sans" pitchFamily="34" charset="-120"/>
              </a:rPr>
              <a:t> ¿En qué paso pierde más dinero el dueño, y cómo lo saben?</a:t>
            </a:r>
            <a:endParaRPr lang="en-US" sz="1300" dirty="0"/>
          </a:p>
        </p:txBody>
      </p:sp>
      <p:pic>
        <p:nvPicPr>
          <p:cNvPr id="15" name="Image 2" descr="Logo PUCE">    </p:cNvPr>
          <p:cNvPicPr>
            <a:picLocks noChangeAspect="1"/>
          </p:cNvPicPr>
          <p:nvPr/>
        </p:nvPicPr>
        <p:blipFill>
          <a:blip r:embed="rId3"/>
          <a:srcRect l="-436" r="-436" t="0" b="0"/>
          <a:stretch/>
        </p:blipFill>
        <p:spPr>
          <a:xfrm>
            <a:off x="812800" y="6184900"/>
            <a:ext cx="1016000" cy="279400"/>
          </a:xfrm>
          <a:prstGeom prst="rect">
            <a:avLst/>
          </a:prstGeom>
        </p:spPr>
      </p:pic>
      <p:sp>
        <p:nvSpPr>
          <p:cNvPr id="16" name="Text 11"/>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RETROALIMENTACIÓN E5 · EQUIPO 2 DE 7</a:t>
            </a:r>
            <a:endParaRPr lang="en-US" sz="1200" dirty="0"/>
          </a:p>
        </p:txBody>
      </p:sp>
      <p:sp>
        <p:nvSpPr>
          <p:cNvPr id="3" name="Text 1"/>
          <p:cNvSpPr/>
          <p:nvPr>
            <p:ph type="title"/>
          </p:nvPr>
        </p:nvSpPr>
        <p:spPr>
          <a:xfrm>
            <a:off x="812800" y="9372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TransporteSeguro</a:t>
            </a:r>
            <a:endParaRPr lang="en-US" sz="2800" dirty="0"/>
          </a:p>
        </p:txBody>
      </p:sp>
      <p:sp>
        <p:nvSpPr>
          <p:cNvPr id="4" name="Text 2"/>
          <p:cNvSpPr/>
          <p:nvPr/>
        </p:nvSpPr>
        <p:spPr>
          <a:xfrm>
            <a:off x="812800" y="1409638"/>
            <a:ext cx="10883393" cy="26539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878"/>
                </a:solidFill>
                <a:latin typeface="Nunito Sans" pitchFamily="34" charset="0"/>
                <a:ea typeface="Nunito Sans" pitchFamily="34" charset="-122"/>
                <a:cs typeface="Nunito Sans" pitchFamily="34" charset="-120"/>
              </a:rPr>
              <a:t>Rutas de bus, Trolebús y Metro en una pantalla y aviso de llegada a la familia por WhatsApp.</a:t>
            </a:r>
            <a:endParaRPr lang="en-US" sz="1400" dirty="0"/>
          </a:p>
        </p:txBody>
      </p:sp>
      <p:sp>
        <p:nvSpPr>
          <p:cNvPr id="5" name="Shape 3"/>
          <p:cNvSpPr/>
          <p:nvPr/>
        </p:nvSpPr>
        <p:spPr>
          <a:xfrm>
            <a:off x="815975" y="1830611"/>
            <a:ext cx="3414146" cy="2047875"/>
          </a:xfrm>
          <a:prstGeom prst="roundRect">
            <a:avLst>
              <a:gd name="adj" fmla="val 4806"/>
            </a:avLst>
          </a:prstGeom>
          <a:solidFill>
            <a:srgbClr val="FDFDFB"/>
          </a:solidFill>
          <a:ln w="6350">
            <a:solidFill>
              <a:srgbClr val="DCE3EA"/>
            </a:solidFill>
            <a:prstDash val="solid"/>
          </a:ln>
        </p:spPr>
      </p:sp>
      <p:sp>
        <p:nvSpPr>
          <p:cNvPr id="6" name="Text 4"/>
          <p:cNvSpPr/>
          <p:nvPr/>
        </p:nvSpPr>
        <p:spPr>
          <a:xfrm>
            <a:off x="1006929" y="2008857"/>
            <a:ext cx="31232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47A7B"/>
                </a:solidFill>
                <a:latin typeface="Nunito Sans" pitchFamily="34" charset="0"/>
                <a:ea typeface="Nunito Sans" pitchFamily="34" charset="-122"/>
                <a:cs typeface="Nunito Sans" pitchFamily="34" charset="-120"/>
              </a:rPr>
              <a:t>Lo que está bien</a:t>
            </a:r>
            <a:endParaRPr lang="en-US" sz="1500" dirty="0"/>
          </a:p>
        </p:txBody>
      </p:sp>
      <p:sp>
        <p:nvSpPr>
          <p:cNvPr id="7" name="Text 5"/>
          <p:cNvSpPr/>
          <p:nvPr/>
        </p:nvSpPr>
        <p:spPr>
          <a:xfrm>
            <a:off x="1098623" y="2313657"/>
            <a:ext cx="3023892" cy="1411968"/>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Proceso visto desde el padre: humano y fácil de entender.</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Marcador con evidencia: varios evitan sacar el celular por miedo a un robo.</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Propuesta en una frase clara y precio tentativo de $2,99 al mes.</a:t>
            </a:r>
            <a:endParaRPr lang="en-US" sz="1300" dirty="0"/>
          </a:p>
        </p:txBody>
      </p:sp>
      <p:sp>
        <p:nvSpPr>
          <p:cNvPr id="8" name="Shape 6"/>
          <p:cNvSpPr/>
          <p:nvPr/>
        </p:nvSpPr>
        <p:spPr>
          <a:xfrm>
            <a:off x="4388871" y="1830611"/>
            <a:ext cx="3414202" cy="2047875"/>
          </a:xfrm>
          <a:prstGeom prst="roundRect">
            <a:avLst>
              <a:gd name="adj" fmla="val 4806"/>
            </a:avLst>
          </a:prstGeom>
          <a:solidFill>
            <a:srgbClr val="FFFBF0"/>
          </a:solidFill>
          <a:ln w="6350">
            <a:solidFill>
              <a:srgbClr val="DCE3EA"/>
            </a:solidFill>
            <a:prstDash val="solid"/>
          </a:ln>
        </p:spPr>
      </p:sp>
      <p:sp>
        <p:nvSpPr>
          <p:cNvPr id="9" name="Text 7"/>
          <p:cNvSpPr/>
          <p:nvPr/>
        </p:nvSpPr>
        <p:spPr>
          <a:xfrm>
            <a:off x="4579824" y="2008857"/>
            <a:ext cx="31232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4B00"/>
                </a:solidFill>
                <a:latin typeface="Nunito Sans" pitchFamily="34" charset="0"/>
                <a:ea typeface="Nunito Sans" pitchFamily="34" charset="-122"/>
                <a:cs typeface="Nunito Sans" pitchFamily="34" charset="-120"/>
              </a:rPr>
              <a:t>Qué corregir</a:t>
            </a:r>
            <a:endParaRPr lang="en-US" sz="1500" dirty="0"/>
          </a:p>
        </p:txBody>
      </p:sp>
      <p:sp>
        <p:nvSpPr>
          <p:cNvPr id="10" name="Text 8"/>
          <p:cNvSpPr/>
          <p:nvPr/>
        </p:nvSpPr>
        <p:spPr>
          <a:xfrm>
            <a:off x="4671518" y="2313657"/>
            <a:ext cx="3023950" cy="1411968"/>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¿Cómo sabe la app que el estudiante llegó? Definan el mecanismo.</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Si el chico debe sacar el celular para avisar, choca con el miedo al robo.</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Los datos de rutas dependen del Municipio: es su mayor riesgo.</a:t>
            </a:r>
            <a:endParaRPr lang="en-US" sz="1300" dirty="0"/>
          </a:p>
        </p:txBody>
      </p:sp>
      <p:sp>
        <p:nvSpPr>
          <p:cNvPr id="11" name="Shape 9"/>
          <p:cNvSpPr/>
          <p:nvPr/>
        </p:nvSpPr>
        <p:spPr>
          <a:xfrm>
            <a:off x="7961823" y="1830611"/>
            <a:ext cx="3414202" cy="2047875"/>
          </a:xfrm>
          <a:prstGeom prst="roundRect">
            <a:avLst>
              <a:gd name="adj" fmla="val 4806"/>
            </a:avLst>
          </a:prstGeom>
          <a:solidFill>
            <a:srgbClr val="FDFDFB"/>
          </a:solidFill>
          <a:ln w="6350">
            <a:solidFill>
              <a:srgbClr val="DCE3EA"/>
            </a:solidFill>
            <a:prstDash val="solid"/>
          </a:ln>
        </p:spPr>
      </p:sp>
      <p:sp>
        <p:nvSpPr>
          <p:cNvPr id="12" name="Text 10"/>
          <p:cNvSpPr/>
          <p:nvPr/>
        </p:nvSpPr>
        <p:spPr>
          <a:xfrm>
            <a:off x="8152777" y="2008857"/>
            <a:ext cx="31232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Para el pitch del lunes</a:t>
            </a:r>
            <a:endParaRPr lang="en-US" sz="1500" dirty="0"/>
          </a:p>
        </p:txBody>
      </p:sp>
      <p:sp>
        <p:nvSpPr>
          <p:cNvPr id="13" name="Text 11"/>
          <p:cNvSpPr/>
          <p:nvPr/>
        </p:nvSpPr>
        <p:spPr>
          <a:xfrm>
            <a:off x="8244471" y="2313657"/>
            <a:ext cx="3023950" cy="1411968"/>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El aviso de llegada en un WhatsApp real.</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Plan B si no consiguen datos oficiales de rutas.</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Cómo protegen los datos y la ubicación de menores.</a:t>
            </a:r>
            <a:endParaRPr lang="en-US" sz="1300" dirty="0"/>
          </a:p>
        </p:txBody>
      </p:sp>
      <p:pic>
        <p:nvPicPr>
          <p:cNvPr id="14"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5" name="Text 12"/>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DEMO · EL CANVAS REAL DE TRANSPORTESEGURO</a:t>
            </a:r>
            <a:endParaRPr lang="en-US" sz="1200" dirty="0"/>
          </a:p>
        </p:txBody>
      </p:sp>
      <p:sp>
        <p:nvSpPr>
          <p:cNvPr id="3" name="Text 1"/>
          <p:cNvSpPr/>
          <p:nvPr>
            <p:ph type="title"/>
          </p:nvPr>
        </p:nvSpPr>
        <p:spPr>
          <a:xfrm>
            <a:off x="812800" y="886445"/>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Qué está bien y qué hay que corregir</a:t>
            </a:r>
            <a:endParaRPr lang="en-US" sz="2500" dirty="0"/>
          </a:p>
        </p:txBody>
      </p:sp>
      <p:sp>
        <p:nvSpPr>
          <p:cNvPr id="4" name="Shape 2"/>
          <p:cNvSpPr/>
          <p:nvPr/>
        </p:nvSpPr>
        <p:spPr>
          <a:xfrm>
            <a:off x="812800" y="1403970"/>
            <a:ext cx="6413500" cy="3822700"/>
          </a:xfrm>
          <a:prstGeom prst="roundRect">
            <a:avLst>
              <a:gd name="adj" fmla="val 1329"/>
            </a:avLst>
          </a:prstGeom>
          <a:solidFill>
            <a:srgbClr val="FFFFFF"/>
          </a:solidFill>
          <a:ln/>
        </p:spPr>
      </p:sp>
      <p:pic>
        <p:nvPicPr>
          <p:cNvPr id="5" name="Image 0" descr="Business Model Canvas entregado por TransporteSeguro">    </p:cNvPr>
          <p:cNvPicPr>
            <a:picLocks noChangeAspect="1"/>
          </p:cNvPicPr>
          <p:nvPr/>
        </p:nvPicPr>
        <p:blipFill>
          <a:blip r:embed="rId1"/>
          <a:srcRect l="-18" r="-18" t="0" b="0"/>
          <a:stretch/>
        </p:blipFill>
        <p:spPr>
          <a:xfrm>
            <a:off x="819150" y="1410320"/>
            <a:ext cx="6400800" cy="3810000"/>
          </a:xfrm>
          <a:prstGeom prst="roundRect">
            <a:avLst>
              <a:gd name="adj" fmla="val 1167"/>
            </a:avLst>
          </a:prstGeom>
        </p:spPr>
      </p:pic>
      <p:sp>
        <p:nvSpPr>
          <p:cNvPr id="6" name="Shape 3"/>
          <p:cNvSpPr/>
          <p:nvPr/>
        </p:nvSpPr>
        <p:spPr>
          <a:xfrm>
            <a:off x="815975" y="1407145"/>
            <a:ext cx="6407150" cy="3816350"/>
          </a:xfrm>
          <a:prstGeom prst="roundRect">
            <a:avLst>
              <a:gd name="adj" fmla="val 1248"/>
            </a:avLst>
          </a:prstGeom>
          <a:noFill/>
          <a:ln w="6350">
            <a:solidFill>
              <a:srgbClr val="DCE3EA"/>
            </a:solidFill>
            <a:prstDash val="solid"/>
          </a:ln>
        </p:spPr>
      </p:sp>
      <p:sp>
        <p:nvSpPr>
          <p:cNvPr id="7" name="Text 4"/>
          <p:cNvSpPr/>
          <p:nvPr/>
        </p:nvSpPr>
        <p:spPr>
          <a:xfrm>
            <a:off x="7429500" y="1403970"/>
            <a:ext cx="4068191" cy="235687"/>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1F6B33"/>
                </a:solidFill>
                <a:latin typeface="Nunito Sans" pitchFamily="34" charset="0"/>
                <a:ea typeface="Nunito Sans" pitchFamily="34" charset="-122"/>
                <a:cs typeface="Nunito Sans" pitchFamily="34" charset="-120"/>
              </a:rPr>
              <a:t>BIEN · Propuesta:</a:t>
            </a:r>
            <a:r>
              <a:rPr lang="en-US" sz="1200" dirty="0">
                <a:solidFill>
                  <a:srgbClr val="2B3A4E"/>
                </a:solidFill>
                <a:latin typeface="Nunito Sans" pitchFamily="34" charset="0"/>
                <a:ea typeface="Nunito Sans" pitchFamily="34" charset="-122"/>
                <a:cs typeface="Nunito Sans" pitchFamily="34" charset="-120"/>
              </a:rPr>
              <a:t> escrita con las palabras del padre.</a:t>
            </a:r>
            <a:endParaRPr lang="en-US" sz="1200" dirty="0"/>
          </a:p>
        </p:txBody>
      </p:sp>
      <p:sp>
        <p:nvSpPr>
          <p:cNvPr id="8" name="Text 5"/>
          <p:cNvSpPr/>
          <p:nvPr/>
        </p:nvSpPr>
        <p:spPr>
          <a:xfrm>
            <a:off x="7429500" y="1703152"/>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1F6B33"/>
                </a:solidFill>
                <a:latin typeface="Nunito Sans" pitchFamily="34" charset="0"/>
                <a:ea typeface="Nunito Sans" pitchFamily="34" charset="-122"/>
                <a:cs typeface="Nunito Sans" pitchFamily="34" charset="-120"/>
              </a:rPr>
              <a:t>BIEN · Ingresos (cliente 2):</a:t>
            </a:r>
            <a:r>
              <a:rPr lang="en-US" sz="1200" dirty="0">
                <a:solidFill>
                  <a:srgbClr val="2B3A4E"/>
                </a:solidFill>
                <a:latin typeface="Nunito Sans" pitchFamily="34" charset="0"/>
                <a:ea typeface="Nunito Sans" pitchFamily="34" charset="-122"/>
                <a:cs typeface="Nunito Sans" pitchFamily="34" charset="-120"/>
              </a:rPr>
              <a:t> no paga, y explican por qué: así la familia adopta la app.</a:t>
            </a:r>
            <a:endParaRPr lang="en-US" sz="1200" dirty="0"/>
          </a:p>
        </p:txBody>
      </p:sp>
      <p:sp>
        <p:nvSpPr>
          <p:cNvPr id="9" name="Text 6"/>
          <p:cNvSpPr/>
          <p:nvPr/>
        </p:nvSpPr>
        <p:spPr>
          <a:xfrm>
            <a:off x="7429500" y="2212628"/>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A12F2F"/>
                </a:solidFill>
                <a:latin typeface="Nunito Sans" pitchFamily="34" charset="0"/>
                <a:ea typeface="Nunito Sans" pitchFamily="34" charset="-122"/>
                <a:cs typeface="Nunito Sans" pitchFamily="34" charset="-120"/>
              </a:rPr>
              <a:t>CORREGIR · Socios:</a:t>
            </a:r>
            <a:r>
              <a:rPr lang="en-US" sz="1200" dirty="0">
                <a:solidFill>
                  <a:srgbClr val="2B3A4E"/>
                </a:solidFill>
                <a:latin typeface="Nunito Sans" pitchFamily="34" charset="0"/>
                <a:ea typeface="Nunito Sans" pitchFamily="34" charset="-122"/>
                <a:cs typeface="Nunito Sans" pitchFamily="34" charset="-120"/>
              </a:rPr>
              <a:t> dependen del Municipio y de datos «que hoy no tenemos».</a:t>
            </a:r>
            <a:endParaRPr lang="en-US" sz="1200" dirty="0"/>
          </a:p>
        </p:txBody>
      </p:sp>
      <p:sp>
        <p:nvSpPr>
          <p:cNvPr id="10" name="Text 7"/>
          <p:cNvSpPr/>
          <p:nvPr/>
        </p:nvSpPr>
        <p:spPr>
          <a:xfrm>
            <a:off x="7429500" y="2722104"/>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A12F2F"/>
                </a:solidFill>
                <a:latin typeface="Nunito Sans" pitchFamily="34" charset="0"/>
                <a:ea typeface="Nunito Sans" pitchFamily="34" charset="-122"/>
                <a:cs typeface="Nunito Sans" pitchFamily="34" charset="-120"/>
              </a:rPr>
              <a:t>CORREGIR · Actividades:</a:t>
            </a:r>
            <a:r>
              <a:rPr lang="en-US" sz="1200" dirty="0">
                <a:solidFill>
                  <a:srgbClr val="2B3A4E"/>
                </a:solidFill>
                <a:latin typeface="Nunito Sans" pitchFamily="34" charset="0"/>
                <a:ea typeface="Nunito Sans" pitchFamily="34" charset="-122"/>
                <a:cs typeface="Nunito Sans" pitchFamily="34" charset="-120"/>
              </a:rPr>
              <a:t> una sola línea; faltan mantener rutas y sumar colegios.</a:t>
            </a:r>
            <a:endParaRPr lang="en-US" sz="1200" dirty="0"/>
          </a:p>
        </p:txBody>
      </p:sp>
      <p:sp>
        <p:nvSpPr>
          <p:cNvPr id="11" name="Text 8"/>
          <p:cNvSpPr/>
          <p:nvPr/>
        </p:nvSpPr>
        <p:spPr>
          <a:xfrm>
            <a:off x="7429500" y="3231579"/>
            <a:ext cx="3949700" cy="639989"/>
          </a:xfrm>
          <a:prstGeom prst="roundRect">
            <a:avLst>
              <a:gd name="adj" fmla="val 11906"/>
            </a:avLst>
          </a:prstGeom>
          <a:solidFill>
            <a:srgbClr val="173E78"/>
          </a:solidFill>
          <a:ln/>
        </p:spPr>
        <p:txBody>
          <a:bodyPr wrap="square" lIns="117382" tIns="91982" rIns="7273" bIns="66582" rtlCol="0" anchor="t">
            <a:normAutofit/>
          </a:bodyPr>
          <a:lstStyle/>
          <a:p>
            <a:pPr algn="l" indent="0" marL="0">
              <a:lnSpc>
                <a:spcPts val="1620"/>
              </a:lnSpc>
              <a:buNone/>
            </a:pPr>
            <a:r>
              <a:rPr lang="en-US" sz="1200" b="1" dirty="0">
                <a:solidFill>
                  <a:srgbClr val="F3F6FA"/>
                </a:solidFill>
                <a:latin typeface="Nunito Sans" pitchFamily="34" charset="0"/>
                <a:ea typeface="Nunito Sans" pitchFamily="34" charset="-122"/>
                <a:cs typeface="Nunito Sans" pitchFamily="34" charset="-120"/>
              </a:rPr>
              <a:t>Pregunta al equipo:</a:t>
            </a:r>
            <a:r>
              <a:rPr lang="en-US" sz="1200" dirty="0">
                <a:solidFill>
                  <a:srgbClr val="F3F6FA"/>
                </a:solidFill>
                <a:latin typeface="Nunito Sans" pitchFamily="34" charset="0"/>
                <a:ea typeface="Nunito Sans" pitchFamily="34" charset="-122"/>
                <a:cs typeface="Nunito Sans" pitchFamily="34" charset="-120"/>
              </a:rPr>
              <a:t> Si el Municipio no entrega los datos, ¿el negocio sigue existiendo?</a:t>
            </a:r>
            <a:endParaRPr lang="en-US" sz="1200" dirty="0"/>
          </a:p>
        </p:txBody>
      </p:sp>
      <p:pic>
        <p:nvPicPr>
          <p:cNvPr id="12" name="Image 1" descr="Logo PUCE">    </p:cNvPr>
          <p:cNvPicPr>
            <a:picLocks noChangeAspect="1"/>
          </p:cNvPicPr>
          <p:nvPr/>
        </p:nvPicPr>
        <p:blipFill>
          <a:blip r:embed="rId2"/>
          <a:srcRect l="-436" r="-436" t="0" b="0"/>
          <a:stretch/>
        </p:blipFill>
        <p:spPr>
          <a:xfrm>
            <a:off x="812800" y="6184900"/>
            <a:ext cx="1016000" cy="279400"/>
          </a:xfrm>
          <a:prstGeom prst="rect">
            <a:avLst/>
          </a:prstGeom>
        </p:spPr>
      </p:pic>
      <p:sp>
        <p:nvSpPr>
          <p:cNvPr id="13" name="Text 9"/>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DEMO · PROCESO (ARRIBA) Y LIENZO (ABAJO) DE TRANSPORTESEGURO</a:t>
            </a:r>
            <a:endParaRPr lang="en-US" sz="1200" dirty="0"/>
          </a:p>
        </p:txBody>
      </p:sp>
      <p:sp>
        <p:nvSpPr>
          <p:cNvPr id="3" name="Text 1"/>
          <p:cNvSpPr/>
          <p:nvPr>
            <p:ph type="title"/>
          </p:nvPr>
        </p:nvSpPr>
        <p:spPr>
          <a:xfrm>
            <a:off x="812800" y="886445"/>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El cliente 1, paso a paso y en el lienzo</a:t>
            </a:r>
            <a:endParaRPr lang="en-US" sz="2500" dirty="0"/>
          </a:p>
        </p:txBody>
      </p:sp>
      <p:sp>
        <p:nvSpPr>
          <p:cNvPr id="4" name="Shape 2"/>
          <p:cNvSpPr/>
          <p:nvPr/>
        </p:nvSpPr>
        <p:spPr>
          <a:xfrm>
            <a:off x="812800" y="1403970"/>
            <a:ext cx="3175000" cy="1968500"/>
          </a:xfrm>
          <a:prstGeom prst="roundRect">
            <a:avLst>
              <a:gd name="adj" fmla="val 2581"/>
            </a:avLst>
          </a:prstGeom>
          <a:solidFill>
            <a:srgbClr val="FFFFFF"/>
          </a:solidFill>
          <a:ln/>
        </p:spPr>
      </p:sp>
      <p:pic>
        <p:nvPicPr>
          <p:cNvPr id="5" name="Image 0" descr="Proceso del trabajo del cliente de TransporteSeguro">    </p:cNvPr>
          <p:cNvPicPr>
            <a:picLocks noChangeAspect="1"/>
          </p:cNvPicPr>
          <p:nvPr/>
        </p:nvPicPr>
        <p:blipFill>
          <a:blip r:embed="rId1"/>
          <a:srcRect l="-191" r="-191" t="0" b="0"/>
          <a:stretch/>
        </p:blipFill>
        <p:spPr>
          <a:xfrm>
            <a:off x="819150" y="1410320"/>
            <a:ext cx="3162300" cy="1955800"/>
          </a:xfrm>
          <a:prstGeom prst="roundRect">
            <a:avLst>
              <a:gd name="adj" fmla="val 2273"/>
            </a:avLst>
          </a:prstGeom>
        </p:spPr>
      </p:pic>
      <p:sp>
        <p:nvSpPr>
          <p:cNvPr id="6" name="Shape 3"/>
          <p:cNvSpPr/>
          <p:nvPr/>
        </p:nvSpPr>
        <p:spPr>
          <a:xfrm>
            <a:off x="815975" y="1407145"/>
            <a:ext cx="3168650" cy="1962150"/>
          </a:xfrm>
          <a:prstGeom prst="roundRect">
            <a:avLst>
              <a:gd name="adj" fmla="val 2427"/>
            </a:avLst>
          </a:prstGeom>
          <a:noFill/>
          <a:ln w="6350">
            <a:solidFill>
              <a:srgbClr val="DCE3EA"/>
            </a:solidFill>
            <a:prstDash val="solid"/>
          </a:ln>
        </p:spPr>
      </p:sp>
      <p:sp>
        <p:nvSpPr>
          <p:cNvPr id="7" name="Shape 4"/>
          <p:cNvSpPr/>
          <p:nvPr/>
        </p:nvSpPr>
        <p:spPr>
          <a:xfrm>
            <a:off x="812800" y="3448670"/>
            <a:ext cx="3175000" cy="1968500"/>
          </a:xfrm>
          <a:prstGeom prst="roundRect">
            <a:avLst>
              <a:gd name="adj" fmla="val 2581"/>
            </a:avLst>
          </a:prstGeom>
          <a:solidFill>
            <a:srgbClr val="FFFFFF"/>
          </a:solidFill>
          <a:ln/>
        </p:spPr>
      </p:sp>
      <p:pic>
        <p:nvPicPr>
          <p:cNvPr id="8" name="Image 1" descr="Lienzo de propuesta de valor de TransporteSeguro">    </p:cNvPr>
          <p:cNvPicPr>
            <a:picLocks noChangeAspect="1"/>
          </p:cNvPicPr>
          <p:nvPr/>
        </p:nvPicPr>
        <p:blipFill>
          <a:blip r:embed="rId2"/>
          <a:srcRect l="-191" r="-191" t="0" b="0"/>
          <a:stretch/>
        </p:blipFill>
        <p:spPr>
          <a:xfrm>
            <a:off x="819150" y="3455020"/>
            <a:ext cx="3162300" cy="1955800"/>
          </a:xfrm>
          <a:prstGeom prst="roundRect">
            <a:avLst>
              <a:gd name="adj" fmla="val 2273"/>
            </a:avLst>
          </a:prstGeom>
        </p:spPr>
      </p:pic>
      <p:sp>
        <p:nvSpPr>
          <p:cNvPr id="9" name="Shape 5"/>
          <p:cNvSpPr/>
          <p:nvPr/>
        </p:nvSpPr>
        <p:spPr>
          <a:xfrm>
            <a:off x="815975" y="3451845"/>
            <a:ext cx="3168650" cy="1962150"/>
          </a:xfrm>
          <a:prstGeom prst="roundRect">
            <a:avLst>
              <a:gd name="adj" fmla="val 2427"/>
            </a:avLst>
          </a:prstGeom>
          <a:noFill/>
          <a:ln w="6350">
            <a:solidFill>
              <a:srgbClr val="DCE3EA"/>
            </a:solidFill>
            <a:prstDash val="solid"/>
          </a:ln>
        </p:spPr>
      </p:sp>
      <p:sp>
        <p:nvSpPr>
          <p:cNvPr id="10" name="Text 6"/>
          <p:cNvSpPr/>
          <p:nvPr/>
        </p:nvSpPr>
        <p:spPr>
          <a:xfrm>
            <a:off x="4191000" y="1403970"/>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1F6B33"/>
                </a:solidFill>
                <a:latin typeface="Nunito Sans" pitchFamily="34" charset="0"/>
                <a:ea typeface="Nunito Sans" pitchFamily="34" charset="-122"/>
                <a:cs typeface="Nunito Sans" pitchFamily="34" charset="-120"/>
              </a:rPr>
              <a:t>BIEN · Proceso:</a:t>
            </a:r>
            <a:r>
              <a:rPr lang="en-US" sz="1300" dirty="0">
                <a:solidFill>
                  <a:srgbClr val="2B3A4E"/>
                </a:solidFill>
                <a:latin typeface="Nunito Sans" pitchFamily="34" charset="0"/>
                <a:ea typeface="Nunito Sans" pitchFamily="34" charset="-122"/>
                <a:cs typeface="Nunito Sans" pitchFamily="34" charset="-120"/>
              </a:rPr>
              <a:t> contado desde el padre, paso a paso.</a:t>
            </a:r>
            <a:endParaRPr lang="en-US" sz="1300" dirty="0"/>
          </a:p>
        </p:txBody>
      </p:sp>
      <p:sp>
        <p:nvSpPr>
          <p:cNvPr id="11" name="Text 7"/>
          <p:cNvSpPr/>
          <p:nvPr/>
        </p:nvSpPr>
        <p:spPr>
          <a:xfrm>
            <a:off x="4191000" y="1733376"/>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1F6B33"/>
                </a:solidFill>
                <a:latin typeface="Nunito Sans" pitchFamily="34" charset="0"/>
                <a:ea typeface="Nunito Sans" pitchFamily="34" charset="-122"/>
                <a:cs typeface="Nunito Sans" pitchFamily="34" charset="-120"/>
              </a:rPr>
              <a:t>BIEN · Marcador:</a:t>
            </a:r>
            <a:r>
              <a:rPr lang="en-US" sz="1300" dirty="0">
                <a:solidFill>
                  <a:srgbClr val="2B3A4E"/>
                </a:solidFill>
                <a:latin typeface="Nunito Sans" pitchFamily="34" charset="0"/>
                <a:ea typeface="Nunito Sans" pitchFamily="34" charset="-122"/>
                <a:cs typeface="Nunito Sans" pitchFamily="34" charset="-120"/>
              </a:rPr>
              <a:t> con evidencia: miedo a sacar el celular en la calle.</a:t>
            </a:r>
            <a:endParaRPr lang="en-US" sz="1300" dirty="0"/>
          </a:p>
        </p:txBody>
      </p:sp>
      <p:sp>
        <p:nvSpPr>
          <p:cNvPr id="12" name="Text 8"/>
          <p:cNvSpPr/>
          <p:nvPr/>
        </p:nvSpPr>
        <p:spPr>
          <a:xfrm>
            <a:off x="4191000" y="2062783"/>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A12F2F"/>
                </a:solidFill>
                <a:latin typeface="Nunito Sans" pitchFamily="34" charset="0"/>
                <a:ea typeface="Nunito Sans" pitchFamily="34" charset="-122"/>
                <a:cs typeface="Nunito Sans" pitchFamily="34" charset="-120"/>
              </a:rPr>
              <a:t>CORREGIR · Marcadores:</a:t>
            </a:r>
            <a:r>
              <a:rPr lang="en-US" sz="1300" dirty="0">
                <a:solidFill>
                  <a:srgbClr val="2B3A4E"/>
                </a:solidFill>
                <a:latin typeface="Nunito Sans" pitchFamily="34" charset="0"/>
                <a:ea typeface="Nunito Sans" pitchFamily="34" charset="-122"/>
                <a:cs typeface="Nunito Sans" pitchFamily="34" charset="-120"/>
              </a:rPr>
              <a:t> solo 2 y sin decir el tipo.</a:t>
            </a:r>
            <a:endParaRPr lang="en-US" sz="1300" dirty="0"/>
          </a:p>
        </p:txBody>
      </p:sp>
      <p:sp>
        <p:nvSpPr>
          <p:cNvPr id="13" name="Text 9"/>
          <p:cNvSpPr/>
          <p:nvPr/>
        </p:nvSpPr>
        <p:spPr>
          <a:xfrm>
            <a:off x="4191000" y="2392189"/>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A12F2F"/>
                </a:solidFill>
                <a:latin typeface="Nunito Sans" pitchFamily="34" charset="0"/>
                <a:ea typeface="Nunito Sans" pitchFamily="34" charset="-122"/>
                <a:cs typeface="Nunito Sans" pitchFamily="34" charset="-120"/>
              </a:rPr>
              <a:t>CORREGIR · Lienzo:</a:t>
            </a:r>
            <a:r>
              <a:rPr lang="en-US" sz="1300" dirty="0">
                <a:solidFill>
                  <a:srgbClr val="2B3A4E"/>
                </a:solidFill>
                <a:latin typeface="Nunito Sans" pitchFamily="34" charset="0"/>
                <a:ea typeface="Nunito Sans" pitchFamily="34" charset="-122"/>
                <a:cs typeface="Nunito Sans" pitchFamily="34" charset="-120"/>
              </a:rPr>
              <a:t> «aviso automático al llegar»: ¿cómo sabe la app que llegó?</a:t>
            </a:r>
            <a:endParaRPr lang="en-US" sz="1300" dirty="0"/>
          </a:p>
        </p:txBody>
      </p:sp>
      <p:sp>
        <p:nvSpPr>
          <p:cNvPr id="14" name="Text 10"/>
          <p:cNvSpPr/>
          <p:nvPr/>
        </p:nvSpPr>
        <p:spPr>
          <a:xfrm>
            <a:off x="4191000" y="2721595"/>
            <a:ext cx="7188200" cy="699747"/>
          </a:xfrm>
          <a:prstGeom prst="roundRect">
            <a:avLst>
              <a:gd name="adj" fmla="val 10890"/>
            </a:avLst>
          </a:prstGeom>
          <a:solidFill>
            <a:srgbClr val="173E78"/>
          </a:solidFill>
          <a:ln/>
        </p:spPr>
        <p:txBody>
          <a:bodyPr wrap="square" lIns="142782" tIns="104682" rIns="0" bIns="79282" rtlCol="0" anchor="t">
            <a:normAutofit/>
          </a:bodyPr>
          <a:lstStyle/>
          <a:p>
            <a:pPr algn="l" indent="0" marL="0">
              <a:lnSpc>
                <a:spcPts val="1755"/>
              </a:lnSpc>
              <a:buNone/>
            </a:pPr>
            <a:r>
              <a:rPr lang="en-US" sz="1300" b="1" dirty="0">
                <a:solidFill>
                  <a:srgbClr val="F3F6FA"/>
                </a:solidFill>
                <a:latin typeface="Nunito Sans" pitchFamily="34" charset="0"/>
                <a:ea typeface="Nunito Sans" pitchFamily="34" charset="-122"/>
                <a:cs typeface="Nunito Sans" pitchFamily="34" charset="-120"/>
              </a:rPr>
              <a:t>Pregunta al equipo:</a:t>
            </a:r>
            <a:r>
              <a:rPr lang="en-US" sz="1300" dirty="0">
                <a:solidFill>
                  <a:srgbClr val="F3F6FA"/>
                </a:solidFill>
                <a:latin typeface="Nunito Sans" pitchFamily="34" charset="0"/>
                <a:ea typeface="Nunito Sans" pitchFamily="34" charset="-122"/>
                <a:cs typeface="Nunito Sans" pitchFamily="34" charset="-120"/>
              </a:rPr>
              <a:t> ¿Qué tiene que hacer el estudiante para que salga el aviso? ¿Lo haría con miedo al robo?</a:t>
            </a:r>
            <a:endParaRPr lang="en-US" sz="1300" dirty="0"/>
          </a:p>
        </p:txBody>
      </p:sp>
      <p:pic>
        <p:nvPicPr>
          <p:cNvPr id="15" name="Image 2" descr="Logo PUCE">    </p:cNvPr>
          <p:cNvPicPr>
            <a:picLocks noChangeAspect="1"/>
          </p:cNvPicPr>
          <p:nvPr/>
        </p:nvPicPr>
        <p:blipFill>
          <a:blip r:embed="rId3"/>
          <a:srcRect l="-436" r="-436" t="0" b="0"/>
          <a:stretch/>
        </p:blipFill>
        <p:spPr>
          <a:xfrm>
            <a:off x="812800" y="6184900"/>
            <a:ext cx="1016000" cy="279400"/>
          </a:xfrm>
          <a:prstGeom prst="rect">
            <a:avLst/>
          </a:prstGeom>
        </p:spPr>
      </p:pic>
      <p:sp>
        <p:nvSpPr>
          <p:cNvPr id="16" name="Text 11"/>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RETROALIMENTACIÓN E5 · EQUIPO 3 DE 7</a:t>
            </a:r>
            <a:endParaRPr lang="en-US" sz="1200" dirty="0"/>
          </a:p>
        </p:txBody>
      </p:sp>
      <p:sp>
        <p:nvSpPr>
          <p:cNvPr id="3" name="Text 1"/>
          <p:cNvSpPr/>
          <p:nvPr>
            <p:ph type="title"/>
          </p:nvPr>
        </p:nvSpPr>
        <p:spPr>
          <a:xfrm>
            <a:off x="812800" y="9372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JOBM Tech</a:t>
            </a:r>
            <a:endParaRPr lang="en-US" sz="2800" dirty="0"/>
          </a:p>
        </p:txBody>
      </p:sp>
      <p:sp>
        <p:nvSpPr>
          <p:cNvPr id="4" name="Text 2"/>
          <p:cNvSpPr/>
          <p:nvPr/>
        </p:nvSpPr>
        <p:spPr>
          <a:xfrm>
            <a:off x="812800" y="1409638"/>
            <a:ext cx="10883393" cy="26539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878"/>
                </a:solidFill>
                <a:latin typeface="Nunito Sans" pitchFamily="34" charset="0"/>
                <a:ea typeface="Nunito Sans" pitchFamily="34" charset="-122"/>
                <a:cs typeface="Nunito Sans" pitchFamily="34" charset="-120"/>
              </a:rPr>
              <a:t>Tutoría asincrónica por WhatsApp entre universitarios y bachilleres de Fe y Alegría.</a:t>
            </a:r>
            <a:endParaRPr lang="en-US" sz="1400" dirty="0"/>
          </a:p>
        </p:txBody>
      </p:sp>
      <p:sp>
        <p:nvSpPr>
          <p:cNvPr id="5" name="Shape 3"/>
          <p:cNvSpPr/>
          <p:nvPr/>
        </p:nvSpPr>
        <p:spPr>
          <a:xfrm>
            <a:off x="815975" y="1830611"/>
            <a:ext cx="3414146" cy="2047875"/>
          </a:xfrm>
          <a:prstGeom prst="roundRect">
            <a:avLst>
              <a:gd name="adj" fmla="val 4806"/>
            </a:avLst>
          </a:prstGeom>
          <a:solidFill>
            <a:srgbClr val="FDFDFB"/>
          </a:solidFill>
          <a:ln w="6350">
            <a:solidFill>
              <a:srgbClr val="DCE3EA"/>
            </a:solidFill>
            <a:prstDash val="solid"/>
          </a:ln>
        </p:spPr>
      </p:sp>
      <p:sp>
        <p:nvSpPr>
          <p:cNvPr id="6" name="Text 4"/>
          <p:cNvSpPr/>
          <p:nvPr/>
        </p:nvSpPr>
        <p:spPr>
          <a:xfrm>
            <a:off x="1006929" y="2008870"/>
            <a:ext cx="31232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47A7B"/>
                </a:solidFill>
                <a:latin typeface="Nunito Sans" pitchFamily="34" charset="0"/>
                <a:ea typeface="Nunito Sans" pitchFamily="34" charset="-122"/>
                <a:cs typeface="Nunito Sans" pitchFamily="34" charset="-120"/>
              </a:rPr>
              <a:t>Lo que está bien</a:t>
            </a:r>
            <a:endParaRPr lang="en-US" sz="1500" dirty="0"/>
          </a:p>
        </p:txBody>
      </p:sp>
      <p:sp>
        <p:nvSpPr>
          <p:cNvPr id="7" name="Text 5"/>
          <p:cNvSpPr/>
          <p:nvPr/>
        </p:nvSpPr>
        <p:spPr>
          <a:xfrm>
            <a:off x="1098623" y="2313670"/>
            <a:ext cx="3023892" cy="1411968"/>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Muy alineado con Fe y Alegría y con el aprendizaje-servicio.</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Producto concreto: audio de 60 a 90 s y diagrama del primer paso.</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Lienzo específico: el estudiante pierde más de 45 min buscando.</a:t>
            </a:r>
            <a:endParaRPr lang="en-US" sz="1300" dirty="0"/>
          </a:p>
        </p:txBody>
      </p:sp>
      <p:sp>
        <p:nvSpPr>
          <p:cNvPr id="8" name="Shape 6"/>
          <p:cNvSpPr/>
          <p:nvPr/>
        </p:nvSpPr>
        <p:spPr>
          <a:xfrm>
            <a:off x="4388871" y="1830611"/>
            <a:ext cx="3414202" cy="2047875"/>
          </a:xfrm>
          <a:prstGeom prst="roundRect">
            <a:avLst>
              <a:gd name="adj" fmla="val 4806"/>
            </a:avLst>
          </a:prstGeom>
          <a:solidFill>
            <a:srgbClr val="FFFBF0"/>
          </a:solidFill>
          <a:ln w="6350">
            <a:solidFill>
              <a:srgbClr val="DCE3EA"/>
            </a:solidFill>
            <a:prstDash val="solid"/>
          </a:ln>
        </p:spPr>
      </p:sp>
      <p:sp>
        <p:nvSpPr>
          <p:cNvPr id="9" name="Text 7"/>
          <p:cNvSpPr/>
          <p:nvPr/>
        </p:nvSpPr>
        <p:spPr>
          <a:xfrm>
            <a:off x="4579824" y="2008870"/>
            <a:ext cx="31232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4B00"/>
                </a:solidFill>
                <a:latin typeface="Nunito Sans" pitchFamily="34" charset="0"/>
                <a:ea typeface="Nunito Sans" pitchFamily="34" charset="-122"/>
                <a:cs typeface="Nunito Sans" pitchFamily="34" charset="-120"/>
              </a:rPr>
              <a:t>Qué corregir</a:t>
            </a:r>
            <a:endParaRPr lang="en-US" sz="1500" dirty="0"/>
          </a:p>
        </p:txBody>
      </p:sp>
      <p:sp>
        <p:nvSpPr>
          <p:cNvPr id="10" name="Text 8"/>
          <p:cNvSpPr/>
          <p:nvPr/>
        </p:nvSpPr>
        <p:spPr>
          <a:xfrm>
            <a:off x="4671518" y="2313670"/>
            <a:ext cx="3023950" cy="1411968"/>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La lámina 6 no tiene marcadores: todavía dice «Agreguen marcadores».</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¿Quién paga los $2–3 por apoyo? Un bachiller de FyA, difícilmente.</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Canvas escueto: socios y relación sin nombres concretos.</a:t>
            </a:r>
            <a:endParaRPr lang="en-US" sz="1300" dirty="0"/>
          </a:p>
        </p:txBody>
      </p:sp>
      <p:sp>
        <p:nvSpPr>
          <p:cNvPr id="11" name="Shape 9"/>
          <p:cNvSpPr/>
          <p:nvPr/>
        </p:nvSpPr>
        <p:spPr>
          <a:xfrm>
            <a:off x="7961823" y="1830611"/>
            <a:ext cx="3414202" cy="2047875"/>
          </a:xfrm>
          <a:prstGeom prst="roundRect">
            <a:avLst>
              <a:gd name="adj" fmla="val 4806"/>
            </a:avLst>
          </a:prstGeom>
          <a:solidFill>
            <a:srgbClr val="FDFDFB"/>
          </a:solidFill>
          <a:ln w="6350">
            <a:solidFill>
              <a:srgbClr val="DCE3EA"/>
            </a:solidFill>
            <a:prstDash val="solid"/>
          </a:ln>
        </p:spPr>
      </p:sp>
      <p:sp>
        <p:nvSpPr>
          <p:cNvPr id="12" name="Text 10"/>
          <p:cNvSpPr/>
          <p:nvPr/>
        </p:nvSpPr>
        <p:spPr>
          <a:xfrm>
            <a:off x="8152777" y="2008870"/>
            <a:ext cx="31232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Para el pitch del lunes</a:t>
            </a:r>
            <a:endParaRPr lang="en-US" sz="1500" dirty="0"/>
          </a:p>
        </p:txBody>
      </p:sp>
      <p:sp>
        <p:nvSpPr>
          <p:cNvPr id="13" name="Text 11"/>
          <p:cNvSpPr/>
          <p:nvPr/>
        </p:nvSpPr>
        <p:spPr>
          <a:xfrm>
            <a:off x="8244471" y="2313670"/>
            <a:ext cx="3023950" cy="1411968"/>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Tiempo real de respuesta del piloto: prometen «en la tarde».</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Cuántos tutores y cuántas dudas resueltas.</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Qué parte será app y qué parte sigue en WhatsApp.</a:t>
            </a:r>
            <a:endParaRPr lang="en-US" sz="1300" dirty="0"/>
          </a:p>
        </p:txBody>
      </p:sp>
      <p:pic>
        <p:nvPicPr>
          <p:cNvPr id="14"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5" name="Text 12"/>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DEMO · EL CANVAS REAL DE JOBM TECH</a:t>
            </a:r>
            <a:endParaRPr lang="en-US" sz="1200" dirty="0"/>
          </a:p>
        </p:txBody>
      </p:sp>
      <p:sp>
        <p:nvSpPr>
          <p:cNvPr id="3" name="Text 1"/>
          <p:cNvSpPr/>
          <p:nvPr>
            <p:ph type="title"/>
          </p:nvPr>
        </p:nvSpPr>
        <p:spPr>
          <a:xfrm>
            <a:off x="812800" y="886445"/>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Qué está bien y qué hay que corregir</a:t>
            </a:r>
            <a:endParaRPr lang="en-US" sz="2500" dirty="0"/>
          </a:p>
        </p:txBody>
      </p:sp>
      <p:sp>
        <p:nvSpPr>
          <p:cNvPr id="4" name="Shape 2"/>
          <p:cNvSpPr/>
          <p:nvPr/>
        </p:nvSpPr>
        <p:spPr>
          <a:xfrm>
            <a:off x="812800" y="1403970"/>
            <a:ext cx="6413500" cy="3822700"/>
          </a:xfrm>
          <a:prstGeom prst="roundRect">
            <a:avLst>
              <a:gd name="adj" fmla="val 1329"/>
            </a:avLst>
          </a:prstGeom>
          <a:solidFill>
            <a:srgbClr val="FFFFFF"/>
          </a:solidFill>
          <a:ln/>
        </p:spPr>
      </p:sp>
      <p:pic>
        <p:nvPicPr>
          <p:cNvPr id="5" name="Image 0" descr="Business Model Canvas entregado por JOBM Tech">    </p:cNvPr>
          <p:cNvPicPr>
            <a:picLocks noChangeAspect="1"/>
          </p:cNvPicPr>
          <p:nvPr/>
        </p:nvPicPr>
        <p:blipFill>
          <a:blip r:embed="rId1"/>
          <a:srcRect l="-18" r="-18" t="0" b="0"/>
          <a:stretch/>
        </p:blipFill>
        <p:spPr>
          <a:xfrm>
            <a:off x="819150" y="1410320"/>
            <a:ext cx="6400800" cy="3810000"/>
          </a:xfrm>
          <a:prstGeom prst="roundRect">
            <a:avLst>
              <a:gd name="adj" fmla="val 1167"/>
            </a:avLst>
          </a:prstGeom>
        </p:spPr>
      </p:pic>
      <p:sp>
        <p:nvSpPr>
          <p:cNvPr id="6" name="Shape 3"/>
          <p:cNvSpPr/>
          <p:nvPr/>
        </p:nvSpPr>
        <p:spPr>
          <a:xfrm>
            <a:off x="815975" y="1407145"/>
            <a:ext cx="6407150" cy="3816350"/>
          </a:xfrm>
          <a:prstGeom prst="roundRect">
            <a:avLst>
              <a:gd name="adj" fmla="val 1248"/>
            </a:avLst>
          </a:prstGeom>
          <a:noFill/>
          <a:ln w="6350">
            <a:solidFill>
              <a:srgbClr val="DCE3EA"/>
            </a:solidFill>
            <a:prstDash val="solid"/>
          </a:ln>
        </p:spPr>
      </p:sp>
      <p:sp>
        <p:nvSpPr>
          <p:cNvPr id="7" name="Text 4"/>
          <p:cNvSpPr/>
          <p:nvPr/>
        </p:nvSpPr>
        <p:spPr>
          <a:xfrm>
            <a:off x="7429500" y="1403970"/>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1F6B33"/>
                </a:solidFill>
                <a:latin typeface="Nunito Sans" pitchFamily="34" charset="0"/>
                <a:ea typeface="Nunito Sans" pitchFamily="34" charset="-122"/>
                <a:cs typeface="Nunito Sans" pitchFamily="34" charset="-120"/>
              </a:rPr>
              <a:t>BIEN · Cliente 2:</a:t>
            </a:r>
            <a:r>
              <a:rPr lang="en-US" sz="1200" dirty="0">
                <a:solidFill>
                  <a:srgbClr val="2B3A4E"/>
                </a:solidFill>
                <a:latin typeface="Nunito Sans" pitchFamily="34" charset="0"/>
                <a:ea typeface="Nunito Sans" pitchFamily="34" charset="-122"/>
                <a:cs typeface="Nunito Sans" pitchFamily="34" charset="-120"/>
              </a:rPr>
              <a:t> la universidad gana horas de aprendizaje-servicio: doble valor.</a:t>
            </a:r>
            <a:endParaRPr lang="en-US" sz="1200" dirty="0"/>
          </a:p>
        </p:txBody>
      </p:sp>
      <p:sp>
        <p:nvSpPr>
          <p:cNvPr id="8" name="Text 5"/>
          <p:cNvSpPr/>
          <p:nvPr/>
        </p:nvSpPr>
        <p:spPr>
          <a:xfrm>
            <a:off x="7429500" y="1913446"/>
            <a:ext cx="4739640" cy="235687"/>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A12F2F"/>
                </a:solidFill>
                <a:latin typeface="Nunito Sans" pitchFamily="34" charset="0"/>
                <a:ea typeface="Nunito Sans" pitchFamily="34" charset="-122"/>
                <a:cs typeface="Nunito Sans" pitchFamily="34" charset="-120"/>
              </a:rPr>
              <a:t>CORREGIR · Propuesta:</a:t>
            </a:r>
            <a:r>
              <a:rPr lang="en-US" sz="1200" dirty="0">
                <a:solidFill>
                  <a:srgbClr val="2B3A4E"/>
                </a:solidFill>
                <a:latin typeface="Nunito Sans" pitchFamily="34" charset="0"/>
                <a:ea typeface="Nunito Sans" pitchFamily="34" charset="-122"/>
                <a:cs typeface="Nunito Sans" pitchFamily="34" charset="-120"/>
              </a:rPr>
              <a:t> genérica: «guía clara y rápida…».</a:t>
            </a:r>
            <a:endParaRPr lang="en-US" sz="1200" dirty="0"/>
          </a:p>
        </p:txBody>
      </p:sp>
      <p:sp>
        <p:nvSpPr>
          <p:cNvPr id="9" name="Text 6"/>
          <p:cNvSpPr/>
          <p:nvPr/>
        </p:nvSpPr>
        <p:spPr>
          <a:xfrm>
            <a:off x="7429500" y="2212628"/>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A12F2F"/>
                </a:solidFill>
                <a:latin typeface="Nunito Sans" pitchFamily="34" charset="0"/>
                <a:ea typeface="Nunito Sans" pitchFamily="34" charset="-122"/>
                <a:cs typeface="Nunito Sans" pitchFamily="34" charset="-120"/>
              </a:rPr>
              <a:t>CORREGIR · Ingresos:</a:t>
            </a:r>
            <a:r>
              <a:rPr lang="en-US" sz="1200" dirty="0">
                <a:solidFill>
                  <a:srgbClr val="2B3A4E"/>
                </a:solidFill>
                <a:latin typeface="Nunito Sans" pitchFamily="34" charset="0"/>
                <a:ea typeface="Nunito Sans" pitchFamily="34" charset="-122"/>
                <a:cs typeface="Nunito Sans" pitchFamily="34" charset="-120"/>
              </a:rPr>
              <a:t> «$2–3 por apoyo .CONVENIOS»: ¿quién paga?</a:t>
            </a:r>
            <a:endParaRPr lang="en-US" sz="1200" dirty="0"/>
          </a:p>
        </p:txBody>
      </p:sp>
      <p:sp>
        <p:nvSpPr>
          <p:cNvPr id="10" name="Text 7"/>
          <p:cNvSpPr/>
          <p:nvPr/>
        </p:nvSpPr>
        <p:spPr>
          <a:xfrm>
            <a:off x="7429500" y="2722104"/>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A12F2F"/>
                </a:solidFill>
                <a:latin typeface="Nunito Sans" pitchFamily="34" charset="0"/>
                <a:ea typeface="Nunito Sans" pitchFamily="34" charset="-122"/>
                <a:cs typeface="Nunito Sans" pitchFamily="34" charset="-120"/>
              </a:rPr>
              <a:t>CORREGIR · Forma:</a:t>
            </a:r>
            <a:r>
              <a:rPr lang="en-US" sz="1200" dirty="0">
                <a:solidFill>
                  <a:srgbClr val="2B3A4E"/>
                </a:solidFill>
                <a:latin typeface="Nunito Sans" pitchFamily="34" charset="0"/>
                <a:ea typeface="Nunito Sans" pitchFamily="34" charset="-122"/>
                <a:cs typeface="Nunito Sans" pitchFamily="34" charset="-120"/>
              </a:rPr>
              <a:t> bloques de una palabra, en minúscula y sin nombres concretos.</a:t>
            </a:r>
            <a:endParaRPr lang="en-US" sz="1200" dirty="0"/>
          </a:p>
        </p:txBody>
      </p:sp>
      <p:sp>
        <p:nvSpPr>
          <p:cNvPr id="11" name="Text 8"/>
          <p:cNvSpPr/>
          <p:nvPr/>
        </p:nvSpPr>
        <p:spPr>
          <a:xfrm>
            <a:off x="7429500" y="3231579"/>
            <a:ext cx="3949700" cy="639989"/>
          </a:xfrm>
          <a:prstGeom prst="roundRect">
            <a:avLst>
              <a:gd name="adj" fmla="val 11906"/>
            </a:avLst>
          </a:prstGeom>
          <a:solidFill>
            <a:srgbClr val="173E78"/>
          </a:solidFill>
          <a:ln/>
        </p:spPr>
        <p:txBody>
          <a:bodyPr wrap="square" lIns="117382" tIns="91982" rIns="7273" bIns="66582" rtlCol="0" anchor="t">
            <a:normAutofit/>
          </a:bodyPr>
          <a:lstStyle/>
          <a:p>
            <a:pPr algn="l" indent="0" marL="0">
              <a:lnSpc>
                <a:spcPts val="1620"/>
              </a:lnSpc>
              <a:buNone/>
            </a:pPr>
            <a:r>
              <a:rPr lang="en-US" sz="1200" b="1" dirty="0">
                <a:solidFill>
                  <a:srgbClr val="F3F6FA"/>
                </a:solidFill>
                <a:latin typeface="Nunito Sans" pitchFamily="34" charset="0"/>
                <a:ea typeface="Nunito Sans" pitchFamily="34" charset="-122"/>
                <a:cs typeface="Nunito Sans" pitchFamily="34" charset="-120"/>
              </a:rPr>
              <a:t>Pregunta al equipo:</a:t>
            </a:r>
            <a:r>
              <a:rPr lang="en-US" sz="1200" dirty="0">
                <a:solidFill>
                  <a:srgbClr val="F3F6FA"/>
                </a:solidFill>
                <a:latin typeface="Nunito Sans" pitchFamily="34" charset="0"/>
                <a:ea typeface="Nunito Sans" pitchFamily="34" charset="-122"/>
                <a:cs typeface="Nunito Sans" pitchFamily="34" charset="-120"/>
              </a:rPr>
              <a:t> ¿Quién paga: el estudiante, la familia, Fe y Alegría o la PUCE?</a:t>
            </a:r>
            <a:endParaRPr lang="en-US" sz="1200" dirty="0"/>
          </a:p>
        </p:txBody>
      </p:sp>
      <p:pic>
        <p:nvPicPr>
          <p:cNvPr id="12" name="Image 1" descr="Logo PUCE">    </p:cNvPr>
          <p:cNvPicPr>
            <a:picLocks noChangeAspect="1"/>
          </p:cNvPicPr>
          <p:nvPr/>
        </p:nvPicPr>
        <p:blipFill>
          <a:blip r:embed="rId2"/>
          <a:srcRect l="-436" r="-436" t="0" b="0"/>
          <a:stretch/>
        </p:blipFill>
        <p:spPr>
          <a:xfrm>
            <a:off x="812800" y="6184900"/>
            <a:ext cx="1016000" cy="279400"/>
          </a:xfrm>
          <a:prstGeom prst="rect">
            <a:avLst/>
          </a:prstGeom>
        </p:spPr>
      </p:pic>
      <p:sp>
        <p:nvSpPr>
          <p:cNvPr id="13" name="Text 9"/>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DEMO · PROCESO (ARRIBA) Y LIENZO (ABAJO) DE JOBM TECH</a:t>
            </a:r>
            <a:endParaRPr lang="en-US" sz="1200" dirty="0"/>
          </a:p>
        </p:txBody>
      </p:sp>
      <p:sp>
        <p:nvSpPr>
          <p:cNvPr id="3" name="Text 1"/>
          <p:cNvSpPr/>
          <p:nvPr>
            <p:ph type="title"/>
          </p:nvPr>
        </p:nvSpPr>
        <p:spPr>
          <a:xfrm>
            <a:off x="812800" y="886445"/>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El cliente 1, paso a paso y en el lienzo</a:t>
            </a:r>
            <a:endParaRPr lang="en-US" sz="2500" dirty="0"/>
          </a:p>
        </p:txBody>
      </p:sp>
      <p:sp>
        <p:nvSpPr>
          <p:cNvPr id="4" name="Shape 2"/>
          <p:cNvSpPr/>
          <p:nvPr/>
        </p:nvSpPr>
        <p:spPr>
          <a:xfrm>
            <a:off x="812800" y="1403970"/>
            <a:ext cx="3175000" cy="1968500"/>
          </a:xfrm>
          <a:prstGeom prst="roundRect">
            <a:avLst>
              <a:gd name="adj" fmla="val 2581"/>
            </a:avLst>
          </a:prstGeom>
          <a:solidFill>
            <a:srgbClr val="FFFFFF"/>
          </a:solidFill>
          <a:ln/>
        </p:spPr>
      </p:sp>
      <p:pic>
        <p:nvPicPr>
          <p:cNvPr id="5" name="Image 0" descr="Proceso del trabajo del cliente de JOBM Tech">    </p:cNvPr>
          <p:cNvPicPr>
            <a:picLocks noChangeAspect="1"/>
          </p:cNvPicPr>
          <p:nvPr/>
        </p:nvPicPr>
        <p:blipFill>
          <a:blip r:embed="rId1"/>
          <a:srcRect l="-191" r="-191" t="0" b="0"/>
          <a:stretch/>
        </p:blipFill>
        <p:spPr>
          <a:xfrm>
            <a:off x="819150" y="1410320"/>
            <a:ext cx="3162300" cy="1955800"/>
          </a:xfrm>
          <a:prstGeom prst="roundRect">
            <a:avLst>
              <a:gd name="adj" fmla="val 2273"/>
            </a:avLst>
          </a:prstGeom>
        </p:spPr>
      </p:pic>
      <p:sp>
        <p:nvSpPr>
          <p:cNvPr id="6" name="Shape 3"/>
          <p:cNvSpPr/>
          <p:nvPr/>
        </p:nvSpPr>
        <p:spPr>
          <a:xfrm>
            <a:off x="815975" y="1407145"/>
            <a:ext cx="3168650" cy="1962150"/>
          </a:xfrm>
          <a:prstGeom prst="roundRect">
            <a:avLst>
              <a:gd name="adj" fmla="val 2427"/>
            </a:avLst>
          </a:prstGeom>
          <a:noFill/>
          <a:ln w="6350">
            <a:solidFill>
              <a:srgbClr val="DCE3EA"/>
            </a:solidFill>
            <a:prstDash val="solid"/>
          </a:ln>
        </p:spPr>
      </p:sp>
      <p:sp>
        <p:nvSpPr>
          <p:cNvPr id="7" name="Shape 4"/>
          <p:cNvSpPr/>
          <p:nvPr/>
        </p:nvSpPr>
        <p:spPr>
          <a:xfrm>
            <a:off x="812800" y="3448670"/>
            <a:ext cx="3175000" cy="1968500"/>
          </a:xfrm>
          <a:prstGeom prst="roundRect">
            <a:avLst>
              <a:gd name="adj" fmla="val 2581"/>
            </a:avLst>
          </a:prstGeom>
          <a:solidFill>
            <a:srgbClr val="FFFFFF"/>
          </a:solidFill>
          <a:ln/>
        </p:spPr>
      </p:sp>
      <p:pic>
        <p:nvPicPr>
          <p:cNvPr id="8" name="Image 1" descr="Lienzo de propuesta de valor de JOBM Tech">    </p:cNvPr>
          <p:cNvPicPr>
            <a:picLocks noChangeAspect="1"/>
          </p:cNvPicPr>
          <p:nvPr/>
        </p:nvPicPr>
        <p:blipFill>
          <a:blip r:embed="rId2"/>
          <a:srcRect l="-191" r="-191" t="0" b="0"/>
          <a:stretch/>
        </p:blipFill>
        <p:spPr>
          <a:xfrm>
            <a:off x="819150" y="3455020"/>
            <a:ext cx="3162300" cy="1955800"/>
          </a:xfrm>
          <a:prstGeom prst="roundRect">
            <a:avLst>
              <a:gd name="adj" fmla="val 2273"/>
            </a:avLst>
          </a:prstGeom>
        </p:spPr>
      </p:pic>
      <p:sp>
        <p:nvSpPr>
          <p:cNvPr id="9" name="Shape 5"/>
          <p:cNvSpPr/>
          <p:nvPr/>
        </p:nvSpPr>
        <p:spPr>
          <a:xfrm>
            <a:off x="815975" y="3451845"/>
            <a:ext cx="3168650" cy="1962150"/>
          </a:xfrm>
          <a:prstGeom prst="roundRect">
            <a:avLst>
              <a:gd name="adj" fmla="val 2427"/>
            </a:avLst>
          </a:prstGeom>
          <a:noFill/>
          <a:ln w="6350">
            <a:solidFill>
              <a:srgbClr val="DCE3EA"/>
            </a:solidFill>
            <a:prstDash val="solid"/>
          </a:ln>
        </p:spPr>
      </p:sp>
      <p:sp>
        <p:nvSpPr>
          <p:cNvPr id="10" name="Text 6"/>
          <p:cNvSpPr/>
          <p:nvPr/>
        </p:nvSpPr>
        <p:spPr>
          <a:xfrm>
            <a:off x="4191000" y="1403970"/>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1F6B33"/>
                </a:solidFill>
                <a:latin typeface="Nunito Sans" pitchFamily="34" charset="0"/>
                <a:ea typeface="Nunito Sans" pitchFamily="34" charset="-122"/>
                <a:cs typeface="Nunito Sans" pitchFamily="34" charset="-120"/>
              </a:rPr>
              <a:t>BIEN · Proceso:</a:t>
            </a:r>
            <a:r>
              <a:rPr lang="en-US" sz="1300" dirty="0">
                <a:solidFill>
                  <a:srgbClr val="2B3A4E"/>
                </a:solidFill>
                <a:latin typeface="Nunito Sans" pitchFamily="34" charset="0"/>
                <a:ea typeface="Nunito Sans" pitchFamily="34" charset="-122"/>
                <a:cs typeface="Nunito Sans" pitchFamily="34" charset="-120"/>
              </a:rPr>
              <a:t> 8 pasos realistas: YouTube, Brainly, comparar explicaciones.</a:t>
            </a:r>
            <a:endParaRPr lang="en-US" sz="1300" dirty="0"/>
          </a:p>
        </p:txBody>
      </p:sp>
      <p:sp>
        <p:nvSpPr>
          <p:cNvPr id="11" name="Text 7"/>
          <p:cNvSpPr/>
          <p:nvPr/>
        </p:nvSpPr>
        <p:spPr>
          <a:xfrm>
            <a:off x="4191000" y="1733376"/>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1F6B33"/>
                </a:solidFill>
                <a:latin typeface="Nunito Sans" pitchFamily="34" charset="0"/>
                <a:ea typeface="Nunito Sans" pitchFamily="34" charset="-122"/>
                <a:cs typeface="Nunito Sans" pitchFamily="34" charset="-120"/>
              </a:rPr>
              <a:t>BIEN · Lienzo:</a:t>
            </a:r>
            <a:r>
              <a:rPr lang="en-US" sz="1300" dirty="0">
                <a:solidFill>
                  <a:srgbClr val="2B3A4E"/>
                </a:solidFill>
                <a:latin typeface="Nunito Sans" pitchFamily="34" charset="0"/>
                <a:ea typeface="Nunito Sans" pitchFamily="34" charset="-122"/>
                <a:cs typeface="Nunito Sans" pitchFamily="34" charset="-120"/>
              </a:rPr>
              <a:t> con cifras: más de 45 min buscando; resolver en 2 h o menos.</a:t>
            </a:r>
            <a:endParaRPr lang="en-US" sz="1300" dirty="0"/>
          </a:p>
        </p:txBody>
      </p:sp>
      <p:sp>
        <p:nvSpPr>
          <p:cNvPr id="12" name="Text 8"/>
          <p:cNvSpPr/>
          <p:nvPr/>
        </p:nvSpPr>
        <p:spPr>
          <a:xfrm>
            <a:off x="4191000" y="2062783"/>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A12F2F"/>
                </a:solidFill>
                <a:latin typeface="Nunito Sans" pitchFamily="34" charset="0"/>
                <a:ea typeface="Nunito Sans" pitchFamily="34" charset="-122"/>
                <a:cs typeface="Nunito Sans" pitchFamily="34" charset="-120"/>
              </a:rPr>
              <a:t>CORREGIR · Marcadores:</a:t>
            </a:r>
            <a:r>
              <a:rPr lang="en-US" sz="1300" dirty="0">
                <a:solidFill>
                  <a:srgbClr val="2B3A4E"/>
                </a:solidFill>
                <a:latin typeface="Nunito Sans" pitchFamily="34" charset="0"/>
                <a:ea typeface="Nunito Sans" pitchFamily="34" charset="-122"/>
                <a:cs typeface="Nunito Sans" pitchFamily="34" charset="-120"/>
              </a:rPr>
              <a:t> ninguno: quedó la flecha de la plantilla.</a:t>
            </a:r>
            <a:endParaRPr lang="en-US" sz="1300" dirty="0"/>
          </a:p>
        </p:txBody>
      </p:sp>
      <p:sp>
        <p:nvSpPr>
          <p:cNvPr id="13" name="Text 9"/>
          <p:cNvSpPr/>
          <p:nvPr/>
        </p:nvSpPr>
        <p:spPr>
          <a:xfrm>
            <a:off x="4191000" y="2392189"/>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A12F2F"/>
                </a:solidFill>
                <a:latin typeface="Nunito Sans" pitchFamily="34" charset="0"/>
                <a:ea typeface="Nunito Sans" pitchFamily="34" charset="-122"/>
                <a:cs typeface="Nunito Sans" pitchFamily="34" charset="-120"/>
              </a:rPr>
              <a:t>CORREGIR · Abandono:</a:t>
            </a:r>
            <a:r>
              <a:rPr lang="en-US" sz="1300" dirty="0">
                <a:solidFill>
                  <a:srgbClr val="2B3A4E"/>
                </a:solidFill>
                <a:latin typeface="Nunito Sans" pitchFamily="34" charset="0"/>
                <a:ea typeface="Nunito Sans" pitchFamily="34" charset="-122"/>
                <a:cs typeface="Nunito Sans" pitchFamily="34" charset="-120"/>
              </a:rPr>
              <a:t> no dicen en qué paso deja la tarea.</a:t>
            </a:r>
            <a:endParaRPr lang="en-US" sz="1300" dirty="0"/>
          </a:p>
        </p:txBody>
      </p:sp>
      <p:sp>
        <p:nvSpPr>
          <p:cNvPr id="14" name="Text 10"/>
          <p:cNvSpPr/>
          <p:nvPr/>
        </p:nvSpPr>
        <p:spPr>
          <a:xfrm>
            <a:off x="4191000" y="2721595"/>
            <a:ext cx="7188200" cy="476874"/>
          </a:xfrm>
          <a:prstGeom prst="roundRect">
            <a:avLst>
              <a:gd name="adj" fmla="val 15979"/>
            </a:avLst>
          </a:prstGeom>
          <a:solidFill>
            <a:srgbClr val="173E78"/>
          </a:solidFill>
          <a:ln/>
        </p:spPr>
        <p:txBody>
          <a:bodyPr wrap="square" lIns="142782" tIns="104682" rIns="0" bIns="79282" rtlCol="0" anchor="t">
            <a:normAutofit/>
          </a:bodyPr>
          <a:lstStyle/>
          <a:p>
            <a:pPr algn="l" indent="0" marL="0">
              <a:lnSpc>
                <a:spcPts val="1755"/>
              </a:lnSpc>
              <a:buNone/>
            </a:pPr>
            <a:r>
              <a:rPr lang="en-US" sz="1300" b="1" dirty="0">
                <a:solidFill>
                  <a:srgbClr val="F3F6FA"/>
                </a:solidFill>
                <a:latin typeface="Nunito Sans" pitchFamily="34" charset="0"/>
                <a:ea typeface="Nunito Sans" pitchFamily="34" charset="-122"/>
                <a:cs typeface="Nunito Sans" pitchFamily="34" charset="-120"/>
              </a:rPr>
              <a:t>Pregunta al equipo:</a:t>
            </a:r>
            <a:r>
              <a:rPr lang="en-US" sz="1300" dirty="0">
                <a:solidFill>
                  <a:srgbClr val="F3F6FA"/>
                </a:solidFill>
                <a:latin typeface="Nunito Sans" pitchFamily="34" charset="0"/>
                <a:ea typeface="Nunito Sans" pitchFamily="34" charset="-122"/>
                <a:cs typeface="Nunito Sans" pitchFamily="34" charset="-120"/>
              </a:rPr>
              <a:t> ¿En qué paso el estudiante se rinde y deja la tarea en blanco?</a:t>
            </a:r>
            <a:endParaRPr lang="en-US" sz="1300" dirty="0"/>
          </a:p>
        </p:txBody>
      </p:sp>
      <p:pic>
        <p:nvPicPr>
          <p:cNvPr id="15" name="Image 2" descr="Logo PUCE">    </p:cNvPr>
          <p:cNvPicPr>
            <a:picLocks noChangeAspect="1"/>
          </p:cNvPicPr>
          <p:nvPr/>
        </p:nvPicPr>
        <p:blipFill>
          <a:blip r:embed="rId3"/>
          <a:srcRect l="-436" r="-436" t="0" b="0"/>
          <a:stretch/>
        </p:blipFill>
        <p:spPr>
          <a:xfrm>
            <a:off x="812800" y="6184900"/>
            <a:ext cx="1016000" cy="279400"/>
          </a:xfrm>
          <a:prstGeom prst="rect">
            <a:avLst/>
          </a:prstGeom>
        </p:spPr>
      </p:pic>
      <p:sp>
        <p:nvSpPr>
          <p:cNvPr id="16" name="Text 11"/>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RETROALIMENTACIÓN E5 · EQUIPO 4 DE 7</a:t>
            </a:r>
            <a:endParaRPr lang="en-US" sz="1200" dirty="0"/>
          </a:p>
        </p:txBody>
      </p:sp>
      <p:sp>
        <p:nvSpPr>
          <p:cNvPr id="3" name="Text 1"/>
          <p:cNvSpPr/>
          <p:nvPr>
            <p:ph type="title"/>
          </p:nvPr>
        </p:nvSpPr>
        <p:spPr>
          <a:xfrm>
            <a:off x="812800" y="9372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ConectaEDU</a:t>
            </a:r>
            <a:endParaRPr lang="en-US" sz="2800" dirty="0"/>
          </a:p>
        </p:txBody>
      </p:sp>
      <p:sp>
        <p:nvSpPr>
          <p:cNvPr id="4" name="Text 2"/>
          <p:cNvSpPr/>
          <p:nvPr/>
        </p:nvSpPr>
        <p:spPr>
          <a:xfrm>
            <a:off x="812800" y="1409638"/>
            <a:ext cx="10883393" cy="26539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878"/>
                </a:solidFill>
                <a:latin typeface="Nunito Sans" pitchFamily="34" charset="0"/>
                <a:ea typeface="Nunito Sans" pitchFamily="34" charset="-122"/>
                <a:cs typeface="Nunito Sans" pitchFamily="34" charset="-120"/>
              </a:rPr>
              <a:t>Calificador con IA según la rúbrica del docente y tutor con el material de la materia.</a:t>
            </a:r>
            <a:endParaRPr lang="en-US" sz="1400" dirty="0"/>
          </a:p>
        </p:txBody>
      </p:sp>
      <p:sp>
        <p:nvSpPr>
          <p:cNvPr id="5" name="Shape 3"/>
          <p:cNvSpPr/>
          <p:nvPr/>
        </p:nvSpPr>
        <p:spPr>
          <a:xfrm>
            <a:off x="815975" y="1830611"/>
            <a:ext cx="3414146" cy="2278970"/>
          </a:xfrm>
          <a:prstGeom prst="roundRect">
            <a:avLst>
              <a:gd name="adj" fmla="val 4319"/>
            </a:avLst>
          </a:prstGeom>
          <a:solidFill>
            <a:srgbClr val="FDFDFB"/>
          </a:solidFill>
          <a:ln w="6350">
            <a:solidFill>
              <a:srgbClr val="DCE3EA"/>
            </a:solidFill>
            <a:prstDash val="solid"/>
          </a:ln>
        </p:spPr>
      </p:sp>
      <p:sp>
        <p:nvSpPr>
          <p:cNvPr id="6" name="Text 4"/>
          <p:cNvSpPr/>
          <p:nvPr/>
        </p:nvSpPr>
        <p:spPr>
          <a:xfrm>
            <a:off x="1006929" y="2008870"/>
            <a:ext cx="31232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47A7B"/>
                </a:solidFill>
                <a:latin typeface="Nunito Sans" pitchFamily="34" charset="0"/>
                <a:ea typeface="Nunito Sans" pitchFamily="34" charset="-122"/>
                <a:cs typeface="Nunito Sans" pitchFamily="34" charset="-120"/>
              </a:rPr>
              <a:t>Lo que está bien</a:t>
            </a:r>
            <a:endParaRPr lang="en-US" sz="1500" dirty="0"/>
          </a:p>
        </p:txBody>
      </p:sp>
      <p:sp>
        <p:nvSpPr>
          <p:cNvPr id="7" name="Text 5"/>
          <p:cNvSpPr/>
          <p:nvPr/>
        </p:nvSpPr>
        <p:spPr>
          <a:xfrm>
            <a:off x="1098623" y="2313670"/>
            <a:ext cx="3023892" cy="1643063"/>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Costo por tarea calculado en tokens: cerca de $0,01 por tarea.</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Cuatro marcadores con tipo e hipótesis: el mejor proceso de la semana.</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El docente conserva el control de la nota final.</a:t>
            </a:r>
            <a:endParaRPr lang="en-US" sz="1300" dirty="0"/>
          </a:p>
        </p:txBody>
      </p:sp>
      <p:sp>
        <p:nvSpPr>
          <p:cNvPr id="8" name="Shape 6"/>
          <p:cNvSpPr/>
          <p:nvPr/>
        </p:nvSpPr>
        <p:spPr>
          <a:xfrm>
            <a:off x="4388871" y="1830611"/>
            <a:ext cx="3414202" cy="2278970"/>
          </a:xfrm>
          <a:prstGeom prst="roundRect">
            <a:avLst>
              <a:gd name="adj" fmla="val 4319"/>
            </a:avLst>
          </a:prstGeom>
          <a:solidFill>
            <a:srgbClr val="FFFBF0"/>
          </a:solidFill>
          <a:ln w="6350">
            <a:solidFill>
              <a:srgbClr val="DCE3EA"/>
            </a:solidFill>
            <a:prstDash val="solid"/>
          </a:ln>
        </p:spPr>
      </p:sp>
      <p:sp>
        <p:nvSpPr>
          <p:cNvPr id="9" name="Text 7"/>
          <p:cNvSpPr/>
          <p:nvPr/>
        </p:nvSpPr>
        <p:spPr>
          <a:xfrm>
            <a:off x="4579824" y="2008870"/>
            <a:ext cx="31232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4B00"/>
                </a:solidFill>
                <a:latin typeface="Nunito Sans" pitchFamily="34" charset="0"/>
                <a:ea typeface="Nunito Sans" pitchFamily="34" charset="-122"/>
                <a:cs typeface="Nunito Sans" pitchFamily="34" charset="-120"/>
              </a:rPr>
              <a:t>Qué corregir</a:t>
            </a:r>
            <a:endParaRPr lang="en-US" sz="1500" dirty="0"/>
          </a:p>
        </p:txBody>
      </p:sp>
      <p:sp>
        <p:nvSpPr>
          <p:cNvPr id="10" name="Text 8"/>
          <p:cNvSpPr/>
          <p:nvPr/>
        </p:nvSpPr>
        <p:spPr>
          <a:xfrm>
            <a:off x="4671518" y="2313670"/>
            <a:ext cx="3023950" cy="1411968"/>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¿Paga el docente o la facultad? Prueben las dos hipótesis.</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Tareas de estudiantes enviadas a una IA: privacidad y consentimiento.</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¿Cómo medirán que el tutor «no inventa» respuestas?</a:t>
            </a:r>
            <a:endParaRPr lang="en-US" sz="1300" dirty="0"/>
          </a:p>
        </p:txBody>
      </p:sp>
      <p:sp>
        <p:nvSpPr>
          <p:cNvPr id="11" name="Shape 9"/>
          <p:cNvSpPr/>
          <p:nvPr/>
        </p:nvSpPr>
        <p:spPr>
          <a:xfrm>
            <a:off x="7961823" y="1830611"/>
            <a:ext cx="3414202" cy="2278970"/>
          </a:xfrm>
          <a:prstGeom prst="roundRect">
            <a:avLst>
              <a:gd name="adj" fmla="val 4319"/>
            </a:avLst>
          </a:prstGeom>
          <a:solidFill>
            <a:srgbClr val="FDFDFB"/>
          </a:solidFill>
          <a:ln w="6350">
            <a:solidFill>
              <a:srgbClr val="DCE3EA"/>
            </a:solidFill>
            <a:prstDash val="solid"/>
          </a:ln>
        </p:spPr>
      </p:sp>
      <p:sp>
        <p:nvSpPr>
          <p:cNvPr id="12" name="Text 10"/>
          <p:cNvSpPr/>
          <p:nvPr/>
        </p:nvSpPr>
        <p:spPr>
          <a:xfrm>
            <a:off x="8152777" y="2008870"/>
            <a:ext cx="31232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Para el pitch del lunes</a:t>
            </a:r>
            <a:endParaRPr lang="en-US" sz="1500" dirty="0"/>
          </a:p>
        </p:txBody>
      </p:sp>
      <p:sp>
        <p:nvSpPr>
          <p:cNvPr id="13" name="Text 11"/>
          <p:cNvSpPr/>
          <p:nvPr/>
        </p:nvSpPr>
        <p:spPr>
          <a:xfrm>
            <a:off x="8244471" y="2313670"/>
            <a:ext cx="3023950" cy="949779"/>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Una tarea real calificada por la IA y por el docente: % de coincidencia.</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Minutos ahorrados por tarea.</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Cuántos docentes probaron el PMV.</a:t>
            </a:r>
            <a:endParaRPr lang="en-US" sz="1300" dirty="0"/>
          </a:p>
        </p:txBody>
      </p:sp>
      <p:pic>
        <p:nvPicPr>
          <p:cNvPr id="14" name="Image 0" descr="Logo PUCE">    </p:cNvPr>
          <p:cNvPicPr>
            <a:picLocks noChangeAspect="1"/>
          </p:cNvPicPr>
          <p:nvPr/>
        </p:nvPicPr>
        <p:blipFill>
          <a:blip r:embed="rId1"/>
          <a:srcRect l="-436" r="-436" t="0" b="0"/>
          <a:stretch/>
        </p:blipFill>
        <p:spPr>
          <a:xfrm>
            <a:off x="812800" y="6184888"/>
            <a:ext cx="1016000" cy="279400"/>
          </a:xfrm>
          <a:prstGeom prst="rect">
            <a:avLst/>
          </a:prstGeom>
        </p:spPr>
      </p:pic>
      <p:sp>
        <p:nvSpPr>
          <p:cNvPr id="15" name="Text 12"/>
          <p:cNvSpPr/>
          <p:nvPr/>
        </p:nvSpPr>
        <p:spPr>
          <a:xfrm>
            <a:off x="8008847" y="6217903"/>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DEMO · EL CANVAS REAL DE CONECTAEDU</a:t>
            </a:r>
            <a:endParaRPr lang="en-US" sz="1200" dirty="0"/>
          </a:p>
        </p:txBody>
      </p:sp>
      <p:sp>
        <p:nvSpPr>
          <p:cNvPr id="3" name="Text 1"/>
          <p:cNvSpPr/>
          <p:nvPr>
            <p:ph type="title"/>
          </p:nvPr>
        </p:nvSpPr>
        <p:spPr>
          <a:xfrm>
            <a:off x="812800" y="886470"/>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Qué está bien y qué hay que corregir</a:t>
            </a:r>
            <a:endParaRPr lang="en-US" sz="2500" dirty="0"/>
          </a:p>
        </p:txBody>
      </p:sp>
      <p:sp>
        <p:nvSpPr>
          <p:cNvPr id="4" name="Shape 2"/>
          <p:cNvSpPr/>
          <p:nvPr/>
        </p:nvSpPr>
        <p:spPr>
          <a:xfrm>
            <a:off x="812800" y="1403995"/>
            <a:ext cx="6413500" cy="3822700"/>
          </a:xfrm>
          <a:prstGeom prst="roundRect">
            <a:avLst>
              <a:gd name="adj" fmla="val 1329"/>
            </a:avLst>
          </a:prstGeom>
          <a:solidFill>
            <a:srgbClr val="FFFFFF"/>
          </a:solidFill>
          <a:ln/>
        </p:spPr>
      </p:sp>
      <p:pic>
        <p:nvPicPr>
          <p:cNvPr id="5" name="Image 0" descr="Business Model Canvas entregado por ConectaEDU">    </p:cNvPr>
          <p:cNvPicPr>
            <a:picLocks noChangeAspect="1"/>
          </p:cNvPicPr>
          <p:nvPr/>
        </p:nvPicPr>
        <p:blipFill>
          <a:blip r:embed="rId1"/>
          <a:srcRect l="-18" r="-18" t="0" b="0"/>
          <a:stretch/>
        </p:blipFill>
        <p:spPr>
          <a:xfrm>
            <a:off x="819150" y="1410345"/>
            <a:ext cx="6400800" cy="3810000"/>
          </a:xfrm>
          <a:prstGeom prst="roundRect">
            <a:avLst>
              <a:gd name="adj" fmla="val 1167"/>
            </a:avLst>
          </a:prstGeom>
        </p:spPr>
      </p:pic>
      <p:sp>
        <p:nvSpPr>
          <p:cNvPr id="6" name="Shape 3"/>
          <p:cNvSpPr/>
          <p:nvPr/>
        </p:nvSpPr>
        <p:spPr>
          <a:xfrm>
            <a:off x="815975" y="1407170"/>
            <a:ext cx="6407150" cy="3816350"/>
          </a:xfrm>
          <a:prstGeom prst="roundRect">
            <a:avLst>
              <a:gd name="adj" fmla="val 1248"/>
            </a:avLst>
          </a:prstGeom>
          <a:noFill/>
          <a:ln w="6350">
            <a:solidFill>
              <a:srgbClr val="DCE3EA"/>
            </a:solidFill>
            <a:prstDash val="solid"/>
          </a:ln>
        </p:spPr>
      </p:sp>
      <p:sp>
        <p:nvSpPr>
          <p:cNvPr id="7" name="Text 4"/>
          <p:cNvSpPr/>
          <p:nvPr/>
        </p:nvSpPr>
        <p:spPr>
          <a:xfrm>
            <a:off x="7429500" y="1403995"/>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1F6B33"/>
                </a:solidFill>
                <a:latin typeface="Nunito Sans" pitchFamily="34" charset="0"/>
                <a:ea typeface="Nunito Sans" pitchFamily="34" charset="-122"/>
                <a:cs typeface="Nunito Sans" pitchFamily="34" charset="-120"/>
              </a:rPr>
              <a:t>BIEN · Costos:</a:t>
            </a:r>
            <a:r>
              <a:rPr lang="en-US" sz="1200" dirty="0">
                <a:solidFill>
                  <a:srgbClr val="2B3A4E"/>
                </a:solidFill>
                <a:latin typeface="Nunito Sans" pitchFamily="34" charset="0"/>
                <a:ea typeface="Nunito Sans" pitchFamily="34" charset="-122"/>
                <a:cs typeface="Nunito Sans" pitchFamily="34" charset="-120"/>
              </a:rPr>
              <a:t> con tokens: USD 0,01 por tarea y 0,004 por consulta.</a:t>
            </a:r>
            <a:endParaRPr lang="en-US" sz="1200" dirty="0"/>
          </a:p>
        </p:txBody>
      </p:sp>
      <p:sp>
        <p:nvSpPr>
          <p:cNvPr id="8" name="Text 5"/>
          <p:cNvSpPr/>
          <p:nvPr/>
        </p:nvSpPr>
        <p:spPr>
          <a:xfrm>
            <a:off x="7429500" y="1913458"/>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1F6B33"/>
                </a:solidFill>
                <a:latin typeface="Nunito Sans" pitchFamily="34" charset="0"/>
                <a:ea typeface="Nunito Sans" pitchFamily="34" charset="-122"/>
                <a:cs typeface="Nunito Sans" pitchFamily="34" charset="-120"/>
              </a:rPr>
              <a:t>BIEN · Socios:</a:t>
            </a:r>
            <a:r>
              <a:rPr lang="en-US" sz="1200" dirty="0">
                <a:solidFill>
                  <a:srgbClr val="2B3A4E"/>
                </a:solidFill>
                <a:latin typeface="Nunito Sans" pitchFamily="34" charset="0"/>
                <a:ea typeface="Nunito Sans" pitchFamily="34" charset="-122"/>
                <a:cs typeface="Nunito Sans" pitchFamily="34" charset="-120"/>
              </a:rPr>
              <a:t> con nombre y un criterio: prueba con 10 tareas reales.</a:t>
            </a:r>
            <a:endParaRPr lang="en-US" sz="1200" dirty="0"/>
          </a:p>
        </p:txBody>
      </p:sp>
      <p:sp>
        <p:nvSpPr>
          <p:cNvPr id="9" name="Text 6"/>
          <p:cNvSpPr/>
          <p:nvPr/>
        </p:nvSpPr>
        <p:spPr>
          <a:xfrm>
            <a:off x="7429500" y="2422922"/>
            <a:ext cx="4068191" cy="235687"/>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1F6B33"/>
                </a:solidFill>
                <a:latin typeface="Nunito Sans" pitchFamily="34" charset="0"/>
                <a:ea typeface="Nunito Sans" pitchFamily="34" charset="-122"/>
                <a:cs typeface="Nunito Sans" pitchFamily="34" charset="-120"/>
              </a:rPr>
              <a:t>BIEN · Hipótesis:</a:t>
            </a:r>
            <a:r>
              <a:rPr lang="en-US" sz="1200" dirty="0">
                <a:solidFill>
                  <a:srgbClr val="2B3A4E"/>
                </a:solidFill>
                <a:latin typeface="Nunito Sans" pitchFamily="34" charset="0"/>
                <a:ea typeface="Nunito Sans" pitchFamily="34" charset="-122"/>
                <a:cs typeface="Nunito Sans" pitchFamily="34" charset="-120"/>
              </a:rPr>
              <a:t> declaran qué datos falta validar.</a:t>
            </a:r>
            <a:endParaRPr lang="en-US" sz="1200" dirty="0"/>
          </a:p>
        </p:txBody>
      </p:sp>
      <p:sp>
        <p:nvSpPr>
          <p:cNvPr id="10" name="Text 7"/>
          <p:cNvSpPr/>
          <p:nvPr/>
        </p:nvSpPr>
        <p:spPr>
          <a:xfrm>
            <a:off x="7429500" y="2722116"/>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A12F2F"/>
                </a:solidFill>
                <a:latin typeface="Nunito Sans" pitchFamily="34" charset="0"/>
                <a:ea typeface="Nunito Sans" pitchFamily="34" charset="-122"/>
                <a:cs typeface="Nunito Sans" pitchFamily="34" charset="-120"/>
              </a:rPr>
              <a:t>CORREGIR · Ingresos:</a:t>
            </a:r>
            <a:r>
              <a:rPr lang="en-US" sz="1200" dirty="0">
                <a:solidFill>
                  <a:srgbClr val="2B3A4E"/>
                </a:solidFill>
                <a:latin typeface="Nunito Sans" pitchFamily="34" charset="0"/>
                <a:ea typeface="Nunito Sans" pitchFamily="34" charset="-122"/>
                <a:cs typeface="Nunito Sans" pitchFamily="34" charset="-120"/>
              </a:rPr>
              <a:t> ¿paga el docente o la facultad? Hoy hay dos respuestas.</a:t>
            </a:r>
            <a:endParaRPr lang="en-US" sz="1200" dirty="0"/>
          </a:p>
        </p:txBody>
      </p:sp>
      <p:sp>
        <p:nvSpPr>
          <p:cNvPr id="11" name="Text 8"/>
          <p:cNvSpPr/>
          <p:nvPr/>
        </p:nvSpPr>
        <p:spPr>
          <a:xfrm>
            <a:off x="7429500" y="3231604"/>
            <a:ext cx="3949700" cy="639989"/>
          </a:xfrm>
          <a:prstGeom prst="roundRect">
            <a:avLst>
              <a:gd name="adj" fmla="val 11906"/>
            </a:avLst>
          </a:prstGeom>
          <a:solidFill>
            <a:srgbClr val="173E78"/>
          </a:solidFill>
          <a:ln/>
        </p:spPr>
        <p:txBody>
          <a:bodyPr wrap="square" lIns="117382" tIns="91982" rIns="7273" bIns="66582" rtlCol="0" anchor="t">
            <a:normAutofit/>
          </a:bodyPr>
          <a:lstStyle/>
          <a:p>
            <a:pPr algn="l" indent="0" marL="0">
              <a:lnSpc>
                <a:spcPts val="1620"/>
              </a:lnSpc>
              <a:buNone/>
            </a:pPr>
            <a:r>
              <a:rPr lang="en-US" sz="1200" b="1" dirty="0">
                <a:solidFill>
                  <a:srgbClr val="F3F6FA"/>
                </a:solidFill>
                <a:latin typeface="Nunito Sans" pitchFamily="34" charset="0"/>
                <a:ea typeface="Nunito Sans" pitchFamily="34" charset="-122"/>
                <a:cs typeface="Nunito Sans" pitchFamily="34" charset="-120"/>
              </a:rPr>
              <a:t>Pregunta al equipo:</a:t>
            </a:r>
            <a:r>
              <a:rPr lang="en-US" sz="1200" dirty="0">
                <a:solidFill>
                  <a:srgbClr val="F3F6FA"/>
                </a:solidFill>
                <a:latin typeface="Nunito Sans" pitchFamily="34" charset="0"/>
                <a:ea typeface="Nunito Sans" pitchFamily="34" charset="-122"/>
                <a:cs typeface="Nunito Sans" pitchFamily="34" charset="-120"/>
              </a:rPr>
              <a:t> ¿Qué le importa a un decano que no le importa al docente?</a:t>
            </a:r>
            <a:endParaRPr lang="en-US" sz="1200" dirty="0"/>
          </a:p>
        </p:txBody>
      </p:sp>
      <p:pic>
        <p:nvPicPr>
          <p:cNvPr id="12" name="Image 1" descr="Logo PUCE">    </p:cNvPr>
          <p:cNvPicPr>
            <a:picLocks noChangeAspect="1"/>
          </p:cNvPicPr>
          <p:nvPr/>
        </p:nvPicPr>
        <p:blipFill>
          <a:blip r:embed="rId2"/>
          <a:srcRect l="-436" r="-436" t="0" b="0"/>
          <a:stretch/>
        </p:blipFill>
        <p:spPr>
          <a:xfrm>
            <a:off x="812800" y="6184900"/>
            <a:ext cx="1016000" cy="279400"/>
          </a:xfrm>
          <a:prstGeom prst="rect">
            <a:avLst/>
          </a:prstGeom>
        </p:spPr>
      </p:pic>
      <p:sp>
        <p:nvSpPr>
          <p:cNvPr id="13" name="Text 9"/>
          <p:cNvSpPr/>
          <p:nvPr/>
        </p:nvSpPr>
        <p:spPr>
          <a:xfrm>
            <a:off x="8008847" y="6217915"/>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DEMO · PROCESO (ARRIBA) Y LIENZO (ABAJO) DE CONECTAEDU</a:t>
            </a:r>
            <a:endParaRPr lang="en-US" sz="1200" dirty="0"/>
          </a:p>
        </p:txBody>
      </p:sp>
      <p:sp>
        <p:nvSpPr>
          <p:cNvPr id="3" name="Text 1"/>
          <p:cNvSpPr/>
          <p:nvPr>
            <p:ph type="title"/>
          </p:nvPr>
        </p:nvSpPr>
        <p:spPr>
          <a:xfrm>
            <a:off x="812800" y="886470"/>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El cliente 1, paso a paso y en el lienzo</a:t>
            </a:r>
            <a:endParaRPr lang="en-US" sz="2500" dirty="0"/>
          </a:p>
        </p:txBody>
      </p:sp>
      <p:sp>
        <p:nvSpPr>
          <p:cNvPr id="4" name="Shape 2"/>
          <p:cNvSpPr/>
          <p:nvPr/>
        </p:nvSpPr>
        <p:spPr>
          <a:xfrm>
            <a:off x="812800" y="1403995"/>
            <a:ext cx="3175000" cy="1968500"/>
          </a:xfrm>
          <a:prstGeom prst="roundRect">
            <a:avLst>
              <a:gd name="adj" fmla="val 2581"/>
            </a:avLst>
          </a:prstGeom>
          <a:solidFill>
            <a:srgbClr val="FFFFFF"/>
          </a:solidFill>
          <a:ln/>
        </p:spPr>
      </p:sp>
      <p:pic>
        <p:nvPicPr>
          <p:cNvPr id="5" name="Image 0" descr="Proceso del trabajo del cliente de ConectaEDU">    </p:cNvPr>
          <p:cNvPicPr>
            <a:picLocks noChangeAspect="1"/>
          </p:cNvPicPr>
          <p:nvPr/>
        </p:nvPicPr>
        <p:blipFill>
          <a:blip r:embed="rId1"/>
          <a:srcRect l="-191" r="-191" t="0" b="0"/>
          <a:stretch/>
        </p:blipFill>
        <p:spPr>
          <a:xfrm>
            <a:off x="819150" y="1410345"/>
            <a:ext cx="3162300" cy="1955800"/>
          </a:xfrm>
          <a:prstGeom prst="roundRect">
            <a:avLst>
              <a:gd name="adj" fmla="val 2273"/>
            </a:avLst>
          </a:prstGeom>
        </p:spPr>
      </p:pic>
      <p:sp>
        <p:nvSpPr>
          <p:cNvPr id="6" name="Shape 3"/>
          <p:cNvSpPr/>
          <p:nvPr/>
        </p:nvSpPr>
        <p:spPr>
          <a:xfrm>
            <a:off x="815975" y="1407170"/>
            <a:ext cx="3168650" cy="1962150"/>
          </a:xfrm>
          <a:prstGeom prst="roundRect">
            <a:avLst>
              <a:gd name="adj" fmla="val 2427"/>
            </a:avLst>
          </a:prstGeom>
          <a:noFill/>
          <a:ln w="6350">
            <a:solidFill>
              <a:srgbClr val="DCE3EA"/>
            </a:solidFill>
            <a:prstDash val="solid"/>
          </a:ln>
        </p:spPr>
      </p:sp>
      <p:sp>
        <p:nvSpPr>
          <p:cNvPr id="7" name="Shape 4"/>
          <p:cNvSpPr/>
          <p:nvPr/>
        </p:nvSpPr>
        <p:spPr>
          <a:xfrm>
            <a:off x="812800" y="3448695"/>
            <a:ext cx="3175000" cy="1968500"/>
          </a:xfrm>
          <a:prstGeom prst="roundRect">
            <a:avLst>
              <a:gd name="adj" fmla="val 2581"/>
            </a:avLst>
          </a:prstGeom>
          <a:solidFill>
            <a:srgbClr val="FFFFFF"/>
          </a:solidFill>
          <a:ln/>
        </p:spPr>
      </p:sp>
      <p:pic>
        <p:nvPicPr>
          <p:cNvPr id="8" name="Image 1" descr="Lienzo de propuesta de valor de ConectaEDU">    </p:cNvPr>
          <p:cNvPicPr>
            <a:picLocks noChangeAspect="1"/>
          </p:cNvPicPr>
          <p:nvPr/>
        </p:nvPicPr>
        <p:blipFill>
          <a:blip r:embed="rId2"/>
          <a:srcRect l="-191" r="-191" t="0" b="0"/>
          <a:stretch/>
        </p:blipFill>
        <p:spPr>
          <a:xfrm>
            <a:off x="819150" y="3455045"/>
            <a:ext cx="3162300" cy="1955800"/>
          </a:xfrm>
          <a:prstGeom prst="roundRect">
            <a:avLst>
              <a:gd name="adj" fmla="val 2273"/>
            </a:avLst>
          </a:prstGeom>
        </p:spPr>
      </p:pic>
      <p:sp>
        <p:nvSpPr>
          <p:cNvPr id="9" name="Shape 5"/>
          <p:cNvSpPr/>
          <p:nvPr/>
        </p:nvSpPr>
        <p:spPr>
          <a:xfrm>
            <a:off x="815975" y="3451870"/>
            <a:ext cx="3168650" cy="1962150"/>
          </a:xfrm>
          <a:prstGeom prst="roundRect">
            <a:avLst>
              <a:gd name="adj" fmla="val 2427"/>
            </a:avLst>
          </a:prstGeom>
          <a:noFill/>
          <a:ln w="6350">
            <a:solidFill>
              <a:srgbClr val="DCE3EA"/>
            </a:solidFill>
            <a:prstDash val="solid"/>
          </a:ln>
        </p:spPr>
      </p:sp>
      <p:sp>
        <p:nvSpPr>
          <p:cNvPr id="10" name="Text 6"/>
          <p:cNvSpPr/>
          <p:nvPr/>
        </p:nvSpPr>
        <p:spPr>
          <a:xfrm>
            <a:off x="4191000" y="1403995"/>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1F6B33"/>
                </a:solidFill>
                <a:latin typeface="Nunito Sans" pitchFamily="34" charset="0"/>
                <a:ea typeface="Nunito Sans" pitchFamily="34" charset="-122"/>
                <a:cs typeface="Nunito Sans" pitchFamily="34" charset="-120"/>
              </a:rPr>
              <a:t>BIEN · Marcadores:</a:t>
            </a:r>
            <a:r>
              <a:rPr lang="en-US" sz="1300" dirty="0">
                <a:solidFill>
                  <a:srgbClr val="2B3A4E"/>
                </a:solidFill>
                <a:latin typeface="Nunito Sans" pitchFamily="34" charset="0"/>
                <a:ea typeface="Nunito Sans" pitchFamily="34" charset="-122"/>
                <a:cs typeface="Nunito Sans" pitchFamily="34" charset="-120"/>
              </a:rPr>
              <a:t> 4 (A–D) con paso, tipo e hipótesis: el modelo de la clase.</a:t>
            </a:r>
            <a:endParaRPr lang="en-US" sz="1300" dirty="0"/>
          </a:p>
        </p:txBody>
      </p:sp>
      <p:sp>
        <p:nvSpPr>
          <p:cNvPr id="11" name="Text 7"/>
          <p:cNvSpPr/>
          <p:nvPr/>
        </p:nvSpPr>
        <p:spPr>
          <a:xfrm>
            <a:off x="4191000" y="1733401"/>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1F6B33"/>
                </a:solidFill>
                <a:latin typeface="Nunito Sans" pitchFamily="34" charset="0"/>
                <a:ea typeface="Nunito Sans" pitchFamily="34" charset="-122"/>
                <a:cs typeface="Nunito Sans" pitchFamily="34" charset="-120"/>
              </a:rPr>
              <a:t>BIEN · Lienzo:</a:t>
            </a:r>
            <a:r>
              <a:rPr lang="en-US" sz="1300" dirty="0">
                <a:solidFill>
                  <a:srgbClr val="2B3A4E"/>
                </a:solidFill>
                <a:latin typeface="Nunito Sans" pitchFamily="34" charset="0"/>
                <a:ea typeface="Nunito Sans" pitchFamily="34" charset="-122"/>
                <a:cs typeface="Nunito Sans" pitchFamily="34" charset="-120"/>
              </a:rPr>
              <a:t> encaja con los marcadores.</a:t>
            </a:r>
            <a:endParaRPr lang="en-US" sz="1300" dirty="0"/>
          </a:p>
        </p:txBody>
      </p:sp>
      <p:sp>
        <p:nvSpPr>
          <p:cNvPr id="12" name="Text 8"/>
          <p:cNvSpPr/>
          <p:nvPr/>
        </p:nvSpPr>
        <p:spPr>
          <a:xfrm>
            <a:off x="4191000" y="2062807"/>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A12F2F"/>
                </a:solidFill>
                <a:latin typeface="Nunito Sans" pitchFamily="34" charset="0"/>
                <a:ea typeface="Nunito Sans" pitchFamily="34" charset="-122"/>
                <a:cs typeface="Nunito Sans" pitchFamily="34" charset="-120"/>
              </a:rPr>
              <a:t>CORREGIR · Evidencia:</a:t>
            </a:r>
            <a:r>
              <a:rPr lang="en-US" sz="1300" dirty="0">
                <a:solidFill>
                  <a:srgbClr val="2B3A4E"/>
                </a:solidFill>
                <a:latin typeface="Nunito Sans" pitchFamily="34" charset="0"/>
                <a:ea typeface="Nunito Sans" pitchFamily="34" charset="-122"/>
                <a:cs typeface="Nunito Sans" pitchFamily="34" charset="-120"/>
              </a:rPr>
              <a:t> todo el perfil es hipótesis; falta un dato medido.</a:t>
            </a:r>
            <a:endParaRPr lang="en-US" sz="1300" dirty="0"/>
          </a:p>
        </p:txBody>
      </p:sp>
      <p:sp>
        <p:nvSpPr>
          <p:cNvPr id="13" name="Text 9"/>
          <p:cNvSpPr/>
          <p:nvPr/>
        </p:nvSpPr>
        <p:spPr>
          <a:xfrm>
            <a:off x="4191000" y="2392214"/>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A12F2F"/>
                </a:solidFill>
                <a:latin typeface="Nunito Sans" pitchFamily="34" charset="0"/>
                <a:ea typeface="Nunito Sans" pitchFamily="34" charset="-122"/>
                <a:cs typeface="Nunito Sans" pitchFamily="34" charset="-120"/>
              </a:rPr>
              <a:t>CORREGIR · Privacidad:</a:t>
            </a:r>
            <a:r>
              <a:rPr lang="en-US" sz="1300" dirty="0">
                <a:solidFill>
                  <a:srgbClr val="2B3A4E"/>
                </a:solidFill>
                <a:latin typeface="Nunito Sans" pitchFamily="34" charset="0"/>
                <a:ea typeface="Nunito Sans" pitchFamily="34" charset="-122"/>
                <a:cs typeface="Nunito Sans" pitchFamily="34" charset="-120"/>
              </a:rPr>
              <a:t> tareas de estudiantes enviadas a un proveedor de IA.</a:t>
            </a:r>
            <a:endParaRPr lang="en-US" sz="1300" dirty="0"/>
          </a:p>
        </p:txBody>
      </p:sp>
      <p:sp>
        <p:nvSpPr>
          <p:cNvPr id="14" name="Text 10"/>
          <p:cNvSpPr/>
          <p:nvPr/>
        </p:nvSpPr>
        <p:spPr>
          <a:xfrm>
            <a:off x="4191000" y="2721620"/>
            <a:ext cx="7188200" cy="476874"/>
          </a:xfrm>
          <a:prstGeom prst="roundRect">
            <a:avLst>
              <a:gd name="adj" fmla="val 15979"/>
            </a:avLst>
          </a:prstGeom>
          <a:solidFill>
            <a:srgbClr val="173E78"/>
          </a:solidFill>
          <a:ln/>
        </p:spPr>
        <p:txBody>
          <a:bodyPr wrap="square" lIns="142782" tIns="104682" rIns="0" bIns="79282" rtlCol="0" anchor="t">
            <a:normAutofit/>
          </a:bodyPr>
          <a:lstStyle/>
          <a:p>
            <a:pPr algn="l" indent="0" marL="0">
              <a:lnSpc>
                <a:spcPts val="1755"/>
              </a:lnSpc>
              <a:buNone/>
            </a:pPr>
            <a:r>
              <a:rPr lang="en-US" sz="1300" b="1" dirty="0">
                <a:solidFill>
                  <a:srgbClr val="F3F6FA"/>
                </a:solidFill>
                <a:latin typeface="Nunito Sans" pitchFamily="34" charset="0"/>
                <a:ea typeface="Nunito Sans" pitchFamily="34" charset="-122"/>
                <a:cs typeface="Nunito Sans" pitchFamily="34" charset="-120"/>
              </a:rPr>
              <a:t>Pregunta al equipo:</a:t>
            </a:r>
            <a:r>
              <a:rPr lang="en-US" sz="1300" dirty="0">
                <a:solidFill>
                  <a:srgbClr val="F3F6FA"/>
                </a:solidFill>
                <a:latin typeface="Nunito Sans" pitchFamily="34" charset="0"/>
                <a:ea typeface="Nunito Sans" pitchFamily="34" charset="-122"/>
                <a:cs typeface="Nunito Sans" pitchFamily="34" charset="-120"/>
              </a:rPr>
              <a:t> ¿Cuántos minutos tarda hoy un docente por tarea? ¿Lo midieron?</a:t>
            </a:r>
            <a:endParaRPr lang="en-US" sz="1300" dirty="0"/>
          </a:p>
        </p:txBody>
      </p:sp>
      <p:pic>
        <p:nvPicPr>
          <p:cNvPr id="15" name="Image 2" descr="Logo PUCE">    </p:cNvPr>
          <p:cNvPicPr>
            <a:picLocks noChangeAspect="1"/>
          </p:cNvPicPr>
          <p:nvPr/>
        </p:nvPicPr>
        <p:blipFill>
          <a:blip r:embed="rId3"/>
          <a:srcRect l="-436" r="-436" t="0" b="0"/>
          <a:stretch/>
        </p:blipFill>
        <p:spPr>
          <a:xfrm>
            <a:off x="812800" y="6184900"/>
            <a:ext cx="1016000" cy="279400"/>
          </a:xfrm>
          <a:prstGeom prst="rect">
            <a:avLst/>
          </a:prstGeom>
        </p:spPr>
      </p:pic>
      <p:sp>
        <p:nvSpPr>
          <p:cNvPr id="16" name="Text 11"/>
          <p:cNvSpPr/>
          <p:nvPr/>
        </p:nvSpPr>
        <p:spPr>
          <a:xfrm>
            <a:off x="8008847" y="6217915"/>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RETROALIMENTACIÓN E5 · EQUIPO 5 DE 7</a:t>
            </a:r>
            <a:endParaRPr lang="en-US" sz="1200" dirty="0"/>
          </a:p>
        </p:txBody>
      </p:sp>
      <p:sp>
        <p:nvSpPr>
          <p:cNvPr id="3" name="Text 1"/>
          <p:cNvSpPr/>
          <p:nvPr>
            <p:ph type="title"/>
          </p:nvPr>
        </p:nvSpPr>
        <p:spPr>
          <a:xfrm>
            <a:off x="812800" y="937270"/>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Developers CARF</a:t>
            </a:r>
            <a:endParaRPr lang="en-US" sz="2800" dirty="0"/>
          </a:p>
        </p:txBody>
      </p:sp>
      <p:sp>
        <p:nvSpPr>
          <p:cNvPr id="4" name="Text 2"/>
          <p:cNvSpPr/>
          <p:nvPr/>
        </p:nvSpPr>
        <p:spPr>
          <a:xfrm>
            <a:off x="812800" y="1409650"/>
            <a:ext cx="10883393" cy="26539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878"/>
                </a:solidFill>
                <a:latin typeface="Nunito Sans" pitchFamily="34" charset="0"/>
                <a:ea typeface="Nunito Sans" pitchFamily="34" charset="-122"/>
                <a:cs typeface="Nunito Sans" pitchFamily="34" charset="-120"/>
              </a:rPr>
              <a:t>Orientación vocacional con mini-retos de materias reales de primer semestre.</a:t>
            </a:r>
            <a:endParaRPr lang="en-US" sz="1400" dirty="0"/>
          </a:p>
        </p:txBody>
      </p:sp>
      <p:sp>
        <p:nvSpPr>
          <p:cNvPr id="5" name="Shape 3"/>
          <p:cNvSpPr/>
          <p:nvPr/>
        </p:nvSpPr>
        <p:spPr>
          <a:xfrm>
            <a:off x="815975" y="1830636"/>
            <a:ext cx="3414146" cy="2047875"/>
          </a:xfrm>
          <a:prstGeom prst="roundRect">
            <a:avLst>
              <a:gd name="adj" fmla="val 4806"/>
            </a:avLst>
          </a:prstGeom>
          <a:solidFill>
            <a:srgbClr val="FDFDFB"/>
          </a:solidFill>
          <a:ln w="6350">
            <a:solidFill>
              <a:srgbClr val="DCE3EA"/>
            </a:solidFill>
            <a:prstDash val="solid"/>
          </a:ln>
        </p:spPr>
      </p:sp>
      <p:sp>
        <p:nvSpPr>
          <p:cNvPr id="6" name="Text 4"/>
          <p:cNvSpPr/>
          <p:nvPr/>
        </p:nvSpPr>
        <p:spPr>
          <a:xfrm>
            <a:off x="1006929" y="2008882"/>
            <a:ext cx="31232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47A7B"/>
                </a:solidFill>
                <a:latin typeface="Nunito Sans" pitchFamily="34" charset="0"/>
                <a:ea typeface="Nunito Sans" pitchFamily="34" charset="-122"/>
                <a:cs typeface="Nunito Sans" pitchFamily="34" charset="-120"/>
              </a:rPr>
              <a:t>Lo que está bien</a:t>
            </a:r>
            <a:endParaRPr lang="en-US" sz="1500" dirty="0"/>
          </a:p>
        </p:txBody>
      </p:sp>
      <p:sp>
        <p:nvSpPr>
          <p:cNvPr id="7" name="Text 5"/>
          <p:cNvSpPr/>
          <p:nvPr/>
        </p:nvSpPr>
        <p:spPr>
          <a:xfrm>
            <a:off x="1098623" y="2313682"/>
            <a:ext cx="3023892" cy="1411968"/>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Argumento económico fuerte: cada desertor cuesta $1.500–2.500.</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Idea original: mini-retos de materias reales de primer semestre.</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Propuesta clara para el estudiante: «tu carrera en 10 minutos».</a:t>
            </a:r>
            <a:endParaRPr lang="en-US" sz="1300" dirty="0"/>
          </a:p>
        </p:txBody>
      </p:sp>
      <p:sp>
        <p:nvSpPr>
          <p:cNvPr id="8" name="Shape 6"/>
          <p:cNvSpPr/>
          <p:nvPr/>
        </p:nvSpPr>
        <p:spPr>
          <a:xfrm>
            <a:off x="4388871" y="1830636"/>
            <a:ext cx="3414202" cy="2047875"/>
          </a:xfrm>
          <a:prstGeom prst="roundRect">
            <a:avLst>
              <a:gd name="adj" fmla="val 4806"/>
            </a:avLst>
          </a:prstGeom>
          <a:solidFill>
            <a:srgbClr val="FFFBF0"/>
          </a:solidFill>
          <a:ln w="6350">
            <a:solidFill>
              <a:srgbClr val="DCE3EA"/>
            </a:solidFill>
            <a:prstDash val="solid"/>
          </a:ln>
        </p:spPr>
      </p:sp>
      <p:sp>
        <p:nvSpPr>
          <p:cNvPr id="9" name="Text 7"/>
          <p:cNvSpPr/>
          <p:nvPr/>
        </p:nvSpPr>
        <p:spPr>
          <a:xfrm>
            <a:off x="4579824" y="2008882"/>
            <a:ext cx="31232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4B00"/>
                </a:solidFill>
                <a:latin typeface="Nunito Sans" pitchFamily="34" charset="0"/>
                <a:ea typeface="Nunito Sans" pitchFamily="34" charset="-122"/>
                <a:cs typeface="Nunito Sans" pitchFamily="34" charset="-120"/>
              </a:rPr>
              <a:t>Qué corregir</a:t>
            </a:r>
            <a:endParaRPr lang="en-US" sz="1500" dirty="0"/>
          </a:p>
        </p:txBody>
      </p:sp>
      <p:sp>
        <p:nvSpPr>
          <p:cNvPr id="10" name="Text 8"/>
          <p:cNvSpPr/>
          <p:nvPr/>
        </p:nvSpPr>
        <p:spPr>
          <a:xfrm>
            <a:off x="4671518" y="2313682"/>
            <a:ext cx="3023950" cy="1411968"/>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Subieron dos archivos distintos y en uno falta Gabriel. Uno por equipo.</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Lienzo saturado y repetido: menos notas, más precisas.</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«Test evaluado psicométricamente» exige un profesional que lo respalde.</a:t>
            </a:r>
            <a:endParaRPr lang="en-US" sz="1300" dirty="0"/>
          </a:p>
        </p:txBody>
      </p:sp>
      <p:sp>
        <p:nvSpPr>
          <p:cNvPr id="11" name="Shape 9"/>
          <p:cNvSpPr/>
          <p:nvPr/>
        </p:nvSpPr>
        <p:spPr>
          <a:xfrm>
            <a:off x="7961823" y="1830636"/>
            <a:ext cx="3414202" cy="2047875"/>
          </a:xfrm>
          <a:prstGeom prst="roundRect">
            <a:avLst>
              <a:gd name="adj" fmla="val 4806"/>
            </a:avLst>
          </a:prstGeom>
          <a:solidFill>
            <a:srgbClr val="FDFDFB"/>
          </a:solidFill>
          <a:ln w="6350">
            <a:solidFill>
              <a:srgbClr val="DCE3EA"/>
            </a:solidFill>
            <a:prstDash val="solid"/>
          </a:ln>
        </p:spPr>
      </p:sp>
      <p:sp>
        <p:nvSpPr>
          <p:cNvPr id="12" name="Text 10"/>
          <p:cNvSpPr/>
          <p:nvPr/>
        </p:nvSpPr>
        <p:spPr>
          <a:xfrm>
            <a:off x="8152777" y="2008882"/>
            <a:ext cx="31232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Para el pitch del lunes</a:t>
            </a:r>
            <a:endParaRPr lang="en-US" sz="1500" dirty="0"/>
          </a:p>
        </p:txBody>
      </p:sp>
      <p:sp>
        <p:nvSpPr>
          <p:cNvPr id="13" name="Text 11"/>
          <p:cNvSpPr/>
          <p:nvPr/>
        </p:nvSpPr>
        <p:spPr>
          <a:xfrm>
            <a:off x="8244471" y="2313682"/>
            <a:ext cx="3023950" cy="949779"/>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La fuente de la cifra de deserción.</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Un mini-reto jugable en vivo.</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Si ya hablaron con Admisiones, qué les respondieron.</a:t>
            </a:r>
            <a:endParaRPr lang="en-US" sz="1300" dirty="0"/>
          </a:p>
        </p:txBody>
      </p:sp>
      <p:pic>
        <p:nvPicPr>
          <p:cNvPr id="14"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5" name="Text 12"/>
          <p:cNvSpPr/>
          <p:nvPr/>
        </p:nvSpPr>
        <p:spPr>
          <a:xfrm>
            <a:off x="8008847" y="6217915"/>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DEMO · EL CANVAS REAL DE DEVELOPERS CARF</a:t>
            </a:r>
            <a:endParaRPr lang="en-US" sz="1200" dirty="0"/>
          </a:p>
        </p:txBody>
      </p:sp>
      <p:sp>
        <p:nvSpPr>
          <p:cNvPr id="3" name="Text 1"/>
          <p:cNvSpPr/>
          <p:nvPr>
            <p:ph type="title"/>
          </p:nvPr>
        </p:nvSpPr>
        <p:spPr>
          <a:xfrm>
            <a:off x="812800" y="886470"/>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Qué está bien y qué hay que corregir</a:t>
            </a:r>
            <a:endParaRPr lang="en-US" sz="2500" dirty="0"/>
          </a:p>
        </p:txBody>
      </p:sp>
      <p:sp>
        <p:nvSpPr>
          <p:cNvPr id="4" name="Shape 2"/>
          <p:cNvSpPr/>
          <p:nvPr/>
        </p:nvSpPr>
        <p:spPr>
          <a:xfrm>
            <a:off x="812800" y="1403995"/>
            <a:ext cx="6413500" cy="3822700"/>
          </a:xfrm>
          <a:prstGeom prst="roundRect">
            <a:avLst>
              <a:gd name="adj" fmla="val 1329"/>
            </a:avLst>
          </a:prstGeom>
          <a:solidFill>
            <a:srgbClr val="FFFFFF"/>
          </a:solidFill>
          <a:ln/>
        </p:spPr>
      </p:sp>
      <p:pic>
        <p:nvPicPr>
          <p:cNvPr id="5" name="Image 0" descr="Business Model Canvas entregado por Developers CARF">    </p:cNvPr>
          <p:cNvPicPr>
            <a:picLocks noChangeAspect="1"/>
          </p:cNvPicPr>
          <p:nvPr/>
        </p:nvPicPr>
        <p:blipFill>
          <a:blip r:embed="rId1"/>
          <a:srcRect l="-18" r="-18" t="0" b="0"/>
          <a:stretch/>
        </p:blipFill>
        <p:spPr>
          <a:xfrm>
            <a:off x="819150" y="1410345"/>
            <a:ext cx="6400800" cy="3810000"/>
          </a:xfrm>
          <a:prstGeom prst="roundRect">
            <a:avLst>
              <a:gd name="adj" fmla="val 1167"/>
            </a:avLst>
          </a:prstGeom>
        </p:spPr>
      </p:pic>
      <p:sp>
        <p:nvSpPr>
          <p:cNvPr id="6" name="Shape 3"/>
          <p:cNvSpPr/>
          <p:nvPr/>
        </p:nvSpPr>
        <p:spPr>
          <a:xfrm>
            <a:off x="815975" y="1407170"/>
            <a:ext cx="6407150" cy="3816350"/>
          </a:xfrm>
          <a:prstGeom prst="roundRect">
            <a:avLst>
              <a:gd name="adj" fmla="val 1248"/>
            </a:avLst>
          </a:prstGeom>
          <a:noFill/>
          <a:ln w="6350">
            <a:solidFill>
              <a:srgbClr val="DCE3EA"/>
            </a:solidFill>
            <a:prstDash val="solid"/>
          </a:ln>
        </p:spPr>
      </p:sp>
      <p:sp>
        <p:nvSpPr>
          <p:cNvPr id="7" name="Text 4"/>
          <p:cNvSpPr/>
          <p:nvPr/>
        </p:nvSpPr>
        <p:spPr>
          <a:xfrm>
            <a:off x="7429500" y="1403995"/>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1F6B33"/>
                </a:solidFill>
                <a:latin typeface="Nunito Sans" pitchFamily="34" charset="0"/>
                <a:ea typeface="Nunito Sans" pitchFamily="34" charset="-122"/>
                <a:cs typeface="Nunito Sans" pitchFamily="34" charset="-120"/>
              </a:rPr>
              <a:t>BIEN · Propuesta:</a:t>
            </a:r>
            <a:r>
              <a:rPr lang="en-US" sz="1200" dirty="0">
                <a:solidFill>
                  <a:srgbClr val="2B3A4E"/>
                </a:solidFill>
                <a:latin typeface="Nunito Sans" pitchFamily="34" charset="0"/>
                <a:ea typeface="Nunito Sans" pitchFamily="34" charset="-122"/>
                <a:cs typeface="Nunito Sans" pitchFamily="34" charset="-120"/>
              </a:rPr>
              <a:t> en una frase: «tu carrera ideal en 10 minutos».</a:t>
            </a:r>
            <a:endParaRPr lang="en-US" sz="1200" dirty="0"/>
          </a:p>
        </p:txBody>
      </p:sp>
      <p:sp>
        <p:nvSpPr>
          <p:cNvPr id="8" name="Text 5"/>
          <p:cNvSpPr/>
          <p:nvPr/>
        </p:nvSpPr>
        <p:spPr>
          <a:xfrm>
            <a:off x="7429500" y="1913458"/>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A12F2F"/>
                </a:solidFill>
                <a:latin typeface="Nunito Sans" pitchFamily="34" charset="0"/>
                <a:ea typeface="Nunito Sans" pitchFamily="34" charset="-122"/>
                <a:cs typeface="Nunito Sans" pitchFamily="34" charset="-120"/>
              </a:rPr>
              <a:t>CORREGIR · Socios:</a:t>
            </a:r>
            <a:r>
              <a:rPr lang="en-US" sz="1200" dirty="0">
                <a:solidFill>
                  <a:srgbClr val="2B3A4E"/>
                </a:solidFill>
                <a:latin typeface="Nunito Sans" pitchFamily="34" charset="0"/>
                <a:ea typeface="Nunito Sans" pitchFamily="34" charset="-122"/>
                <a:cs typeface="Nunito Sans" pitchFamily="34" charset="-120"/>
              </a:rPr>
              <a:t> Admisiones aparece como socio y como cliente 2.</a:t>
            </a:r>
            <a:endParaRPr lang="en-US" sz="1200" dirty="0"/>
          </a:p>
        </p:txBody>
      </p:sp>
      <p:sp>
        <p:nvSpPr>
          <p:cNvPr id="9" name="Text 6"/>
          <p:cNvSpPr/>
          <p:nvPr/>
        </p:nvSpPr>
        <p:spPr>
          <a:xfrm>
            <a:off x="7429500" y="2422922"/>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A12F2F"/>
                </a:solidFill>
                <a:latin typeface="Nunito Sans" pitchFamily="34" charset="0"/>
                <a:ea typeface="Nunito Sans" pitchFamily="34" charset="-122"/>
                <a:cs typeface="Nunito Sans" pitchFamily="34" charset="-120"/>
              </a:rPr>
              <a:t>CORREGIR · Ingresos (cliente 2):</a:t>
            </a:r>
            <a:r>
              <a:rPr lang="en-US" sz="1200" dirty="0">
                <a:solidFill>
                  <a:srgbClr val="2B3A4E"/>
                </a:solidFill>
                <a:latin typeface="Nunito Sans" pitchFamily="34" charset="0"/>
                <a:ea typeface="Nunito Sans" pitchFamily="34" charset="-122"/>
                <a:cs typeface="Nunito Sans" pitchFamily="34" charset="-120"/>
              </a:rPr>
              <a:t> «retorno de inversión» es un beneficio, no un pago.</a:t>
            </a:r>
            <a:endParaRPr lang="en-US" sz="1200" dirty="0"/>
          </a:p>
        </p:txBody>
      </p:sp>
      <p:sp>
        <p:nvSpPr>
          <p:cNvPr id="10" name="Text 7"/>
          <p:cNvSpPr/>
          <p:nvPr/>
        </p:nvSpPr>
        <p:spPr>
          <a:xfrm>
            <a:off x="7429500" y="2932410"/>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A12F2F"/>
                </a:solidFill>
                <a:latin typeface="Nunito Sans" pitchFamily="34" charset="0"/>
                <a:ea typeface="Nunito Sans" pitchFamily="34" charset="-122"/>
                <a:cs typeface="Nunito Sans" pitchFamily="34" charset="-120"/>
              </a:rPr>
              <a:t>CORREGIR · Recursos:</a:t>
            </a:r>
            <a:r>
              <a:rPr lang="en-US" sz="1200" dirty="0">
                <a:solidFill>
                  <a:srgbClr val="2B3A4E"/>
                </a:solidFill>
                <a:latin typeface="Nunito Sans" pitchFamily="34" charset="0"/>
                <a:ea typeface="Nunito Sans" pitchFamily="34" charset="-122"/>
                <a:cs typeface="Nunito Sans" pitchFamily="34" charset="-120"/>
              </a:rPr>
              <a:t> «solución de software con IA» es el producto.</a:t>
            </a:r>
            <a:endParaRPr lang="en-US" sz="1200" dirty="0"/>
          </a:p>
        </p:txBody>
      </p:sp>
      <p:sp>
        <p:nvSpPr>
          <p:cNvPr id="11" name="Text 8"/>
          <p:cNvSpPr/>
          <p:nvPr/>
        </p:nvSpPr>
        <p:spPr>
          <a:xfrm>
            <a:off x="7429500" y="3441874"/>
            <a:ext cx="3949700" cy="639989"/>
          </a:xfrm>
          <a:prstGeom prst="roundRect">
            <a:avLst>
              <a:gd name="adj" fmla="val 11906"/>
            </a:avLst>
          </a:prstGeom>
          <a:solidFill>
            <a:srgbClr val="173E78"/>
          </a:solidFill>
          <a:ln/>
        </p:spPr>
        <p:txBody>
          <a:bodyPr wrap="square" lIns="117382" tIns="91982" rIns="7273" bIns="66582" rtlCol="0" anchor="t">
            <a:normAutofit/>
          </a:bodyPr>
          <a:lstStyle/>
          <a:p>
            <a:pPr algn="l" indent="0" marL="0">
              <a:lnSpc>
                <a:spcPts val="1620"/>
              </a:lnSpc>
              <a:buNone/>
            </a:pPr>
            <a:r>
              <a:rPr lang="en-US" sz="1200" b="1" dirty="0">
                <a:solidFill>
                  <a:srgbClr val="F3F6FA"/>
                </a:solidFill>
                <a:latin typeface="Nunito Sans" pitchFamily="34" charset="0"/>
                <a:ea typeface="Nunito Sans" pitchFamily="34" charset="-122"/>
                <a:cs typeface="Nunito Sans" pitchFamily="34" charset="-120"/>
              </a:rPr>
              <a:t>Pregunta al equipo:</a:t>
            </a:r>
            <a:r>
              <a:rPr lang="en-US" sz="1200" dirty="0">
                <a:solidFill>
                  <a:srgbClr val="F3F6FA"/>
                </a:solidFill>
                <a:latin typeface="Nunito Sans" pitchFamily="34" charset="0"/>
                <a:ea typeface="Nunito Sans" pitchFamily="34" charset="-122"/>
                <a:cs typeface="Nunito Sans" pitchFamily="34" charset="-120"/>
              </a:rPr>
              <a:t> ¿Cuánto pagaría Admisiones y de qué presupuesto sale?</a:t>
            </a:r>
            <a:endParaRPr lang="en-US" sz="1200" dirty="0"/>
          </a:p>
        </p:txBody>
      </p:sp>
      <p:pic>
        <p:nvPicPr>
          <p:cNvPr id="12" name="Image 1" descr="Logo PUCE">    </p:cNvPr>
          <p:cNvPicPr>
            <a:picLocks noChangeAspect="1"/>
          </p:cNvPicPr>
          <p:nvPr/>
        </p:nvPicPr>
        <p:blipFill>
          <a:blip r:embed="rId2"/>
          <a:srcRect l="-436" r="-436" t="0" b="0"/>
          <a:stretch/>
        </p:blipFill>
        <p:spPr>
          <a:xfrm>
            <a:off x="812800" y="6184900"/>
            <a:ext cx="1016000" cy="279400"/>
          </a:xfrm>
          <a:prstGeom prst="rect">
            <a:avLst/>
          </a:prstGeom>
        </p:spPr>
      </p:pic>
      <p:sp>
        <p:nvSpPr>
          <p:cNvPr id="13" name="Text 9"/>
          <p:cNvSpPr/>
          <p:nvPr/>
        </p:nvSpPr>
        <p:spPr>
          <a:xfrm>
            <a:off x="8008847" y="6217915"/>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DEMO · PROCESO (ARRIBA) Y LIENZO (ABAJO) DE DEVELOPERS CARF</a:t>
            </a:r>
            <a:endParaRPr lang="en-US" sz="1200" dirty="0"/>
          </a:p>
        </p:txBody>
      </p:sp>
      <p:sp>
        <p:nvSpPr>
          <p:cNvPr id="3" name="Text 1"/>
          <p:cNvSpPr/>
          <p:nvPr>
            <p:ph type="title"/>
          </p:nvPr>
        </p:nvSpPr>
        <p:spPr>
          <a:xfrm>
            <a:off x="812800" y="886470"/>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El cliente 1, paso a paso y en el lienzo</a:t>
            </a:r>
            <a:endParaRPr lang="en-US" sz="2500" dirty="0"/>
          </a:p>
        </p:txBody>
      </p:sp>
      <p:sp>
        <p:nvSpPr>
          <p:cNvPr id="4" name="Shape 2"/>
          <p:cNvSpPr/>
          <p:nvPr/>
        </p:nvSpPr>
        <p:spPr>
          <a:xfrm>
            <a:off x="812800" y="1403995"/>
            <a:ext cx="3175000" cy="1968500"/>
          </a:xfrm>
          <a:prstGeom prst="roundRect">
            <a:avLst>
              <a:gd name="adj" fmla="val 2581"/>
            </a:avLst>
          </a:prstGeom>
          <a:solidFill>
            <a:srgbClr val="FFFFFF"/>
          </a:solidFill>
          <a:ln/>
        </p:spPr>
      </p:sp>
      <p:pic>
        <p:nvPicPr>
          <p:cNvPr id="5" name="Image 0" descr="Proceso del trabajo del cliente de Developers CARF">    </p:cNvPr>
          <p:cNvPicPr>
            <a:picLocks noChangeAspect="1"/>
          </p:cNvPicPr>
          <p:nvPr/>
        </p:nvPicPr>
        <p:blipFill>
          <a:blip r:embed="rId1"/>
          <a:srcRect l="-191" r="-191" t="0" b="0"/>
          <a:stretch/>
        </p:blipFill>
        <p:spPr>
          <a:xfrm>
            <a:off x="819150" y="1410345"/>
            <a:ext cx="3162300" cy="1955800"/>
          </a:xfrm>
          <a:prstGeom prst="roundRect">
            <a:avLst>
              <a:gd name="adj" fmla="val 2273"/>
            </a:avLst>
          </a:prstGeom>
        </p:spPr>
      </p:pic>
      <p:sp>
        <p:nvSpPr>
          <p:cNvPr id="6" name="Shape 3"/>
          <p:cNvSpPr/>
          <p:nvPr/>
        </p:nvSpPr>
        <p:spPr>
          <a:xfrm>
            <a:off x="815975" y="1407170"/>
            <a:ext cx="3168650" cy="1962150"/>
          </a:xfrm>
          <a:prstGeom prst="roundRect">
            <a:avLst>
              <a:gd name="adj" fmla="val 2427"/>
            </a:avLst>
          </a:prstGeom>
          <a:noFill/>
          <a:ln w="6350">
            <a:solidFill>
              <a:srgbClr val="DCE3EA"/>
            </a:solidFill>
            <a:prstDash val="solid"/>
          </a:ln>
        </p:spPr>
      </p:sp>
      <p:sp>
        <p:nvSpPr>
          <p:cNvPr id="7" name="Shape 4"/>
          <p:cNvSpPr/>
          <p:nvPr/>
        </p:nvSpPr>
        <p:spPr>
          <a:xfrm>
            <a:off x="812800" y="3448695"/>
            <a:ext cx="3175000" cy="1968500"/>
          </a:xfrm>
          <a:prstGeom prst="roundRect">
            <a:avLst>
              <a:gd name="adj" fmla="val 2581"/>
            </a:avLst>
          </a:prstGeom>
          <a:solidFill>
            <a:srgbClr val="FFFFFF"/>
          </a:solidFill>
          <a:ln/>
        </p:spPr>
      </p:sp>
      <p:pic>
        <p:nvPicPr>
          <p:cNvPr id="8" name="Image 1" descr="Lienzo de propuesta de valor de Developers CARF">    </p:cNvPr>
          <p:cNvPicPr>
            <a:picLocks noChangeAspect="1"/>
          </p:cNvPicPr>
          <p:nvPr/>
        </p:nvPicPr>
        <p:blipFill>
          <a:blip r:embed="rId2"/>
          <a:srcRect l="-191" r="-191" t="0" b="0"/>
          <a:stretch/>
        </p:blipFill>
        <p:spPr>
          <a:xfrm>
            <a:off x="819150" y="3455045"/>
            <a:ext cx="3162300" cy="1955800"/>
          </a:xfrm>
          <a:prstGeom prst="roundRect">
            <a:avLst>
              <a:gd name="adj" fmla="val 2273"/>
            </a:avLst>
          </a:prstGeom>
        </p:spPr>
      </p:pic>
      <p:sp>
        <p:nvSpPr>
          <p:cNvPr id="9" name="Shape 5"/>
          <p:cNvSpPr/>
          <p:nvPr/>
        </p:nvSpPr>
        <p:spPr>
          <a:xfrm>
            <a:off x="815975" y="3451870"/>
            <a:ext cx="3168650" cy="1962150"/>
          </a:xfrm>
          <a:prstGeom prst="roundRect">
            <a:avLst>
              <a:gd name="adj" fmla="val 2427"/>
            </a:avLst>
          </a:prstGeom>
          <a:noFill/>
          <a:ln w="6350">
            <a:solidFill>
              <a:srgbClr val="DCE3EA"/>
            </a:solidFill>
            <a:prstDash val="solid"/>
          </a:ln>
        </p:spPr>
      </p:sp>
      <p:sp>
        <p:nvSpPr>
          <p:cNvPr id="10" name="Text 6"/>
          <p:cNvSpPr/>
          <p:nvPr/>
        </p:nvSpPr>
        <p:spPr>
          <a:xfrm>
            <a:off x="4191000" y="1403995"/>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1F6B33"/>
                </a:solidFill>
                <a:latin typeface="Nunito Sans" pitchFamily="34" charset="0"/>
                <a:ea typeface="Nunito Sans" pitchFamily="34" charset="-122"/>
                <a:cs typeface="Nunito Sans" pitchFamily="34" charset="-120"/>
              </a:rPr>
              <a:t>BIEN · Proceso:</a:t>
            </a:r>
            <a:r>
              <a:rPr lang="en-US" sz="1300" dirty="0">
                <a:solidFill>
                  <a:srgbClr val="2B3A4E"/>
                </a:solidFill>
                <a:latin typeface="Nunito Sans" pitchFamily="34" charset="0"/>
                <a:ea typeface="Nunito Sans" pitchFamily="34" charset="-122"/>
                <a:cs typeface="Nunito Sans" pitchFamily="34" charset="-120"/>
              </a:rPr>
              <a:t> 8 pasos del aspirante, desde buscar tests hasta inscribirse.</a:t>
            </a:r>
            <a:endParaRPr lang="en-US" sz="1300" dirty="0"/>
          </a:p>
        </p:txBody>
      </p:sp>
      <p:sp>
        <p:nvSpPr>
          <p:cNvPr id="11" name="Text 7"/>
          <p:cNvSpPr/>
          <p:nvPr/>
        </p:nvSpPr>
        <p:spPr>
          <a:xfrm>
            <a:off x="4191000" y="1733401"/>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A12F2F"/>
                </a:solidFill>
                <a:latin typeface="Nunito Sans" pitchFamily="34" charset="0"/>
                <a:ea typeface="Nunito Sans" pitchFamily="34" charset="-122"/>
                <a:cs typeface="Nunito Sans" pitchFamily="34" charset="-120"/>
              </a:rPr>
              <a:t>CORREGIR · Marcadores:</a:t>
            </a:r>
            <a:r>
              <a:rPr lang="en-US" sz="1300" dirty="0">
                <a:solidFill>
                  <a:srgbClr val="2B3A4E"/>
                </a:solidFill>
                <a:latin typeface="Nunito Sans" pitchFamily="34" charset="0"/>
                <a:ea typeface="Nunito Sans" pitchFamily="34" charset="-122"/>
                <a:cs typeface="Nunito Sans" pitchFamily="34" charset="-120"/>
              </a:rPr>
              <a:t> un solo grupo, sin paso ni tipo.</a:t>
            </a:r>
            <a:endParaRPr lang="en-US" sz="1300" dirty="0"/>
          </a:p>
        </p:txBody>
      </p:sp>
      <p:sp>
        <p:nvSpPr>
          <p:cNvPr id="12" name="Text 8"/>
          <p:cNvSpPr/>
          <p:nvPr/>
        </p:nvSpPr>
        <p:spPr>
          <a:xfrm>
            <a:off x="4191000" y="2062807"/>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A12F2F"/>
                </a:solidFill>
                <a:latin typeface="Nunito Sans" pitchFamily="34" charset="0"/>
                <a:ea typeface="Nunito Sans" pitchFamily="34" charset="-122"/>
                <a:cs typeface="Nunito Sans" pitchFamily="34" charset="-120"/>
              </a:rPr>
              <a:t>CORREGIR · Lienzo:</a:t>
            </a:r>
            <a:r>
              <a:rPr lang="en-US" sz="1300" dirty="0">
                <a:solidFill>
                  <a:srgbClr val="2B3A4E"/>
                </a:solidFill>
                <a:latin typeface="Nunito Sans" pitchFamily="34" charset="0"/>
                <a:ea typeface="Nunito Sans" pitchFamily="34" charset="-122"/>
                <a:cs typeface="Nunito Sans" pitchFamily="34" charset="-120"/>
              </a:rPr>
              <a:t> saturado: AurelioBot se repite en varios bloques.</a:t>
            </a:r>
            <a:endParaRPr lang="en-US" sz="1300" dirty="0"/>
          </a:p>
        </p:txBody>
      </p:sp>
      <p:sp>
        <p:nvSpPr>
          <p:cNvPr id="13" name="Text 9"/>
          <p:cNvSpPr/>
          <p:nvPr/>
        </p:nvSpPr>
        <p:spPr>
          <a:xfrm>
            <a:off x="4191000" y="2392214"/>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A12F2F"/>
                </a:solidFill>
                <a:latin typeface="Nunito Sans" pitchFamily="34" charset="0"/>
                <a:ea typeface="Nunito Sans" pitchFamily="34" charset="-122"/>
                <a:cs typeface="Nunito Sans" pitchFamily="34" charset="-120"/>
              </a:rPr>
              <a:t>CORREGIR · Promesa:</a:t>
            </a:r>
            <a:r>
              <a:rPr lang="en-US" sz="1300" dirty="0">
                <a:solidFill>
                  <a:srgbClr val="2B3A4E"/>
                </a:solidFill>
                <a:latin typeface="Nunito Sans" pitchFamily="34" charset="0"/>
                <a:ea typeface="Nunito Sans" pitchFamily="34" charset="-122"/>
                <a:cs typeface="Nunito Sans" pitchFamily="34" charset="-120"/>
              </a:rPr>
              <a:t> «test evaluado psicométricamente» necesita un profesional.</a:t>
            </a:r>
            <a:endParaRPr lang="en-US" sz="1300" dirty="0"/>
          </a:p>
        </p:txBody>
      </p:sp>
      <p:sp>
        <p:nvSpPr>
          <p:cNvPr id="14" name="Text 10"/>
          <p:cNvSpPr/>
          <p:nvPr/>
        </p:nvSpPr>
        <p:spPr>
          <a:xfrm>
            <a:off x="4191000" y="2721620"/>
            <a:ext cx="7188200" cy="476874"/>
          </a:xfrm>
          <a:prstGeom prst="roundRect">
            <a:avLst>
              <a:gd name="adj" fmla="val 15979"/>
            </a:avLst>
          </a:prstGeom>
          <a:solidFill>
            <a:srgbClr val="173E78"/>
          </a:solidFill>
          <a:ln/>
        </p:spPr>
        <p:txBody>
          <a:bodyPr wrap="square" lIns="142782" tIns="104682" rIns="0" bIns="79282" rtlCol="0" anchor="t">
            <a:normAutofit/>
          </a:bodyPr>
          <a:lstStyle/>
          <a:p>
            <a:pPr algn="l" indent="0" marL="0">
              <a:lnSpc>
                <a:spcPts val="1755"/>
              </a:lnSpc>
              <a:buNone/>
            </a:pPr>
            <a:r>
              <a:rPr lang="en-US" sz="1300" b="1" dirty="0">
                <a:solidFill>
                  <a:srgbClr val="F3F6FA"/>
                </a:solidFill>
                <a:latin typeface="Nunito Sans" pitchFamily="34" charset="0"/>
                <a:ea typeface="Nunito Sans" pitchFamily="34" charset="-122"/>
                <a:cs typeface="Nunito Sans" pitchFamily="34" charset="-120"/>
              </a:rPr>
              <a:t>Pregunta al equipo:</a:t>
            </a:r>
            <a:r>
              <a:rPr lang="en-US" sz="1300" dirty="0">
                <a:solidFill>
                  <a:srgbClr val="F3F6FA"/>
                </a:solidFill>
                <a:latin typeface="Nunito Sans" pitchFamily="34" charset="0"/>
                <a:ea typeface="Nunito Sans" pitchFamily="34" charset="-122"/>
                <a:cs typeface="Nunito Sans" pitchFamily="34" charset="-120"/>
              </a:rPr>
              <a:t> Si solo pudieran dejar 3 notas por bloque, ¿cuáles quedan?</a:t>
            </a:r>
            <a:endParaRPr lang="en-US" sz="1300" dirty="0"/>
          </a:p>
        </p:txBody>
      </p:sp>
      <p:pic>
        <p:nvPicPr>
          <p:cNvPr id="15" name="Image 2" descr="Logo PUCE">    </p:cNvPr>
          <p:cNvPicPr>
            <a:picLocks noChangeAspect="1"/>
          </p:cNvPicPr>
          <p:nvPr/>
        </p:nvPicPr>
        <p:blipFill>
          <a:blip r:embed="rId3"/>
          <a:srcRect l="-436" r="-436" t="0" b="0"/>
          <a:stretch/>
        </p:blipFill>
        <p:spPr>
          <a:xfrm>
            <a:off x="812800" y="6184900"/>
            <a:ext cx="1016000" cy="279400"/>
          </a:xfrm>
          <a:prstGeom prst="rect">
            <a:avLst/>
          </a:prstGeom>
        </p:spPr>
      </p:pic>
      <p:sp>
        <p:nvSpPr>
          <p:cNvPr id="16" name="Text 11"/>
          <p:cNvSpPr/>
          <p:nvPr/>
        </p:nvSpPr>
        <p:spPr>
          <a:xfrm>
            <a:off x="8008847" y="6217915"/>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RETROALIMENTACIÓN E5 · EQUIPO 6 DE 7</a:t>
            </a:r>
            <a:endParaRPr lang="en-US" sz="1200" dirty="0"/>
          </a:p>
        </p:txBody>
      </p:sp>
      <p:sp>
        <p:nvSpPr>
          <p:cNvPr id="3" name="Text 1"/>
          <p:cNvSpPr/>
          <p:nvPr>
            <p:ph type="title"/>
          </p:nvPr>
        </p:nvSpPr>
        <p:spPr>
          <a:xfrm>
            <a:off x="812800" y="937270"/>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FrameFlow</a:t>
            </a:r>
            <a:endParaRPr lang="en-US" sz="2800" dirty="0"/>
          </a:p>
        </p:txBody>
      </p:sp>
      <p:sp>
        <p:nvSpPr>
          <p:cNvPr id="4" name="Text 2"/>
          <p:cNvSpPr/>
          <p:nvPr/>
        </p:nvSpPr>
        <p:spPr>
          <a:xfrm>
            <a:off x="812800" y="1409650"/>
            <a:ext cx="10883393" cy="26539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878"/>
                </a:solidFill>
                <a:latin typeface="Nunito Sans" pitchFamily="34" charset="0"/>
                <a:ea typeface="Nunito Sans" pitchFamily="34" charset="-122"/>
                <a:cs typeface="Nunito Sans" pitchFamily="34" charset="-120"/>
              </a:rPr>
              <a:t>Perfiles verificados de trabajadores de oficios en Quito, con contacto por WhatsApp.</a:t>
            </a:r>
            <a:endParaRPr lang="en-US" sz="1400" dirty="0"/>
          </a:p>
        </p:txBody>
      </p:sp>
      <p:sp>
        <p:nvSpPr>
          <p:cNvPr id="5" name="Shape 3"/>
          <p:cNvSpPr/>
          <p:nvPr/>
        </p:nvSpPr>
        <p:spPr>
          <a:xfrm>
            <a:off x="815975" y="1830636"/>
            <a:ext cx="3414146" cy="2047875"/>
          </a:xfrm>
          <a:prstGeom prst="roundRect">
            <a:avLst>
              <a:gd name="adj" fmla="val 4806"/>
            </a:avLst>
          </a:prstGeom>
          <a:solidFill>
            <a:srgbClr val="FDFDFB"/>
          </a:solidFill>
          <a:ln w="6350">
            <a:solidFill>
              <a:srgbClr val="DCE3EA"/>
            </a:solidFill>
            <a:prstDash val="solid"/>
          </a:ln>
        </p:spPr>
      </p:sp>
      <p:sp>
        <p:nvSpPr>
          <p:cNvPr id="6" name="Text 4"/>
          <p:cNvSpPr/>
          <p:nvPr/>
        </p:nvSpPr>
        <p:spPr>
          <a:xfrm>
            <a:off x="1006929" y="2008882"/>
            <a:ext cx="31232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47A7B"/>
                </a:solidFill>
                <a:latin typeface="Nunito Sans" pitchFamily="34" charset="0"/>
                <a:ea typeface="Nunito Sans" pitchFamily="34" charset="-122"/>
                <a:cs typeface="Nunito Sans" pitchFamily="34" charset="-120"/>
              </a:rPr>
              <a:t>Lo que está bien</a:t>
            </a:r>
            <a:endParaRPr lang="en-US" sz="1500" dirty="0"/>
          </a:p>
        </p:txBody>
      </p:sp>
      <p:sp>
        <p:nvSpPr>
          <p:cNvPr id="7" name="Text 5"/>
          <p:cNvSpPr/>
          <p:nvPr/>
        </p:nvSpPr>
        <p:spPr>
          <a:xfrm>
            <a:off x="1098623" y="2313682"/>
            <a:ext cx="3023892" cy="1411968"/>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Proceso con conductas reales: el estado de WhatsApp dura 24 horas.</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Frustración cuantificada: $100–300 perdidos en meses bajos.</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Competidores con nombre: StarOfService, Fixando, Marketplace.</a:t>
            </a:r>
            <a:endParaRPr lang="en-US" sz="1300" dirty="0"/>
          </a:p>
        </p:txBody>
      </p:sp>
      <p:sp>
        <p:nvSpPr>
          <p:cNvPr id="8" name="Shape 6"/>
          <p:cNvSpPr/>
          <p:nvPr/>
        </p:nvSpPr>
        <p:spPr>
          <a:xfrm>
            <a:off x="4388871" y="1830636"/>
            <a:ext cx="3414202" cy="2047875"/>
          </a:xfrm>
          <a:prstGeom prst="roundRect">
            <a:avLst>
              <a:gd name="adj" fmla="val 4806"/>
            </a:avLst>
          </a:prstGeom>
          <a:solidFill>
            <a:srgbClr val="FFFBF0"/>
          </a:solidFill>
          <a:ln w="6350">
            <a:solidFill>
              <a:srgbClr val="DCE3EA"/>
            </a:solidFill>
            <a:prstDash val="solid"/>
          </a:ln>
        </p:spPr>
      </p:sp>
      <p:sp>
        <p:nvSpPr>
          <p:cNvPr id="9" name="Text 7"/>
          <p:cNvSpPr/>
          <p:nvPr/>
        </p:nvSpPr>
        <p:spPr>
          <a:xfrm>
            <a:off x="4579824" y="2008882"/>
            <a:ext cx="31232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4B00"/>
                </a:solidFill>
                <a:latin typeface="Nunito Sans" pitchFamily="34" charset="0"/>
                <a:ea typeface="Nunito Sans" pitchFamily="34" charset="-122"/>
                <a:cs typeface="Nunito Sans" pitchFamily="34" charset="-120"/>
              </a:rPr>
              <a:t>Qué corregir</a:t>
            </a:r>
            <a:endParaRPr lang="en-US" sz="1500" dirty="0"/>
          </a:p>
        </p:txBody>
      </p:sp>
      <p:sp>
        <p:nvSpPr>
          <p:cNvPr id="10" name="Text 8"/>
          <p:cNvSpPr/>
          <p:nvPr/>
        </p:nvSpPr>
        <p:spPr>
          <a:xfrm>
            <a:off x="4671518" y="2313682"/>
            <a:ext cx="3023950" cy="1411968"/>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Las ferreterías anunciantes pagan todo, pero no son un segmento.</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¿Quién verifica los perfiles y cuánto cuesta hacerlo?</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Textos que se salen del círculo y recuadros «Su foto aquí».</a:t>
            </a:r>
            <a:endParaRPr lang="en-US" sz="1300" dirty="0"/>
          </a:p>
        </p:txBody>
      </p:sp>
      <p:sp>
        <p:nvSpPr>
          <p:cNvPr id="11" name="Shape 9"/>
          <p:cNvSpPr/>
          <p:nvPr/>
        </p:nvSpPr>
        <p:spPr>
          <a:xfrm>
            <a:off x="7961823" y="1830636"/>
            <a:ext cx="3414202" cy="2047875"/>
          </a:xfrm>
          <a:prstGeom prst="roundRect">
            <a:avLst>
              <a:gd name="adj" fmla="val 4806"/>
            </a:avLst>
          </a:prstGeom>
          <a:solidFill>
            <a:srgbClr val="FDFDFB"/>
          </a:solidFill>
          <a:ln w="6350">
            <a:solidFill>
              <a:srgbClr val="DCE3EA"/>
            </a:solidFill>
            <a:prstDash val="solid"/>
          </a:ln>
        </p:spPr>
      </p:sp>
      <p:sp>
        <p:nvSpPr>
          <p:cNvPr id="12" name="Text 10"/>
          <p:cNvSpPr/>
          <p:nvPr/>
        </p:nvSpPr>
        <p:spPr>
          <a:xfrm>
            <a:off x="8152777" y="2008882"/>
            <a:ext cx="31232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Para el pitch del lunes</a:t>
            </a:r>
            <a:endParaRPr lang="en-US" sz="1500" dirty="0"/>
          </a:p>
        </p:txBody>
      </p:sp>
      <p:sp>
        <p:nvSpPr>
          <p:cNvPr id="13" name="Text 11"/>
          <p:cNvSpPr/>
          <p:nvPr/>
        </p:nvSpPr>
        <p:spPr>
          <a:xfrm>
            <a:off x="8244471" y="2313682"/>
            <a:ext cx="3023950" cy="1411968"/>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Trabajadores registrados en el PMV y contactos generados.</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Una ferretería que diga «pagaría $25 al mes».</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La cita «superclaro y fluido» con quién la dijo.</a:t>
            </a:r>
            <a:endParaRPr lang="en-US" sz="1300" dirty="0"/>
          </a:p>
        </p:txBody>
      </p:sp>
      <p:pic>
        <p:nvPicPr>
          <p:cNvPr id="14"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5" name="Text 12"/>
          <p:cNvSpPr/>
          <p:nvPr/>
        </p:nvSpPr>
        <p:spPr>
          <a:xfrm>
            <a:off x="8008847" y="6217915"/>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DEMO · EL CANVAS REAL DE FRAMEFLOW</a:t>
            </a:r>
            <a:endParaRPr lang="en-US" sz="1200" dirty="0"/>
          </a:p>
        </p:txBody>
      </p:sp>
      <p:sp>
        <p:nvSpPr>
          <p:cNvPr id="3" name="Text 1"/>
          <p:cNvSpPr/>
          <p:nvPr>
            <p:ph type="title"/>
          </p:nvPr>
        </p:nvSpPr>
        <p:spPr>
          <a:xfrm>
            <a:off x="812800" y="886470"/>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Qué está bien y qué hay que corregir</a:t>
            </a:r>
            <a:endParaRPr lang="en-US" sz="2500" dirty="0"/>
          </a:p>
        </p:txBody>
      </p:sp>
      <p:sp>
        <p:nvSpPr>
          <p:cNvPr id="4" name="Shape 2"/>
          <p:cNvSpPr/>
          <p:nvPr/>
        </p:nvSpPr>
        <p:spPr>
          <a:xfrm>
            <a:off x="812800" y="1403995"/>
            <a:ext cx="6413500" cy="3822700"/>
          </a:xfrm>
          <a:prstGeom prst="roundRect">
            <a:avLst>
              <a:gd name="adj" fmla="val 1329"/>
            </a:avLst>
          </a:prstGeom>
          <a:solidFill>
            <a:srgbClr val="FFFFFF"/>
          </a:solidFill>
          <a:ln/>
        </p:spPr>
      </p:sp>
      <p:pic>
        <p:nvPicPr>
          <p:cNvPr id="5" name="Image 0" descr="Business Model Canvas entregado por FrameFlow">    </p:cNvPr>
          <p:cNvPicPr>
            <a:picLocks noChangeAspect="1"/>
          </p:cNvPicPr>
          <p:nvPr/>
        </p:nvPicPr>
        <p:blipFill>
          <a:blip r:embed="rId1"/>
          <a:srcRect l="-18" r="-18" t="0" b="0"/>
          <a:stretch/>
        </p:blipFill>
        <p:spPr>
          <a:xfrm>
            <a:off x="819150" y="1410345"/>
            <a:ext cx="6400800" cy="3810000"/>
          </a:xfrm>
          <a:prstGeom prst="roundRect">
            <a:avLst>
              <a:gd name="adj" fmla="val 1167"/>
            </a:avLst>
          </a:prstGeom>
        </p:spPr>
      </p:pic>
      <p:sp>
        <p:nvSpPr>
          <p:cNvPr id="6" name="Shape 3"/>
          <p:cNvSpPr/>
          <p:nvPr/>
        </p:nvSpPr>
        <p:spPr>
          <a:xfrm>
            <a:off x="815975" y="1407170"/>
            <a:ext cx="6407150" cy="3816350"/>
          </a:xfrm>
          <a:prstGeom prst="roundRect">
            <a:avLst>
              <a:gd name="adj" fmla="val 1248"/>
            </a:avLst>
          </a:prstGeom>
          <a:noFill/>
          <a:ln w="6350">
            <a:solidFill>
              <a:srgbClr val="DCE3EA"/>
            </a:solidFill>
            <a:prstDash val="solid"/>
          </a:ln>
        </p:spPr>
      </p:sp>
      <p:sp>
        <p:nvSpPr>
          <p:cNvPr id="7" name="Text 4"/>
          <p:cNvSpPr/>
          <p:nvPr/>
        </p:nvSpPr>
        <p:spPr>
          <a:xfrm>
            <a:off x="7429500" y="1403995"/>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1F6B33"/>
                </a:solidFill>
                <a:latin typeface="Nunito Sans" pitchFamily="34" charset="0"/>
                <a:ea typeface="Nunito Sans" pitchFamily="34" charset="-122"/>
                <a:cs typeface="Nunito Sans" pitchFamily="34" charset="-120"/>
              </a:rPr>
              <a:t>BIEN · Propuesta:</a:t>
            </a:r>
            <a:r>
              <a:rPr lang="en-US" sz="1200" dirty="0">
                <a:solidFill>
                  <a:srgbClr val="2B3A4E"/>
                </a:solidFill>
                <a:latin typeface="Nunito Sans" pitchFamily="34" charset="0"/>
                <a:ea typeface="Nunito Sans" pitchFamily="34" charset="-122"/>
                <a:cs typeface="Nunito Sans" pitchFamily="34" charset="-120"/>
              </a:rPr>
              <a:t> muy concreta: gratis, en español y en 3 pasos.</a:t>
            </a:r>
            <a:endParaRPr lang="en-US" sz="1200" dirty="0"/>
          </a:p>
        </p:txBody>
      </p:sp>
      <p:sp>
        <p:nvSpPr>
          <p:cNvPr id="8" name="Text 5"/>
          <p:cNvSpPr/>
          <p:nvPr/>
        </p:nvSpPr>
        <p:spPr>
          <a:xfrm>
            <a:off x="7429500" y="1913458"/>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1F6B33"/>
                </a:solidFill>
                <a:latin typeface="Nunito Sans" pitchFamily="34" charset="0"/>
                <a:ea typeface="Nunito Sans" pitchFamily="34" charset="-122"/>
                <a:cs typeface="Nunito Sans" pitchFamily="34" charset="-120"/>
              </a:rPr>
              <a:t>BIEN · Segmentos:</a:t>
            </a:r>
            <a:r>
              <a:rPr lang="en-US" sz="1200" dirty="0">
                <a:solidFill>
                  <a:srgbClr val="2B3A4E"/>
                </a:solidFill>
                <a:latin typeface="Nunito Sans" pitchFamily="34" charset="0"/>
                <a:ea typeface="Nunito Sans" pitchFamily="34" charset="-122"/>
                <a:cs typeface="Nunito Sans" pitchFamily="34" charset="-120"/>
              </a:rPr>
              <a:t> competidores con nombre: StarOfService, Fixando, Marketplace.</a:t>
            </a:r>
            <a:endParaRPr lang="en-US" sz="1200" dirty="0"/>
          </a:p>
        </p:txBody>
      </p:sp>
      <p:sp>
        <p:nvSpPr>
          <p:cNvPr id="9" name="Text 6"/>
          <p:cNvSpPr/>
          <p:nvPr/>
        </p:nvSpPr>
        <p:spPr>
          <a:xfrm>
            <a:off x="7429500" y="2422922"/>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A12F2F"/>
                </a:solidFill>
                <a:latin typeface="Nunito Sans" pitchFamily="34" charset="0"/>
                <a:ea typeface="Nunito Sans" pitchFamily="34" charset="-122"/>
                <a:cs typeface="Nunito Sans" pitchFamily="34" charset="-120"/>
              </a:rPr>
              <a:t>CORREGIR · Ingresos:</a:t>
            </a:r>
            <a:r>
              <a:rPr lang="en-US" sz="1200" dirty="0">
                <a:solidFill>
                  <a:srgbClr val="2B3A4E"/>
                </a:solidFill>
                <a:latin typeface="Nunito Sans" pitchFamily="34" charset="0"/>
                <a:ea typeface="Nunito Sans" pitchFamily="34" charset="-122"/>
                <a:cs typeface="Nunito Sans" pitchFamily="34" charset="-120"/>
              </a:rPr>
              <a:t> pagan las ferreterías, pero no son un segmento del canvas.</a:t>
            </a:r>
            <a:endParaRPr lang="en-US" sz="1200" dirty="0"/>
          </a:p>
        </p:txBody>
      </p:sp>
      <p:sp>
        <p:nvSpPr>
          <p:cNvPr id="10" name="Text 7"/>
          <p:cNvSpPr/>
          <p:nvPr/>
        </p:nvSpPr>
        <p:spPr>
          <a:xfrm>
            <a:off x="7429500" y="2932410"/>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A12F2F"/>
                </a:solidFill>
                <a:latin typeface="Nunito Sans" pitchFamily="34" charset="0"/>
                <a:ea typeface="Nunito Sans" pitchFamily="34" charset="-122"/>
                <a:cs typeface="Nunito Sans" pitchFamily="34" charset="-120"/>
              </a:rPr>
              <a:t>CORREGIR · Costos:</a:t>
            </a:r>
            <a:r>
              <a:rPr lang="en-US" sz="1200" dirty="0">
                <a:solidFill>
                  <a:srgbClr val="2B3A4E"/>
                </a:solidFill>
                <a:latin typeface="Nunito Sans" pitchFamily="34" charset="0"/>
                <a:ea typeface="Nunito Sans" pitchFamily="34" charset="-122"/>
                <a:cs typeface="Nunito Sans" pitchFamily="34" charset="-120"/>
              </a:rPr>
              <a:t> «aproximados» sin cifras, salvo el hosting de $10.</a:t>
            </a:r>
            <a:endParaRPr lang="en-US" sz="1200" dirty="0"/>
          </a:p>
        </p:txBody>
      </p:sp>
      <p:sp>
        <p:nvSpPr>
          <p:cNvPr id="11" name="Text 8"/>
          <p:cNvSpPr/>
          <p:nvPr/>
        </p:nvSpPr>
        <p:spPr>
          <a:xfrm>
            <a:off x="7429500" y="3441874"/>
            <a:ext cx="3949700" cy="845684"/>
          </a:xfrm>
          <a:prstGeom prst="roundRect">
            <a:avLst>
              <a:gd name="adj" fmla="val 9010"/>
            </a:avLst>
          </a:prstGeom>
          <a:solidFill>
            <a:srgbClr val="173E78"/>
          </a:solidFill>
          <a:ln/>
        </p:spPr>
        <p:txBody>
          <a:bodyPr wrap="square" lIns="117382" tIns="91982" rIns="7273" bIns="66582" rtlCol="0" anchor="t">
            <a:normAutofit/>
          </a:bodyPr>
          <a:lstStyle/>
          <a:p>
            <a:pPr algn="l" indent="0" marL="0">
              <a:lnSpc>
                <a:spcPts val="1620"/>
              </a:lnSpc>
              <a:buNone/>
            </a:pPr>
            <a:r>
              <a:rPr lang="en-US" sz="1200" b="1" dirty="0">
                <a:solidFill>
                  <a:srgbClr val="F3F6FA"/>
                </a:solidFill>
                <a:latin typeface="Nunito Sans" pitchFamily="34" charset="0"/>
                <a:ea typeface="Nunito Sans" pitchFamily="34" charset="-122"/>
                <a:cs typeface="Nunito Sans" pitchFamily="34" charset="-120"/>
              </a:rPr>
              <a:t>Pregunta al equipo:</a:t>
            </a:r>
            <a:r>
              <a:rPr lang="en-US" sz="1200" dirty="0">
                <a:solidFill>
                  <a:srgbClr val="F3F6FA"/>
                </a:solidFill>
                <a:latin typeface="Nunito Sans" pitchFamily="34" charset="0"/>
                <a:ea typeface="Nunito Sans" pitchFamily="34" charset="-122"/>
                <a:cs typeface="Nunito Sans" pitchFamily="34" charset="-120"/>
              </a:rPr>
              <a:t> ¿Cuántos trabajadores registrados necesitan para que una ferretería pague $25?</a:t>
            </a:r>
            <a:endParaRPr lang="en-US" sz="1200" dirty="0"/>
          </a:p>
        </p:txBody>
      </p:sp>
      <p:pic>
        <p:nvPicPr>
          <p:cNvPr id="12" name="Image 1" descr="Logo PUCE">    </p:cNvPr>
          <p:cNvPicPr>
            <a:picLocks noChangeAspect="1"/>
          </p:cNvPicPr>
          <p:nvPr/>
        </p:nvPicPr>
        <p:blipFill>
          <a:blip r:embed="rId2"/>
          <a:srcRect l="-436" r="-436" t="0" b="0"/>
          <a:stretch/>
        </p:blipFill>
        <p:spPr>
          <a:xfrm>
            <a:off x="812800" y="6184900"/>
            <a:ext cx="1016000" cy="279400"/>
          </a:xfrm>
          <a:prstGeom prst="rect">
            <a:avLst/>
          </a:prstGeom>
        </p:spPr>
      </p:pic>
      <p:sp>
        <p:nvSpPr>
          <p:cNvPr id="13" name="Text 9"/>
          <p:cNvSpPr/>
          <p:nvPr/>
        </p:nvSpPr>
        <p:spPr>
          <a:xfrm>
            <a:off x="8008847" y="6217915"/>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DEMO · PROCESO (ARRIBA) Y LIENZO (ABAJO) DE FRAMEFLOW</a:t>
            </a:r>
            <a:endParaRPr lang="en-US" sz="1200" dirty="0"/>
          </a:p>
        </p:txBody>
      </p:sp>
      <p:sp>
        <p:nvSpPr>
          <p:cNvPr id="3" name="Text 1"/>
          <p:cNvSpPr/>
          <p:nvPr>
            <p:ph type="title"/>
          </p:nvPr>
        </p:nvSpPr>
        <p:spPr>
          <a:xfrm>
            <a:off x="812800" y="886470"/>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El cliente 1, paso a paso y en el lienzo</a:t>
            </a:r>
            <a:endParaRPr lang="en-US" sz="2500" dirty="0"/>
          </a:p>
        </p:txBody>
      </p:sp>
      <p:sp>
        <p:nvSpPr>
          <p:cNvPr id="4" name="Shape 2"/>
          <p:cNvSpPr/>
          <p:nvPr/>
        </p:nvSpPr>
        <p:spPr>
          <a:xfrm>
            <a:off x="812800" y="1403995"/>
            <a:ext cx="3175000" cy="1968500"/>
          </a:xfrm>
          <a:prstGeom prst="roundRect">
            <a:avLst>
              <a:gd name="adj" fmla="val 2581"/>
            </a:avLst>
          </a:prstGeom>
          <a:solidFill>
            <a:srgbClr val="FFFFFF"/>
          </a:solidFill>
          <a:ln/>
        </p:spPr>
      </p:sp>
      <p:pic>
        <p:nvPicPr>
          <p:cNvPr id="5" name="Image 0" descr="Proceso del trabajo del cliente de FrameFlow">    </p:cNvPr>
          <p:cNvPicPr>
            <a:picLocks noChangeAspect="1"/>
          </p:cNvPicPr>
          <p:nvPr/>
        </p:nvPicPr>
        <p:blipFill>
          <a:blip r:embed="rId1"/>
          <a:srcRect l="-191" r="-191" t="0" b="0"/>
          <a:stretch/>
        </p:blipFill>
        <p:spPr>
          <a:xfrm>
            <a:off x="819150" y="1410345"/>
            <a:ext cx="3162300" cy="1955800"/>
          </a:xfrm>
          <a:prstGeom prst="roundRect">
            <a:avLst>
              <a:gd name="adj" fmla="val 2273"/>
            </a:avLst>
          </a:prstGeom>
        </p:spPr>
      </p:pic>
      <p:sp>
        <p:nvSpPr>
          <p:cNvPr id="6" name="Shape 3"/>
          <p:cNvSpPr/>
          <p:nvPr/>
        </p:nvSpPr>
        <p:spPr>
          <a:xfrm>
            <a:off x="815975" y="1407170"/>
            <a:ext cx="3168650" cy="1962150"/>
          </a:xfrm>
          <a:prstGeom prst="roundRect">
            <a:avLst>
              <a:gd name="adj" fmla="val 2427"/>
            </a:avLst>
          </a:prstGeom>
          <a:noFill/>
          <a:ln w="6350">
            <a:solidFill>
              <a:srgbClr val="DCE3EA"/>
            </a:solidFill>
            <a:prstDash val="solid"/>
          </a:ln>
        </p:spPr>
      </p:sp>
      <p:sp>
        <p:nvSpPr>
          <p:cNvPr id="7" name="Shape 4"/>
          <p:cNvSpPr/>
          <p:nvPr/>
        </p:nvSpPr>
        <p:spPr>
          <a:xfrm>
            <a:off x="812800" y="3448695"/>
            <a:ext cx="3175000" cy="1968500"/>
          </a:xfrm>
          <a:prstGeom prst="roundRect">
            <a:avLst>
              <a:gd name="adj" fmla="val 2581"/>
            </a:avLst>
          </a:prstGeom>
          <a:solidFill>
            <a:srgbClr val="FFFFFF"/>
          </a:solidFill>
          <a:ln/>
        </p:spPr>
      </p:sp>
      <p:pic>
        <p:nvPicPr>
          <p:cNvPr id="8" name="Image 1" descr="Lienzo de propuesta de valor de FrameFlow">    </p:cNvPr>
          <p:cNvPicPr>
            <a:picLocks noChangeAspect="1"/>
          </p:cNvPicPr>
          <p:nvPr/>
        </p:nvPicPr>
        <p:blipFill>
          <a:blip r:embed="rId2"/>
          <a:srcRect l="-191" r="-191" t="0" b="0"/>
          <a:stretch/>
        </p:blipFill>
        <p:spPr>
          <a:xfrm>
            <a:off x="819150" y="3455045"/>
            <a:ext cx="3162300" cy="1955800"/>
          </a:xfrm>
          <a:prstGeom prst="roundRect">
            <a:avLst>
              <a:gd name="adj" fmla="val 2273"/>
            </a:avLst>
          </a:prstGeom>
        </p:spPr>
      </p:pic>
      <p:sp>
        <p:nvSpPr>
          <p:cNvPr id="9" name="Shape 5"/>
          <p:cNvSpPr/>
          <p:nvPr/>
        </p:nvSpPr>
        <p:spPr>
          <a:xfrm>
            <a:off x="815975" y="3451870"/>
            <a:ext cx="3168650" cy="1962150"/>
          </a:xfrm>
          <a:prstGeom prst="roundRect">
            <a:avLst>
              <a:gd name="adj" fmla="val 2427"/>
            </a:avLst>
          </a:prstGeom>
          <a:noFill/>
          <a:ln w="6350">
            <a:solidFill>
              <a:srgbClr val="DCE3EA"/>
            </a:solidFill>
            <a:prstDash val="solid"/>
          </a:ln>
        </p:spPr>
      </p:sp>
      <p:sp>
        <p:nvSpPr>
          <p:cNvPr id="10" name="Text 6"/>
          <p:cNvSpPr/>
          <p:nvPr/>
        </p:nvSpPr>
        <p:spPr>
          <a:xfrm>
            <a:off x="4191000" y="1403995"/>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1F6B33"/>
                </a:solidFill>
                <a:latin typeface="Nunito Sans" pitchFamily="34" charset="0"/>
                <a:ea typeface="Nunito Sans" pitchFamily="34" charset="-122"/>
                <a:cs typeface="Nunito Sans" pitchFamily="34" charset="-120"/>
              </a:rPr>
              <a:t>BIEN · Proceso:</a:t>
            </a:r>
            <a:r>
              <a:rPr lang="en-US" sz="1300" dirty="0">
                <a:solidFill>
                  <a:srgbClr val="2B3A4E"/>
                </a:solidFill>
                <a:latin typeface="Nunito Sans" pitchFamily="34" charset="0"/>
                <a:ea typeface="Nunito Sans" pitchFamily="34" charset="-122"/>
                <a:cs typeface="Nunito Sans" pitchFamily="34" charset="-120"/>
              </a:rPr>
              <a:t> conductas reales: el estado de WhatsApp dura 24 h.</a:t>
            </a:r>
            <a:endParaRPr lang="en-US" sz="1300" dirty="0"/>
          </a:p>
        </p:txBody>
      </p:sp>
      <p:sp>
        <p:nvSpPr>
          <p:cNvPr id="11" name="Text 7"/>
          <p:cNvSpPr/>
          <p:nvPr/>
        </p:nvSpPr>
        <p:spPr>
          <a:xfrm>
            <a:off x="4191000" y="1733401"/>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1F6B33"/>
                </a:solidFill>
                <a:latin typeface="Nunito Sans" pitchFamily="34" charset="0"/>
                <a:ea typeface="Nunito Sans" pitchFamily="34" charset="-122"/>
                <a:cs typeface="Nunito Sans" pitchFamily="34" charset="-120"/>
              </a:rPr>
              <a:t>BIEN · Frustración:</a:t>
            </a:r>
            <a:r>
              <a:rPr lang="en-US" sz="1300" dirty="0">
                <a:solidFill>
                  <a:srgbClr val="2B3A4E"/>
                </a:solidFill>
                <a:latin typeface="Nunito Sans" pitchFamily="34" charset="0"/>
                <a:ea typeface="Nunito Sans" pitchFamily="34" charset="-122"/>
                <a:cs typeface="Nunito Sans" pitchFamily="34" charset="-120"/>
              </a:rPr>
              <a:t> con número: pierde $100–300 en meses bajos.</a:t>
            </a:r>
            <a:endParaRPr lang="en-US" sz="1300" dirty="0"/>
          </a:p>
        </p:txBody>
      </p:sp>
      <p:sp>
        <p:nvSpPr>
          <p:cNvPr id="12" name="Text 8"/>
          <p:cNvSpPr/>
          <p:nvPr/>
        </p:nvSpPr>
        <p:spPr>
          <a:xfrm>
            <a:off x="4191000" y="2062807"/>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1F6B33"/>
                </a:solidFill>
                <a:latin typeface="Nunito Sans" pitchFamily="34" charset="0"/>
                <a:ea typeface="Nunito Sans" pitchFamily="34" charset="-122"/>
                <a:cs typeface="Nunito Sans" pitchFamily="34" charset="-120"/>
              </a:rPr>
              <a:t>BIEN · Evidencia:</a:t>
            </a:r>
            <a:r>
              <a:rPr lang="en-US" sz="1300" dirty="0">
                <a:solidFill>
                  <a:srgbClr val="2B3A4E"/>
                </a:solidFill>
                <a:latin typeface="Nunito Sans" pitchFamily="34" charset="0"/>
                <a:ea typeface="Nunito Sans" pitchFamily="34" charset="-122"/>
                <a:cs typeface="Nunito Sans" pitchFamily="34" charset="-120"/>
              </a:rPr>
              <a:t> una entrevistada: «superclaro y fluido».</a:t>
            </a:r>
            <a:endParaRPr lang="en-US" sz="1300" dirty="0"/>
          </a:p>
        </p:txBody>
      </p:sp>
      <p:sp>
        <p:nvSpPr>
          <p:cNvPr id="13" name="Text 9"/>
          <p:cNvSpPr/>
          <p:nvPr/>
        </p:nvSpPr>
        <p:spPr>
          <a:xfrm>
            <a:off x="4191000" y="2392214"/>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A12F2F"/>
                </a:solidFill>
                <a:latin typeface="Nunito Sans" pitchFamily="34" charset="0"/>
                <a:ea typeface="Nunito Sans" pitchFamily="34" charset="-122"/>
                <a:cs typeface="Nunito Sans" pitchFamily="34" charset="-120"/>
              </a:rPr>
              <a:t>CORREGIR · Forma:</a:t>
            </a:r>
            <a:r>
              <a:rPr lang="en-US" sz="1300" dirty="0">
                <a:solidFill>
                  <a:srgbClr val="2B3A4E"/>
                </a:solidFill>
                <a:latin typeface="Nunito Sans" pitchFamily="34" charset="0"/>
                <a:ea typeface="Nunito Sans" pitchFamily="34" charset="-122"/>
                <a:cs typeface="Nunito Sans" pitchFamily="34" charset="-120"/>
              </a:rPr>
              <a:t> el texto se sale del círculo y no se lee.</a:t>
            </a:r>
            <a:endParaRPr lang="en-US" sz="1300" dirty="0"/>
          </a:p>
        </p:txBody>
      </p:sp>
      <p:sp>
        <p:nvSpPr>
          <p:cNvPr id="14" name="Text 10"/>
          <p:cNvSpPr/>
          <p:nvPr/>
        </p:nvSpPr>
        <p:spPr>
          <a:xfrm>
            <a:off x="4191000" y="2721620"/>
            <a:ext cx="7188200" cy="476874"/>
          </a:xfrm>
          <a:prstGeom prst="roundRect">
            <a:avLst>
              <a:gd name="adj" fmla="val 15979"/>
            </a:avLst>
          </a:prstGeom>
          <a:solidFill>
            <a:srgbClr val="173E78"/>
          </a:solidFill>
          <a:ln/>
        </p:spPr>
        <p:txBody>
          <a:bodyPr wrap="square" lIns="142782" tIns="104682" rIns="0" bIns="79282" rtlCol="0" anchor="t">
            <a:normAutofit/>
          </a:bodyPr>
          <a:lstStyle/>
          <a:p>
            <a:pPr algn="l" indent="0" marL="0">
              <a:lnSpc>
                <a:spcPts val="1755"/>
              </a:lnSpc>
              <a:buNone/>
            </a:pPr>
            <a:r>
              <a:rPr lang="en-US" sz="1300" b="1" dirty="0">
                <a:solidFill>
                  <a:srgbClr val="F3F6FA"/>
                </a:solidFill>
                <a:latin typeface="Nunito Sans" pitchFamily="34" charset="0"/>
                <a:ea typeface="Nunito Sans" pitchFamily="34" charset="-122"/>
                <a:cs typeface="Nunito Sans" pitchFamily="34" charset="-120"/>
              </a:rPr>
              <a:t>Pregunta al equipo:</a:t>
            </a:r>
            <a:r>
              <a:rPr lang="en-US" sz="1300" dirty="0">
                <a:solidFill>
                  <a:srgbClr val="F3F6FA"/>
                </a:solidFill>
                <a:latin typeface="Nunito Sans" pitchFamily="34" charset="0"/>
                <a:ea typeface="Nunito Sans" pitchFamily="34" charset="-122"/>
                <a:cs typeface="Nunito Sans" pitchFamily="34" charset="-120"/>
              </a:rPr>
              <a:t> De los trabajadores que vieron el prototipo, ¿cuántos se registraron?</a:t>
            </a:r>
            <a:endParaRPr lang="en-US" sz="1300" dirty="0"/>
          </a:p>
        </p:txBody>
      </p:sp>
      <p:pic>
        <p:nvPicPr>
          <p:cNvPr id="15" name="Image 2" descr="Logo PUCE">    </p:cNvPr>
          <p:cNvPicPr>
            <a:picLocks noChangeAspect="1"/>
          </p:cNvPicPr>
          <p:nvPr/>
        </p:nvPicPr>
        <p:blipFill>
          <a:blip r:embed="rId3"/>
          <a:srcRect l="-436" r="-436" t="0" b="0"/>
          <a:stretch/>
        </p:blipFill>
        <p:spPr>
          <a:xfrm>
            <a:off x="812800" y="6184900"/>
            <a:ext cx="1016000" cy="279400"/>
          </a:xfrm>
          <a:prstGeom prst="rect">
            <a:avLst/>
          </a:prstGeom>
        </p:spPr>
      </p:pic>
      <p:sp>
        <p:nvSpPr>
          <p:cNvPr id="16" name="Text 11"/>
          <p:cNvSpPr/>
          <p:nvPr/>
        </p:nvSpPr>
        <p:spPr>
          <a:xfrm>
            <a:off x="8008847" y="6217915"/>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RETROALIMENTACIÓN E5 · EQUIPO 7 DE 7</a:t>
            </a:r>
            <a:endParaRPr lang="en-US" sz="1200" dirty="0"/>
          </a:p>
        </p:txBody>
      </p:sp>
      <p:sp>
        <p:nvSpPr>
          <p:cNvPr id="3" name="Text 1"/>
          <p:cNvSpPr/>
          <p:nvPr>
            <p:ph type="title"/>
          </p:nvPr>
        </p:nvSpPr>
        <p:spPr>
          <a:xfrm>
            <a:off x="812800" y="937270"/>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ECduLearn</a:t>
            </a:r>
            <a:endParaRPr lang="en-US" sz="2800" dirty="0"/>
          </a:p>
        </p:txBody>
      </p:sp>
      <p:sp>
        <p:nvSpPr>
          <p:cNvPr id="4" name="Text 2"/>
          <p:cNvSpPr/>
          <p:nvPr/>
        </p:nvSpPr>
        <p:spPr>
          <a:xfrm>
            <a:off x="812800" y="1409650"/>
            <a:ext cx="10883393" cy="26539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878"/>
                </a:solidFill>
                <a:latin typeface="Nunito Sans" pitchFamily="34" charset="0"/>
                <a:ea typeface="Nunito Sans" pitchFamily="34" charset="-122"/>
                <a:cs typeface="Nunito Sans" pitchFamily="34" charset="-120"/>
              </a:rPr>
              <a:t>Ejercicios tipo PISA generados con IA para docentes y un tutor socrático para estudiantes.</a:t>
            </a:r>
            <a:endParaRPr lang="en-US" sz="1400" dirty="0"/>
          </a:p>
        </p:txBody>
      </p:sp>
      <p:sp>
        <p:nvSpPr>
          <p:cNvPr id="5" name="Shape 3"/>
          <p:cNvSpPr/>
          <p:nvPr/>
        </p:nvSpPr>
        <p:spPr>
          <a:xfrm>
            <a:off x="815975" y="1830636"/>
            <a:ext cx="3414146" cy="2278970"/>
          </a:xfrm>
          <a:prstGeom prst="roundRect">
            <a:avLst>
              <a:gd name="adj" fmla="val 4319"/>
            </a:avLst>
          </a:prstGeom>
          <a:solidFill>
            <a:srgbClr val="FDFDFB"/>
          </a:solidFill>
          <a:ln w="6350">
            <a:solidFill>
              <a:srgbClr val="DCE3EA"/>
            </a:solidFill>
            <a:prstDash val="solid"/>
          </a:ln>
        </p:spPr>
      </p:sp>
      <p:sp>
        <p:nvSpPr>
          <p:cNvPr id="6" name="Text 4"/>
          <p:cNvSpPr/>
          <p:nvPr/>
        </p:nvSpPr>
        <p:spPr>
          <a:xfrm>
            <a:off x="1006929" y="2008882"/>
            <a:ext cx="31232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47A7B"/>
                </a:solidFill>
                <a:latin typeface="Nunito Sans" pitchFamily="34" charset="0"/>
                <a:ea typeface="Nunito Sans" pitchFamily="34" charset="-122"/>
                <a:cs typeface="Nunito Sans" pitchFamily="34" charset="-120"/>
              </a:rPr>
              <a:t>Lo que está bien</a:t>
            </a:r>
            <a:endParaRPr lang="en-US" sz="1500" dirty="0"/>
          </a:p>
        </p:txBody>
      </p:sp>
      <p:sp>
        <p:nvSpPr>
          <p:cNvPr id="7" name="Text 5"/>
          <p:cNvSpPr/>
          <p:nvPr/>
        </p:nvSpPr>
        <p:spPr>
          <a:xfrm>
            <a:off x="1098623" y="2313682"/>
            <a:ext cx="3023892" cy="1643063"/>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Dolor fuerte: hasta 10 horas semanales adaptando material a mano.</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Diferenciador claro: ejercicios tipo PISA y tutor que no da la respuesta.</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Pensaron en quién decide la compra: el rector.</a:t>
            </a:r>
            <a:endParaRPr lang="en-US" sz="1300" dirty="0"/>
          </a:p>
        </p:txBody>
      </p:sp>
      <p:sp>
        <p:nvSpPr>
          <p:cNvPr id="8" name="Shape 6"/>
          <p:cNvSpPr/>
          <p:nvPr/>
        </p:nvSpPr>
        <p:spPr>
          <a:xfrm>
            <a:off x="4388871" y="1830636"/>
            <a:ext cx="3414202" cy="2278970"/>
          </a:xfrm>
          <a:prstGeom prst="roundRect">
            <a:avLst>
              <a:gd name="adj" fmla="val 4319"/>
            </a:avLst>
          </a:prstGeom>
          <a:solidFill>
            <a:srgbClr val="FFFBF0"/>
          </a:solidFill>
          <a:ln w="6350">
            <a:solidFill>
              <a:srgbClr val="DCE3EA"/>
            </a:solidFill>
            <a:prstDash val="solid"/>
          </a:ln>
        </p:spPr>
      </p:sp>
      <p:sp>
        <p:nvSpPr>
          <p:cNvPr id="9" name="Text 7"/>
          <p:cNvSpPr/>
          <p:nvPr/>
        </p:nvSpPr>
        <p:spPr>
          <a:xfrm>
            <a:off x="4579824" y="2008882"/>
            <a:ext cx="31232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4B00"/>
                </a:solidFill>
                <a:latin typeface="Nunito Sans" pitchFamily="34" charset="0"/>
                <a:ea typeface="Nunito Sans" pitchFamily="34" charset="-122"/>
                <a:cs typeface="Nunito Sans" pitchFamily="34" charset="-120"/>
              </a:rPr>
              <a:t>Qué corregir</a:t>
            </a:r>
            <a:endParaRPr lang="en-US" sz="1500" dirty="0"/>
          </a:p>
        </p:txBody>
      </p:sp>
      <p:sp>
        <p:nvSpPr>
          <p:cNvPr id="10" name="Text 8"/>
          <p:cNvSpPr/>
          <p:nvPr/>
        </p:nvSpPr>
        <p:spPr>
          <a:xfrm>
            <a:off x="4671518" y="2313682"/>
            <a:ext cx="3023950" cy="1411968"/>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El cliente 1 cambia entre láminas: docente, colegio, docente. Elijan uno.</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Textos de la plantilla sin borrar y un integrante sin nombre ni foto.</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Si el cliente es el colegio particular, ¿dónde queda Fe y Alegría?</a:t>
            </a:r>
            <a:endParaRPr lang="en-US" sz="1300" dirty="0"/>
          </a:p>
        </p:txBody>
      </p:sp>
      <p:sp>
        <p:nvSpPr>
          <p:cNvPr id="11" name="Shape 9"/>
          <p:cNvSpPr/>
          <p:nvPr/>
        </p:nvSpPr>
        <p:spPr>
          <a:xfrm>
            <a:off x="7961823" y="1830636"/>
            <a:ext cx="3414202" cy="2278970"/>
          </a:xfrm>
          <a:prstGeom prst="roundRect">
            <a:avLst>
              <a:gd name="adj" fmla="val 4319"/>
            </a:avLst>
          </a:prstGeom>
          <a:solidFill>
            <a:srgbClr val="FDFDFB"/>
          </a:solidFill>
          <a:ln w="6350">
            <a:solidFill>
              <a:srgbClr val="DCE3EA"/>
            </a:solidFill>
            <a:prstDash val="solid"/>
          </a:ln>
        </p:spPr>
      </p:sp>
      <p:sp>
        <p:nvSpPr>
          <p:cNvPr id="12" name="Text 10"/>
          <p:cNvSpPr/>
          <p:nvPr/>
        </p:nvSpPr>
        <p:spPr>
          <a:xfrm>
            <a:off x="8152777" y="2008882"/>
            <a:ext cx="31232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Para el pitch del lunes</a:t>
            </a:r>
            <a:endParaRPr lang="en-US" sz="1500" dirty="0"/>
          </a:p>
        </p:txBody>
      </p:sp>
      <p:sp>
        <p:nvSpPr>
          <p:cNvPr id="13" name="Text 11"/>
          <p:cNvSpPr/>
          <p:nvPr/>
        </p:nvSpPr>
        <p:spPr>
          <a:xfrm>
            <a:off x="8244471" y="2313682"/>
            <a:ext cx="3023950" cy="949779"/>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Un ejercicio PISA generado en vivo.</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Tiempo del docente con y sin la app.</a:t>
            </a:r>
            <a:endParaRPr lang="en-US" sz="1300" dirty="0"/>
          </a:p>
          <a:p>
            <a:pPr algn="l" marL="162306" indent="-162306">
              <a:lnSpc>
                <a:spcPts val="1820"/>
              </a:lnSpc>
              <a:buSzPct val="100000"/>
              <a:buChar char="•"/>
            </a:pPr>
            <a:r>
              <a:rPr lang="en-US" sz="1300" dirty="0">
                <a:solidFill>
                  <a:srgbClr val="2B3A4E"/>
                </a:solidFill>
                <a:latin typeface="Nunito Sans" pitchFamily="34" charset="0"/>
                <a:ea typeface="Nunito Sans" pitchFamily="34" charset="-122"/>
                <a:cs typeface="Nunito Sans" pitchFamily="34" charset="-120"/>
              </a:rPr>
              <a:t>La fuente de las «10 horas semanales».</a:t>
            </a:r>
            <a:endParaRPr lang="en-US" sz="1300" dirty="0"/>
          </a:p>
        </p:txBody>
      </p:sp>
      <p:pic>
        <p:nvPicPr>
          <p:cNvPr id="14"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5" name="Text 12"/>
          <p:cNvSpPr/>
          <p:nvPr/>
        </p:nvSpPr>
        <p:spPr>
          <a:xfrm>
            <a:off x="8008847" y="6217915"/>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DEMO · EL CANVAS REAL DE ECDULEARN</a:t>
            </a:r>
            <a:endParaRPr lang="en-US" sz="1200" dirty="0"/>
          </a:p>
        </p:txBody>
      </p:sp>
      <p:sp>
        <p:nvSpPr>
          <p:cNvPr id="3" name="Text 1"/>
          <p:cNvSpPr/>
          <p:nvPr>
            <p:ph type="title"/>
          </p:nvPr>
        </p:nvSpPr>
        <p:spPr>
          <a:xfrm>
            <a:off x="812800" y="886470"/>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Qué está bien y qué hay que corregir</a:t>
            </a:r>
            <a:endParaRPr lang="en-US" sz="2500" dirty="0"/>
          </a:p>
        </p:txBody>
      </p:sp>
      <p:sp>
        <p:nvSpPr>
          <p:cNvPr id="4" name="Shape 2"/>
          <p:cNvSpPr/>
          <p:nvPr/>
        </p:nvSpPr>
        <p:spPr>
          <a:xfrm>
            <a:off x="812800" y="1403995"/>
            <a:ext cx="6413500" cy="3822700"/>
          </a:xfrm>
          <a:prstGeom prst="roundRect">
            <a:avLst>
              <a:gd name="adj" fmla="val 1329"/>
            </a:avLst>
          </a:prstGeom>
          <a:solidFill>
            <a:srgbClr val="FFFFFF"/>
          </a:solidFill>
          <a:ln/>
        </p:spPr>
      </p:sp>
      <p:pic>
        <p:nvPicPr>
          <p:cNvPr id="5" name="Image 0" descr="Business Model Canvas entregado por ECduLearn">    </p:cNvPr>
          <p:cNvPicPr>
            <a:picLocks noChangeAspect="1"/>
          </p:cNvPicPr>
          <p:nvPr/>
        </p:nvPicPr>
        <p:blipFill>
          <a:blip r:embed="rId1"/>
          <a:srcRect l="-18" r="-18" t="0" b="0"/>
          <a:stretch/>
        </p:blipFill>
        <p:spPr>
          <a:xfrm>
            <a:off x="819150" y="1410345"/>
            <a:ext cx="6400800" cy="3810000"/>
          </a:xfrm>
          <a:prstGeom prst="roundRect">
            <a:avLst>
              <a:gd name="adj" fmla="val 1167"/>
            </a:avLst>
          </a:prstGeom>
        </p:spPr>
      </p:pic>
      <p:sp>
        <p:nvSpPr>
          <p:cNvPr id="6" name="Shape 3"/>
          <p:cNvSpPr/>
          <p:nvPr/>
        </p:nvSpPr>
        <p:spPr>
          <a:xfrm>
            <a:off x="815975" y="1407170"/>
            <a:ext cx="6407150" cy="3816350"/>
          </a:xfrm>
          <a:prstGeom prst="roundRect">
            <a:avLst>
              <a:gd name="adj" fmla="val 1248"/>
            </a:avLst>
          </a:prstGeom>
          <a:noFill/>
          <a:ln w="6350">
            <a:solidFill>
              <a:srgbClr val="DCE3EA"/>
            </a:solidFill>
            <a:prstDash val="solid"/>
          </a:ln>
        </p:spPr>
      </p:sp>
      <p:sp>
        <p:nvSpPr>
          <p:cNvPr id="7" name="Text 4"/>
          <p:cNvSpPr/>
          <p:nvPr/>
        </p:nvSpPr>
        <p:spPr>
          <a:xfrm>
            <a:off x="7429500" y="1403995"/>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1F6B33"/>
                </a:solidFill>
                <a:latin typeface="Nunito Sans" pitchFamily="34" charset="0"/>
                <a:ea typeface="Nunito Sans" pitchFamily="34" charset="-122"/>
                <a:cs typeface="Nunito Sans" pitchFamily="34" charset="-120"/>
              </a:rPr>
              <a:t>BIEN · Costos:</a:t>
            </a:r>
            <a:r>
              <a:rPr lang="en-US" sz="1200" dirty="0">
                <a:solidFill>
                  <a:srgbClr val="2B3A4E"/>
                </a:solidFill>
                <a:latin typeface="Nunito Sans" pitchFamily="34" charset="0"/>
                <a:ea typeface="Nunito Sans" pitchFamily="34" charset="-122"/>
                <a:cs typeface="Nunito Sans" pitchFamily="34" charset="-120"/>
              </a:rPr>
              <a:t> variables bien vistos: tokens que crecen con los alumnos.</a:t>
            </a:r>
            <a:endParaRPr lang="en-US" sz="1200" dirty="0"/>
          </a:p>
        </p:txBody>
      </p:sp>
      <p:sp>
        <p:nvSpPr>
          <p:cNvPr id="8" name="Text 5"/>
          <p:cNvSpPr/>
          <p:nvPr/>
        </p:nvSpPr>
        <p:spPr>
          <a:xfrm>
            <a:off x="7429500" y="1913458"/>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1F6B33"/>
                </a:solidFill>
                <a:latin typeface="Nunito Sans" pitchFamily="34" charset="0"/>
                <a:ea typeface="Nunito Sans" pitchFamily="34" charset="-122"/>
                <a:cs typeface="Nunito Sans" pitchFamily="34" charset="-120"/>
              </a:rPr>
              <a:t>BIEN · Problema:</a:t>
            </a:r>
            <a:r>
              <a:rPr lang="en-US" sz="1200" dirty="0">
                <a:solidFill>
                  <a:srgbClr val="2B3A4E"/>
                </a:solidFill>
                <a:latin typeface="Nunito Sans" pitchFamily="34" charset="0"/>
                <a:ea typeface="Nunito Sans" pitchFamily="34" charset="-122"/>
                <a:cs typeface="Nunito Sans" pitchFamily="34" charset="-120"/>
              </a:rPr>
              <a:t> con número: hasta 10 h por semana del docente.</a:t>
            </a:r>
            <a:endParaRPr lang="en-US" sz="1200" dirty="0"/>
          </a:p>
        </p:txBody>
      </p:sp>
      <p:sp>
        <p:nvSpPr>
          <p:cNvPr id="9" name="Text 6"/>
          <p:cNvSpPr/>
          <p:nvPr/>
        </p:nvSpPr>
        <p:spPr>
          <a:xfrm>
            <a:off x="7429500" y="2422922"/>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A12F2F"/>
                </a:solidFill>
                <a:latin typeface="Nunito Sans" pitchFamily="34" charset="0"/>
                <a:ea typeface="Nunito Sans" pitchFamily="34" charset="-122"/>
                <a:cs typeface="Nunito Sans" pitchFamily="34" charset="-120"/>
              </a:rPr>
              <a:t>CORREGIR · Segmentos:</a:t>
            </a:r>
            <a:r>
              <a:rPr lang="en-US" sz="1200" dirty="0">
                <a:solidFill>
                  <a:srgbClr val="2B3A4E"/>
                </a:solidFill>
                <a:latin typeface="Nunito Sans" pitchFamily="34" charset="0"/>
                <a:ea typeface="Nunito Sans" pitchFamily="34" charset="-122"/>
                <a:cs typeface="Nunito Sans" pitchFamily="34" charset="-120"/>
              </a:rPr>
              <a:t> cliente 1 = colegio, pero la lámina 2 y el lienzo son del docente.</a:t>
            </a:r>
            <a:endParaRPr lang="en-US" sz="1200" dirty="0"/>
          </a:p>
        </p:txBody>
      </p:sp>
      <p:sp>
        <p:nvSpPr>
          <p:cNvPr id="10" name="Text 7"/>
          <p:cNvSpPr/>
          <p:nvPr/>
        </p:nvSpPr>
        <p:spPr>
          <a:xfrm>
            <a:off x="7429500" y="2932410"/>
            <a:ext cx="4068191" cy="445974"/>
          </a:xfrm>
          <a:prstGeom prst="rect">
            <a:avLst/>
          </a:prstGeom>
          <a:noFill/>
          <a:ln/>
        </p:spPr>
        <p:txBody>
          <a:bodyPr wrap="square" lIns="0" tIns="0" rIns="0" bIns="0" rtlCol="0" anchor="t">
            <a:normAutofit/>
          </a:bodyPr>
          <a:lstStyle/>
          <a:p>
            <a:pPr algn="l" indent="0" marL="0">
              <a:lnSpc>
                <a:spcPts val="1656"/>
              </a:lnSpc>
              <a:buNone/>
            </a:pPr>
            <a:r>
              <a:rPr lang="en-US" sz="1200" b="1" dirty="0">
                <a:solidFill>
                  <a:srgbClr val="A12F2F"/>
                </a:solidFill>
                <a:latin typeface="Nunito Sans" pitchFamily="34" charset="0"/>
                <a:ea typeface="Nunito Sans" pitchFamily="34" charset="-122"/>
                <a:cs typeface="Nunito Sans" pitchFamily="34" charset="-120"/>
              </a:rPr>
              <a:t>CORREGIR · Propuesta (cliente 1):</a:t>
            </a:r>
            <a:r>
              <a:rPr lang="en-US" sz="1200" dirty="0">
                <a:solidFill>
                  <a:srgbClr val="2B3A4E"/>
                </a:solidFill>
                <a:latin typeface="Nunito Sans" pitchFamily="34" charset="0"/>
                <a:ea typeface="Nunito Sans" pitchFamily="34" charset="-122"/>
                <a:cs typeface="Nunito Sans" pitchFamily="34" charset="-120"/>
              </a:rPr>
              <a:t> habla de exámenes de admisión, no de PISA.</a:t>
            </a:r>
            <a:endParaRPr lang="en-US" sz="1200" dirty="0"/>
          </a:p>
        </p:txBody>
      </p:sp>
      <p:sp>
        <p:nvSpPr>
          <p:cNvPr id="11" name="Text 8"/>
          <p:cNvSpPr/>
          <p:nvPr/>
        </p:nvSpPr>
        <p:spPr>
          <a:xfrm>
            <a:off x="7429500" y="3441874"/>
            <a:ext cx="3949700" cy="639989"/>
          </a:xfrm>
          <a:prstGeom prst="roundRect">
            <a:avLst>
              <a:gd name="adj" fmla="val 11906"/>
            </a:avLst>
          </a:prstGeom>
          <a:solidFill>
            <a:srgbClr val="173E78"/>
          </a:solidFill>
          <a:ln/>
        </p:spPr>
        <p:txBody>
          <a:bodyPr wrap="square" lIns="117382" tIns="91982" rIns="7273" bIns="66582" rtlCol="0" anchor="t">
            <a:normAutofit/>
          </a:bodyPr>
          <a:lstStyle/>
          <a:p>
            <a:pPr algn="l" indent="0" marL="0">
              <a:lnSpc>
                <a:spcPts val="1620"/>
              </a:lnSpc>
              <a:buNone/>
            </a:pPr>
            <a:r>
              <a:rPr lang="en-US" sz="1200" b="1" dirty="0">
                <a:solidFill>
                  <a:srgbClr val="F3F6FA"/>
                </a:solidFill>
                <a:latin typeface="Nunito Sans" pitchFamily="34" charset="0"/>
                <a:ea typeface="Nunito Sans" pitchFamily="34" charset="-122"/>
                <a:cs typeface="Nunito Sans" pitchFamily="34" charset="-120"/>
              </a:rPr>
              <a:t>Pregunta al equipo:</a:t>
            </a:r>
            <a:r>
              <a:rPr lang="en-US" sz="1200" dirty="0">
                <a:solidFill>
                  <a:srgbClr val="F3F6FA"/>
                </a:solidFill>
                <a:latin typeface="Nunito Sans" pitchFamily="34" charset="0"/>
                <a:ea typeface="Nunito Sans" pitchFamily="34" charset="-122"/>
                <a:cs typeface="Nunito Sans" pitchFamily="34" charset="-120"/>
              </a:rPr>
              <a:t> ¿Quién decide la compra y quién usa la app? ¿Para cuál hicieron el lienzo?</a:t>
            </a:r>
            <a:endParaRPr lang="en-US" sz="1200" dirty="0"/>
          </a:p>
        </p:txBody>
      </p:sp>
      <p:pic>
        <p:nvPicPr>
          <p:cNvPr id="12" name="Image 1" descr="Logo PUCE">    </p:cNvPr>
          <p:cNvPicPr>
            <a:picLocks noChangeAspect="1"/>
          </p:cNvPicPr>
          <p:nvPr/>
        </p:nvPicPr>
        <p:blipFill>
          <a:blip r:embed="rId2"/>
          <a:srcRect l="-436" r="-436" t="0" b="0"/>
          <a:stretch/>
        </p:blipFill>
        <p:spPr>
          <a:xfrm>
            <a:off x="812800" y="6184925"/>
            <a:ext cx="1016000" cy="279400"/>
          </a:xfrm>
          <a:prstGeom prst="rect">
            <a:avLst/>
          </a:prstGeom>
        </p:spPr>
      </p:pic>
      <p:sp>
        <p:nvSpPr>
          <p:cNvPr id="13" name="Text 9"/>
          <p:cNvSpPr/>
          <p:nvPr/>
        </p:nvSpPr>
        <p:spPr>
          <a:xfrm>
            <a:off x="8008847" y="6217915"/>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DEMO · PROCESO (ARRIBA) Y LIENZO (ABAJO) DE ECDULEARN</a:t>
            </a:r>
            <a:endParaRPr lang="en-US" sz="1200" dirty="0"/>
          </a:p>
        </p:txBody>
      </p:sp>
      <p:sp>
        <p:nvSpPr>
          <p:cNvPr id="3" name="Text 1"/>
          <p:cNvSpPr/>
          <p:nvPr>
            <p:ph type="title"/>
          </p:nvPr>
        </p:nvSpPr>
        <p:spPr>
          <a:xfrm>
            <a:off x="812800" y="886445"/>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El cliente 1, paso a paso y en el lienzo</a:t>
            </a:r>
            <a:endParaRPr lang="en-US" sz="2500" dirty="0"/>
          </a:p>
        </p:txBody>
      </p:sp>
      <p:sp>
        <p:nvSpPr>
          <p:cNvPr id="4" name="Shape 2"/>
          <p:cNvSpPr/>
          <p:nvPr/>
        </p:nvSpPr>
        <p:spPr>
          <a:xfrm>
            <a:off x="812800" y="1403970"/>
            <a:ext cx="3175000" cy="1968500"/>
          </a:xfrm>
          <a:prstGeom prst="roundRect">
            <a:avLst>
              <a:gd name="adj" fmla="val 2581"/>
            </a:avLst>
          </a:prstGeom>
          <a:solidFill>
            <a:srgbClr val="FFFFFF"/>
          </a:solidFill>
          <a:ln/>
        </p:spPr>
      </p:sp>
      <p:pic>
        <p:nvPicPr>
          <p:cNvPr id="5" name="Image 0" descr="Proceso del trabajo del cliente de ECduLearn">    </p:cNvPr>
          <p:cNvPicPr>
            <a:picLocks noChangeAspect="1"/>
          </p:cNvPicPr>
          <p:nvPr/>
        </p:nvPicPr>
        <p:blipFill>
          <a:blip r:embed="rId1"/>
          <a:srcRect l="-191" r="-191" t="0" b="0"/>
          <a:stretch/>
        </p:blipFill>
        <p:spPr>
          <a:xfrm>
            <a:off x="819150" y="1410320"/>
            <a:ext cx="3162300" cy="1955800"/>
          </a:xfrm>
          <a:prstGeom prst="roundRect">
            <a:avLst>
              <a:gd name="adj" fmla="val 2273"/>
            </a:avLst>
          </a:prstGeom>
        </p:spPr>
      </p:pic>
      <p:sp>
        <p:nvSpPr>
          <p:cNvPr id="6" name="Shape 3"/>
          <p:cNvSpPr/>
          <p:nvPr/>
        </p:nvSpPr>
        <p:spPr>
          <a:xfrm>
            <a:off x="815975" y="1407145"/>
            <a:ext cx="3168650" cy="1962150"/>
          </a:xfrm>
          <a:prstGeom prst="roundRect">
            <a:avLst>
              <a:gd name="adj" fmla="val 2427"/>
            </a:avLst>
          </a:prstGeom>
          <a:noFill/>
          <a:ln w="6350">
            <a:solidFill>
              <a:srgbClr val="DCE3EA"/>
            </a:solidFill>
            <a:prstDash val="solid"/>
          </a:ln>
        </p:spPr>
      </p:sp>
      <p:sp>
        <p:nvSpPr>
          <p:cNvPr id="7" name="Shape 4"/>
          <p:cNvSpPr/>
          <p:nvPr/>
        </p:nvSpPr>
        <p:spPr>
          <a:xfrm>
            <a:off x="812800" y="3448670"/>
            <a:ext cx="3175000" cy="1968500"/>
          </a:xfrm>
          <a:prstGeom prst="roundRect">
            <a:avLst>
              <a:gd name="adj" fmla="val 2581"/>
            </a:avLst>
          </a:prstGeom>
          <a:solidFill>
            <a:srgbClr val="FFFFFF"/>
          </a:solidFill>
          <a:ln/>
        </p:spPr>
      </p:sp>
      <p:pic>
        <p:nvPicPr>
          <p:cNvPr id="8" name="Image 1" descr="Lienzo de propuesta de valor de ECduLearn">    </p:cNvPr>
          <p:cNvPicPr>
            <a:picLocks noChangeAspect="1"/>
          </p:cNvPicPr>
          <p:nvPr/>
        </p:nvPicPr>
        <p:blipFill>
          <a:blip r:embed="rId2"/>
          <a:srcRect l="-191" r="-191" t="0" b="0"/>
          <a:stretch/>
        </p:blipFill>
        <p:spPr>
          <a:xfrm>
            <a:off x="819150" y="3455020"/>
            <a:ext cx="3162300" cy="1955800"/>
          </a:xfrm>
          <a:prstGeom prst="roundRect">
            <a:avLst>
              <a:gd name="adj" fmla="val 2273"/>
            </a:avLst>
          </a:prstGeom>
        </p:spPr>
      </p:pic>
      <p:sp>
        <p:nvSpPr>
          <p:cNvPr id="9" name="Shape 5"/>
          <p:cNvSpPr/>
          <p:nvPr/>
        </p:nvSpPr>
        <p:spPr>
          <a:xfrm>
            <a:off x="815975" y="3451845"/>
            <a:ext cx="3168650" cy="1962150"/>
          </a:xfrm>
          <a:prstGeom prst="roundRect">
            <a:avLst>
              <a:gd name="adj" fmla="val 2427"/>
            </a:avLst>
          </a:prstGeom>
          <a:noFill/>
          <a:ln w="6350">
            <a:solidFill>
              <a:srgbClr val="DCE3EA"/>
            </a:solidFill>
            <a:prstDash val="solid"/>
          </a:ln>
        </p:spPr>
      </p:sp>
      <p:sp>
        <p:nvSpPr>
          <p:cNvPr id="10" name="Text 6"/>
          <p:cNvSpPr/>
          <p:nvPr/>
        </p:nvSpPr>
        <p:spPr>
          <a:xfrm>
            <a:off x="4191000" y="1403970"/>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1F6B33"/>
                </a:solidFill>
                <a:latin typeface="Nunito Sans" pitchFamily="34" charset="0"/>
                <a:ea typeface="Nunito Sans" pitchFamily="34" charset="-122"/>
                <a:cs typeface="Nunito Sans" pitchFamily="34" charset="-120"/>
              </a:rPr>
              <a:t>BIEN · Proceso:</a:t>
            </a:r>
            <a:r>
              <a:rPr lang="en-US" sz="1300" dirty="0">
                <a:solidFill>
                  <a:srgbClr val="2B3A4E"/>
                </a:solidFill>
                <a:latin typeface="Nunito Sans" pitchFamily="34" charset="0"/>
                <a:ea typeface="Nunito Sans" pitchFamily="34" charset="-122"/>
                <a:cs typeface="Nunito Sans" pitchFamily="34" charset="-120"/>
              </a:rPr>
              <a:t> 8 pasos realistas de un docente que prepara su clase.</a:t>
            </a:r>
            <a:endParaRPr lang="en-US" sz="1300" dirty="0"/>
          </a:p>
        </p:txBody>
      </p:sp>
      <p:sp>
        <p:nvSpPr>
          <p:cNvPr id="11" name="Text 7"/>
          <p:cNvSpPr/>
          <p:nvPr/>
        </p:nvSpPr>
        <p:spPr>
          <a:xfrm>
            <a:off x="4191000" y="1733376"/>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1F6B33"/>
                </a:solidFill>
                <a:latin typeface="Nunito Sans" pitchFamily="34" charset="0"/>
                <a:ea typeface="Nunito Sans" pitchFamily="34" charset="-122"/>
                <a:cs typeface="Nunito Sans" pitchFamily="34" charset="-120"/>
              </a:rPr>
              <a:t>BIEN · Lienzo:</a:t>
            </a:r>
            <a:r>
              <a:rPr lang="en-US" sz="1300" dirty="0">
                <a:solidFill>
                  <a:srgbClr val="2B3A4E"/>
                </a:solidFill>
                <a:latin typeface="Nunito Sans" pitchFamily="34" charset="0"/>
                <a:ea typeface="Nunito Sans" pitchFamily="34" charset="-122"/>
                <a:cs typeface="Nunito Sans" pitchFamily="34" charset="-120"/>
              </a:rPr>
              <a:t> encaje claro: horas perdidas → ejercicio listo.</a:t>
            </a:r>
            <a:endParaRPr lang="en-US" sz="1300" dirty="0"/>
          </a:p>
        </p:txBody>
      </p:sp>
      <p:sp>
        <p:nvSpPr>
          <p:cNvPr id="12" name="Text 8"/>
          <p:cNvSpPr/>
          <p:nvPr/>
        </p:nvSpPr>
        <p:spPr>
          <a:xfrm>
            <a:off x="4191000" y="2062783"/>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A12F2F"/>
                </a:solidFill>
                <a:latin typeface="Nunito Sans" pitchFamily="34" charset="0"/>
                <a:ea typeface="Nunito Sans" pitchFamily="34" charset="-122"/>
                <a:cs typeface="Nunito Sans" pitchFamily="34" charset="-120"/>
              </a:rPr>
              <a:t>CORREGIR · Forma:</a:t>
            </a:r>
            <a:r>
              <a:rPr lang="en-US" sz="1300" dirty="0">
                <a:solidFill>
                  <a:srgbClr val="2B3A4E"/>
                </a:solidFill>
                <a:latin typeface="Nunito Sans" pitchFamily="34" charset="0"/>
                <a:ea typeface="Nunito Sans" pitchFamily="34" charset="-122"/>
                <a:cs typeface="Nunito Sans" pitchFamily="34" charset="-120"/>
              </a:rPr>
              <a:t> quedaron «Escriban aquí su segmento» y el del trabajo.</a:t>
            </a:r>
            <a:endParaRPr lang="en-US" sz="1300" dirty="0"/>
          </a:p>
        </p:txBody>
      </p:sp>
      <p:sp>
        <p:nvSpPr>
          <p:cNvPr id="13" name="Text 9"/>
          <p:cNvSpPr/>
          <p:nvPr/>
        </p:nvSpPr>
        <p:spPr>
          <a:xfrm>
            <a:off x="4191000" y="2392189"/>
            <a:ext cx="7403846" cy="253206"/>
          </a:xfrm>
          <a:prstGeom prst="rect">
            <a:avLst/>
          </a:prstGeom>
          <a:noFill/>
          <a:ln/>
        </p:spPr>
        <p:txBody>
          <a:bodyPr wrap="square" lIns="0" tIns="0" rIns="0" bIns="0" rtlCol="0" anchor="t">
            <a:normAutofit/>
          </a:bodyPr>
          <a:lstStyle/>
          <a:p>
            <a:pPr algn="l" indent="0" marL="0">
              <a:lnSpc>
                <a:spcPts val="1794"/>
              </a:lnSpc>
              <a:buNone/>
            </a:pPr>
            <a:r>
              <a:rPr lang="en-US" sz="1300" b="1" dirty="0">
                <a:solidFill>
                  <a:srgbClr val="A12F2F"/>
                </a:solidFill>
                <a:latin typeface="Nunito Sans" pitchFamily="34" charset="0"/>
                <a:ea typeface="Nunito Sans" pitchFamily="34" charset="-122"/>
                <a:cs typeface="Nunito Sans" pitchFamily="34" charset="-120"/>
              </a:rPr>
              <a:t>CORREGIR · Segmento:</a:t>
            </a:r>
            <a:r>
              <a:rPr lang="en-US" sz="1300" dirty="0">
                <a:solidFill>
                  <a:srgbClr val="2B3A4E"/>
                </a:solidFill>
                <a:latin typeface="Nunito Sans" pitchFamily="34" charset="0"/>
                <a:ea typeface="Nunito Sans" pitchFamily="34" charset="-122"/>
                <a:cs typeface="Nunito Sans" pitchFamily="34" charset="-120"/>
              </a:rPr>
              <a:t> «Profesores de bachillerato»: ¿qué materia y qué colegio?</a:t>
            </a:r>
            <a:endParaRPr lang="en-US" sz="1300" dirty="0"/>
          </a:p>
        </p:txBody>
      </p:sp>
      <p:sp>
        <p:nvSpPr>
          <p:cNvPr id="14" name="Text 10"/>
          <p:cNvSpPr/>
          <p:nvPr/>
        </p:nvSpPr>
        <p:spPr>
          <a:xfrm>
            <a:off x="4191000" y="2721595"/>
            <a:ext cx="7188200" cy="476874"/>
          </a:xfrm>
          <a:prstGeom prst="roundRect">
            <a:avLst>
              <a:gd name="adj" fmla="val 15979"/>
            </a:avLst>
          </a:prstGeom>
          <a:solidFill>
            <a:srgbClr val="173E78"/>
          </a:solidFill>
          <a:ln/>
        </p:spPr>
        <p:txBody>
          <a:bodyPr wrap="square" lIns="142782" tIns="104682" rIns="0" bIns="79282" rtlCol="0" anchor="t">
            <a:normAutofit/>
          </a:bodyPr>
          <a:lstStyle/>
          <a:p>
            <a:pPr algn="l" indent="0" marL="0">
              <a:lnSpc>
                <a:spcPts val="1755"/>
              </a:lnSpc>
              <a:buNone/>
            </a:pPr>
            <a:r>
              <a:rPr lang="en-US" sz="1300" b="1" dirty="0">
                <a:solidFill>
                  <a:srgbClr val="F3F6FA"/>
                </a:solidFill>
                <a:latin typeface="Nunito Sans" pitchFamily="34" charset="0"/>
                <a:ea typeface="Nunito Sans" pitchFamily="34" charset="-122"/>
                <a:cs typeface="Nunito Sans" pitchFamily="34" charset="-120"/>
              </a:rPr>
              <a:t>Pregunta al equipo:</a:t>
            </a:r>
            <a:r>
              <a:rPr lang="en-US" sz="1300" dirty="0">
                <a:solidFill>
                  <a:srgbClr val="F3F6FA"/>
                </a:solidFill>
                <a:latin typeface="Nunito Sans" pitchFamily="34" charset="0"/>
                <a:ea typeface="Nunito Sans" pitchFamily="34" charset="-122"/>
                <a:cs typeface="Nunito Sans" pitchFamily="34" charset="-120"/>
              </a:rPr>
              <a:t> ¿Es el mismo docente el de su lienzo y el de su canvas?</a:t>
            </a:r>
            <a:endParaRPr lang="en-US" sz="1300" dirty="0"/>
          </a:p>
        </p:txBody>
      </p:sp>
      <p:pic>
        <p:nvPicPr>
          <p:cNvPr id="15" name="Image 2" descr="Logo PUCE">    </p:cNvPr>
          <p:cNvPicPr>
            <a:picLocks noChangeAspect="1"/>
          </p:cNvPicPr>
          <p:nvPr/>
        </p:nvPicPr>
        <p:blipFill>
          <a:blip r:embed="rId3"/>
          <a:srcRect l="-436" r="-436" t="0" b="0"/>
          <a:stretch/>
        </p:blipFill>
        <p:spPr>
          <a:xfrm>
            <a:off x="812800" y="6184900"/>
            <a:ext cx="1016000" cy="279400"/>
          </a:xfrm>
          <a:prstGeom prst="rect">
            <a:avLst/>
          </a:prstGeom>
        </p:spPr>
      </p:pic>
      <p:sp>
        <p:nvSpPr>
          <p:cNvPr id="16" name="Text 11"/>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096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PARA DISCUTIR EN CLASE</a:t>
            </a:r>
            <a:endParaRPr lang="en-US" sz="1200" dirty="0"/>
          </a:p>
        </p:txBody>
      </p:sp>
      <p:sp>
        <p:nvSpPr>
          <p:cNvPr id="3" name="Text 1"/>
          <p:cNvSpPr/>
          <p:nvPr>
            <p:ph type="title"/>
          </p:nvPr>
        </p:nvSpPr>
        <p:spPr>
          <a:xfrm>
            <a:off x="812800" y="886445"/>
            <a:ext cx="10883393" cy="39052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73E78"/>
                </a:solidFill>
                <a:latin typeface="Domine" pitchFamily="18" charset="0"/>
                <a:ea typeface="Domine" pitchFamily="18" charset="-122"/>
                <a:cs typeface="Domine" pitchFamily="18" charset="-120"/>
              </a:rPr>
              <a:t>Ocho preguntas que todo equipo debe poder responder</a:t>
            </a:r>
            <a:endParaRPr lang="en-US" sz="2500" dirty="0"/>
          </a:p>
        </p:txBody>
      </p:sp>
      <p:sp>
        <p:nvSpPr>
          <p:cNvPr id="4" name="Text 2"/>
          <p:cNvSpPr/>
          <p:nvPr/>
        </p:nvSpPr>
        <p:spPr>
          <a:xfrm>
            <a:off x="815975" y="1432545"/>
            <a:ext cx="5276850" cy="659720"/>
          </a:xfrm>
          <a:prstGeom prst="roundRect">
            <a:avLst>
              <a:gd name="adj" fmla="val 11069"/>
            </a:avLst>
          </a:prstGeom>
          <a:solidFill>
            <a:srgbClr val="FDFDFB"/>
          </a:solidFill>
          <a:ln w="6350">
            <a:solidFill>
              <a:srgbClr val="DCE3EA"/>
            </a:solidFill>
            <a:prstDash val="solid"/>
          </a:ln>
        </p:spPr>
        <p:txBody>
          <a:bodyPr wrap="square" lIns="118765" tIns="80665" rIns="0" bIns="55265" rtlCol="0" anchor="t">
            <a:normAutofit/>
          </a:bodyPr>
          <a:lstStyle/>
          <a:p>
            <a:pPr algn="l" indent="0" marL="0">
              <a:lnSpc>
                <a:spcPts val="1794"/>
              </a:lnSpc>
              <a:buNone/>
            </a:pPr>
            <a:r>
              <a:rPr lang="en-US" sz="1300" b="1" dirty="0">
                <a:solidFill>
                  <a:srgbClr val="2B3A4E"/>
                </a:solidFill>
                <a:latin typeface="Nunito Sans" pitchFamily="34" charset="0"/>
                <a:ea typeface="Nunito Sans" pitchFamily="34" charset="-122"/>
                <a:cs typeface="Nunito Sans" pitchFamily="34" charset="-120"/>
              </a:rPr>
              <a:t>Canvas ·</a:t>
            </a:r>
            <a:r>
              <a:rPr lang="en-US" sz="1300" dirty="0">
                <a:solidFill>
                  <a:srgbClr val="2B3A4E"/>
                </a:solidFill>
                <a:latin typeface="Nunito Sans" pitchFamily="34" charset="0"/>
                <a:ea typeface="Nunito Sans" pitchFamily="34" charset="-122"/>
                <a:cs typeface="Nunito Sans" pitchFamily="34" charset="-120"/>
              </a:rPr>
              <a:t> ¿Quien usa su producto es quien lo paga? Si no, ¿están los dos en el canvas?</a:t>
            </a:r>
            <a:endParaRPr lang="en-US" sz="1300" dirty="0"/>
          </a:p>
        </p:txBody>
      </p:sp>
      <p:sp>
        <p:nvSpPr>
          <p:cNvPr id="5" name="Text 3"/>
          <p:cNvSpPr/>
          <p:nvPr/>
        </p:nvSpPr>
        <p:spPr>
          <a:xfrm>
            <a:off x="6099175" y="1432545"/>
            <a:ext cx="5276850" cy="659720"/>
          </a:xfrm>
          <a:prstGeom prst="roundRect">
            <a:avLst>
              <a:gd name="adj" fmla="val 11069"/>
            </a:avLst>
          </a:prstGeom>
          <a:solidFill>
            <a:srgbClr val="FDFDFB"/>
          </a:solidFill>
          <a:ln w="6350">
            <a:solidFill>
              <a:srgbClr val="DCE3EA"/>
            </a:solidFill>
            <a:prstDash val="solid"/>
          </a:ln>
        </p:spPr>
        <p:txBody>
          <a:bodyPr wrap="square" lIns="118765" tIns="80665" rIns="0" bIns="55265" rtlCol="0" anchor="t">
            <a:normAutofit/>
          </a:bodyPr>
          <a:lstStyle/>
          <a:p>
            <a:pPr algn="l" indent="0" marL="0">
              <a:lnSpc>
                <a:spcPts val="1794"/>
              </a:lnSpc>
              <a:buNone/>
            </a:pPr>
            <a:r>
              <a:rPr lang="en-US" sz="1300" b="1" dirty="0">
                <a:solidFill>
                  <a:srgbClr val="2B3A4E"/>
                </a:solidFill>
                <a:latin typeface="Nunito Sans" pitchFamily="34" charset="0"/>
                <a:ea typeface="Nunito Sans" pitchFamily="34" charset="-122"/>
                <a:cs typeface="Nunito Sans" pitchFamily="34" charset="-120"/>
              </a:rPr>
              <a:t>Lienzo ·</a:t>
            </a:r>
            <a:r>
              <a:rPr lang="en-US" sz="1300" dirty="0">
                <a:solidFill>
                  <a:srgbClr val="2B3A4E"/>
                </a:solidFill>
                <a:latin typeface="Nunito Sans" pitchFamily="34" charset="0"/>
                <a:ea typeface="Nunito Sans" pitchFamily="34" charset="-122"/>
                <a:cs typeface="Nunito Sans" pitchFamily="34" charset="-120"/>
              </a:rPr>
              <a:t> ¿Cada aliviador apunta a una frustración que alguien les dijo?</a:t>
            </a:r>
            <a:endParaRPr lang="en-US" sz="1300" dirty="0"/>
          </a:p>
        </p:txBody>
      </p:sp>
      <p:sp>
        <p:nvSpPr>
          <p:cNvPr id="6" name="Text 4"/>
          <p:cNvSpPr/>
          <p:nvPr/>
        </p:nvSpPr>
        <p:spPr>
          <a:xfrm>
            <a:off x="815975" y="2098601"/>
            <a:ext cx="5276850" cy="431913"/>
          </a:xfrm>
          <a:prstGeom prst="roundRect">
            <a:avLst>
              <a:gd name="adj" fmla="val 16907"/>
            </a:avLst>
          </a:prstGeom>
          <a:solidFill>
            <a:srgbClr val="FDFDFB"/>
          </a:solidFill>
          <a:ln w="6350">
            <a:solidFill>
              <a:srgbClr val="DCE3EA"/>
            </a:solidFill>
            <a:prstDash val="solid"/>
          </a:ln>
        </p:spPr>
        <p:txBody>
          <a:bodyPr wrap="square" lIns="118765" tIns="80665" rIns="0" bIns="55265" rtlCol="0" anchor="t">
            <a:normAutofit/>
          </a:bodyPr>
          <a:lstStyle/>
          <a:p>
            <a:pPr algn="l" indent="0" marL="0">
              <a:lnSpc>
                <a:spcPts val="1794"/>
              </a:lnSpc>
              <a:buNone/>
            </a:pPr>
            <a:r>
              <a:rPr lang="en-US" sz="1300" b="1" dirty="0">
                <a:solidFill>
                  <a:srgbClr val="2B3A4E"/>
                </a:solidFill>
                <a:latin typeface="Nunito Sans" pitchFamily="34" charset="0"/>
                <a:ea typeface="Nunito Sans" pitchFamily="34" charset="-122"/>
                <a:cs typeface="Nunito Sans" pitchFamily="34" charset="-120"/>
              </a:rPr>
              <a:t>Canvas ·</a:t>
            </a:r>
            <a:r>
              <a:rPr lang="en-US" sz="1300" dirty="0">
                <a:solidFill>
                  <a:srgbClr val="2B3A4E"/>
                </a:solidFill>
                <a:latin typeface="Nunito Sans" pitchFamily="34" charset="0"/>
                <a:ea typeface="Nunito Sans" pitchFamily="34" charset="-122"/>
                <a:cs typeface="Nunito Sans" pitchFamily="34" charset="-120"/>
              </a:rPr>
              <a:t> ¿Su propuesta se entiende sin explicar la tecnología?</a:t>
            </a:r>
            <a:endParaRPr lang="en-US" sz="1300" dirty="0"/>
          </a:p>
        </p:txBody>
      </p:sp>
      <p:sp>
        <p:nvSpPr>
          <p:cNvPr id="7" name="Text 5"/>
          <p:cNvSpPr/>
          <p:nvPr/>
        </p:nvSpPr>
        <p:spPr>
          <a:xfrm>
            <a:off x="6099175" y="2098601"/>
            <a:ext cx="5276850" cy="431913"/>
          </a:xfrm>
          <a:prstGeom prst="roundRect">
            <a:avLst>
              <a:gd name="adj" fmla="val 16907"/>
            </a:avLst>
          </a:prstGeom>
          <a:solidFill>
            <a:srgbClr val="FDFDFB"/>
          </a:solidFill>
          <a:ln w="6350">
            <a:solidFill>
              <a:srgbClr val="DCE3EA"/>
            </a:solidFill>
            <a:prstDash val="solid"/>
          </a:ln>
        </p:spPr>
        <p:txBody>
          <a:bodyPr wrap="square" lIns="118765" tIns="80665" rIns="0" bIns="55265" rtlCol="0" anchor="t">
            <a:normAutofit/>
          </a:bodyPr>
          <a:lstStyle/>
          <a:p>
            <a:pPr algn="l" indent="0" marL="0">
              <a:lnSpc>
                <a:spcPts val="1794"/>
              </a:lnSpc>
              <a:buNone/>
            </a:pPr>
            <a:r>
              <a:rPr lang="en-US" sz="1300" b="1" dirty="0">
                <a:solidFill>
                  <a:srgbClr val="2B3A4E"/>
                </a:solidFill>
                <a:latin typeface="Nunito Sans" pitchFamily="34" charset="0"/>
                <a:ea typeface="Nunito Sans" pitchFamily="34" charset="-122"/>
                <a:cs typeface="Nunito Sans" pitchFamily="34" charset="-120"/>
              </a:rPr>
              <a:t>Lienzo ·</a:t>
            </a:r>
            <a:r>
              <a:rPr lang="en-US" sz="1300" dirty="0">
                <a:solidFill>
                  <a:srgbClr val="2B3A4E"/>
                </a:solidFill>
                <a:latin typeface="Nunito Sans" pitchFamily="34" charset="0"/>
                <a:ea typeface="Nunito Sans" pitchFamily="34" charset="-122"/>
                <a:cs typeface="Nunito Sans" pitchFamily="34" charset="-120"/>
              </a:rPr>
              <a:t> ¿Qué nota borrarían sin que cambie nada?</a:t>
            </a:r>
            <a:endParaRPr lang="en-US" sz="1300" dirty="0"/>
          </a:p>
        </p:txBody>
      </p:sp>
      <p:sp>
        <p:nvSpPr>
          <p:cNvPr id="8" name="Text 6"/>
          <p:cNvSpPr/>
          <p:nvPr/>
        </p:nvSpPr>
        <p:spPr>
          <a:xfrm>
            <a:off x="815975" y="2536875"/>
            <a:ext cx="5276850" cy="659720"/>
          </a:xfrm>
          <a:prstGeom prst="roundRect">
            <a:avLst>
              <a:gd name="adj" fmla="val 11069"/>
            </a:avLst>
          </a:prstGeom>
          <a:solidFill>
            <a:srgbClr val="FDFDFB"/>
          </a:solidFill>
          <a:ln w="6350">
            <a:solidFill>
              <a:srgbClr val="DCE3EA"/>
            </a:solidFill>
            <a:prstDash val="solid"/>
          </a:ln>
        </p:spPr>
        <p:txBody>
          <a:bodyPr wrap="square" lIns="118765" tIns="80665" rIns="0" bIns="55265" rtlCol="0" anchor="t">
            <a:normAutofit/>
          </a:bodyPr>
          <a:lstStyle/>
          <a:p>
            <a:pPr algn="l" indent="0" marL="0">
              <a:lnSpc>
                <a:spcPts val="1794"/>
              </a:lnSpc>
              <a:buNone/>
            </a:pPr>
            <a:r>
              <a:rPr lang="en-US" sz="1300" b="1" dirty="0">
                <a:solidFill>
                  <a:srgbClr val="2B3A4E"/>
                </a:solidFill>
                <a:latin typeface="Nunito Sans" pitchFamily="34" charset="0"/>
                <a:ea typeface="Nunito Sans" pitchFamily="34" charset="-122"/>
                <a:cs typeface="Nunito Sans" pitchFamily="34" charset="-120"/>
              </a:rPr>
              <a:t>Canvas ·</a:t>
            </a:r>
            <a:r>
              <a:rPr lang="en-US" sz="1300" dirty="0">
                <a:solidFill>
                  <a:srgbClr val="2B3A4E"/>
                </a:solidFill>
                <a:latin typeface="Nunito Sans" pitchFamily="34" charset="0"/>
                <a:ea typeface="Nunito Sans" pitchFamily="34" charset="-122"/>
                <a:cs typeface="Nunito Sans" pitchFamily="34" charset="-120"/>
              </a:rPr>
              <a:t> Si el precio sube al doble, ¿qué bloques cambian?</a:t>
            </a:r>
            <a:endParaRPr lang="en-US" sz="1300" dirty="0"/>
          </a:p>
        </p:txBody>
      </p:sp>
      <p:sp>
        <p:nvSpPr>
          <p:cNvPr id="9" name="Text 7"/>
          <p:cNvSpPr/>
          <p:nvPr/>
        </p:nvSpPr>
        <p:spPr>
          <a:xfrm>
            <a:off x="6099175" y="2536875"/>
            <a:ext cx="5276850" cy="659720"/>
          </a:xfrm>
          <a:prstGeom prst="roundRect">
            <a:avLst>
              <a:gd name="adj" fmla="val 11069"/>
            </a:avLst>
          </a:prstGeom>
          <a:solidFill>
            <a:srgbClr val="FDFDFB"/>
          </a:solidFill>
          <a:ln w="6350">
            <a:solidFill>
              <a:srgbClr val="DCE3EA"/>
            </a:solidFill>
            <a:prstDash val="solid"/>
          </a:ln>
        </p:spPr>
        <p:txBody>
          <a:bodyPr wrap="square" lIns="118765" tIns="80665" rIns="0" bIns="55265" rtlCol="0" anchor="t">
            <a:normAutofit/>
          </a:bodyPr>
          <a:lstStyle/>
          <a:p>
            <a:pPr algn="l" indent="0" marL="0">
              <a:lnSpc>
                <a:spcPts val="1794"/>
              </a:lnSpc>
              <a:buNone/>
            </a:pPr>
            <a:r>
              <a:rPr lang="en-US" sz="1300" b="1" dirty="0">
                <a:solidFill>
                  <a:srgbClr val="2B3A4E"/>
                </a:solidFill>
                <a:latin typeface="Nunito Sans" pitchFamily="34" charset="0"/>
                <a:ea typeface="Nunito Sans" pitchFamily="34" charset="-122"/>
                <a:cs typeface="Nunito Sans" pitchFamily="34" charset="-120"/>
              </a:rPr>
              <a:t>Proceso ·</a:t>
            </a:r>
            <a:r>
              <a:rPr lang="en-US" sz="1300" dirty="0">
                <a:solidFill>
                  <a:srgbClr val="2B3A4E"/>
                </a:solidFill>
                <a:latin typeface="Nunito Sans" pitchFamily="34" charset="0"/>
                <a:ea typeface="Nunito Sans" pitchFamily="34" charset="-122"/>
                <a:cs typeface="Nunito Sans" pitchFamily="34" charset="-120"/>
              </a:rPr>
              <a:t> ¿Lo que escribieron lo vieron, se lo contaron o lo supusieron?</a:t>
            </a:r>
            <a:endParaRPr lang="en-US" sz="1300" dirty="0"/>
          </a:p>
        </p:txBody>
      </p:sp>
      <p:sp>
        <p:nvSpPr>
          <p:cNvPr id="10" name="Text 8"/>
          <p:cNvSpPr/>
          <p:nvPr/>
        </p:nvSpPr>
        <p:spPr>
          <a:xfrm>
            <a:off x="815975" y="3202930"/>
            <a:ext cx="5276850" cy="659720"/>
          </a:xfrm>
          <a:prstGeom prst="roundRect">
            <a:avLst>
              <a:gd name="adj" fmla="val 11069"/>
            </a:avLst>
          </a:prstGeom>
          <a:solidFill>
            <a:srgbClr val="FDFDFB"/>
          </a:solidFill>
          <a:ln w="6350">
            <a:solidFill>
              <a:srgbClr val="DCE3EA"/>
            </a:solidFill>
            <a:prstDash val="solid"/>
          </a:ln>
        </p:spPr>
        <p:txBody>
          <a:bodyPr wrap="square" lIns="118765" tIns="80665" rIns="0" bIns="55265" rtlCol="0" anchor="t">
            <a:normAutofit/>
          </a:bodyPr>
          <a:lstStyle/>
          <a:p>
            <a:pPr algn="l" indent="0" marL="0">
              <a:lnSpc>
                <a:spcPts val="1794"/>
              </a:lnSpc>
              <a:buNone/>
            </a:pPr>
            <a:r>
              <a:rPr lang="en-US" sz="1300" b="1" dirty="0">
                <a:solidFill>
                  <a:srgbClr val="2B3A4E"/>
                </a:solidFill>
                <a:latin typeface="Nunito Sans" pitchFamily="34" charset="0"/>
                <a:ea typeface="Nunito Sans" pitchFamily="34" charset="-122"/>
                <a:cs typeface="Nunito Sans" pitchFamily="34" charset="-120"/>
              </a:rPr>
              <a:t>Proceso ·</a:t>
            </a:r>
            <a:r>
              <a:rPr lang="en-US" sz="1300" dirty="0">
                <a:solidFill>
                  <a:srgbClr val="2B3A4E"/>
                </a:solidFill>
                <a:latin typeface="Nunito Sans" pitchFamily="34" charset="0"/>
                <a:ea typeface="Nunito Sans" pitchFamily="34" charset="-122"/>
                <a:cs typeface="Nunito Sans" pitchFamily="34" charset="-120"/>
              </a:rPr>
              <a:t> ¿En qué paso el cliente abandona, y por qué?</a:t>
            </a:r>
            <a:endParaRPr lang="en-US" sz="1300" dirty="0"/>
          </a:p>
        </p:txBody>
      </p:sp>
      <p:sp>
        <p:nvSpPr>
          <p:cNvPr id="11" name="Text 9"/>
          <p:cNvSpPr/>
          <p:nvPr/>
        </p:nvSpPr>
        <p:spPr>
          <a:xfrm>
            <a:off x="6099175" y="3202930"/>
            <a:ext cx="5276850" cy="659720"/>
          </a:xfrm>
          <a:prstGeom prst="roundRect">
            <a:avLst>
              <a:gd name="adj" fmla="val 11069"/>
            </a:avLst>
          </a:prstGeom>
          <a:solidFill>
            <a:srgbClr val="FDFDFB"/>
          </a:solidFill>
          <a:ln w="6350">
            <a:solidFill>
              <a:srgbClr val="DCE3EA"/>
            </a:solidFill>
            <a:prstDash val="solid"/>
          </a:ln>
        </p:spPr>
        <p:txBody>
          <a:bodyPr wrap="square" lIns="118765" tIns="80665" rIns="0" bIns="55265" rtlCol="0" anchor="t">
            <a:normAutofit/>
          </a:bodyPr>
          <a:lstStyle/>
          <a:p>
            <a:pPr algn="l" indent="0" marL="0">
              <a:lnSpc>
                <a:spcPts val="1794"/>
              </a:lnSpc>
              <a:buNone/>
            </a:pPr>
            <a:r>
              <a:rPr lang="en-US" sz="1300" b="1" dirty="0">
                <a:solidFill>
                  <a:srgbClr val="2B3A4E"/>
                </a:solidFill>
                <a:latin typeface="Nunito Sans" pitchFamily="34" charset="0"/>
                <a:ea typeface="Nunito Sans" pitchFamily="34" charset="-122"/>
                <a:cs typeface="Nunito Sans" pitchFamily="34" charset="-120"/>
              </a:rPr>
              <a:t>Pitch ·</a:t>
            </a:r>
            <a:r>
              <a:rPr lang="en-US" sz="1300" dirty="0">
                <a:solidFill>
                  <a:srgbClr val="2B3A4E"/>
                </a:solidFill>
                <a:latin typeface="Nunito Sans" pitchFamily="34" charset="0"/>
                <a:ea typeface="Nunito Sans" pitchFamily="34" charset="-122"/>
                <a:cs typeface="Nunito Sans" pitchFamily="34" charset="-120"/>
              </a:rPr>
              <a:t> ¿Qué cifra de sus encuestas pondrían en la primera lámina del lunes?</a:t>
            </a:r>
            <a:endParaRPr lang="en-US" sz="1300" dirty="0"/>
          </a:p>
        </p:txBody>
      </p:sp>
      <p:pic>
        <p:nvPicPr>
          <p:cNvPr id="12"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3" name="Text 10"/>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73E7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6B2B3"/>
          </a:solidFill>
          <a:ln/>
        </p:spPr>
      </p:sp>
      <p:sp>
        <p:nvSpPr>
          <p:cNvPr id="3" name="Text 1"/>
          <p:cNvSpPr/>
          <p:nvPr/>
        </p:nvSpPr>
        <p:spPr>
          <a:xfrm>
            <a:off x="812800" y="1882130"/>
            <a:ext cx="10883393"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7FDCDC"/>
                </a:solidFill>
                <a:latin typeface="Domine" pitchFamily="18" charset="0"/>
                <a:ea typeface="Domine" pitchFamily="18" charset="-122"/>
                <a:cs typeface="Domine" pitchFamily="18" charset="-120"/>
              </a:rPr>
              <a:t>02</a:t>
            </a:r>
            <a:endParaRPr lang="en-US" sz="8000" dirty="0"/>
          </a:p>
        </p:txBody>
      </p:sp>
      <p:sp>
        <p:nvSpPr>
          <p:cNvPr id="4" name="Text 2"/>
          <p:cNvSpPr/>
          <p:nvPr>
            <p:ph type="title"/>
          </p:nvPr>
        </p:nvSpPr>
        <p:spPr>
          <a:xfrm>
            <a:off x="812800" y="3075930"/>
            <a:ext cx="10883393"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3F6FA"/>
                </a:solidFill>
                <a:latin typeface="Domine" pitchFamily="18" charset="0"/>
                <a:ea typeface="Domine" pitchFamily="18" charset="-122"/>
                <a:cs typeface="Domine" pitchFamily="18" charset="-120"/>
              </a:rPr>
              <a:t>RDA 2: del PMV a un producto que alguien usa</a:t>
            </a:r>
            <a:endParaRPr lang="en-US" sz="4000" dirty="0"/>
          </a:p>
        </p:txBody>
      </p:sp>
      <p:sp>
        <p:nvSpPr>
          <p:cNvPr id="5" name="Text 3"/>
          <p:cNvSpPr/>
          <p:nvPr/>
        </p:nvSpPr>
        <p:spPr>
          <a:xfrm>
            <a:off x="812800" y="4371330"/>
            <a:ext cx="8502650" cy="629897"/>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6E8"/>
                </a:solidFill>
                <a:latin typeface="Nunito Sans" pitchFamily="34" charset="0"/>
                <a:ea typeface="Nunito Sans" pitchFamily="34" charset="-122"/>
                <a:cs typeface="Nunito Sans" pitchFamily="34" charset="-120"/>
              </a:rPr>
              <a:t>El enunciado, las fechas, la landing page, GitHub, Scrum y cómo llenar la plantilla del documento técnico. Entrega: jueves 12 de noviembre.</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QUÉ CAMBIA EN EL RDA 2</a:t>
            </a:r>
            <a:endParaRPr lang="en-US" sz="1200" dirty="0"/>
          </a:p>
        </p:txBody>
      </p:sp>
      <p:sp>
        <p:nvSpPr>
          <p:cNvPr id="3" name="Text 1"/>
          <p:cNvSpPr/>
          <p:nvPr>
            <p:ph type="title"/>
          </p:nvPr>
        </p:nvSpPr>
        <p:spPr>
          <a:xfrm>
            <a:off x="812800" y="949945"/>
            <a:ext cx="11379200"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De la patineta a la bicicleta: siempre algo que se pueda usar</a:t>
            </a:r>
            <a:endParaRPr lang="en-US" sz="2800" dirty="0"/>
          </a:p>
        </p:txBody>
      </p:sp>
      <p:sp>
        <p:nvSpPr>
          <p:cNvPr id="4" name="Shape 2"/>
          <p:cNvSpPr/>
          <p:nvPr/>
        </p:nvSpPr>
        <p:spPr>
          <a:xfrm>
            <a:off x="815975" y="1616001"/>
            <a:ext cx="3070679" cy="1960846"/>
          </a:xfrm>
          <a:prstGeom prst="roundRect">
            <a:avLst>
              <a:gd name="adj" fmla="val 5020"/>
            </a:avLst>
          </a:prstGeom>
          <a:solidFill>
            <a:srgbClr val="FDFDFB"/>
          </a:solidFill>
          <a:ln w="6350">
            <a:solidFill>
              <a:srgbClr val="DCE3EA"/>
            </a:solidFill>
            <a:prstDash val="solid"/>
          </a:ln>
        </p:spPr>
      </p:sp>
      <p:sp>
        <p:nvSpPr>
          <p:cNvPr id="5" name="Text 3"/>
          <p:cNvSpPr/>
          <p:nvPr/>
        </p:nvSpPr>
        <p:spPr>
          <a:xfrm>
            <a:off x="1019629" y="1819672"/>
            <a:ext cx="2743273" cy="238749"/>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6878"/>
                </a:solidFill>
                <a:latin typeface="Nunito Sans" pitchFamily="34" charset="0"/>
                <a:ea typeface="Nunito Sans" pitchFamily="34" charset="-122"/>
                <a:cs typeface="Nunito Sans" pitchFamily="34" charset="-120"/>
              </a:rPr>
              <a:t>RDA 1 · YA LO HICIERON</a:t>
            </a:r>
            <a:endParaRPr lang="en-US" sz="1200" dirty="0"/>
          </a:p>
        </p:txBody>
      </p:sp>
      <p:sp>
        <p:nvSpPr>
          <p:cNvPr id="6" name="Text 4"/>
          <p:cNvSpPr/>
          <p:nvPr/>
        </p:nvSpPr>
        <p:spPr>
          <a:xfrm>
            <a:off x="1019629" y="2096517"/>
            <a:ext cx="2743273"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3E78"/>
                </a:solidFill>
                <a:latin typeface="Nunito Sans" pitchFamily="34" charset="0"/>
                <a:ea typeface="Nunito Sans" pitchFamily="34" charset="-122"/>
                <a:cs typeface="Nunito Sans" pitchFamily="34" charset="-120"/>
              </a:rPr>
              <a:t>La patineta</a:t>
            </a:r>
            <a:endParaRPr lang="en-US" sz="1800" dirty="0"/>
          </a:p>
        </p:txBody>
      </p:sp>
      <p:sp>
        <p:nvSpPr>
          <p:cNvPr id="7" name="Text 5"/>
          <p:cNvSpPr/>
          <p:nvPr/>
        </p:nvSpPr>
        <p:spPr>
          <a:xfrm>
            <a:off x="1019629" y="2434307"/>
            <a:ext cx="2743273" cy="9497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Un PMV para probar si el problema existe: landing, prototipo clicable, concierge. Lo midieron con 40 encuestas.</a:t>
            </a:r>
            <a:endParaRPr lang="en-US" sz="1300" dirty="0"/>
          </a:p>
        </p:txBody>
      </p:sp>
      <p:pic>
        <p:nvPicPr>
          <p:cNvPr id="8" name="Image 0" descr="arrow-right">    </p:cNvPr>
          <p:cNvPicPr>
            <a:picLocks noChangeAspect="1"/>
          </p:cNvPicPr>
          <p:nvPr/>
        </p:nvPicPr>
        <p:blipFill>
          <a:blip r:embed="rId1"/>
          <a:srcRect l="0" r="0" t="0" b="0"/>
          <a:stretch/>
        </p:blipFill>
        <p:spPr>
          <a:xfrm>
            <a:off x="4016829" y="2469406"/>
            <a:ext cx="406400" cy="254000"/>
          </a:xfrm>
          <a:prstGeom prst="rect">
            <a:avLst/>
          </a:prstGeom>
        </p:spPr>
      </p:pic>
      <p:sp>
        <p:nvSpPr>
          <p:cNvPr id="9" name="Shape 6"/>
          <p:cNvSpPr/>
          <p:nvPr/>
        </p:nvSpPr>
        <p:spPr>
          <a:xfrm>
            <a:off x="4556579" y="1619176"/>
            <a:ext cx="3078843" cy="1954496"/>
          </a:xfrm>
          <a:prstGeom prst="roundRect">
            <a:avLst>
              <a:gd name="adj" fmla="val 4873"/>
            </a:avLst>
          </a:prstGeom>
          <a:solidFill>
            <a:srgbClr val="E3F5F5"/>
          </a:solidFill>
          <a:ln w="12700">
            <a:solidFill>
              <a:srgbClr val="06B2B3"/>
            </a:solidFill>
            <a:prstDash val="solid"/>
          </a:ln>
        </p:spPr>
      </p:sp>
      <p:sp>
        <p:nvSpPr>
          <p:cNvPr id="10" name="Text 7"/>
          <p:cNvSpPr/>
          <p:nvPr/>
        </p:nvSpPr>
        <p:spPr>
          <a:xfrm>
            <a:off x="4764315" y="1826915"/>
            <a:ext cx="2743273" cy="238749"/>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47A7B"/>
                </a:solidFill>
                <a:latin typeface="Nunito Sans" pitchFamily="34" charset="0"/>
                <a:ea typeface="Nunito Sans" pitchFamily="34" charset="-122"/>
                <a:cs typeface="Nunito Sans" pitchFamily="34" charset="-120"/>
              </a:rPr>
              <a:t>RDA 2 · AHORA</a:t>
            </a:r>
            <a:endParaRPr lang="en-US" sz="1200" dirty="0"/>
          </a:p>
        </p:txBody>
      </p:sp>
      <p:sp>
        <p:nvSpPr>
          <p:cNvPr id="11" name="Text 8"/>
          <p:cNvSpPr/>
          <p:nvPr/>
        </p:nvSpPr>
        <p:spPr>
          <a:xfrm>
            <a:off x="4764315" y="2103760"/>
            <a:ext cx="2743273"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3E78"/>
                </a:solidFill>
                <a:latin typeface="Nunito Sans" pitchFamily="34" charset="0"/>
                <a:ea typeface="Nunito Sans" pitchFamily="34" charset="-122"/>
                <a:cs typeface="Nunito Sans" pitchFamily="34" charset="-120"/>
              </a:rPr>
              <a:t>La bicicleta</a:t>
            </a:r>
            <a:endParaRPr lang="en-US" sz="1800" dirty="0"/>
          </a:p>
        </p:txBody>
      </p:sp>
      <p:sp>
        <p:nvSpPr>
          <p:cNvPr id="12" name="Text 9"/>
          <p:cNvSpPr/>
          <p:nvPr/>
        </p:nvSpPr>
        <p:spPr>
          <a:xfrm>
            <a:off x="4764315" y="2441575"/>
            <a:ext cx="2743273" cy="9497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Un producto de software real, publicado, que una persona del segmento usa desde su celular. Con código abierto y documentado.</a:t>
            </a:r>
            <a:endParaRPr lang="en-US" sz="1300" dirty="0"/>
          </a:p>
        </p:txBody>
      </p:sp>
      <p:pic>
        <p:nvPicPr>
          <p:cNvPr id="13" name="Image 1" descr="arrow-right">    </p:cNvPr>
          <p:cNvPicPr>
            <a:picLocks noChangeAspect="1"/>
          </p:cNvPicPr>
          <p:nvPr/>
        </p:nvPicPr>
        <p:blipFill>
          <a:blip r:embed="rId2"/>
          <a:srcRect l="0" r="0" t="0" b="0"/>
          <a:stretch/>
        </p:blipFill>
        <p:spPr>
          <a:xfrm>
            <a:off x="7768772" y="2469406"/>
            <a:ext cx="406400" cy="254000"/>
          </a:xfrm>
          <a:prstGeom prst="rect">
            <a:avLst/>
          </a:prstGeom>
        </p:spPr>
      </p:pic>
      <p:sp>
        <p:nvSpPr>
          <p:cNvPr id="14" name="Shape 10"/>
          <p:cNvSpPr/>
          <p:nvPr/>
        </p:nvSpPr>
        <p:spPr>
          <a:xfrm>
            <a:off x="8305347" y="1616001"/>
            <a:ext cx="3070679" cy="1960846"/>
          </a:xfrm>
          <a:prstGeom prst="roundRect">
            <a:avLst>
              <a:gd name="adj" fmla="val 5020"/>
            </a:avLst>
          </a:prstGeom>
          <a:solidFill>
            <a:srgbClr val="FDFDFB"/>
          </a:solidFill>
          <a:ln w="6350">
            <a:solidFill>
              <a:srgbClr val="9AA8B8"/>
            </a:solidFill>
            <a:prstDash val="dash"/>
          </a:ln>
        </p:spPr>
      </p:sp>
      <p:sp>
        <p:nvSpPr>
          <p:cNvPr id="15" name="Text 11"/>
          <p:cNvSpPr/>
          <p:nvPr/>
        </p:nvSpPr>
        <p:spPr>
          <a:xfrm>
            <a:off x="8509000" y="1819672"/>
            <a:ext cx="2743273" cy="238749"/>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6878"/>
                </a:solidFill>
                <a:latin typeface="Nunito Sans" pitchFamily="34" charset="0"/>
                <a:ea typeface="Nunito Sans" pitchFamily="34" charset="-122"/>
                <a:cs typeface="Nunito Sans" pitchFamily="34" charset="-120"/>
              </a:rPr>
              <a:t>RDA 3 · DESPUÉS</a:t>
            </a:r>
            <a:endParaRPr lang="en-US" sz="1200" dirty="0"/>
          </a:p>
        </p:txBody>
      </p:sp>
      <p:sp>
        <p:nvSpPr>
          <p:cNvPr id="16" name="Text 12"/>
          <p:cNvSpPr/>
          <p:nvPr/>
        </p:nvSpPr>
        <p:spPr>
          <a:xfrm>
            <a:off x="8509000" y="2096517"/>
            <a:ext cx="2743273"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3E78"/>
                </a:solidFill>
                <a:latin typeface="Nunito Sans" pitchFamily="34" charset="0"/>
                <a:ea typeface="Nunito Sans" pitchFamily="34" charset="-122"/>
                <a:cs typeface="Nunito Sans" pitchFamily="34" charset="-120"/>
              </a:rPr>
              <a:t>La moto</a:t>
            </a:r>
            <a:endParaRPr lang="en-US" sz="1800" dirty="0"/>
          </a:p>
        </p:txBody>
      </p:sp>
      <p:sp>
        <p:nvSpPr>
          <p:cNvPr id="17" name="Text 13"/>
          <p:cNvSpPr/>
          <p:nvPr/>
        </p:nvSpPr>
        <p:spPr>
          <a:xfrm>
            <a:off x="8509000" y="2434307"/>
            <a:ext cx="2743273" cy="7186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Pruebas con usuarios, iteración, migración a Hostinger y transferencia a Fe y Alegría.</a:t>
            </a:r>
            <a:endParaRPr lang="en-US" sz="1300" dirty="0"/>
          </a:p>
        </p:txBody>
      </p:sp>
      <p:sp>
        <p:nvSpPr>
          <p:cNvPr id="18" name="Text 14"/>
          <p:cNvSpPr/>
          <p:nvPr/>
        </p:nvSpPr>
        <p:spPr>
          <a:xfrm>
            <a:off x="812800" y="3834036"/>
            <a:ext cx="10566401" cy="838200"/>
          </a:xfrm>
          <a:prstGeom prst="roundRect">
            <a:avLst>
              <a:gd name="adj" fmla="val 10606"/>
            </a:avLst>
          </a:prstGeom>
          <a:solidFill>
            <a:srgbClr val="E3F5F5"/>
          </a:solidFill>
          <a:ln/>
        </p:spPr>
        <p:txBody>
          <a:bodyPr wrap="square" lIns="189862" tIns="126362" rIns="0" bIns="100962" rtlCol="0" anchor="t">
            <a:normAutofit/>
          </a:bodyPr>
          <a:lstStyle/>
          <a:p>
            <a:pPr algn="l" indent="0" marL="0">
              <a:lnSpc>
                <a:spcPts val="2100"/>
              </a:lnSpc>
              <a:buNone/>
            </a:pPr>
            <a:r>
              <a:rPr lang="en-US" sz="1500" dirty="0">
                <a:solidFill>
                  <a:srgbClr val="173E78"/>
                </a:solidFill>
                <a:latin typeface="Nunito Sans" pitchFamily="34" charset="0"/>
                <a:ea typeface="Nunito Sans" pitchFamily="34" charset="-122"/>
                <a:cs typeface="Nunito Sans" pitchFamily="34" charset="-120"/>
              </a:rPr>
              <a:t>No construyan una rueda perfecta que no lleva a nadie. Cada viernes debe existir algo que funcione de punta a punta, aunque sea pequeño.</a:t>
            </a:r>
            <a:endParaRPr lang="en-US" sz="1500" dirty="0"/>
          </a:p>
        </p:txBody>
      </p:sp>
      <p:pic>
        <p:nvPicPr>
          <p:cNvPr id="19" name="Image 2" descr="Logo PUCE">    </p:cNvPr>
          <p:cNvPicPr>
            <a:picLocks noChangeAspect="1"/>
          </p:cNvPicPr>
          <p:nvPr/>
        </p:nvPicPr>
        <p:blipFill>
          <a:blip r:embed="rId3"/>
          <a:srcRect l="-436" r="-436" t="0" b="0"/>
          <a:stretch/>
        </p:blipFill>
        <p:spPr>
          <a:xfrm>
            <a:off x="812800" y="6184900"/>
            <a:ext cx="1016000" cy="279400"/>
          </a:xfrm>
          <a:prstGeom prst="rect">
            <a:avLst/>
          </a:prstGeom>
        </p:spPr>
      </p:pic>
      <p:sp>
        <p:nvSpPr>
          <p:cNvPr id="20" name="Text 15"/>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CALENDARIO · REVISADO CONTRA LOS FERIADOS DE ECUADOR</a:t>
            </a:r>
            <a:endParaRPr lang="en-US" sz="1200" dirty="0"/>
          </a:p>
        </p:txBody>
      </p:sp>
      <p:sp>
        <p:nvSpPr>
          <p:cNvPr id="3" name="Text 1"/>
          <p:cNvSpPr/>
          <p:nvPr>
            <p:ph type="title"/>
          </p:nvPr>
        </p:nvSpPr>
        <p:spPr>
          <a:xfrm>
            <a:off x="812800" y="9499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Tres controles y una entrega final</a:t>
            </a:r>
            <a:endParaRPr lang="en-US" sz="2800" dirty="0"/>
          </a:p>
        </p:txBody>
      </p:sp>
      <p:sp>
        <p:nvSpPr>
          <p:cNvPr id="4" name="Shape 2"/>
          <p:cNvSpPr/>
          <p:nvPr/>
        </p:nvSpPr>
        <p:spPr>
          <a:xfrm>
            <a:off x="815975" y="1616001"/>
            <a:ext cx="2005296" cy="1779191"/>
          </a:xfrm>
          <a:prstGeom prst="roundRect">
            <a:avLst>
              <a:gd name="adj" fmla="val 4818"/>
            </a:avLst>
          </a:prstGeom>
          <a:solidFill>
            <a:srgbClr val="FDFDFB"/>
          </a:solidFill>
          <a:ln w="6350">
            <a:solidFill>
              <a:srgbClr val="DCE3EA"/>
            </a:solidFill>
            <a:prstDash val="solid"/>
          </a:ln>
        </p:spPr>
      </p:sp>
      <p:sp>
        <p:nvSpPr>
          <p:cNvPr id="5" name="Text 3"/>
          <p:cNvSpPr/>
          <p:nvPr/>
        </p:nvSpPr>
        <p:spPr>
          <a:xfrm>
            <a:off x="981529" y="1781572"/>
            <a:ext cx="1724989" cy="25649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47A7B"/>
                </a:solidFill>
                <a:latin typeface="Nunito Sans" pitchFamily="34" charset="0"/>
                <a:ea typeface="Nunito Sans" pitchFamily="34" charset="-122"/>
                <a:cs typeface="Nunito Sans" pitchFamily="34" charset="-120"/>
              </a:rPr>
              <a:t>Dom 18 oct</a:t>
            </a:r>
            <a:endParaRPr lang="en-US" sz="1300" dirty="0"/>
          </a:p>
        </p:txBody>
      </p:sp>
      <p:sp>
        <p:nvSpPr>
          <p:cNvPr id="6" name="Text 4"/>
          <p:cNvSpPr/>
          <p:nvPr/>
        </p:nvSpPr>
        <p:spPr>
          <a:xfrm>
            <a:off x="981529" y="2076152"/>
            <a:ext cx="17249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Control 1</a:t>
            </a:r>
            <a:endParaRPr lang="en-US" sz="1500" dirty="0"/>
          </a:p>
        </p:txBody>
      </p:sp>
      <p:sp>
        <p:nvSpPr>
          <p:cNvPr id="7" name="Text 5"/>
          <p:cNvSpPr/>
          <p:nvPr/>
        </p:nvSpPr>
        <p:spPr>
          <a:xfrm>
            <a:off x="981529" y="2368252"/>
            <a:ext cx="1724989" cy="66544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Repo MIT, backlog, decisión app o web, cuenta de Play abierta.</a:t>
            </a:r>
            <a:endParaRPr lang="en-US" sz="1200" dirty="0"/>
          </a:p>
        </p:txBody>
      </p:sp>
      <p:sp>
        <p:nvSpPr>
          <p:cNvPr id="8" name="Shape 6"/>
          <p:cNvSpPr/>
          <p:nvPr/>
        </p:nvSpPr>
        <p:spPr>
          <a:xfrm>
            <a:off x="2951446" y="1612826"/>
            <a:ext cx="2011703" cy="1785541"/>
          </a:xfrm>
          <a:prstGeom prst="roundRect">
            <a:avLst>
              <a:gd name="adj" fmla="val 4979"/>
            </a:avLst>
          </a:prstGeom>
          <a:solidFill>
            <a:srgbClr val="173E78"/>
          </a:solidFill>
          <a:ln/>
        </p:spPr>
      </p:sp>
      <p:sp>
        <p:nvSpPr>
          <p:cNvPr id="9" name="Text 7"/>
          <p:cNvSpPr/>
          <p:nvPr/>
        </p:nvSpPr>
        <p:spPr>
          <a:xfrm>
            <a:off x="3116546" y="1777926"/>
            <a:ext cx="1732303" cy="25649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FDCDC"/>
                </a:solidFill>
                <a:latin typeface="Nunito Sans" pitchFamily="34" charset="0"/>
                <a:ea typeface="Nunito Sans" pitchFamily="34" charset="-122"/>
                <a:cs typeface="Nunito Sans" pitchFamily="34" charset="-120"/>
              </a:rPr>
              <a:t>Lun 26 oct</a:t>
            </a:r>
            <a:endParaRPr lang="en-US" sz="1300" dirty="0"/>
          </a:p>
        </p:txBody>
      </p:sp>
      <p:sp>
        <p:nvSpPr>
          <p:cNvPr id="10" name="Text 8"/>
          <p:cNvSpPr/>
          <p:nvPr/>
        </p:nvSpPr>
        <p:spPr>
          <a:xfrm>
            <a:off x="3116546" y="2072531"/>
            <a:ext cx="1732303"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F6FA"/>
                </a:solidFill>
                <a:latin typeface="Nunito Sans" pitchFamily="34" charset="0"/>
                <a:ea typeface="Nunito Sans" pitchFamily="34" charset="-122"/>
                <a:cs typeface="Nunito Sans" pitchFamily="34" charset="-120"/>
              </a:rPr>
              <a:t>Control 2 · el clave</a:t>
            </a:r>
            <a:endParaRPr lang="en-US" sz="1500" dirty="0"/>
          </a:p>
        </p:txBody>
      </p:sp>
      <p:sp>
        <p:nvSpPr>
          <p:cNvPr id="11" name="Text 9"/>
          <p:cNvSpPr/>
          <p:nvPr/>
        </p:nvSpPr>
        <p:spPr>
          <a:xfrm>
            <a:off x="3116546" y="2593231"/>
            <a:ext cx="1732303" cy="66544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6F2"/>
                </a:solidFill>
                <a:latin typeface="Nunito Sans" pitchFamily="34" charset="0"/>
                <a:ea typeface="Nunito Sans" pitchFamily="34" charset="-122"/>
                <a:cs typeface="Nunito Sans" pitchFamily="34" charset="-120"/>
              </a:rPr>
              <a:t>Prueba cerrada con 12 testers, o web en línea. Landing publicada.</a:t>
            </a:r>
            <a:endParaRPr lang="en-US" sz="1200" dirty="0"/>
          </a:p>
        </p:txBody>
      </p:sp>
      <p:sp>
        <p:nvSpPr>
          <p:cNvPr id="12" name="Shape 10"/>
          <p:cNvSpPr/>
          <p:nvPr/>
        </p:nvSpPr>
        <p:spPr>
          <a:xfrm>
            <a:off x="5093324" y="1616001"/>
            <a:ext cx="2005296" cy="1779191"/>
          </a:xfrm>
          <a:prstGeom prst="roundRect">
            <a:avLst>
              <a:gd name="adj" fmla="val 4818"/>
            </a:avLst>
          </a:prstGeom>
          <a:solidFill>
            <a:srgbClr val="EEF0F3"/>
          </a:solidFill>
          <a:ln w="6350">
            <a:solidFill>
              <a:srgbClr val="9AA8B8"/>
            </a:solidFill>
            <a:prstDash val="dash"/>
          </a:ln>
        </p:spPr>
      </p:sp>
      <p:sp>
        <p:nvSpPr>
          <p:cNvPr id="13" name="Text 11"/>
          <p:cNvSpPr/>
          <p:nvPr/>
        </p:nvSpPr>
        <p:spPr>
          <a:xfrm>
            <a:off x="5258877" y="1781572"/>
            <a:ext cx="1724989" cy="25649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B6878"/>
                </a:solidFill>
                <a:latin typeface="Nunito Sans" pitchFamily="34" charset="0"/>
                <a:ea typeface="Nunito Sans" pitchFamily="34" charset="-122"/>
                <a:cs typeface="Nunito Sans" pitchFamily="34" charset="-120"/>
              </a:rPr>
              <a:t>Lun 2 y mar 3</a:t>
            </a:r>
            <a:endParaRPr lang="en-US" sz="1300" dirty="0"/>
          </a:p>
        </p:txBody>
      </p:sp>
      <p:sp>
        <p:nvSpPr>
          <p:cNvPr id="14" name="Text 12"/>
          <p:cNvSpPr/>
          <p:nvPr/>
        </p:nvSpPr>
        <p:spPr>
          <a:xfrm>
            <a:off x="5258877" y="2076152"/>
            <a:ext cx="17249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5B6878"/>
                </a:solidFill>
                <a:latin typeface="Nunito Sans" pitchFamily="34" charset="0"/>
                <a:ea typeface="Nunito Sans" pitchFamily="34" charset="-122"/>
                <a:cs typeface="Nunito Sans" pitchFamily="34" charset="-120"/>
              </a:rPr>
              <a:t>Feriados</a:t>
            </a:r>
            <a:endParaRPr lang="en-US" sz="1500" dirty="0"/>
          </a:p>
        </p:txBody>
      </p:sp>
      <p:sp>
        <p:nvSpPr>
          <p:cNvPr id="15" name="Text 13"/>
          <p:cNvSpPr/>
          <p:nvPr/>
        </p:nvSpPr>
        <p:spPr>
          <a:xfrm>
            <a:off x="5258877" y="2368252"/>
            <a:ext cx="1724989" cy="87879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Difuntos e Independencia de Cuenca. No cuenten con esos días.</a:t>
            </a:r>
            <a:endParaRPr lang="en-US" sz="1200" dirty="0"/>
          </a:p>
        </p:txBody>
      </p:sp>
      <p:sp>
        <p:nvSpPr>
          <p:cNvPr id="16" name="Shape 14"/>
          <p:cNvSpPr/>
          <p:nvPr/>
        </p:nvSpPr>
        <p:spPr>
          <a:xfrm>
            <a:off x="7231970" y="1616001"/>
            <a:ext cx="2005353" cy="1779191"/>
          </a:xfrm>
          <a:prstGeom prst="roundRect">
            <a:avLst>
              <a:gd name="adj" fmla="val 4818"/>
            </a:avLst>
          </a:prstGeom>
          <a:solidFill>
            <a:srgbClr val="FDFDFB"/>
          </a:solidFill>
          <a:ln w="6350">
            <a:solidFill>
              <a:srgbClr val="DCE3EA"/>
            </a:solidFill>
            <a:prstDash val="solid"/>
          </a:ln>
        </p:spPr>
      </p:sp>
      <p:sp>
        <p:nvSpPr>
          <p:cNvPr id="17" name="Text 15"/>
          <p:cNvSpPr/>
          <p:nvPr/>
        </p:nvSpPr>
        <p:spPr>
          <a:xfrm>
            <a:off x="7397524" y="1781572"/>
            <a:ext cx="1725046" cy="25649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47A7B"/>
                </a:solidFill>
                <a:latin typeface="Nunito Sans" pitchFamily="34" charset="0"/>
                <a:ea typeface="Nunito Sans" pitchFamily="34" charset="-122"/>
                <a:cs typeface="Nunito Sans" pitchFamily="34" charset="-120"/>
              </a:rPr>
              <a:t>Jue 5 nov</a:t>
            </a:r>
            <a:endParaRPr lang="en-US" sz="1300" dirty="0"/>
          </a:p>
        </p:txBody>
      </p:sp>
      <p:sp>
        <p:nvSpPr>
          <p:cNvPr id="18" name="Text 16"/>
          <p:cNvSpPr/>
          <p:nvPr/>
        </p:nvSpPr>
        <p:spPr>
          <a:xfrm>
            <a:off x="7397524" y="2076152"/>
            <a:ext cx="17250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Control 3</a:t>
            </a:r>
            <a:endParaRPr lang="en-US" sz="1500" dirty="0"/>
          </a:p>
        </p:txBody>
      </p:sp>
      <p:sp>
        <p:nvSpPr>
          <p:cNvPr id="19" name="Text 17"/>
          <p:cNvSpPr/>
          <p:nvPr/>
        </p:nvSpPr>
        <p:spPr>
          <a:xfrm>
            <a:off x="7397524" y="2368252"/>
            <a:ext cx="1725046" cy="66544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Historias «Must» listas y pruebas con 5 usuarios reales.</a:t>
            </a:r>
            <a:endParaRPr lang="en-US" sz="1200" dirty="0"/>
          </a:p>
        </p:txBody>
      </p:sp>
      <p:sp>
        <p:nvSpPr>
          <p:cNvPr id="20" name="Shape 18"/>
          <p:cNvSpPr/>
          <p:nvPr/>
        </p:nvSpPr>
        <p:spPr>
          <a:xfrm>
            <a:off x="9370673" y="1616001"/>
            <a:ext cx="2005353" cy="1779191"/>
          </a:xfrm>
          <a:prstGeom prst="roundRect">
            <a:avLst>
              <a:gd name="adj" fmla="val 4818"/>
            </a:avLst>
          </a:prstGeom>
          <a:solidFill>
            <a:srgbClr val="FDFDFB"/>
          </a:solidFill>
          <a:ln w="6350">
            <a:solidFill>
              <a:srgbClr val="DCE3EA"/>
            </a:solidFill>
            <a:prstDash val="solid"/>
          </a:ln>
        </p:spPr>
      </p:sp>
      <p:sp>
        <p:nvSpPr>
          <p:cNvPr id="21" name="Text 19"/>
          <p:cNvSpPr/>
          <p:nvPr/>
        </p:nvSpPr>
        <p:spPr>
          <a:xfrm>
            <a:off x="9536226" y="1781572"/>
            <a:ext cx="1725046" cy="25649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A4B00"/>
                </a:solidFill>
                <a:latin typeface="Nunito Sans" pitchFamily="34" charset="0"/>
                <a:ea typeface="Nunito Sans" pitchFamily="34" charset="-122"/>
                <a:cs typeface="Nunito Sans" pitchFamily="34" charset="-120"/>
              </a:rPr>
              <a:t>Jue 12 nov</a:t>
            </a:r>
            <a:endParaRPr lang="en-US" sz="1300" dirty="0"/>
          </a:p>
        </p:txBody>
      </p:sp>
      <p:sp>
        <p:nvSpPr>
          <p:cNvPr id="22" name="Text 20"/>
          <p:cNvSpPr/>
          <p:nvPr/>
        </p:nvSpPr>
        <p:spPr>
          <a:xfrm>
            <a:off x="9536226" y="2076152"/>
            <a:ext cx="17250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Entrega final</a:t>
            </a:r>
            <a:endParaRPr lang="en-US" sz="1500" dirty="0"/>
          </a:p>
        </p:txBody>
      </p:sp>
      <p:sp>
        <p:nvSpPr>
          <p:cNvPr id="23" name="Text 21"/>
          <p:cNvSpPr/>
          <p:nvPr/>
        </p:nvSpPr>
        <p:spPr>
          <a:xfrm>
            <a:off x="9536226" y="2368252"/>
            <a:ext cx="1725046"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Hasta las 23:59. Después no se recibe.</a:t>
            </a:r>
            <a:endParaRPr lang="en-US" sz="1200" dirty="0"/>
          </a:p>
        </p:txBody>
      </p:sp>
      <p:sp>
        <p:nvSpPr>
          <p:cNvPr id="24" name="Text 22"/>
          <p:cNvSpPr/>
          <p:nvPr/>
        </p:nvSpPr>
        <p:spPr>
          <a:xfrm>
            <a:off x="812800" y="3652366"/>
            <a:ext cx="10566401" cy="838200"/>
          </a:xfrm>
          <a:prstGeom prst="roundRect">
            <a:avLst>
              <a:gd name="adj" fmla="val 10606"/>
            </a:avLst>
          </a:prstGeom>
          <a:solidFill>
            <a:srgbClr val="FFF4DC"/>
          </a:solidFill>
          <a:ln/>
        </p:spPr>
        <p:txBody>
          <a:bodyPr wrap="square" lIns="189862" tIns="126362" rIns="0" bIns="100962" rtlCol="0" anchor="t">
            <a:normAutofit/>
          </a:bodyPr>
          <a:lstStyle/>
          <a:p>
            <a:pPr algn="l" indent="0" marL="0">
              <a:lnSpc>
                <a:spcPts val="2100"/>
              </a:lnSpc>
              <a:buNone/>
            </a:pPr>
            <a:r>
              <a:rPr lang="en-US" sz="1500" b="1" dirty="0">
                <a:solidFill>
                  <a:srgbClr val="7A4B00"/>
                </a:solidFill>
                <a:latin typeface="Nunito Sans" pitchFamily="34" charset="0"/>
                <a:ea typeface="Nunito Sans" pitchFamily="34" charset="-122"/>
                <a:cs typeface="Nunito Sans" pitchFamily="34" charset="-120"/>
              </a:rPr>
              <a:t>¿Por qué el 26 de octubre?</a:t>
            </a:r>
            <a:r>
              <a:rPr lang="en-US" sz="1500" dirty="0">
                <a:solidFill>
                  <a:srgbClr val="7A4B00"/>
                </a:solidFill>
                <a:latin typeface="Nunito Sans" pitchFamily="34" charset="0"/>
                <a:ea typeface="Nunito Sans" pitchFamily="34" charset="-122"/>
                <a:cs typeface="Nunito Sans" pitchFamily="34" charset="-120"/>
              </a:rPr>
              <a:t> Google exige 12 testers durante 14 días seguidos. Del 26 de octubre al 8 de noviembre se cumplen los 14 días, con margen antes de la entrega.</a:t>
            </a:r>
            <a:endParaRPr lang="en-US" sz="1500" dirty="0"/>
          </a:p>
        </p:txBody>
      </p:sp>
      <p:pic>
        <p:nvPicPr>
          <p:cNvPr id="25"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26" name="Text 23"/>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QUÉ ENTREGAN EL 12 DE NOVIEMBRE</a:t>
            </a:r>
            <a:endParaRPr lang="en-US" sz="1200" dirty="0"/>
          </a:p>
        </p:txBody>
      </p:sp>
      <p:sp>
        <p:nvSpPr>
          <p:cNvPr id="3" name="Text 1"/>
          <p:cNvSpPr/>
          <p:nvPr>
            <p:ph type="title"/>
          </p:nvPr>
        </p:nvSpPr>
        <p:spPr>
          <a:xfrm>
            <a:off x="812800" y="9499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Cinco piezas, una sola persona las sube</a:t>
            </a:r>
            <a:endParaRPr lang="en-US" sz="2800" dirty="0"/>
          </a:p>
        </p:txBody>
      </p:sp>
      <p:sp>
        <p:nvSpPr>
          <p:cNvPr id="4" name="Shape 2"/>
          <p:cNvSpPr/>
          <p:nvPr/>
        </p:nvSpPr>
        <p:spPr>
          <a:xfrm>
            <a:off x="815975" y="1590601"/>
            <a:ext cx="2005296" cy="1987153"/>
          </a:xfrm>
          <a:prstGeom prst="roundRect">
            <a:avLst>
              <a:gd name="adj" fmla="val 4953"/>
            </a:avLst>
          </a:prstGeom>
          <a:solidFill>
            <a:srgbClr val="FDFDFB"/>
          </a:solidFill>
          <a:ln w="6350">
            <a:solidFill>
              <a:srgbClr val="DCE3EA"/>
            </a:solidFill>
            <a:prstDash val="solid"/>
          </a:ln>
        </p:spPr>
      </p:sp>
      <p:pic>
        <p:nvPicPr>
          <p:cNvPr id="5" name="Image 0" descr="Globe">    </p:cNvPr>
          <p:cNvPicPr>
            <a:picLocks noChangeAspect="1"/>
          </p:cNvPicPr>
          <p:nvPr/>
        </p:nvPicPr>
        <p:blipFill>
          <a:blip r:embed="rId1"/>
          <a:srcRect l="0" r="0" t="0" b="0"/>
          <a:stretch/>
        </p:blipFill>
        <p:spPr>
          <a:xfrm>
            <a:off x="994229" y="1768872"/>
            <a:ext cx="355600" cy="355600"/>
          </a:xfrm>
          <a:prstGeom prst="rect">
            <a:avLst/>
          </a:prstGeom>
        </p:spPr>
      </p:pic>
      <p:sp>
        <p:nvSpPr>
          <p:cNvPr id="6" name="Text 3"/>
          <p:cNvSpPr/>
          <p:nvPr/>
        </p:nvSpPr>
        <p:spPr>
          <a:xfrm>
            <a:off x="994229" y="2213372"/>
            <a:ext cx="16995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Landing page</a:t>
            </a:r>
            <a:endParaRPr lang="en-US" sz="1500" dirty="0"/>
          </a:p>
        </p:txBody>
      </p:sp>
      <p:sp>
        <p:nvSpPr>
          <p:cNvPr id="7" name="Text 4"/>
          <p:cNvSpPr/>
          <p:nvPr/>
        </p:nvSpPr>
        <p:spPr>
          <a:xfrm>
            <a:off x="994229" y="2530872"/>
            <a:ext cx="169958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La vitrina del proyecto. Obligatoria para todos.</a:t>
            </a:r>
            <a:endParaRPr lang="en-US" sz="1200" dirty="0"/>
          </a:p>
        </p:txBody>
      </p:sp>
      <p:sp>
        <p:nvSpPr>
          <p:cNvPr id="8" name="Shape 5"/>
          <p:cNvSpPr/>
          <p:nvPr/>
        </p:nvSpPr>
        <p:spPr>
          <a:xfrm>
            <a:off x="2954621" y="1590601"/>
            <a:ext cx="2005353" cy="1987153"/>
          </a:xfrm>
          <a:prstGeom prst="roundRect">
            <a:avLst>
              <a:gd name="adj" fmla="val 4953"/>
            </a:avLst>
          </a:prstGeom>
          <a:solidFill>
            <a:srgbClr val="FDFDFB"/>
          </a:solidFill>
          <a:ln w="6350">
            <a:solidFill>
              <a:srgbClr val="DCE3EA"/>
            </a:solidFill>
            <a:prstDash val="solid"/>
          </a:ln>
        </p:spPr>
      </p:sp>
      <p:pic>
        <p:nvPicPr>
          <p:cNvPr id="9" name="Image 1" descr="Play">    </p:cNvPr>
          <p:cNvPicPr>
            <a:picLocks noChangeAspect="1"/>
          </p:cNvPicPr>
          <p:nvPr/>
        </p:nvPicPr>
        <p:blipFill>
          <a:blip r:embed="rId2"/>
          <a:srcRect l="0" r="0" t="0" b="0"/>
          <a:stretch/>
        </p:blipFill>
        <p:spPr>
          <a:xfrm>
            <a:off x="3132875" y="1768872"/>
            <a:ext cx="355600" cy="355600"/>
          </a:xfrm>
          <a:prstGeom prst="rect">
            <a:avLst/>
          </a:prstGeom>
        </p:spPr>
      </p:pic>
      <p:sp>
        <p:nvSpPr>
          <p:cNvPr id="10" name="Text 6"/>
          <p:cNvSpPr/>
          <p:nvPr/>
        </p:nvSpPr>
        <p:spPr>
          <a:xfrm>
            <a:off x="3132875" y="2213372"/>
            <a:ext cx="16996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Producto publicado</a:t>
            </a:r>
            <a:endParaRPr lang="en-US" sz="1500" dirty="0"/>
          </a:p>
        </p:txBody>
      </p:sp>
      <p:sp>
        <p:nvSpPr>
          <p:cNvPr id="11" name="Text 7"/>
          <p:cNvSpPr/>
          <p:nvPr/>
        </p:nvSpPr>
        <p:spPr>
          <a:xfrm>
            <a:off x="3132875" y="2759472"/>
            <a:ext cx="1699646" cy="66544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Prueba cerrada en Google Play, o app web con https.</a:t>
            </a:r>
            <a:endParaRPr lang="en-US" sz="1200" dirty="0"/>
          </a:p>
        </p:txBody>
      </p:sp>
      <p:sp>
        <p:nvSpPr>
          <p:cNvPr id="12" name="Shape 8"/>
          <p:cNvSpPr/>
          <p:nvPr/>
        </p:nvSpPr>
        <p:spPr>
          <a:xfrm>
            <a:off x="5093324" y="1590601"/>
            <a:ext cx="2005296" cy="1987153"/>
          </a:xfrm>
          <a:prstGeom prst="roundRect">
            <a:avLst>
              <a:gd name="adj" fmla="val 4953"/>
            </a:avLst>
          </a:prstGeom>
          <a:solidFill>
            <a:srgbClr val="FDFDFB"/>
          </a:solidFill>
          <a:ln w="6350">
            <a:solidFill>
              <a:srgbClr val="DCE3EA"/>
            </a:solidFill>
            <a:prstDash val="solid"/>
          </a:ln>
        </p:spPr>
      </p:sp>
      <p:pic>
        <p:nvPicPr>
          <p:cNvPr id="13" name="Image 2" descr="Code">    </p:cNvPr>
          <p:cNvPicPr>
            <a:picLocks noChangeAspect="1"/>
          </p:cNvPicPr>
          <p:nvPr/>
        </p:nvPicPr>
        <p:blipFill>
          <a:blip r:embed="rId3"/>
          <a:srcRect l="0" r="0" t="0" b="0"/>
          <a:stretch/>
        </p:blipFill>
        <p:spPr>
          <a:xfrm>
            <a:off x="5271577" y="1768872"/>
            <a:ext cx="355600" cy="355600"/>
          </a:xfrm>
          <a:prstGeom prst="rect">
            <a:avLst/>
          </a:prstGeom>
        </p:spPr>
      </p:pic>
      <p:sp>
        <p:nvSpPr>
          <p:cNvPr id="14" name="Text 9"/>
          <p:cNvSpPr/>
          <p:nvPr/>
        </p:nvSpPr>
        <p:spPr>
          <a:xfrm>
            <a:off x="5271577" y="2213372"/>
            <a:ext cx="1699589"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Repositorio GitHub</a:t>
            </a:r>
            <a:endParaRPr lang="en-US" sz="1500" dirty="0"/>
          </a:p>
        </p:txBody>
      </p:sp>
      <p:sp>
        <p:nvSpPr>
          <p:cNvPr id="15" name="Text 10"/>
          <p:cNvSpPr/>
          <p:nvPr/>
        </p:nvSpPr>
        <p:spPr>
          <a:xfrm>
            <a:off x="5271577" y="2759472"/>
            <a:ext cx="169958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Público, licencia MIT y release v1.0.0.</a:t>
            </a:r>
            <a:endParaRPr lang="en-US" sz="1200" dirty="0"/>
          </a:p>
        </p:txBody>
      </p:sp>
      <p:sp>
        <p:nvSpPr>
          <p:cNvPr id="16" name="Shape 11"/>
          <p:cNvSpPr/>
          <p:nvPr/>
        </p:nvSpPr>
        <p:spPr>
          <a:xfrm>
            <a:off x="7231970" y="1590601"/>
            <a:ext cx="2005353" cy="1987153"/>
          </a:xfrm>
          <a:prstGeom prst="roundRect">
            <a:avLst>
              <a:gd name="adj" fmla="val 4953"/>
            </a:avLst>
          </a:prstGeom>
          <a:solidFill>
            <a:srgbClr val="FDFDFB"/>
          </a:solidFill>
          <a:ln w="6350">
            <a:solidFill>
              <a:srgbClr val="DCE3EA"/>
            </a:solidFill>
            <a:prstDash val="solid"/>
          </a:ln>
        </p:spPr>
      </p:sp>
      <p:pic>
        <p:nvPicPr>
          <p:cNvPr id="17" name="Image 3" descr="Book">    </p:cNvPr>
          <p:cNvPicPr>
            <a:picLocks noChangeAspect="1"/>
          </p:cNvPicPr>
          <p:nvPr/>
        </p:nvPicPr>
        <p:blipFill>
          <a:blip r:embed="rId4"/>
          <a:srcRect l="0" r="0" t="0" b="0"/>
          <a:stretch/>
        </p:blipFill>
        <p:spPr>
          <a:xfrm>
            <a:off x="7410224" y="1768872"/>
            <a:ext cx="355600" cy="355600"/>
          </a:xfrm>
          <a:prstGeom prst="rect">
            <a:avLst/>
          </a:prstGeom>
        </p:spPr>
      </p:pic>
      <p:sp>
        <p:nvSpPr>
          <p:cNvPr id="18" name="Text 12"/>
          <p:cNvSpPr/>
          <p:nvPr/>
        </p:nvSpPr>
        <p:spPr>
          <a:xfrm>
            <a:off x="7410224" y="2213372"/>
            <a:ext cx="16996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Documento técnico</a:t>
            </a:r>
            <a:endParaRPr lang="en-US" sz="1500" dirty="0"/>
          </a:p>
        </p:txBody>
      </p:sp>
      <p:sp>
        <p:nvSpPr>
          <p:cNvPr id="19" name="Text 13"/>
          <p:cNvSpPr/>
          <p:nvPr/>
        </p:nvSpPr>
        <p:spPr>
          <a:xfrm>
            <a:off x="7410224" y="2759472"/>
            <a:ext cx="1699646" cy="66544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En Word, con la plantilla. Sirve para paper, FyA y concurso.</a:t>
            </a:r>
            <a:endParaRPr lang="en-US" sz="1200" dirty="0"/>
          </a:p>
        </p:txBody>
      </p:sp>
      <p:sp>
        <p:nvSpPr>
          <p:cNvPr id="20" name="Shape 14"/>
          <p:cNvSpPr/>
          <p:nvPr/>
        </p:nvSpPr>
        <p:spPr>
          <a:xfrm>
            <a:off x="9370673" y="1590601"/>
            <a:ext cx="2005353" cy="1987153"/>
          </a:xfrm>
          <a:prstGeom prst="roundRect">
            <a:avLst>
              <a:gd name="adj" fmla="val 4953"/>
            </a:avLst>
          </a:prstGeom>
          <a:solidFill>
            <a:srgbClr val="FDFDFB"/>
          </a:solidFill>
          <a:ln w="6350">
            <a:solidFill>
              <a:srgbClr val="DCE3EA"/>
            </a:solidFill>
            <a:prstDash val="solid"/>
          </a:ln>
        </p:spPr>
      </p:sp>
      <p:pic>
        <p:nvPicPr>
          <p:cNvPr id="21" name="Image 4" descr="Activity">    </p:cNvPr>
          <p:cNvPicPr>
            <a:picLocks noChangeAspect="1"/>
          </p:cNvPicPr>
          <p:nvPr/>
        </p:nvPicPr>
        <p:blipFill>
          <a:blip r:embed="rId5"/>
          <a:srcRect l="0" r="0" t="0" b="0"/>
          <a:stretch/>
        </p:blipFill>
        <p:spPr>
          <a:xfrm>
            <a:off x="9548926" y="1768872"/>
            <a:ext cx="355600" cy="355600"/>
          </a:xfrm>
          <a:prstGeom prst="rect">
            <a:avLst/>
          </a:prstGeom>
        </p:spPr>
      </p:pic>
      <p:sp>
        <p:nvSpPr>
          <p:cNvPr id="22" name="Text 15"/>
          <p:cNvSpPr/>
          <p:nvPr/>
        </p:nvSpPr>
        <p:spPr>
          <a:xfrm>
            <a:off x="9548926" y="2213372"/>
            <a:ext cx="16996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Video demo</a:t>
            </a:r>
            <a:endParaRPr lang="en-US" sz="1500" dirty="0"/>
          </a:p>
        </p:txBody>
      </p:sp>
      <p:sp>
        <p:nvSpPr>
          <p:cNvPr id="23" name="Text 16"/>
          <p:cNvSpPr/>
          <p:nvPr/>
        </p:nvSpPr>
        <p:spPr>
          <a:xfrm>
            <a:off x="9548926" y="2530872"/>
            <a:ext cx="1699646"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Máximo 3 minutos, en un celular real.</a:t>
            </a:r>
            <a:endParaRPr lang="en-US" sz="1200" dirty="0"/>
          </a:p>
        </p:txBody>
      </p:sp>
      <p:sp>
        <p:nvSpPr>
          <p:cNvPr id="24" name="Text 17"/>
          <p:cNvSpPr/>
          <p:nvPr/>
        </p:nvSpPr>
        <p:spPr>
          <a:xfrm>
            <a:off x="812800" y="3809529"/>
            <a:ext cx="10566401" cy="838200"/>
          </a:xfrm>
          <a:prstGeom prst="roundRect">
            <a:avLst>
              <a:gd name="adj" fmla="val 10606"/>
            </a:avLst>
          </a:prstGeom>
          <a:solidFill>
            <a:srgbClr val="E3F5F5"/>
          </a:solidFill>
          <a:ln/>
        </p:spPr>
        <p:txBody>
          <a:bodyPr wrap="square" lIns="189862" tIns="126362" rIns="0" bIns="100962" rtlCol="0" anchor="t">
            <a:normAutofit/>
          </a:bodyPr>
          <a:lstStyle/>
          <a:p>
            <a:pPr algn="l" indent="0" marL="0">
              <a:lnSpc>
                <a:spcPts val="2100"/>
              </a:lnSpc>
              <a:buNone/>
            </a:pPr>
            <a:r>
              <a:rPr lang="en-US" sz="1500" dirty="0">
                <a:solidFill>
                  <a:srgbClr val="173E78"/>
                </a:solidFill>
                <a:latin typeface="Nunito Sans" pitchFamily="34" charset="0"/>
                <a:ea typeface="Nunito Sans" pitchFamily="34" charset="-122"/>
                <a:cs typeface="Nunito Sans" pitchFamily="34" charset="-120"/>
              </a:rPr>
              <a:t>Nombre del documento: </a:t>
            </a:r>
            <a:r>
              <a:rPr lang="en-US" sz="1500" b="1" dirty="0">
                <a:solidFill>
                  <a:srgbClr val="173E78"/>
                </a:solidFill>
                <a:latin typeface="Nunito Sans" pitchFamily="34" charset="0"/>
                <a:ea typeface="Nunito Sans" pitchFamily="34" charset="-122"/>
                <a:cs typeface="Nunito Sans" pitchFamily="34" charset="-120"/>
              </a:rPr>
              <a:t>Equipo_[NombreDelEquipo]_DocumentoTecnico.docx</a:t>
            </a:r>
            <a:r>
              <a:rPr lang="en-US" sz="1500" dirty="0">
                <a:solidFill>
                  <a:srgbClr val="173E78"/>
                </a:solidFill>
                <a:latin typeface="Nunito Sans" pitchFamily="34" charset="0"/>
                <a:ea typeface="Nunito Sans" pitchFamily="34" charset="-122"/>
                <a:cs typeface="Nunito Sans" pitchFamily="34" charset="-120"/>
              </a:rPr>
              <a:t>. Word, no PDF. Un solo envío por equipo.</a:t>
            </a:r>
            <a:endParaRPr lang="en-US" sz="1500" dirty="0"/>
          </a:p>
        </p:txBody>
      </p:sp>
      <p:pic>
        <p:nvPicPr>
          <p:cNvPr id="25" name="Image 5" descr="Logo PUCE">    </p:cNvPr>
          <p:cNvPicPr>
            <a:picLocks noChangeAspect="1"/>
          </p:cNvPicPr>
          <p:nvPr/>
        </p:nvPicPr>
        <p:blipFill>
          <a:blip r:embed="rId6"/>
          <a:srcRect l="-436" r="-436" t="0" b="0"/>
          <a:stretch/>
        </p:blipFill>
        <p:spPr>
          <a:xfrm>
            <a:off x="812800" y="6184900"/>
            <a:ext cx="1016000" cy="279400"/>
          </a:xfrm>
          <a:prstGeom prst="rect">
            <a:avLst/>
          </a:prstGeom>
        </p:spPr>
      </p:pic>
      <p:sp>
        <p:nvSpPr>
          <p:cNvPr id="26" name="Text 18"/>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DOS CAMINOS PARA EL PRODUCTO</a:t>
            </a:r>
            <a:endParaRPr lang="en-US" sz="1200" dirty="0"/>
          </a:p>
        </p:txBody>
      </p:sp>
      <p:sp>
        <p:nvSpPr>
          <p:cNvPr id="3" name="Text 1"/>
          <p:cNvSpPr/>
          <p:nvPr>
            <p:ph type="title"/>
          </p:nvPr>
        </p:nvSpPr>
        <p:spPr>
          <a:xfrm>
            <a:off x="812800" y="9499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App en Google Play o app web: ustedes eligen</a:t>
            </a:r>
            <a:endParaRPr lang="en-US" sz="2800" dirty="0"/>
          </a:p>
        </p:txBody>
      </p:sp>
      <p:sp>
        <p:nvSpPr>
          <p:cNvPr id="4" name="Shape 2"/>
          <p:cNvSpPr/>
          <p:nvPr/>
        </p:nvSpPr>
        <p:spPr>
          <a:xfrm>
            <a:off x="815975" y="1565201"/>
            <a:ext cx="5187950" cy="1460670"/>
          </a:xfrm>
          <a:prstGeom prst="roundRect">
            <a:avLst>
              <a:gd name="adj" fmla="val 6738"/>
            </a:avLst>
          </a:prstGeom>
          <a:solidFill>
            <a:srgbClr val="FDFDFB"/>
          </a:solidFill>
          <a:ln w="6350">
            <a:solidFill>
              <a:srgbClr val="DCE3EA"/>
            </a:solidFill>
            <a:prstDash val="solid"/>
          </a:ln>
        </p:spPr>
      </p:sp>
      <p:sp>
        <p:nvSpPr>
          <p:cNvPr id="5" name="Text 3"/>
          <p:cNvSpPr/>
          <p:nvPr/>
        </p:nvSpPr>
        <p:spPr>
          <a:xfrm>
            <a:off x="1019629" y="1768872"/>
            <a:ext cx="4924062" cy="284446"/>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3E78"/>
                </a:solidFill>
                <a:latin typeface="Nunito Sans" pitchFamily="34" charset="0"/>
                <a:ea typeface="Nunito Sans" pitchFamily="34" charset="-122"/>
                <a:cs typeface="Nunito Sans" pitchFamily="34" charset="-120"/>
              </a:rPr>
              <a:t>Opción A · App móvil</a:t>
            </a:r>
            <a:endParaRPr lang="en-US" sz="1700" dirty="0"/>
          </a:p>
        </p:txBody>
      </p:sp>
      <p:sp>
        <p:nvSpPr>
          <p:cNvPr id="6" name="Text 4"/>
          <p:cNvSpPr/>
          <p:nvPr/>
        </p:nvSpPr>
        <p:spPr>
          <a:xfrm>
            <a:off x="1111323" y="2104107"/>
            <a:ext cx="4824748" cy="743517"/>
          </a:xfrm>
          <a:prstGeom prst="rect">
            <a:avLst/>
          </a:prstGeom>
          <a:noFill/>
          <a:ln/>
        </p:spPr>
        <p:txBody>
          <a:bodyPr wrap="square" lIns="0" tIns="0" rIns="0" bIns="0" rtlCol="0" anchor="t">
            <a:normAutofit/>
          </a:bodyPr>
          <a:lstStyle/>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Flutter, Kotlin o React Native + Expo.</a:t>
            </a:r>
            <a:endParaRPr lang="en-US" sz="1300" dirty="0"/>
          </a:p>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Archivo .aab con API 36, prueba cerrada con 12 testers.</a:t>
            </a:r>
            <a:endParaRPr lang="en-US" sz="1300" dirty="0"/>
          </a:p>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Más trámites con Google, pero queda «en la tienda».</a:t>
            </a:r>
            <a:endParaRPr lang="en-US" sz="1300" dirty="0"/>
          </a:p>
        </p:txBody>
      </p:sp>
      <p:sp>
        <p:nvSpPr>
          <p:cNvPr id="7" name="Shape 5"/>
          <p:cNvSpPr/>
          <p:nvPr/>
        </p:nvSpPr>
        <p:spPr>
          <a:xfrm>
            <a:off x="6188075" y="1565201"/>
            <a:ext cx="5187950" cy="1460670"/>
          </a:xfrm>
          <a:prstGeom prst="roundRect">
            <a:avLst>
              <a:gd name="adj" fmla="val 6738"/>
            </a:avLst>
          </a:prstGeom>
          <a:solidFill>
            <a:srgbClr val="FDFDFB"/>
          </a:solidFill>
          <a:ln w="6350">
            <a:solidFill>
              <a:srgbClr val="DCE3EA"/>
            </a:solidFill>
            <a:prstDash val="solid"/>
          </a:ln>
        </p:spPr>
      </p:sp>
      <p:sp>
        <p:nvSpPr>
          <p:cNvPr id="8" name="Text 6"/>
          <p:cNvSpPr/>
          <p:nvPr/>
        </p:nvSpPr>
        <p:spPr>
          <a:xfrm>
            <a:off x="6391729" y="1768872"/>
            <a:ext cx="4924062" cy="284446"/>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3E78"/>
                </a:solidFill>
                <a:latin typeface="Nunito Sans" pitchFamily="34" charset="0"/>
                <a:ea typeface="Nunito Sans" pitchFamily="34" charset="-122"/>
                <a:cs typeface="Nunito Sans" pitchFamily="34" charset="-120"/>
              </a:rPr>
              <a:t>Opción B · App web</a:t>
            </a:r>
            <a:endParaRPr lang="en-US" sz="1700" dirty="0"/>
          </a:p>
        </p:txBody>
      </p:sp>
      <p:sp>
        <p:nvSpPr>
          <p:cNvPr id="9" name="Text 7"/>
          <p:cNvSpPr/>
          <p:nvPr/>
        </p:nvSpPr>
        <p:spPr>
          <a:xfrm>
            <a:off x="6483423" y="2104107"/>
            <a:ext cx="4824748" cy="743517"/>
          </a:xfrm>
          <a:prstGeom prst="rect">
            <a:avLst/>
          </a:prstGeom>
          <a:noFill/>
          <a:ln/>
        </p:spPr>
        <p:txBody>
          <a:bodyPr wrap="square" lIns="0" tIns="0" rIns="0" bIns="0" rtlCol="0" anchor="t">
            <a:normAutofit/>
          </a:bodyPr>
          <a:lstStyle/>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URL pública con https, cómoda en un celular de gama baja.</a:t>
            </a:r>
            <a:endParaRPr lang="en-US" sz="1300" dirty="0"/>
          </a:p>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Recomendado: instalable como PWA.</a:t>
            </a:r>
            <a:endParaRPr lang="en-US" sz="1300" dirty="0"/>
          </a:p>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Si luego la quieren en Play: PWABuilder la empaqueta.</a:t>
            </a:r>
            <a:endParaRPr lang="en-US" sz="1300" dirty="0"/>
          </a:p>
        </p:txBody>
      </p:sp>
      <p:sp>
        <p:nvSpPr>
          <p:cNvPr id="10" name="Shape 8"/>
          <p:cNvSpPr/>
          <p:nvPr/>
        </p:nvSpPr>
        <p:spPr>
          <a:xfrm>
            <a:off x="812800" y="3232249"/>
            <a:ext cx="10566401" cy="914400"/>
          </a:xfrm>
          <a:prstGeom prst="roundRect">
            <a:avLst>
              <a:gd name="adj" fmla="val 11111"/>
            </a:avLst>
          </a:prstGeom>
          <a:solidFill>
            <a:srgbClr val="173E78"/>
          </a:solidFill>
          <a:ln/>
        </p:spPr>
      </p:sp>
      <p:pic>
        <p:nvPicPr>
          <p:cNvPr id="11" name="Image 0" descr="Globe">    </p:cNvPr>
          <p:cNvPicPr>
            <a:picLocks noChangeAspect="1"/>
          </p:cNvPicPr>
          <p:nvPr/>
        </p:nvPicPr>
        <p:blipFill>
          <a:blip r:embed="rId1"/>
          <a:srcRect l="0" r="0" t="-221" b="-221"/>
          <a:stretch/>
        </p:blipFill>
        <p:spPr>
          <a:xfrm>
            <a:off x="1041400" y="3486249"/>
            <a:ext cx="398292" cy="406400"/>
          </a:xfrm>
          <a:prstGeom prst="rect">
            <a:avLst/>
          </a:prstGeom>
        </p:spPr>
      </p:pic>
      <p:sp>
        <p:nvSpPr>
          <p:cNvPr id="12" name="Text 9"/>
          <p:cNvSpPr/>
          <p:nvPr/>
        </p:nvSpPr>
        <p:spPr>
          <a:xfrm>
            <a:off x="1617492" y="3422749"/>
            <a:ext cx="9819101"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3F6FA"/>
                </a:solidFill>
                <a:latin typeface="Nunito Sans" pitchFamily="34" charset="0"/>
                <a:ea typeface="Nunito Sans" pitchFamily="34" charset="-122"/>
                <a:cs typeface="Nunito Sans" pitchFamily="34" charset="-120"/>
              </a:rPr>
              <a:t>En los dos caminos:</a:t>
            </a:r>
            <a:r>
              <a:rPr lang="en-US" sz="1500" dirty="0">
                <a:solidFill>
                  <a:srgbClr val="F3F6FA"/>
                </a:solidFill>
                <a:latin typeface="Nunito Sans" pitchFamily="34" charset="0"/>
                <a:ea typeface="Nunito Sans" pitchFamily="34" charset="-122"/>
                <a:cs typeface="Nunito Sans" pitchFamily="34" charset="-120"/>
              </a:rPr>
              <a:t> landing page obligatoria, política de privacidad en línea y un usuario de prueba para el jurado.</a:t>
            </a:r>
            <a:endParaRPr lang="en-US" sz="1500" dirty="0"/>
          </a:p>
        </p:txBody>
      </p:sp>
      <p:pic>
        <p:nvPicPr>
          <p:cNvPr id="13" name="Image 1" descr="Logo PUCE">    </p:cNvPr>
          <p:cNvPicPr>
            <a:picLocks noChangeAspect="1"/>
          </p:cNvPicPr>
          <p:nvPr/>
        </p:nvPicPr>
        <p:blipFill>
          <a:blip r:embed="rId2"/>
          <a:srcRect l="-436" r="-436" t="0" b="0"/>
          <a:stretch/>
        </p:blipFill>
        <p:spPr>
          <a:xfrm>
            <a:off x="812800" y="6184900"/>
            <a:ext cx="1016000" cy="279400"/>
          </a:xfrm>
          <a:prstGeom prst="rect">
            <a:avLst/>
          </a:prstGeom>
        </p:spPr>
      </p:pic>
      <p:sp>
        <p:nvSpPr>
          <p:cNvPr id="14" name="Text 10"/>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METODOLOGÍA · SCRUM</a:t>
            </a:r>
            <a:endParaRPr lang="en-US" sz="1200" dirty="0"/>
          </a:p>
        </p:txBody>
      </p:sp>
      <p:sp>
        <p:nvSpPr>
          <p:cNvPr id="3" name="Text 1"/>
          <p:cNvSpPr/>
          <p:nvPr>
            <p:ph type="title"/>
          </p:nvPr>
        </p:nvSpPr>
        <p:spPr>
          <a:xfrm>
            <a:off x="812800" y="9499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Scrum es un campeonato con partido cada semana</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686" y="1572911"/>
          <a:ext cx="10555515" cy="2860222"/>
        </p:xfrm>
        <a:graphic>
          <a:graphicData uri="http://schemas.openxmlformats.org/drawingml/2006/table">
            <a:tbl>
              <a:tblPr/>
              <a:tblGrid>
                <a:gridCol w="2322213"/>
                <a:gridCol w="3166655"/>
                <a:gridCol w="5066647"/>
              </a:tblGrid>
              <a:tr h="357528">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En Scrum</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En el fútbol</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7B8B5"/>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Qué entregan como evidencia</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7B8B5"/>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Sprint (1 semana)</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Un partido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Milestone en GitHub con sus historias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Planning</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La charla técnica antes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Acta: objetivo, historias y puntos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Daily</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El calentamiento diario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3 por semana, en WhatsApp vale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Review</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El partido ante el público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Demo a alguien del segmento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Retrospectiva</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Ver el video del partido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Qué funcionó, qué no, qué cambia</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Product Owner</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El director técnico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Prioriza el backlog (MoSCoW)</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Scrum Master</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El preparador físico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Quita bloqueos y cuida el ritmo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bl>
          </a:graphicData>
        </a:graphic>
      </p:graphicFrame>
      <p:sp>
        <p:nvSpPr>
          <p:cNvPr id="5" name="Text 2"/>
          <p:cNvSpPr/>
          <p:nvPr/>
        </p:nvSpPr>
        <p:spPr>
          <a:xfrm>
            <a:off x="812800" y="4636343"/>
            <a:ext cx="10566401" cy="528297"/>
          </a:xfrm>
          <a:prstGeom prst="roundRect">
            <a:avLst>
              <a:gd name="adj" fmla="val 16828"/>
            </a:avLst>
          </a:prstGeom>
          <a:solidFill>
            <a:srgbClr val="E3F5F5"/>
          </a:solidFill>
          <a:ln/>
        </p:spPr>
        <p:txBody>
          <a:bodyPr wrap="square" lIns="177162" tIns="113662" rIns="0" bIns="88262" rtlCol="0" anchor="t">
            <a:normAutofit/>
          </a:bodyPr>
          <a:lstStyle/>
          <a:p>
            <a:pPr algn="l" indent="0" marL="0">
              <a:lnSpc>
                <a:spcPts val="1960"/>
              </a:lnSpc>
              <a:buNone/>
            </a:pPr>
            <a:r>
              <a:rPr lang="en-US" sz="1400" b="1" dirty="0">
                <a:solidFill>
                  <a:srgbClr val="173E78"/>
                </a:solidFill>
                <a:latin typeface="Nunito Sans" pitchFamily="34" charset="0"/>
                <a:ea typeface="Nunito Sans" pitchFamily="34" charset="-122"/>
                <a:cs typeface="Nunito Sans" pitchFamily="34" charset="-120"/>
              </a:rPr>
              <a:t>Historia de usuario:</a:t>
            </a:r>
            <a:r>
              <a:rPr lang="en-US" sz="1400" dirty="0">
                <a:solidFill>
                  <a:srgbClr val="173E78"/>
                </a:solidFill>
                <a:latin typeface="Nunito Sans" pitchFamily="34" charset="0"/>
                <a:ea typeface="Nunito Sans" pitchFamily="34" charset="-122"/>
                <a:cs typeface="Nunito Sans" pitchFamily="34" charset="-120"/>
              </a:rPr>
              <a:t> «Como docente, quiero registrar la asistencia sin internet, para no perder la lista cuando falla la señal».</a:t>
            </a:r>
            <a:endParaRPr lang="en-US" sz="1400" dirty="0"/>
          </a:p>
        </p:txBody>
      </p:sp>
      <p:pic>
        <p:nvPicPr>
          <p:cNvPr id="6"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7" name="Text 3"/>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OPCIÓN A · GOOGLE PLAY</a:t>
            </a:r>
            <a:endParaRPr lang="en-US" sz="1200" dirty="0"/>
          </a:p>
        </p:txBody>
      </p:sp>
      <p:sp>
        <p:nvSpPr>
          <p:cNvPr id="3" name="Text 1"/>
          <p:cNvSpPr/>
          <p:nvPr>
            <p:ph type="title"/>
          </p:nvPr>
        </p:nvSpPr>
        <p:spPr>
          <a:xfrm>
            <a:off x="812800" y="949945"/>
            <a:ext cx="10883393" cy="843189"/>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Google Play es una aduana: revisa los papeles antes de dejar pasar</a:t>
            </a:r>
            <a:endParaRPr lang="en-US" sz="2800" dirty="0"/>
          </a:p>
        </p:txBody>
      </p:sp>
      <p:sp>
        <p:nvSpPr>
          <p:cNvPr id="4" name="Shape 2"/>
          <p:cNvSpPr/>
          <p:nvPr/>
        </p:nvSpPr>
        <p:spPr>
          <a:xfrm>
            <a:off x="815975" y="1974106"/>
            <a:ext cx="3414146" cy="1598386"/>
          </a:xfrm>
          <a:prstGeom prst="roundRect">
            <a:avLst>
              <a:gd name="adj" fmla="val 6158"/>
            </a:avLst>
          </a:prstGeom>
          <a:solidFill>
            <a:srgbClr val="FDFDFB"/>
          </a:solidFill>
          <a:ln w="6350">
            <a:solidFill>
              <a:srgbClr val="DCE3EA"/>
            </a:solidFill>
            <a:prstDash val="solid"/>
          </a:ln>
        </p:spPr>
      </p:sp>
      <p:sp>
        <p:nvSpPr>
          <p:cNvPr id="5" name="Text 3"/>
          <p:cNvSpPr/>
          <p:nvPr/>
        </p:nvSpPr>
        <p:spPr>
          <a:xfrm>
            <a:off x="1006929" y="2165052"/>
            <a:ext cx="31232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12 testers × 14 días</a:t>
            </a:r>
            <a:endParaRPr lang="en-US" sz="1500" dirty="0"/>
          </a:p>
        </p:txBody>
      </p:sp>
      <p:sp>
        <p:nvSpPr>
          <p:cNvPr id="6" name="Text 4"/>
          <p:cNvSpPr/>
          <p:nvPr/>
        </p:nvSpPr>
        <p:spPr>
          <a:xfrm>
            <a:off x="1006929" y="2457152"/>
            <a:ext cx="3123206" cy="9497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Las cuentas personales nuevas no publican sin esta prueba cerrada. Apunten a 15 testers por si alguien se sale.</a:t>
            </a:r>
            <a:endParaRPr lang="en-US" sz="1300" dirty="0"/>
          </a:p>
        </p:txBody>
      </p:sp>
      <p:sp>
        <p:nvSpPr>
          <p:cNvPr id="7" name="Shape 5"/>
          <p:cNvSpPr/>
          <p:nvPr/>
        </p:nvSpPr>
        <p:spPr>
          <a:xfrm>
            <a:off x="4388871" y="1974106"/>
            <a:ext cx="3414202" cy="1598386"/>
          </a:xfrm>
          <a:prstGeom prst="roundRect">
            <a:avLst>
              <a:gd name="adj" fmla="val 6158"/>
            </a:avLst>
          </a:prstGeom>
          <a:solidFill>
            <a:srgbClr val="FDFDFB"/>
          </a:solidFill>
          <a:ln w="6350">
            <a:solidFill>
              <a:srgbClr val="DCE3EA"/>
            </a:solidFill>
            <a:prstDash val="solid"/>
          </a:ln>
        </p:spPr>
      </p:sp>
      <p:sp>
        <p:nvSpPr>
          <p:cNvPr id="8" name="Text 6"/>
          <p:cNvSpPr/>
          <p:nvPr/>
        </p:nvSpPr>
        <p:spPr>
          <a:xfrm>
            <a:off x="4579824" y="2165052"/>
            <a:ext cx="31232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.aab con API 36</a:t>
            </a:r>
            <a:endParaRPr lang="en-US" sz="1500" dirty="0"/>
          </a:p>
        </p:txBody>
      </p:sp>
      <p:sp>
        <p:nvSpPr>
          <p:cNvPr id="9" name="Text 7"/>
          <p:cNvSpPr/>
          <p:nvPr/>
        </p:nvSpPr>
        <p:spPr>
          <a:xfrm>
            <a:off x="4579824" y="2457152"/>
            <a:ext cx="3123264" cy="7186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Formato App Bundle y Android 16 como objetivo, exigido desde el 31 de agosto de 2026.</a:t>
            </a:r>
            <a:endParaRPr lang="en-US" sz="1300" dirty="0"/>
          </a:p>
        </p:txBody>
      </p:sp>
      <p:sp>
        <p:nvSpPr>
          <p:cNvPr id="10" name="Shape 8"/>
          <p:cNvSpPr/>
          <p:nvPr/>
        </p:nvSpPr>
        <p:spPr>
          <a:xfrm>
            <a:off x="7961823" y="1974106"/>
            <a:ext cx="3414202" cy="1598386"/>
          </a:xfrm>
          <a:prstGeom prst="roundRect">
            <a:avLst>
              <a:gd name="adj" fmla="val 6158"/>
            </a:avLst>
          </a:prstGeom>
          <a:solidFill>
            <a:srgbClr val="FDFDFB"/>
          </a:solidFill>
          <a:ln w="6350">
            <a:solidFill>
              <a:srgbClr val="DCE3EA"/>
            </a:solidFill>
            <a:prstDash val="solid"/>
          </a:ln>
        </p:spPr>
      </p:sp>
      <p:sp>
        <p:nvSpPr>
          <p:cNvPr id="11" name="Text 9"/>
          <p:cNvSpPr/>
          <p:nvPr/>
        </p:nvSpPr>
        <p:spPr>
          <a:xfrm>
            <a:off x="8152777" y="2165052"/>
            <a:ext cx="31232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Privacidad y datos</a:t>
            </a:r>
            <a:endParaRPr lang="en-US" sz="1500" dirty="0"/>
          </a:p>
        </p:txBody>
      </p:sp>
      <p:sp>
        <p:nvSpPr>
          <p:cNvPr id="12" name="Text 10"/>
          <p:cNvSpPr/>
          <p:nvPr/>
        </p:nvSpPr>
        <p:spPr>
          <a:xfrm>
            <a:off x="8152777" y="2457152"/>
            <a:ext cx="3123264" cy="7186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Política en una URL pública y formulario de seguridad de datos que diga la verdad.</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3686" y="3789756"/>
          <a:ext cx="10555515" cy="1323295"/>
        </p:xfrm>
        <a:graphic>
          <a:graphicData uri="http://schemas.openxmlformats.org/drawingml/2006/table">
            <a:tbl>
              <a:tblPr/>
              <a:tblGrid>
                <a:gridCol w="3166655"/>
                <a:gridCol w="7388861"/>
              </a:tblGrid>
              <a:tr h="330824">
                <a:tc>
                  <a:txBody>
                    <a:bodyPr/>
                    <a:lstStyle/>
                    <a:p>
                      <a:pPr indent="0" marL="0">
                        <a:lnSpc>
                          <a:spcPts val="1680"/>
                        </a:lnSpc>
                        <a:buNone/>
                      </a:pPr>
                      <a:r>
                        <a:rPr lang="en-US" sz="1200" b="1" dirty="0">
                          <a:solidFill>
                            <a:srgbClr val="2B3A4E"/>
                          </a:solidFill>
                          <a:latin typeface="Nunito Sans" pitchFamily="34" charset="0"/>
                          <a:ea typeface="Nunito Sans" pitchFamily="34" charset="-122"/>
                          <a:cs typeface="Nunito Sans" pitchFamily="34" charset="-120"/>
                        </a:rPr>
                        <a:t>Otros requisitos</a:t>
                      </a:r>
                      <a:endParaRPr lang="en-US" sz="1200" dirty="0">
                        <a:latin typeface="Nunito Sans" charset="0"/>
                        <a:ea typeface="Nunito Sans" charset="0"/>
                        <a:cs typeface="Nunito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c>
                  <a:txBody>
                    <a:bodyPr/>
                    <a:lstStyle/>
                    <a:p>
                      <a:pPr indent="0" marL="0">
                        <a:lnSpc>
                          <a:spcPts val="1680"/>
                        </a:lnSpc>
                        <a:buNone/>
                      </a:pPr>
                      <a:r>
                        <a:rPr lang="en-US" sz="1200" b="1" dirty="0">
                          <a:solidFill>
                            <a:srgbClr val="2B3A4E"/>
                          </a:solidFill>
                          <a:latin typeface="Nunito Sans" pitchFamily="34" charset="0"/>
                          <a:ea typeface="Nunito Sans" pitchFamily="34" charset="-122"/>
                          <a:cs typeface="Nunito Sans" pitchFamily="34" charset="-120"/>
                        </a:rPr>
                        <a:t>Ejemplo</a:t>
                      </a:r>
                      <a:endParaRPr lang="en-US" sz="1200" dirty="0">
                        <a:latin typeface="Nunito Sans" charset="0"/>
                        <a:ea typeface="Nunito Sans" charset="0"/>
                        <a:cs typeface="Nunito Sans" charset="0"/>
                      </a:endParaRPr>
                    </a:p>
                  </a:txBody>
                  <a:tcPr marL="53340" marR="53340" marT="53340" marB="53340" anchor="t">
                    <a:lnL w="12700" cap="flat" cmpd="sng" algn="ctr">
                      <a:solidFill>
                        <a:srgbClr val="B7B8B5"/>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r>
              <a:tr h="330824">
                <a:tc>
                  <a:txBody>
                    <a:bodyPr/>
                    <a:lstStyle/>
                    <a:p>
                      <a:pPr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Nombre del paquete</a:t>
                      </a:r>
                      <a:endParaRPr lang="en-US" sz="1200" dirty="0">
                        <a:latin typeface="Nunito Sans" charset="0"/>
                        <a:ea typeface="Nunito Sans" charset="0"/>
                        <a:cs typeface="Nunito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ec.edu.puce.docentech (no se puede cambiar nunca)</a:t>
                      </a:r>
                      <a:endParaRPr lang="en-US" sz="1200" dirty="0">
                        <a:latin typeface="Nunito Sans" charset="0"/>
                        <a:ea typeface="Nunito Sans" charset="0"/>
                        <a:cs typeface="Nunito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0824">
                <a:tc>
                  <a:txBody>
                    <a:bodyPr/>
                    <a:lstStyle/>
                    <a:p>
                      <a:pPr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Ficha de la tienda</a:t>
                      </a:r>
                      <a:endParaRPr lang="en-US" sz="1200" dirty="0">
                        <a:latin typeface="Nunito Sans" charset="0"/>
                        <a:ea typeface="Nunito Sans" charset="0"/>
                        <a:cs typeface="Nunito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Nombre de 30 caracteres, ícono 512×512, 2 capturas o más</a:t>
                      </a:r>
                      <a:endParaRPr lang="en-US" sz="1200" dirty="0">
                        <a:latin typeface="Nunito Sans" charset="0"/>
                        <a:ea typeface="Nunito Sans" charset="0"/>
                        <a:cs typeface="Nunito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30824">
                <a:tc>
                  <a:txBody>
                    <a:bodyPr/>
                    <a:lstStyle/>
                    <a:p>
                      <a:pPr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Si hay menores de 13</a:t>
                      </a:r>
                      <a:endParaRPr lang="en-US" sz="1200" dirty="0">
                        <a:latin typeface="Nunito Sans" charset="0"/>
                        <a:ea typeface="Nunito Sans" charset="0"/>
                        <a:cs typeface="Nunito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680"/>
                        </a:lnSpc>
                        <a:buNone/>
                      </a:pPr>
                      <a:r>
                        <a:rPr lang="en-US" sz="1200" dirty="0">
                          <a:solidFill>
                            <a:srgbClr val="2B3A4E"/>
                          </a:solidFill>
                          <a:latin typeface="Nunito Sans" pitchFamily="34" charset="0"/>
                          <a:ea typeface="Nunito Sans" pitchFamily="34" charset="-122"/>
                          <a:cs typeface="Nunito Sans" pitchFamily="34" charset="-120"/>
                        </a:rPr>
                        <a:t>Política de Familias de Google y la LOPDP de Ecuador</a:t>
                      </a:r>
                      <a:endParaRPr lang="en-US" sz="1200" dirty="0">
                        <a:latin typeface="Nunito Sans" charset="0"/>
                        <a:ea typeface="Nunito Sans" charset="0"/>
                        <a:cs typeface="Nunito Sans" charset="0"/>
                      </a:endParaRPr>
                    </a:p>
                  </a:txBody>
                  <a:tcPr marL="53340" marR="53340" marT="53340" marB="53340"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bl>
          </a:graphicData>
        </a:graphic>
      </p:graphicFrame>
      <p:pic>
        <p:nvPicPr>
          <p:cNvPr id="14"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5" name="Text 11"/>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OBLIGATORIA PARA TODOS LOS EQUIPOS</a:t>
            </a:r>
            <a:endParaRPr lang="en-US" sz="1200" dirty="0"/>
          </a:p>
        </p:txBody>
      </p:sp>
      <p:sp>
        <p:nvSpPr>
          <p:cNvPr id="3" name="Text 1"/>
          <p:cNvSpPr/>
          <p:nvPr>
            <p:ph type="title"/>
          </p:nvPr>
        </p:nvSpPr>
        <p:spPr>
          <a:xfrm>
            <a:off x="812800" y="9499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La landing page es la vitrina de la tienda</a:t>
            </a:r>
            <a:endParaRPr lang="en-US" sz="2800" dirty="0"/>
          </a:p>
        </p:txBody>
      </p:sp>
      <p:sp>
        <p:nvSpPr>
          <p:cNvPr id="4" name="Text 2"/>
          <p:cNvSpPr/>
          <p:nvPr/>
        </p:nvSpPr>
        <p:spPr>
          <a:xfrm>
            <a:off x="812800" y="1562026"/>
            <a:ext cx="5258562"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2B3A4E"/>
                </a:solidFill>
                <a:latin typeface="Nunito Sans" pitchFamily="34" charset="0"/>
                <a:ea typeface="Nunito Sans" pitchFamily="34" charset="-122"/>
                <a:cs typeface="Nunito Sans" pitchFamily="34" charset="-120"/>
              </a:rPr>
              <a:t>Quien pasa por la calle decide en segundos si entra. Un jurado, un aliado de Fe y Alegría o un revisor de revista hará lo mismo con su página.</a:t>
            </a:r>
            <a:endParaRPr lang="en-US" sz="1500" dirty="0"/>
          </a:p>
        </p:txBody>
      </p:sp>
      <p:sp>
        <p:nvSpPr>
          <p:cNvPr id="5" name="Text 3"/>
          <p:cNvSpPr/>
          <p:nvPr/>
        </p:nvSpPr>
        <p:spPr>
          <a:xfrm>
            <a:off x="812800" y="2492301"/>
            <a:ext cx="5258562" cy="54099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B6878"/>
                </a:solidFill>
                <a:latin typeface="Nunito Sans" pitchFamily="34" charset="0"/>
                <a:ea typeface="Nunito Sans" pitchFamily="34" charset="-122"/>
                <a:cs typeface="Nunito Sans" pitchFamily="34" charset="-120"/>
              </a:rPr>
              <a:t>Gratis en GitHub Pages, Cloudflare Pages o Netlify. En el RDA 3 se muda a Hostinger.</a:t>
            </a:r>
            <a:endParaRPr lang="en-US" sz="1400" dirty="0"/>
          </a:p>
        </p:txBody>
      </p:sp>
      <p:sp>
        <p:nvSpPr>
          <p:cNvPr id="6" name="Shape 4"/>
          <p:cNvSpPr/>
          <p:nvPr/>
        </p:nvSpPr>
        <p:spPr>
          <a:xfrm>
            <a:off x="6175375" y="1565201"/>
            <a:ext cx="5200650" cy="2336914"/>
          </a:xfrm>
          <a:prstGeom prst="roundRect">
            <a:avLst>
              <a:gd name="adj" fmla="val 4212"/>
            </a:avLst>
          </a:prstGeom>
          <a:solidFill>
            <a:srgbClr val="FDFDFB"/>
          </a:solidFill>
          <a:ln w="6350">
            <a:solidFill>
              <a:srgbClr val="DCE3EA"/>
            </a:solidFill>
            <a:prstDash val="solid"/>
          </a:ln>
        </p:spPr>
      </p:sp>
      <p:sp>
        <p:nvSpPr>
          <p:cNvPr id="7" name="Text 5"/>
          <p:cNvSpPr/>
          <p:nvPr/>
        </p:nvSpPr>
        <p:spPr>
          <a:xfrm>
            <a:off x="6391729" y="1756172"/>
            <a:ext cx="49109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Las siete partes</a:t>
            </a:r>
            <a:endParaRPr lang="en-US" sz="1500" dirty="0"/>
          </a:p>
        </p:txBody>
      </p:sp>
      <p:sp>
        <p:nvSpPr>
          <p:cNvPr id="8" name="Text 6"/>
          <p:cNvSpPr/>
          <p:nvPr/>
        </p:nvSpPr>
        <p:spPr>
          <a:xfrm>
            <a:off x="6466511" y="2035572"/>
            <a:ext cx="4828579" cy="1701006"/>
          </a:xfrm>
          <a:prstGeom prst="rect">
            <a:avLst/>
          </a:prstGeom>
          <a:noFill/>
          <a:ln/>
        </p:spPr>
        <p:txBody>
          <a:bodyPr wrap="square" lIns="0" tIns="0" rIns="0" bIns="0" rtlCol="0" anchor="t">
            <a:normAutofit/>
          </a:bodyPr>
          <a:lstStyle/>
          <a:p>
            <a:pPr algn="l" marL="179217" indent="-179217">
              <a:lnSpc>
                <a:spcPts val="1885"/>
              </a:lnSpc>
              <a:buSzPct val="100000"/>
              <a:buFontTx/>
              <a:buAutoNum type="arabicPeriod" startAt="1"/>
            </a:pPr>
            <a:r>
              <a:rPr lang="en-US" sz="1300" dirty="0">
                <a:solidFill>
                  <a:srgbClr val="2B3A4E"/>
                </a:solidFill>
                <a:latin typeface="Nunito Sans" pitchFamily="34" charset="0"/>
                <a:ea typeface="Nunito Sans" pitchFamily="34" charset="-122"/>
                <a:cs typeface="Nunito Sans" pitchFamily="34" charset="-120"/>
              </a:rPr>
              <a:t>Encabezado con la propuesta de valor en una frase</a:t>
            </a:r>
            <a:endParaRPr lang="en-US" sz="1300" dirty="0"/>
          </a:p>
          <a:p>
            <a:pPr algn="l" marL="179217" indent="-179217">
              <a:lnSpc>
                <a:spcPts val="1885"/>
              </a:lnSpc>
              <a:buSzPct val="100000"/>
              <a:buFontTx/>
              <a:buAutoNum type="arabicPeriod" startAt="1"/>
            </a:pPr>
            <a:r>
              <a:rPr lang="en-US" sz="1300" dirty="0">
                <a:solidFill>
                  <a:srgbClr val="2B3A4E"/>
                </a:solidFill>
                <a:latin typeface="Nunito Sans" pitchFamily="34" charset="0"/>
                <a:ea typeface="Nunito Sans" pitchFamily="34" charset="-122"/>
                <a:cs typeface="Nunito Sans" pitchFamily="34" charset="-120"/>
              </a:rPr>
              <a:t>El problema, con un dato de sus encuestas</a:t>
            </a:r>
            <a:endParaRPr lang="en-US" sz="1300" dirty="0"/>
          </a:p>
          <a:p>
            <a:pPr algn="l" marL="179217" indent="-179217">
              <a:lnSpc>
                <a:spcPts val="1885"/>
              </a:lnSpc>
              <a:buSzPct val="100000"/>
              <a:buFontTx/>
              <a:buAutoNum type="arabicPeriod" startAt="1"/>
            </a:pPr>
            <a:r>
              <a:rPr lang="en-US" sz="1300" dirty="0">
                <a:solidFill>
                  <a:srgbClr val="2B3A4E"/>
                </a:solidFill>
                <a:latin typeface="Nunito Sans" pitchFamily="34" charset="0"/>
                <a:ea typeface="Nunito Sans" pitchFamily="34" charset="-122"/>
                <a:cs typeface="Nunito Sans" pitchFamily="34" charset="-120"/>
              </a:rPr>
              <a:t>Cómo funciona, en 3 pasos con capturas reales</a:t>
            </a:r>
            <a:endParaRPr lang="en-US" sz="1300" dirty="0"/>
          </a:p>
          <a:p>
            <a:pPr algn="l" marL="179217" indent="-179217">
              <a:lnSpc>
                <a:spcPts val="1885"/>
              </a:lnSpc>
              <a:buSzPct val="100000"/>
              <a:buFontTx/>
              <a:buAutoNum type="arabicPeriod" startAt="1"/>
            </a:pPr>
            <a:r>
              <a:rPr lang="en-US" sz="1300" dirty="0">
                <a:solidFill>
                  <a:srgbClr val="2B3A4E"/>
                </a:solidFill>
                <a:latin typeface="Nunito Sans" pitchFamily="34" charset="0"/>
                <a:ea typeface="Nunito Sans" pitchFamily="34" charset="-122"/>
                <a:cs typeface="Nunito Sans" pitchFamily="34" charset="-120"/>
              </a:rPr>
              <a:t>Botón que lleva al producto (Play o web)</a:t>
            </a:r>
            <a:endParaRPr lang="en-US" sz="1300" dirty="0"/>
          </a:p>
          <a:p>
            <a:pPr algn="l" marL="179217" indent="-179217">
              <a:lnSpc>
                <a:spcPts val="1885"/>
              </a:lnSpc>
              <a:buSzPct val="100000"/>
              <a:buFontTx/>
              <a:buAutoNum type="arabicPeriod" startAt="1"/>
            </a:pPr>
            <a:r>
              <a:rPr lang="en-US" sz="1300" dirty="0">
                <a:solidFill>
                  <a:srgbClr val="2B3A4E"/>
                </a:solidFill>
                <a:latin typeface="Nunito Sans" pitchFamily="34" charset="0"/>
                <a:ea typeface="Nunito Sans" pitchFamily="34" charset="-122"/>
                <a:cs typeface="Nunito Sans" pitchFamily="34" charset="-120"/>
              </a:rPr>
              <a:t>Evidencia: pruebas con usuarios, una cita</a:t>
            </a:r>
            <a:endParaRPr lang="en-US" sz="1300" dirty="0"/>
          </a:p>
          <a:p>
            <a:pPr algn="l" marL="179217" indent="-179217">
              <a:lnSpc>
                <a:spcPts val="1885"/>
              </a:lnSpc>
              <a:buSzPct val="100000"/>
              <a:buFontTx/>
              <a:buAutoNum type="arabicPeriod" startAt="1"/>
            </a:pPr>
            <a:r>
              <a:rPr lang="en-US" sz="1300" dirty="0">
                <a:solidFill>
                  <a:srgbClr val="2B3A4E"/>
                </a:solidFill>
                <a:latin typeface="Nunito Sans" pitchFamily="34" charset="0"/>
                <a:ea typeface="Nunito Sans" pitchFamily="34" charset="-122"/>
                <a:cs typeface="Nunito Sans" pitchFamily="34" charset="-120"/>
              </a:rPr>
              <a:t>Equipo y enlace al repositorio</a:t>
            </a:r>
            <a:endParaRPr lang="en-US" sz="1300" dirty="0"/>
          </a:p>
          <a:p>
            <a:pPr algn="l" marL="179217" indent="-179217">
              <a:lnSpc>
                <a:spcPts val="1885"/>
              </a:lnSpc>
              <a:buSzPct val="100000"/>
              <a:buFontTx/>
              <a:buAutoNum type="arabicPeriod" startAt="1"/>
            </a:pPr>
            <a:r>
              <a:rPr lang="en-US" sz="1300" dirty="0">
                <a:solidFill>
                  <a:srgbClr val="2B3A4E"/>
                </a:solidFill>
                <a:latin typeface="Nunito Sans" pitchFamily="34" charset="0"/>
                <a:ea typeface="Nunito Sans" pitchFamily="34" charset="-122"/>
                <a:cs typeface="Nunito Sans" pitchFamily="34" charset="-120"/>
              </a:rPr>
              <a:t>Pie: contacto, privacidad, licencia MIT, PUCE</a:t>
            </a:r>
            <a:endParaRPr lang="en-US" sz="1300" dirty="0"/>
          </a:p>
        </p:txBody>
      </p:sp>
      <p:pic>
        <p:nvPicPr>
          <p:cNvPr id="9"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0" name="Text 7"/>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CÓDIGO ABIERTO E INTELIGENCIA ARTIFICIAL</a:t>
            </a:r>
            <a:endParaRPr lang="en-US" sz="1200" dirty="0"/>
          </a:p>
        </p:txBody>
      </p:sp>
      <p:sp>
        <p:nvSpPr>
          <p:cNvPr id="3" name="Text 1"/>
          <p:cNvSpPr/>
          <p:nvPr>
            <p:ph type="title"/>
          </p:nvPr>
        </p:nvSpPr>
        <p:spPr>
          <a:xfrm>
            <a:off x="812800" y="9499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GitHub con licencia MIT, y la IA se declara</a:t>
            </a:r>
            <a:endParaRPr lang="en-US" sz="2800" dirty="0"/>
          </a:p>
        </p:txBody>
      </p:sp>
      <p:sp>
        <p:nvSpPr>
          <p:cNvPr id="4" name="Shape 2"/>
          <p:cNvSpPr/>
          <p:nvPr/>
        </p:nvSpPr>
        <p:spPr>
          <a:xfrm>
            <a:off x="815975" y="1565201"/>
            <a:ext cx="5187950" cy="2138136"/>
          </a:xfrm>
          <a:prstGeom prst="roundRect">
            <a:avLst>
              <a:gd name="adj" fmla="val 4603"/>
            </a:avLst>
          </a:prstGeom>
          <a:solidFill>
            <a:srgbClr val="FDFDFB"/>
          </a:solidFill>
          <a:ln w="6350">
            <a:solidFill>
              <a:srgbClr val="DCE3EA"/>
            </a:solidFill>
            <a:prstDash val="solid"/>
          </a:ln>
        </p:spPr>
      </p:sp>
      <p:sp>
        <p:nvSpPr>
          <p:cNvPr id="5" name="Text 3"/>
          <p:cNvSpPr/>
          <p:nvPr/>
        </p:nvSpPr>
        <p:spPr>
          <a:xfrm>
            <a:off x="1006929" y="1756172"/>
            <a:ext cx="4950224"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3E78"/>
                </a:solidFill>
                <a:latin typeface="Nunito Sans" pitchFamily="34" charset="0"/>
                <a:ea typeface="Nunito Sans" pitchFamily="34" charset="-122"/>
                <a:cs typeface="Nunito Sans" pitchFamily="34" charset="-120"/>
              </a:rPr>
              <a:t>MIT: una receta compartida con la firma del chef</a:t>
            </a:r>
            <a:endParaRPr lang="en-US" sz="1600" dirty="0"/>
          </a:p>
        </p:txBody>
      </p:sp>
      <p:sp>
        <p:nvSpPr>
          <p:cNvPr id="6" name="Text 4"/>
          <p:cNvSpPr/>
          <p:nvPr/>
        </p:nvSpPr>
        <p:spPr>
          <a:xfrm>
            <a:off x="1098623" y="2076152"/>
            <a:ext cx="4850910" cy="1222262"/>
          </a:xfrm>
          <a:prstGeom prst="rect">
            <a:avLst/>
          </a:prstGeom>
          <a:noFill/>
          <a:ln/>
        </p:spPr>
        <p:txBody>
          <a:bodyPr wrap="square" lIns="0" tIns="0" rIns="0" bIns="0" rtlCol="0" anchor="t">
            <a:normAutofit/>
          </a:bodyPr>
          <a:lstStyle/>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Fe y Alegría puede usar y modificar la app sin pedir permiso.</a:t>
            </a:r>
            <a:endParaRPr lang="en-US" sz="1300" dirty="0"/>
          </a:p>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La única condición: conservar «Copyright (c) 2026» con sus nombres.</a:t>
            </a:r>
            <a:endParaRPr lang="en-US" sz="1300" dirty="0"/>
          </a:p>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Cubre el código, no los logos de la PUCE ni de FyA.</a:t>
            </a:r>
            <a:endParaRPr lang="en-US" sz="1300" dirty="0"/>
          </a:p>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Nunca suban claves, contraseñas ni el keystore.</a:t>
            </a:r>
            <a:endParaRPr lang="en-US" sz="1300" dirty="0"/>
          </a:p>
        </p:txBody>
      </p:sp>
      <p:sp>
        <p:nvSpPr>
          <p:cNvPr id="7" name="Shape 5"/>
          <p:cNvSpPr/>
          <p:nvPr/>
        </p:nvSpPr>
        <p:spPr>
          <a:xfrm>
            <a:off x="6188075" y="1565201"/>
            <a:ext cx="5187950" cy="2138136"/>
          </a:xfrm>
          <a:prstGeom prst="roundRect">
            <a:avLst>
              <a:gd name="adj" fmla="val 4603"/>
            </a:avLst>
          </a:prstGeom>
          <a:solidFill>
            <a:srgbClr val="FDFDFB"/>
          </a:solidFill>
          <a:ln w="6350">
            <a:solidFill>
              <a:srgbClr val="DCE3EA"/>
            </a:solidFill>
            <a:prstDash val="solid"/>
          </a:ln>
        </p:spPr>
      </p:sp>
      <p:sp>
        <p:nvSpPr>
          <p:cNvPr id="8" name="Text 6"/>
          <p:cNvSpPr/>
          <p:nvPr/>
        </p:nvSpPr>
        <p:spPr>
          <a:xfrm>
            <a:off x="6379029" y="1756172"/>
            <a:ext cx="4950224"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3E78"/>
                </a:solidFill>
                <a:latin typeface="Nunito Sans" pitchFamily="34" charset="0"/>
                <a:ea typeface="Nunito Sans" pitchFamily="34" charset="-122"/>
                <a:cs typeface="Nunito Sans" pitchFamily="34" charset="-120"/>
              </a:rPr>
              <a:t>Si programan con IA: como en un laboratorio</a:t>
            </a:r>
            <a:endParaRPr lang="en-US" sz="1600" dirty="0"/>
          </a:p>
        </p:txBody>
      </p:sp>
      <p:sp>
        <p:nvSpPr>
          <p:cNvPr id="9" name="Text 7"/>
          <p:cNvSpPr/>
          <p:nvPr/>
        </p:nvSpPr>
        <p:spPr>
          <a:xfrm>
            <a:off x="6470723" y="2076152"/>
            <a:ext cx="4850910" cy="1461634"/>
          </a:xfrm>
          <a:prstGeom prst="rect">
            <a:avLst/>
          </a:prstGeom>
          <a:noFill/>
          <a:ln/>
        </p:spPr>
        <p:txBody>
          <a:bodyPr wrap="square" lIns="0" tIns="0" rIns="0" bIns="0" rtlCol="0" anchor="t">
            <a:normAutofit/>
          </a:bodyPr>
          <a:lstStyle/>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Archivo USO_IA.md: herramienta, fecha, para qué y quién revisó.</a:t>
            </a:r>
            <a:endParaRPr lang="en-US" sz="1300" dirty="0"/>
          </a:p>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Carpeta /docs/prompts con los prompts que definieron el diseño.</a:t>
            </a:r>
            <a:endParaRPr lang="en-US" sz="1300" dirty="0"/>
          </a:p>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Commits con la línea «Asistido-por-IA: [herramienta]».</a:t>
            </a:r>
            <a:endParaRPr lang="en-US" sz="1300" dirty="0"/>
          </a:p>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En la defensa, todos explican cualquier parte del código.</a:t>
            </a:r>
            <a:endParaRPr lang="en-US" sz="1300" dirty="0"/>
          </a:p>
        </p:txBody>
      </p:sp>
      <p:pic>
        <p:nvPicPr>
          <p:cNvPr id="10"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1" name="Text 8"/>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SERVICIOS GRATUITOS PARA PRODUCCIÓN</a:t>
            </a:r>
            <a:endParaRPr lang="en-US" sz="1200" dirty="0"/>
          </a:p>
        </p:txBody>
      </p:sp>
      <p:sp>
        <p:nvSpPr>
          <p:cNvPr id="3" name="Text 1"/>
          <p:cNvSpPr/>
          <p:nvPr>
            <p:ph type="title"/>
          </p:nvPr>
        </p:nvSpPr>
        <p:spPr>
          <a:xfrm>
            <a:off x="812800" y="9499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Hoy un departamento amoblado; en el RDA 3, casa propia</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686" y="1572911"/>
          <a:ext cx="10555515" cy="1787638"/>
        </p:xfrm>
        <a:graphic>
          <a:graphicData uri="http://schemas.openxmlformats.org/drawingml/2006/table">
            <a:tbl>
              <a:tblPr/>
              <a:tblGrid>
                <a:gridCol w="2533324"/>
                <a:gridCol w="4222206"/>
                <a:gridCol w="3799985"/>
              </a:tblGrid>
              <a:tr h="357528">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Para qué</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Opción gratuita</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7B8B5"/>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Ojo con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7B8B5"/>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Base de datos y login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Supabase (Postgres, recomendado) o Firebase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Supabase se pausa tras 7 días sin uso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Backend o API</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Cloudflare Workers, Supabase Edge Functions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Render gratis se duerme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Landing y privacidad</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GitHub Pages o Cloudflare Pages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Nada: es gratis y estable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IA dentro de la app</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Groq, Cerebras, GitHub Models, Gemini</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Gemini gratis usa sus datos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bl>
          </a:graphicData>
        </a:graphic>
      </p:graphicFrame>
      <p:sp>
        <p:nvSpPr>
          <p:cNvPr id="5" name="Text 2"/>
          <p:cNvSpPr/>
          <p:nvPr/>
        </p:nvSpPr>
        <p:spPr>
          <a:xfrm>
            <a:off x="812800" y="3563764"/>
            <a:ext cx="5207000" cy="802595"/>
          </a:xfrm>
          <a:prstGeom prst="roundRect">
            <a:avLst>
              <a:gd name="adj" fmla="val 11077"/>
            </a:avLst>
          </a:prstGeom>
          <a:solidFill>
            <a:srgbClr val="E3F5F5"/>
          </a:solidFill>
          <a:ln/>
        </p:spPr>
        <p:txBody>
          <a:bodyPr wrap="square" lIns="164462" tIns="126362" rIns="19682" bIns="100962" rtlCol="0" anchor="t">
            <a:normAutofit/>
          </a:bodyPr>
          <a:lstStyle/>
          <a:p>
            <a:pPr algn="l" indent="0" marL="0">
              <a:lnSpc>
                <a:spcPts val="1960"/>
              </a:lnSpc>
              <a:buNone/>
            </a:pPr>
            <a:r>
              <a:rPr lang="en-US" sz="1400" b="1" dirty="0">
                <a:solidFill>
                  <a:srgbClr val="173E78"/>
                </a:solidFill>
                <a:latin typeface="Nunito Sans" pitchFamily="34" charset="0"/>
                <a:ea typeface="Nunito Sans" pitchFamily="34" charset="-122"/>
                <a:cs typeface="Nunito Sans" pitchFamily="34" charset="-120"/>
              </a:rPr>
              <a:t>Migración a Hostinger en el RDA 3:</a:t>
            </a:r>
            <a:r>
              <a:rPr lang="en-US" sz="1400" dirty="0">
                <a:solidFill>
                  <a:srgbClr val="173E78"/>
                </a:solidFill>
                <a:latin typeface="Nunito Sans" pitchFamily="34" charset="0"/>
                <a:ea typeface="Nunito Sans" pitchFamily="34" charset="-122"/>
                <a:cs typeface="Nunito Sans" pitchFamily="34" charset="-120"/>
              </a:rPr>
              <a:t> usen SQL, una API propia y las claves en variables de entorno.</a:t>
            </a:r>
            <a:endParaRPr lang="en-US" sz="1400" dirty="0"/>
          </a:p>
        </p:txBody>
      </p:sp>
      <p:sp>
        <p:nvSpPr>
          <p:cNvPr id="6" name="Text 3"/>
          <p:cNvSpPr/>
          <p:nvPr/>
        </p:nvSpPr>
        <p:spPr>
          <a:xfrm>
            <a:off x="6172200" y="3563764"/>
            <a:ext cx="5207000" cy="802595"/>
          </a:xfrm>
          <a:prstGeom prst="roundRect">
            <a:avLst>
              <a:gd name="adj" fmla="val 11077"/>
            </a:avLst>
          </a:prstGeom>
          <a:solidFill>
            <a:srgbClr val="FFF4DC"/>
          </a:solidFill>
          <a:ln/>
        </p:spPr>
        <p:txBody>
          <a:bodyPr wrap="square" lIns="164462" tIns="126362" rIns="19682" bIns="100962" rtlCol="0" anchor="t">
            <a:normAutofit/>
          </a:bodyPr>
          <a:lstStyle/>
          <a:p>
            <a:pPr algn="l" indent="0" marL="0">
              <a:lnSpc>
                <a:spcPts val="1960"/>
              </a:lnSpc>
              <a:buNone/>
            </a:pPr>
            <a:r>
              <a:rPr lang="en-US" sz="1400" b="1" dirty="0">
                <a:solidFill>
                  <a:srgbClr val="7A4B00"/>
                </a:solidFill>
                <a:latin typeface="Nunito Sans" pitchFamily="34" charset="0"/>
                <a:ea typeface="Nunito Sans" pitchFamily="34" charset="-122"/>
                <a:cs typeface="Nunito Sans" pitchFamily="34" charset="-120"/>
              </a:rPr>
              <a:t>Regla de oro:</a:t>
            </a:r>
            <a:r>
              <a:rPr lang="en-US" sz="1400" dirty="0">
                <a:solidFill>
                  <a:srgbClr val="7A4B00"/>
                </a:solidFill>
                <a:latin typeface="Nunito Sans" pitchFamily="34" charset="0"/>
                <a:ea typeface="Nunito Sans" pitchFamily="34" charset="-122"/>
                <a:cs typeface="Nunito Sans" pitchFamily="34" charset="-120"/>
              </a:rPr>
              <a:t> la clave de la IA vive en el backend, nunca dentro de la app.</a:t>
            </a:r>
            <a:endParaRPr lang="en-US" sz="1400" dirty="0"/>
          </a:p>
        </p:txBody>
      </p:sp>
      <p:pic>
        <p:nvPicPr>
          <p:cNvPr id="7"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8" name="Text 4"/>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LA PLANTILLA DEL DOCUMENTO TÉCNICO</a:t>
            </a:r>
            <a:endParaRPr lang="en-US" sz="1200" dirty="0"/>
          </a:p>
        </p:txBody>
      </p:sp>
      <p:sp>
        <p:nvSpPr>
          <p:cNvPr id="3" name="Text 1"/>
          <p:cNvSpPr/>
          <p:nvPr>
            <p:ph type="title"/>
          </p:nvPr>
        </p:nvSpPr>
        <p:spPr>
          <a:xfrm>
            <a:off x="812800" y="9499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Un documento, tres lectores</a:t>
            </a:r>
            <a:endParaRPr lang="en-US" sz="2800" dirty="0"/>
          </a:p>
        </p:txBody>
      </p:sp>
      <p:sp>
        <p:nvSpPr>
          <p:cNvPr id="4" name="Shape 2"/>
          <p:cNvSpPr/>
          <p:nvPr/>
        </p:nvSpPr>
        <p:spPr>
          <a:xfrm>
            <a:off x="815975" y="1565201"/>
            <a:ext cx="3414146" cy="1684734"/>
          </a:xfrm>
          <a:prstGeom prst="roundRect">
            <a:avLst>
              <a:gd name="adj" fmla="val 5842"/>
            </a:avLst>
          </a:prstGeom>
          <a:solidFill>
            <a:srgbClr val="FDFDFB"/>
          </a:solidFill>
          <a:ln w="6350">
            <a:solidFill>
              <a:srgbClr val="DCE3EA"/>
            </a:solidFill>
            <a:prstDash val="solid"/>
          </a:ln>
        </p:spPr>
      </p:sp>
      <p:sp>
        <p:nvSpPr>
          <p:cNvPr id="5" name="Text 3"/>
          <p:cNvSpPr/>
          <p:nvPr/>
        </p:nvSpPr>
        <p:spPr>
          <a:xfrm>
            <a:off x="1006929" y="1756172"/>
            <a:ext cx="3123206"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3E78"/>
                </a:solidFill>
                <a:latin typeface="Nunito Sans" pitchFamily="34" charset="0"/>
                <a:ea typeface="Nunito Sans" pitchFamily="34" charset="-122"/>
                <a:cs typeface="Nunito Sans" pitchFamily="34" charset="-120"/>
              </a:rPr>
              <a:t>Gestión</a:t>
            </a:r>
            <a:endParaRPr lang="en-US" sz="1600" dirty="0"/>
          </a:p>
        </p:txBody>
      </p:sp>
      <p:sp>
        <p:nvSpPr>
          <p:cNvPr id="6" name="Text 4"/>
          <p:cNvSpPr/>
          <p:nvPr/>
        </p:nvSpPr>
        <p:spPr>
          <a:xfrm>
            <a:off x="1006929" y="2076152"/>
            <a:ext cx="3123206"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878"/>
                </a:solidFill>
                <a:latin typeface="Nunito Sans" pitchFamily="34" charset="0"/>
                <a:ea typeface="Nunito Sans" pitchFamily="34" charset="-122"/>
                <a:cs typeface="Nunito Sans" pitchFamily="34" charset="-120"/>
              </a:rPr>
              <a:t>Secciones 3, 4 y 5 · Anexos A y B</a:t>
            </a:r>
            <a:endParaRPr lang="en-US" sz="1200" dirty="0"/>
          </a:p>
        </p:txBody>
      </p:sp>
      <p:sp>
        <p:nvSpPr>
          <p:cNvPr id="7" name="Text 5"/>
          <p:cNvSpPr/>
          <p:nvPr/>
        </p:nvSpPr>
        <p:spPr>
          <a:xfrm>
            <a:off x="1006929" y="2365697"/>
            <a:ext cx="3123206" cy="7186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Roles Scrum, cronograma de sprints, hitos, Gantt, burndown, product backlog y actas.</a:t>
            </a:r>
            <a:endParaRPr lang="en-US" sz="1300" dirty="0"/>
          </a:p>
        </p:txBody>
      </p:sp>
      <p:sp>
        <p:nvSpPr>
          <p:cNvPr id="8" name="Shape 6"/>
          <p:cNvSpPr/>
          <p:nvPr/>
        </p:nvSpPr>
        <p:spPr>
          <a:xfrm>
            <a:off x="4388871" y="1565201"/>
            <a:ext cx="3414202" cy="1684734"/>
          </a:xfrm>
          <a:prstGeom prst="roundRect">
            <a:avLst>
              <a:gd name="adj" fmla="val 5842"/>
            </a:avLst>
          </a:prstGeom>
          <a:solidFill>
            <a:srgbClr val="FDFDFB"/>
          </a:solidFill>
          <a:ln w="6350">
            <a:solidFill>
              <a:srgbClr val="DCE3EA"/>
            </a:solidFill>
            <a:prstDash val="solid"/>
          </a:ln>
        </p:spPr>
      </p:sp>
      <p:sp>
        <p:nvSpPr>
          <p:cNvPr id="9" name="Text 7"/>
          <p:cNvSpPr/>
          <p:nvPr/>
        </p:nvSpPr>
        <p:spPr>
          <a:xfrm>
            <a:off x="4579824" y="1756172"/>
            <a:ext cx="3123264"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3E78"/>
                </a:solidFill>
                <a:latin typeface="Nunito Sans" pitchFamily="34" charset="0"/>
                <a:ea typeface="Nunito Sans" pitchFamily="34" charset="-122"/>
                <a:cs typeface="Nunito Sans" pitchFamily="34" charset="-120"/>
              </a:rPr>
              <a:t>Ingeniería</a:t>
            </a:r>
            <a:endParaRPr lang="en-US" sz="1600" dirty="0"/>
          </a:p>
        </p:txBody>
      </p:sp>
      <p:sp>
        <p:nvSpPr>
          <p:cNvPr id="10" name="Text 8"/>
          <p:cNvSpPr/>
          <p:nvPr/>
        </p:nvSpPr>
        <p:spPr>
          <a:xfrm>
            <a:off x="4579824" y="2076152"/>
            <a:ext cx="3123264"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878"/>
                </a:solidFill>
                <a:latin typeface="Nunito Sans" pitchFamily="34" charset="0"/>
                <a:ea typeface="Nunito Sans" pitchFamily="34" charset="-122"/>
                <a:cs typeface="Nunito Sans" pitchFamily="34" charset="-120"/>
              </a:rPr>
              <a:t>Secciones 6 a 12 · Anexo C</a:t>
            </a:r>
            <a:endParaRPr lang="en-US" sz="1200" dirty="0"/>
          </a:p>
        </p:txBody>
      </p:sp>
      <p:sp>
        <p:nvSpPr>
          <p:cNvPr id="11" name="Text 9"/>
          <p:cNvSpPr/>
          <p:nvPr/>
        </p:nvSpPr>
        <p:spPr>
          <a:xfrm>
            <a:off x="4579824" y="2365697"/>
            <a:ext cx="3123264" cy="7186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Requisitos, arquitectura, stack, modelo de datos, pruebas, despliegue, landing, privacidad y plan de migración.</a:t>
            </a:r>
            <a:endParaRPr lang="en-US" sz="1300" dirty="0"/>
          </a:p>
        </p:txBody>
      </p:sp>
      <p:sp>
        <p:nvSpPr>
          <p:cNvPr id="12" name="Shape 10"/>
          <p:cNvSpPr/>
          <p:nvPr/>
        </p:nvSpPr>
        <p:spPr>
          <a:xfrm>
            <a:off x="7961823" y="1565201"/>
            <a:ext cx="3414202" cy="1684734"/>
          </a:xfrm>
          <a:prstGeom prst="roundRect">
            <a:avLst>
              <a:gd name="adj" fmla="val 5842"/>
            </a:avLst>
          </a:prstGeom>
          <a:solidFill>
            <a:srgbClr val="FDFDFB"/>
          </a:solidFill>
          <a:ln w="6350">
            <a:solidFill>
              <a:srgbClr val="DCE3EA"/>
            </a:solidFill>
            <a:prstDash val="solid"/>
          </a:ln>
        </p:spPr>
      </p:sp>
      <p:sp>
        <p:nvSpPr>
          <p:cNvPr id="13" name="Text 11"/>
          <p:cNvSpPr/>
          <p:nvPr/>
        </p:nvSpPr>
        <p:spPr>
          <a:xfrm>
            <a:off x="8152777" y="1756172"/>
            <a:ext cx="3123264"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3E78"/>
                </a:solidFill>
                <a:latin typeface="Nunito Sans" pitchFamily="34" charset="0"/>
                <a:ea typeface="Nunito Sans" pitchFamily="34" charset="-122"/>
                <a:cs typeface="Nunito Sans" pitchFamily="34" charset="-120"/>
              </a:rPr>
              <a:t>Transferencia y difusión</a:t>
            </a:r>
            <a:endParaRPr lang="en-US" sz="1600" dirty="0"/>
          </a:p>
        </p:txBody>
      </p:sp>
      <p:sp>
        <p:nvSpPr>
          <p:cNvPr id="14" name="Text 12"/>
          <p:cNvSpPr/>
          <p:nvPr/>
        </p:nvSpPr>
        <p:spPr>
          <a:xfrm>
            <a:off x="8152777" y="2076152"/>
            <a:ext cx="3123264"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878"/>
                </a:solidFill>
                <a:latin typeface="Nunito Sans" pitchFamily="34" charset="0"/>
                <a:ea typeface="Nunito Sans" pitchFamily="34" charset="-122"/>
                <a:cs typeface="Nunito Sans" pitchFamily="34" charset="-120"/>
              </a:rPr>
              <a:t>Resumen, 1, 2, 13 a 16 · Anexo D</a:t>
            </a:r>
            <a:endParaRPr lang="en-US" sz="1200" dirty="0"/>
          </a:p>
        </p:txBody>
      </p:sp>
      <p:sp>
        <p:nvSpPr>
          <p:cNvPr id="15" name="Text 13"/>
          <p:cNvSpPr/>
          <p:nvPr/>
        </p:nvSpPr>
        <p:spPr>
          <a:xfrm>
            <a:off x="8152777" y="2365697"/>
            <a:ext cx="3123264" cy="7186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Resumen tipo paper, modelo de negocio, manual para Fe y Alegría, impacto social y referencias.</a:t>
            </a:r>
            <a:endParaRPr lang="en-US" sz="1300" dirty="0"/>
          </a:p>
        </p:txBody>
      </p:sp>
      <p:sp>
        <p:nvSpPr>
          <p:cNvPr id="16" name="Text 14"/>
          <p:cNvSpPr/>
          <p:nvPr/>
        </p:nvSpPr>
        <p:spPr>
          <a:xfrm>
            <a:off x="812800" y="3456310"/>
            <a:ext cx="3437448" cy="716189"/>
          </a:xfrm>
          <a:prstGeom prst="roundRect">
            <a:avLst>
              <a:gd name="adj" fmla="val 10640"/>
            </a:avLst>
          </a:prstGeom>
          <a:solidFill>
            <a:srgbClr val="173E78"/>
          </a:solidFill>
          <a:ln/>
        </p:spPr>
        <p:txBody>
          <a:bodyPr wrap="square" lIns="142782" tIns="104682" rIns="49564" bIns="79282" rtlCol="0" anchor="t">
            <a:normAutofit/>
          </a:bodyPr>
          <a:lstStyle/>
          <a:p>
            <a:pPr algn="l" indent="0" marL="0">
              <a:lnSpc>
                <a:spcPts val="1820"/>
              </a:lnSpc>
              <a:buNone/>
            </a:pPr>
            <a:r>
              <a:rPr lang="en-US" sz="1300" b="1" dirty="0">
                <a:solidFill>
                  <a:srgbClr val="F3F6FA"/>
                </a:solidFill>
                <a:latin typeface="Nunito Sans" pitchFamily="34" charset="0"/>
                <a:ea typeface="Nunito Sans" pitchFamily="34" charset="-122"/>
                <a:cs typeface="Nunito Sans" pitchFamily="34" charset="-120"/>
              </a:rPr>
              <a:t>[PAPER]</a:t>
            </a:r>
            <a:r>
              <a:rPr lang="en-US" sz="1300" dirty="0">
                <a:solidFill>
                  <a:srgbClr val="F3F6FA"/>
                </a:solidFill>
                <a:latin typeface="Nunito Sans" pitchFamily="34" charset="0"/>
                <a:ea typeface="Nunito Sans" pitchFamily="34" charset="-122"/>
                <a:cs typeface="Nunito Sans" pitchFamily="34" charset="-120"/>
              </a:rPr>
              <a:t> resumen, metodología, resultados y referencias</a:t>
            </a:r>
            <a:endParaRPr lang="en-US" sz="1300" dirty="0"/>
          </a:p>
        </p:txBody>
      </p:sp>
      <p:sp>
        <p:nvSpPr>
          <p:cNvPr id="17" name="Text 15"/>
          <p:cNvSpPr/>
          <p:nvPr/>
        </p:nvSpPr>
        <p:spPr>
          <a:xfrm>
            <a:off x="4377248" y="3456310"/>
            <a:ext cx="3437505" cy="716189"/>
          </a:xfrm>
          <a:prstGeom prst="roundRect">
            <a:avLst>
              <a:gd name="adj" fmla="val 10640"/>
            </a:avLst>
          </a:prstGeom>
          <a:solidFill>
            <a:srgbClr val="047A7B"/>
          </a:solidFill>
          <a:ln/>
        </p:spPr>
        <p:txBody>
          <a:bodyPr wrap="square" lIns="142782" tIns="104682" rIns="49563" bIns="79282" rtlCol="0" anchor="t">
            <a:normAutofit/>
          </a:bodyPr>
          <a:lstStyle/>
          <a:p>
            <a:pPr algn="l" indent="0" marL="0">
              <a:lnSpc>
                <a:spcPts val="1820"/>
              </a:lnSpc>
              <a:buNone/>
            </a:pPr>
            <a:r>
              <a:rPr lang="en-US" sz="1300" b="1" dirty="0">
                <a:solidFill>
                  <a:srgbClr val="F3F6FA"/>
                </a:solidFill>
                <a:latin typeface="Nunito Sans" pitchFamily="34" charset="0"/>
                <a:ea typeface="Nunito Sans" pitchFamily="34" charset="-122"/>
                <a:cs typeface="Nunito Sans" pitchFamily="34" charset="-120"/>
              </a:rPr>
              <a:t>[FyA]</a:t>
            </a:r>
            <a:r>
              <a:rPr lang="en-US" sz="1300" dirty="0">
                <a:solidFill>
                  <a:srgbClr val="F3F6FA"/>
                </a:solidFill>
                <a:latin typeface="Nunito Sans" pitchFamily="34" charset="0"/>
                <a:ea typeface="Nunito Sans" pitchFamily="34" charset="-122"/>
                <a:cs typeface="Nunito Sans" pitchFamily="34" charset="-120"/>
              </a:rPr>
              <a:t> instalación, manual de uso y mantenimiento</a:t>
            </a:r>
            <a:endParaRPr lang="en-US" sz="1300" dirty="0"/>
          </a:p>
        </p:txBody>
      </p:sp>
      <p:sp>
        <p:nvSpPr>
          <p:cNvPr id="18" name="Text 16"/>
          <p:cNvSpPr/>
          <p:nvPr/>
        </p:nvSpPr>
        <p:spPr>
          <a:xfrm>
            <a:off x="7941752" y="3456310"/>
            <a:ext cx="3437448" cy="716189"/>
          </a:xfrm>
          <a:prstGeom prst="roundRect">
            <a:avLst>
              <a:gd name="adj" fmla="val 10640"/>
            </a:avLst>
          </a:prstGeom>
          <a:solidFill>
            <a:srgbClr val="06B2B3"/>
          </a:solidFill>
          <a:ln/>
        </p:spPr>
        <p:txBody>
          <a:bodyPr wrap="square" lIns="142782" tIns="104682" rIns="49564" bIns="79282" rtlCol="0" anchor="t">
            <a:normAutofit/>
          </a:bodyPr>
          <a:lstStyle/>
          <a:p>
            <a:pPr algn="l" indent="0" marL="0">
              <a:lnSpc>
                <a:spcPts val="1820"/>
              </a:lnSpc>
              <a:buNone/>
            </a:pPr>
            <a:r>
              <a:rPr lang="en-US" sz="1300" b="1" dirty="0">
                <a:solidFill>
                  <a:srgbClr val="0F2B54"/>
                </a:solidFill>
                <a:latin typeface="Nunito Sans" pitchFamily="34" charset="0"/>
                <a:ea typeface="Nunito Sans" pitchFamily="34" charset="-122"/>
                <a:cs typeface="Nunito Sans" pitchFamily="34" charset="-120"/>
              </a:rPr>
              <a:t>[CONCURSO]</a:t>
            </a:r>
            <a:r>
              <a:rPr lang="en-US" sz="1300" dirty="0">
                <a:solidFill>
                  <a:srgbClr val="0F2B54"/>
                </a:solidFill>
                <a:latin typeface="Nunito Sans" pitchFamily="34" charset="0"/>
                <a:ea typeface="Nunito Sans" pitchFamily="34" charset="-122"/>
                <a:cs typeface="Nunito Sans" pitchFamily="34" charset="-120"/>
              </a:rPr>
              <a:t> problema, impacto, modelo y video</a:t>
            </a:r>
            <a:endParaRPr lang="en-US" sz="1300" dirty="0"/>
          </a:p>
        </p:txBody>
      </p:sp>
      <p:pic>
        <p:nvPicPr>
          <p:cNvPr id="19"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20" name="Text 17"/>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CÓMO LLENAR LA PLANTILLA</a:t>
            </a:r>
            <a:endParaRPr lang="en-US" sz="1200" dirty="0"/>
          </a:p>
        </p:txBody>
      </p:sp>
      <p:sp>
        <p:nvSpPr>
          <p:cNvPr id="3" name="Text 1"/>
          <p:cNvSpPr/>
          <p:nvPr>
            <p:ph type="title"/>
          </p:nvPr>
        </p:nvSpPr>
        <p:spPr>
          <a:xfrm>
            <a:off x="812800" y="9499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Una bitácora de viaje, no una memoria al regreso</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686" y="1572911"/>
          <a:ext cx="10555515" cy="2249828"/>
        </p:xfrm>
        <a:graphic>
          <a:graphicData uri="http://schemas.openxmlformats.org/drawingml/2006/table">
            <a:tbl>
              <a:tblPr/>
              <a:tblGrid>
                <a:gridCol w="2533324"/>
                <a:gridCol w="5488868"/>
                <a:gridCol w="2533324"/>
              </a:tblGrid>
              <a:tr h="357528">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Sprint</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Secciones que se escriben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7B8B5"/>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Versión del documento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7B8B5"/>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Sprint 0 · 15–18 oct</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Portada, 1 Introducción, 3 Metodología, 5 Backlog inicial</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v0.1</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588622">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Sprint 1 · 19–25 oct</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2 Modelo de negocio, 4 Cronograma, 6 Requisitos, 7 Arquitectura, 10 Despliegue y landing</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v0.2</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Sprint 2 · 26 oct–5 nov</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8 Implementación, 9 Pruebas, 11 Privacidad, 12 Migración a Hostinger</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v0.3</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588622">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Sprint 3 · 6–12 nov</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13 Transferencia FyA, 14 Impacto, 15 Resultados, 16 Referencias, resumen y anexos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v1.0</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bl>
          </a:graphicData>
        </a:graphic>
      </p:graphicFrame>
      <p:sp>
        <p:nvSpPr>
          <p:cNvPr id="5" name="Text 2"/>
          <p:cNvSpPr/>
          <p:nvPr/>
        </p:nvSpPr>
        <p:spPr>
          <a:xfrm>
            <a:off x="815975" y="4029125"/>
            <a:ext cx="3431098" cy="973591"/>
          </a:xfrm>
          <a:prstGeom prst="roundRect">
            <a:avLst>
              <a:gd name="adj" fmla="val 7501"/>
            </a:avLst>
          </a:prstGeom>
          <a:solidFill>
            <a:srgbClr val="FDFDFB"/>
          </a:solidFill>
          <a:ln w="6350">
            <a:solidFill>
              <a:srgbClr val="DCE3EA"/>
            </a:solidFill>
            <a:prstDash val="solid"/>
          </a:ln>
        </p:spPr>
        <p:txBody>
          <a:bodyPr wrap="square" lIns="144165" tIns="118765" rIns="51166" bIns="93365"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Borren las líneas grises con ▸ y reemplacen todo lo que esté entre [corchetes].</a:t>
            </a:r>
            <a:endParaRPr lang="en-US" sz="1300" dirty="0"/>
          </a:p>
        </p:txBody>
      </p:sp>
      <p:sp>
        <p:nvSpPr>
          <p:cNvPr id="6" name="Text 3"/>
          <p:cNvSpPr/>
          <p:nvPr/>
        </p:nvSpPr>
        <p:spPr>
          <a:xfrm>
            <a:off x="4380423" y="4029125"/>
            <a:ext cx="3431155" cy="973591"/>
          </a:xfrm>
          <a:prstGeom prst="roundRect">
            <a:avLst>
              <a:gd name="adj" fmla="val 7501"/>
            </a:avLst>
          </a:prstGeom>
          <a:solidFill>
            <a:srgbClr val="FDFDFB"/>
          </a:solidFill>
          <a:ln w="6350">
            <a:solidFill>
              <a:srgbClr val="DCE3EA"/>
            </a:solidFill>
            <a:prstDash val="solid"/>
          </a:ln>
        </p:spPr>
        <p:txBody>
          <a:bodyPr wrap="square" lIns="144165" tIns="118765" rIns="51164" bIns="93365"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El resumen se escribe al final, aunque vaya al inicio.</a:t>
            </a:r>
            <a:endParaRPr lang="en-US" sz="1300" dirty="0"/>
          </a:p>
        </p:txBody>
      </p:sp>
      <p:sp>
        <p:nvSpPr>
          <p:cNvPr id="7" name="Text 4"/>
          <p:cNvSpPr/>
          <p:nvPr/>
        </p:nvSpPr>
        <p:spPr>
          <a:xfrm>
            <a:off x="7944927" y="4029125"/>
            <a:ext cx="3431098" cy="973591"/>
          </a:xfrm>
          <a:prstGeom prst="roundRect">
            <a:avLst>
              <a:gd name="adj" fmla="val 7501"/>
            </a:avLst>
          </a:prstGeom>
          <a:solidFill>
            <a:srgbClr val="FFF4DC"/>
          </a:solidFill>
          <a:ln w="6350">
            <a:solidFill>
              <a:srgbClr val="E8C877"/>
            </a:solidFill>
            <a:prstDash val="solid"/>
          </a:ln>
        </p:spPr>
        <p:txBody>
          <a:bodyPr wrap="square" lIns="144165" tIns="118765" rIns="51166" bIns="93365" rtlCol="0" anchor="t">
            <a:normAutofit/>
          </a:bodyPr>
          <a:lstStyle/>
          <a:p>
            <a:pPr algn="l" indent="0" marL="0">
              <a:lnSpc>
                <a:spcPts val="1820"/>
              </a:lnSpc>
              <a:buNone/>
            </a:pPr>
            <a:r>
              <a:rPr lang="en-US" sz="1300" dirty="0">
                <a:solidFill>
                  <a:srgbClr val="3D2B00"/>
                </a:solidFill>
                <a:latin typeface="Nunito Sans" pitchFamily="34" charset="0"/>
                <a:ea typeface="Nunito Sans" pitchFamily="34" charset="-122"/>
                <a:cs typeface="Nunito Sans" pitchFamily="34" charset="-120"/>
              </a:rPr>
              <a:t>Un ejemplo copiado tal cual deja la sección en cero.</a:t>
            </a:r>
            <a:endParaRPr lang="en-US" sz="1300" dirty="0"/>
          </a:p>
        </p:txBody>
      </p:sp>
      <p:pic>
        <p:nvPicPr>
          <p:cNvPr id="8"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9" name="Text 5"/>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CÓMO SE CALIFICA</a:t>
            </a:r>
            <a:endParaRPr lang="en-US" sz="1200" dirty="0"/>
          </a:p>
        </p:txBody>
      </p:sp>
      <p:sp>
        <p:nvSpPr>
          <p:cNvPr id="3" name="Text 1"/>
          <p:cNvSpPr/>
          <p:nvPr>
            <p:ph type="title"/>
          </p:nvPr>
        </p:nvSpPr>
        <p:spPr>
          <a:xfrm>
            <a:off x="812800" y="9499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50 puntos: la nota del RDA 2</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686" y="1572911"/>
          <a:ext cx="6974114" cy="3217749"/>
        </p:xfrm>
        <a:graphic>
          <a:graphicData uri="http://schemas.openxmlformats.org/drawingml/2006/table">
            <a:tbl>
              <a:tblPr/>
              <a:tblGrid>
                <a:gridCol w="5021362"/>
                <a:gridCol w="1952752"/>
              </a:tblGrid>
              <a:tr h="357528">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Criterio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c>
                  <a:txBody>
                    <a:bodyPr/>
                    <a:lstStyle/>
                    <a:p>
                      <a:pPr algn="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Puntos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7B8B5"/>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Producto funcional publicado (Play o web)</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10</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Gestión ágil con Scrum</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10</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Documento técnico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10</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Repositorio GitHub con licencia MIT</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8</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Landing page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4</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Validación con usuarios reales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4</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Video demo y defensa</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4</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Total</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50</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bl>
          </a:graphicData>
        </a:graphic>
      </p:graphicFrame>
      <p:sp>
        <p:nvSpPr>
          <p:cNvPr id="5" name="Shape 2"/>
          <p:cNvSpPr/>
          <p:nvPr/>
        </p:nvSpPr>
        <p:spPr>
          <a:xfrm>
            <a:off x="8051800" y="1562026"/>
            <a:ext cx="3327400" cy="1633084"/>
          </a:xfrm>
          <a:prstGeom prst="roundRect">
            <a:avLst>
              <a:gd name="adj" fmla="val 6221"/>
            </a:avLst>
          </a:prstGeom>
          <a:solidFill>
            <a:srgbClr val="173E78"/>
          </a:solidFill>
          <a:ln/>
        </p:spPr>
      </p:sp>
      <p:sp>
        <p:nvSpPr>
          <p:cNvPr id="6" name="Text 3"/>
          <p:cNvSpPr/>
          <p:nvPr/>
        </p:nvSpPr>
        <p:spPr>
          <a:xfrm>
            <a:off x="8255000" y="1765226"/>
            <a:ext cx="300863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7FDCDC"/>
                </a:solidFill>
                <a:latin typeface="Domine" pitchFamily="18" charset="0"/>
                <a:ea typeface="Domine" pitchFamily="18" charset="-122"/>
                <a:cs typeface="Domine" pitchFamily="18" charset="-120"/>
              </a:rPr>
              <a:t>+3</a:t>
            </a:r>
            <a:endParaRPr lang="en-US" sz="3600" dirty="0"/>
          </a:p>
        </p:txBody>
      </p:sp>
      <p:sp>
        <p:nvSpPr>
          <p:cNvPr id="7" name="Text 4"/>
          <p:cNvSpPr/>
          <p:nvPr/>
        </p:nvSpPr>
        <p:spPr>
          <a:xfrm>
            <a:off x="8255000" y="2298626"/>
            <a:ext cx="3008630" cy="7186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6FA"/>
                </a:solidFill>
                <a:latin typeface="Nunito Sans" pitchFamily="34" charset="0"/>
                <a:ea typeface="Nunito Sans" pitchFamily="34" charset="-122"/>
                <a:cs typeface="Nunito Sans" pitchFamily="34" charset="-120"/>
              </a:rPr>
              <a:t>Puntos extra si la app está en producción pública en Google Play el 12 de noviembre, sin pasar de 50.</a:t>
            </a:r>
            <a:endParaRPr lang="en-US" sz="1300" dirty="0"/>
          </a:p>
        </p:txBody>
      </p:sp>
      <p:pic>
        <p:nvPicPr>
          <p:cNvPr id="8"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9" name="Text 5"/>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6B2B3"/>
        </a:solidFill>
      </p:bgPr>
    </p:bg>
    <p:spTree>
      <p:nvGrpSpPr>
        <p:cNvPr id="1" name=""/>
        <p:cNvGrpSpPr/>
        <p:nvPr/>
      </p:nvGrpSpPr>
      <p:grpSpPr>
        <a:xfrm>
          <a:off x="0" y="0"/>
          <a:ext cx="0" cy="0"/>
          <a:chOff x="0" y="0"/>
          <a:chExt cx="0" cy="0"/>
        </a:xfrm>
      </p:grpSpPr>
      <p:sp>
        <p:nvSpPr>
          <p:cNvPr id="2" name="Text 0"/>
          <p:cNvSpPr/>
          <p:nvPr/>
        </p:nvSpPr>
        <p:spPr>
          <a:xfrm>
            <a:off x="812800" y="2161555"/>
            <a:ext cx="10883393"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0F2B54"/>
                </a:solidFill>
                <a:latin typeface="Domine" pitchFamily="18" charset="0"/>
                <a:ea typeface="Domine" pitchFamily="18" charset="-122"/>
                <a:cs typeface="Domine" pitchFamily="18" charset="-120"/>
              </a:rPr>
              <a:t>03</a:t>
            </a:r>
            <a:endParaRPr lang="en-US" sz="8000" dirty="0"/>
          </a:p>
        </p:txBody>
      </p:sp>
      <p:sp>
        <p:nvSpPr>
          <p:cNvPr id="3" name="Text 1"/>
          <p:cNvSpPr/>
          <p:nvPr>
            <p:ph type="title"/>
          </p:nvPr>
        </p:nvSpPr>
        <p:spPr>
          <a:xfrm>
            <a:off x="812800" y="3355355"/>
            <a:ext cx="10883393"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0F2B54"/>
                </a:solidFill>
                <a:latin typeface="Domine" pitchFamily="18" charset="0"/>
                <a:ea typeface="Domine" pitchFamily="18" charset="-122"/>
                <a:cs typeface="Domine" pitchFamily="18" charset="-120"/>
              </a:rPr>
              <a:t>El pitch del lunes ante Alfred Naranjo</a:t>
            </a:r>
            <a:endParaRPr lang="en-US" sz="4000" dirty="0"/>
          </a:p>
        </p:txBody>
      </p:sp>
      <p:sp>
        <p:nvSpPr>
          <p:cNvPr id="4" name="Text 2"/>
          <p:cNvSpPr/>
          <p:nvPr/>
        </p:nvSpPr>
        <p:spPr>
          <a:xfrm>
            <a:off x="812800" y="4091955"/>
            <a:ext cx="8502650" cy="629897"/>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0F2B54"/>
                </a:solidFill>
                <a:latin typeface="Nunito Sans" pitchFamily="34" charset="0"/>
                <a:ea typeface="Nunito Sans" pitchFamily="34" charset="-122"/>
                <a:cs typeface="Nunito Sans" pitchFamily="34" charset="-120"/>
              </a:rPr>
              <a:t>Lunes 19 de octubre, 10h00, en el TEDA. Presentan como si fuera la final de un concurso de emprendimiento.</a:t>
            </a:r>
            <a:endParaRPr lang="en-US" sz="17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PARA LLEGAR CON VOCABULARIO</a:t>
            </a:r>
            <a:endParaRPr lang="en-US" sz="1200" dirty="0"/>
          </a:p>
        </p:txBody>
      </p:sp>
      <p:sp>
        <p:nvSpPr>
          <p:cNvPr id="3" name="Text 1"/>
          <p:cNvSpPr/>
          <p:nvPr>
            <p:ph type="title"/>
          </p:nvPr>
        </p:nvSpPr>
        <p:spPr>
          <a:xfrm>
            <a:off x="812800" y="9499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Tres mapas que veremos el lunes</a:t>
            </a:r>
            <a:endParaRPr lang="en-US" sz="2800" dirty="0"/>
          </a:p>
        </p:txBody>
      </p:sp>
      <p:sp>
        <p:nvSpPr>
          <p:cNvPr id="4" name="Shape 2"/>
          <p:cNvSpPr/>
          <p:nvPr/>
        </p:nvSpPr>
        <p:spPr>
          <a:xfrm>
            <a:off x="815975" y="1565201"/>
            <a:ext cx="3414146" cy="1933575"/>
          </a:xfrm>
          <a:prstGeom prst="roundRect">
            <a:avLst>
              <a:gd name="adj" fmla="val 5090"/>
            </a:avLst>
          </a:prstGeom>
          <a:solidFill>
            <a:srgbClr val="FDFDFB"/>
          </a:solidFill>
          <a:ln w="6350">
            <a:solidFill>
              <a:srgbClr val="DCE3EA"/>
            </a:solidFill>
            <a:prstDash val="solid"/>
          </a:ln>
        </p:spPr>
      </p:sp>
      <p:sp>
        <p:nvSpPr>
          <p:cNvPr id="5" name="Text 3"/>
          <p:cNvSpPr/>
          <p:nvPr/>
        </p:nvSpPr>
        <p:spPr>
          <a:xfrm>
            <a:off x="1006929" y="1756172"/>
            <a:ext cx="3123206"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3E78"/>
                </a:solidFill>
                <a:latin typeface="Nunito Sans" pitchFamily="34" charset="0"/>
                <a:ea typeface="Nunito Sans" pitchFamily="34" charset="-122"/>
                <a:cs typeface="Nunito Sans" pitchFamily="34" charset="-120"/>
              </a:rPr>
              <a:t>Journey Map</a:t>
            </a:r>
            <a:endParaRPr lang="en-US" sz="1600" dirty="0"/>
          </a:p>
        </p:txBody>
      </p:sp>
      <p:sp>
        <p:nvSpPr>
          <p:cNvPr id="6" name="Text 4"/>
          <p:cNvSpPr/>
          <p:nvPr/>
        </p:nvSpPr>
        <p:spPr>
          <a:xfrm>
            <a:off x="1006929" y="2076152"/>
            <a:ext cx="3123206" cy="4875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El recorrido completo del cliente: fases, acciones, canales y emociones.</a:t>
            </a:r>
            <a:endParaRPr lang="en-US" sz="1300" dirty="0"/>
          </a:p>
        </p:txBody>
      </p:sp>
      <p:sp>
        <p:nvSpPr>
          <p:cNvPr id="7" name="Text 5"/>
          <p:cNvSpPr/>
          <p:nvPr/>
        </p:nvSpPr>
        <p:spPr>
          <a:xfrm>
            <a:off x="1006929" y="2614538"/>
            <a:ext cx="3123206" cy="48758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47A7B"/>
                </a:solidFill>
                <a:latin typeface="Nunito Sans" pitchFamily="34" charset="0"/>
                <a:ea typeface="Nunito Sans" pitchFamily="34" charset="-122"/>
                <a:cs typeface="Nunito Sans" pitchFamily="34" charset="-120"/>
              </a:rPr>
              <a:t>Analogía:</a:t>
            </a:r>
            <a:r>
              <a:rPr lang="en-US" sz="1300" dirty="0">
                <a:solidFill>
                  <a:srgbClr val="047A7B"/>
                </a:solidFill>
                <a:latin typeface="Nunito Sans" pitchFamily="34" charset="0"/>
                <a:ea typeface="Nunito Sans" pitchFamily="34" charset="-122"/>
                <a:cs typeface="Nunito Sans" pitchFamily="34" charset="-120"/>
              </a:rPr>
              <a:t> el álbum de fotos de un viaje, con la cara del viajero en cada foto.</a:t>
            </a:r>
            <a:endParaRPr lang="en-US" sz="1300" dirty="0"/>
          </a:p>
        </p:txBody>
      </p:sp>
      <p:sp>
        <p:nvSpPr>
          <p:cNvPr id="8" name="Shape 6"/>
          <p:cNvSpPr/>
          <p:nvPr/>
        </p:nvSpPr>
        <p:spPr>
          <a:xfrm>
            <a:off x="4388871" y="1565201"/>
            <a:ext cx="3414202" cy="1933575"/>
          </a:xfrm>
          <a:prstGeom prst="roundRect">
            <a:avLst>
              <a:gd name="adj" fmla="val 5090"/>
            </a:avLst>
          </a:prstGeom>
          <a:solidFill>
            <a:srgbClr val="FDFDFB"/>
          </a:solidFill>
          <a:ln w="6350">
            <a:solidFill>
              <a:srgbClr val="DCE3EA"/>
            </a:solidFill>
            <a:prstDash val="solid"/>
          </a:ln>
        </p:spPr>
      </p:sp>
      <p:sp>
        <p:nvSpPr>
          <p:cNvPr id="9" name="Text 7"/>
          <p:cNvSpPr/>
          <p:nvPr/>
        </p:nvSpPr>
        <p:spPr>
          <a:xfrm>
            <a:off x="4579824" y="1756172"/>
            <a:ext cx="3123264"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3E78"/>
                </a:solidFill>
                <a:latin typeface="Nunito Sans" pitchFamily="34" charset="0"/>
                <a:ea typeface="Nunito Sans" pitchFamily="34" charset="-122"/>
                <a:cs typeface="Nunito Sans" pitchFamily="34" charset="-120"/>
              </a:rPr>
              <a:t>Service Blueprint</a:t>
            </a:r>
            <a:endParaRPr lang="en-US" sz="1600" dirty="0"/>
          </a:p>
        </p:txBody>
      </p:sp>
      <p:sp>
        <p:nvSpPr>
          <p:cNvPr id="10" name="Text 8"/>
          <p:cNvSpPr/>
          <p:nvPr/>
        </p:nvSpPr>
        <p:spPr>
          <a:xfrm>
            <a:off x="4579824" y="2076152"/>
            <a:ext cx="3123264" cy="4875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Lo que ve el cliente y lo que pasa detrás para que el servicio funcione.</a:t>
            </a:r>
            <a:endParaRPr lang="en-US" sz="1300" dirty="0"/>
          </a:p>
        </p:txBody>
      </p:sp>
      <p:sp>
        <p:nvSpPr>
          <p:cNvPr id="11" name="Text 9"/>
          <p:cNvSpPr/>
          <p:nvPr/>
        </p:nvSpPr>
        <p:spPr>
          <a:xfrm>
            <a:off x="4579824" y="2614538"/>
            <a:ext cx="3123264" cy="48758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47A7B"/>
                </a:solidFill>
                <a:latin typeface="Nunito Sans" pitchFamily="34" charset="0"/>
                <a:ea typeface="Nunito Sans" pitchFamily="34" charset="-122"/>
                <a:cs typeface="Nunito Sans" pitchFamily="34" charset="-120"/>
              </a:rPr>
              <a:t>Analogía:</a:t>
            </a:r>
            <a:r>
              <a:rPr lang="en-US" sz="1300" dirty="0">
                <a:solidFill>
                  <a:srgbClr val="047A7B"/>
                </a:solidFill>
                <a:latin typeface="Nunito Sans" pitchFamily="34" charset="0"/>
                <a:ea typeface="Nunito Sans" pitchFamily="34" charset="-122"/>
                <a:cs typeface="Nunito Sans" pitchFamily="34" charset="-120"/>
              </a:rPr>
              <a:t> un restaurante: el comedor, la cocina y la línea que los separa.</a:t>
            </a:r>
            <a:endParaRPr lang="en-US" sz="1300" dirty="0"/>
          </a:p>
        </p:txBody>
      </p:sp>
      <p:sp>
        <p:nvSpPr>
          <p:cNvPr id="12" name="Shape 10"/>
          <p:cNvSpPr/>
          <p:nvPr/>
        </p:nvSpPr>
        <p:spPr>
          <a:xfrm>
            <a:off x="7961823" y="1565201"/>
            <a:ext cx="3414202" cy="1933575"/>
          </a:xfrm>
          <a:prstGeom prst="roundRect">
            <a:avLst>
              <a:gd name="adj" fmla="val 5090"/>
            </a:avLst>
          </a:prstGeom>
          <a:solidFill>
            <a:srgbClr val="FDFDFB"/>
          </a:solidFill>
          <a:ln w="6350">
            <a:solidFill>
              <a:srgbClr val="DCE3EA"/>
            </a:solidFill>
            <a:prstDash val="solid"/>
          </a:ln>
        </p:spPr>
      </p:sp>
      <p:sp>
        <p:nvSpPr>
          <p:cNvPr id="13" name="Text 11"/>
          <p:cNvSpPr/>
          <p:nvPr/>
        </p:nvSpPr>
        <p:spPr>
          <a:xfrm>
            <a:off x="8152777" y="1756172"/>
            <a:ext cx="3123264"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3E78"/>
                </a:solidFill>
                <a:latin typeface="Nunito Sans" pitchFamily="34" charset="0"/>
                <a:ea typeface="Nunito Sans" pitchFamily="34" charset="-122"/>
                <a:cs typeface="Nunito Sans" pitchFamily="34" charset="-120"/>
              </a:rPr>
              <a:t>Value Stream Map</a:t>
            </a:r>
            <a:endParaRPr lang="en-US" sz="1600" dirty="0"/>
          </a:p>
        </p:txBody>
      </p:sp>
      <p:sp>
        <p:nvSpPr>
          <p:cNvPr id="14" name="Text 12"/>
          <p:cNvSpPr/>
          <p:nvPr/>
        </p:nvSpPr>
        <p:spPr>
          <a:xfrm>
            <a:off x="8152777" y="2076152"/>
            <a:ext cx="3123264" cy="7186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Cada paso de un proceso, midiendo cuánto tiempo agrega valor y cuánto es espera.</a:t>
            </a:r>
            <a:endParaRPr lang="en-US" sz="1300" dirty="0"/>
          </a:p>
        </p:txBody>
      </p:sp>
      <p:sp>
        <p:nvSpPr>
          <p:cNvPr id="15" name="Text 13"/>
          <p:cNvSpPr/>
          <p:nvPr/>
        </p:nvSpPr>
        <p:spPr>
          <a:xfrm>
            <a:off x="8152777" y="2845643"/>
            <a:ext cx="3123264" cy="48758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47A7B"/>
                </a:solidFill>
                <a:latin typeface="Nunito Sans" pitchFamily="34" charset="0"/>
                <a:ea typeface="Nunito Sans" pitchFamily="34" charset="-122"/>
                <a:cs typeface="Nunito Sans" pitchFamily="34" charset="-120"/>
              </a:rPr>
              <a:t>Analogía:</a:t>
            </a:r>
            <a:r>
              <a:rPr lang="en-US" sz="1300" dirty="0">
                <a:solidFill>
                  <a:srgbClr val="047A7B"/>
                </a:solidFill>
                <a:latin typeface="Nunito Sans" pitchFamily="34" charset="0"/>
                <a:ea typeface="Nunito Sans" pitchFamily="34" charset="-122"/>
                <a:cs typeface="Nunito Sans" pitchFamily="34" charset="-120"/>
              </a:rPr>
              <a:t> un trámite con 3 horas de fila para 5 minutos de atención.</a:t>
            </a:r>
            <a:endParaRPr lang="en-US" sz="1300" dirty="0"/>
          </a:p>
        </p:txBody>
      </p:sp>
      <p:sp>
        <p:nvSpPr>
          <p:cNvPr id="16" name="Text 14"/>
          <p:cNvSpPr/>
          <p:nvPr/>
        </p:nvSpPr>
        <p:spPr>
          <a:xfrm>
            <a:off x="812800" y="3705151"/>
            <a:ext cx="10566401" cy="571500"/>
          </a:xfrm>
          <a:prstGeom prst="roundRect">
            <a:avLst>
              <a:gd name="adj" fmla="val 15556"/>
            </a:avLst>
          </a:prstGeom>
          <a:solidFill>
            <a:srgbClr val="E3F5F5"/>
          </a:solidFill>
          <a:ln/>
        </p:spPr>
        <p:txBody>
          <a:bodyPr wrap="square" lIns="189862" tIns="126362" rIns="0" bIns="100962" rtlCol="0" anchor="t">
            <a:normAutofit/>
          </a:bodyPr>
          <a:lstStyle/>
          <a:p>
            <a:pPr algn="l" indent="0" marL="0">
              <a:lnSpc>
                <a:spcPts val="2100"/>
              </a:lnSpc>
              <a:buNone/>
            </a:pPr>
            <a:r>
              <a:rPr lang="en-US" sz="1500" dirty="0">
                <a:solidFill>
                  <a:srgbClr val="173E78"/>
                </a:solidFill>
                <a:latin typeface="Nunito Sans" pitchFamily="34" charset="0"/>
                <a:ea typeface="Nunito Sans" pitchFamily="34" charset="-122"/>
                <a:cs typeface="Nunito Sans" pitchFamily="34" charset="-120"/>
              </a:rPr>
              <a:t>Su hoja del </a:t>
            </a:r>
            <a:r>
              <a:rPr lang="en-US" sz="1500" b="1" dirty="0">
                <a:solidFill>
                  <a:srgbClr val="173E78"/>
                </a:solidFill>
                <a:latin typeface="Nunito Sans" pitchFamily="34" charset="0"/>
                <a:ea typeface="Nunito Sans" pitchFamily="34" charset="-122"/>
                <a:cs typeface="Nunito Sans" pitchFamily="34" charset="-120"/>
              </a:rPr>
              <a:t>proceso del trabajo del cliente</a:t>
            </a:r>
            <a:r>
              <a:rPr lang="en-US" sz="1500" dirty="0">
                <a:solidFill>
                  <a:srgbClr val="173E78"/>
                </a:solidFill>
                <a:latin typeface="Nunito Sans" pitchFamily="34" charset="0"/>
                <a:ea typeface="Nunito Sans" pitchFamily="34" charset="-122"/>
                <a:cs typeface="Nunito Sans" pitchFamily="34" charset="-120"/>
              </a:rPr>
              <a:t> ya es un journey map en borrador. Tráiganla el lunes.</a:t>
            </a:r>
            <a:endParaRPr lang="en-US" sz="1500" dirty="0"/>
          </a:p>
        </p:txBody>
      </p:sp>
      <p:pic>
        <p:nvPicPr>
          <p:cNvPr id="17"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8" name="Text 15"/>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EL FORMATO DEL LUNES</a:t>
            </a:r>
            <a:endParaRPr lang="en-US" sz="1200" dirty="0"/>
          </a:p>
        </p:txBody>
      </p:sp>
      <p:sp>
        <p:nvSpPr>
          <p:cNvPr id="3" name="Text 1"/>
          <p:cNvSpPr/>
          <p:nvPr>
            <p:ph type="title"/>
          </p:nvPr>
        </p:nvSpPr>
        <p:spPr>
          <a:xfrm>
            <a:off x="812800" y="9499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Un pitch es un tráiler, no la película</a:t>
            </a:r>
            <a:endParaRPr lang="en-US" sz="2800" dirty="0"/>
          </a:p>
        </p:txBody>
      </p:sp>
      <p:sp>
        <p:nvSpPr>
          <p:cNvPr id="4" name="Shape 2"/>
          <p:cNvSpPr/>
          <p:nvPr/>
        </p:nvSpPr>
        <p:spPr>
          <a:xfrm>
            <a:off x="812800" y="1587426"/>
            <a:ext cx="3302000" cy="2224995"/>
          </a:xfrm>
          <a:prstGeom prst="roundRect">
            <a:avLst>
              <a:gd name="adj" fmla="val 4566"/>
            </a:avLst>
          </a:prstGeom>
          <a:solidFill>
            <a:srgbClr val="173E78"/>
          </a:solidFill>
          <a:ln/>
        </p:spPr>
      </p:sp>
      <p:sp>
        <p:nvSpPr>
          <p:cNvPr id="5" name="Text 3"/>
          <p:cNvSpPr/>
          <p:nvPr/>
        </p:nvSpPr>
        <p:spPr>
          <a:xfrm>
            <a:off x="1041400" y="2064941"/>
            <a:ext cx="293014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7FDCDC"/>
                </a:solidFill>
                <a:latin typeface="Domine" pitchFamily="18" charset="0"/>
                <a:ea typeface="Domine" pitchFamily="18" charset="-122"/>
                <a:cs typeface="Domine" pitchFamily="18" charset="-120"/>
              </a:rPr>
              <a:t>5 + 3</a:t>
            </a:r>
            <a:endParaRPr lang="en-US" sz="4800" dirty="0"/>
          </a:p>
        </p:txBody>
      </p:sp>
      <p:sp>
        <p:nvSpPr>
          <p:cNvPr id="6" name="Text 4"/>
          <p:cNvSpPr/>
          <p:nvPr/>
        </p:nvSpPr>
        <p:spPr>
          <a:xfrm>
            <a:off x="1041400" y="2801541"/>
            <a:ext cx="293014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F6FA"/>
                </a:solidFill>
                <a:latin typeface="Nunito Sans" pitchFamily="34" charset="0"/>
                <a:ea typeface="Nunito Sans" pitchFamily="34" charset="-122"/>
                <a:cs typeface="Nunito Sans" pitchFamily="34" charset="-120"/>
              </a:rPr>
              <a:t>5 minutos de pitch y 3 de preguntas de Alfred, por equipo.</a:t>
            </a:r>
            <a:endParaRPr lang="en-US" sz="1500" dirty="0"/>
          </a:p>
        </p:txBody>
      </p:sp>
      <p:sp>
        <p:nvSpPr>
          <p:cNvPr id="7" name="Shape 5"/>
          <p:cNvSpPr/>
          <p:nvPr/>
        </p:nvSpPr>
        <p:spPr>
          <a:xfrm>
            <a:off x="4295775" y="1590601"/>
            <a:ext cx="7080250" cy="2218645"/>
          </a:xfrm>
          <a:prstGeom prst="roundRect">
            <a:avLst>
              <a:gd name="adj" fmla="val 4436"/>
            </a:avLst>
          </a:prstGeom>
          <a:solidFill>
            <a:srgbClr val="FDFDFB"/>
          </a:solidFill>
          <a:ln w="6350">
            <a:solidFill>
              <a:srgbClr val="DCE3EA"/>
            </a:solidFill>
            <a:prstDash val="solid"/>
          </a:ln>
        </p:spPr>
      </p:sp>
      <p:sp>
        <p:nvSpPr>
          <p:cNvPr id="8" name="Text 6"/>
          <p:cNvSpPr/>
          <p:nvPr/>
        </p:nvSpPr>
        <p:spPr>
          <a:xfrm>
            <a:off x="4524829" y="1794272"/>
            <a:ext cx="6820807"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3E78"/>
                </a:solidFill>
                <a:latin typeface="Nunito Sans" pitchFamily="34" charset="0"/>
                <a:ea typeface="Nunito Sans" pitchFamily="34" charset="-122"/>
                <a:cs typeface="Nunito Sans" pitchFamily="34" charset="-120"/>
              </a:rPr>
              <a:t>Reglas de juego</a:t>
            </a:r>
            <a:endParaRPr lang="en-US" sz="1600" dirty="0"/>
          </a:p>
        </p:txBody>
      </p:sp>
      <p:sp>
        <p:nvSpPr>
          <p:cNvPr id="9" name="Text 7"/>
          <p:cNvSpPr/>
          <p:nvPr/>
        </p:nvSpPr>
        <p:spPr>
          <a:xfrm>
            <a:off x="4609792" y="2114252"/>
            <a:ext cx="6728224" cy="1516743"/>
          </a:xfrm>
          <a:prstGeom prst="rect">
            <a:avLst/>
          </a:prstGeom>
          <a:noFill/>
          <a:ln/>
        </p:spPr>
        <p:txBody>
          <a:bodyPr wrap="square" lIns="0" tIns="0" rIns="0" bIns="0" rtlCol="0" anchor="t">
            <a:normAutofit/>
          </a:bodyPr>
          <a:lstStyle/>
          <a:p>
            <a:pPr algn="l" marL="169037" indent="-169037">
              <a:lnSpc>
                <a:spcPts val="1958"/>
              </a:lnSpc>
              <a:buSzPct val="100000"/>
              <a:buChar char="•"/>
            </a:pPr>
            <a:r>
              <a:rPr lang="en-US" sz="1350" dirty="0">
                <a:solidFill>
                  <a:srgbClr val="2B3A4E"/>
                </a:solidFill>
                <a:latin typeface="Nunito Sans" pitchFamily="34" charset="0"/>
                <a:ea typeface="Nunito Sans" pitchFamily="34" charset="-122"/>
                <a:cs typeface="Nunito Sans" pitchFamily="34" charset="-120"/>
              </a:rPr>
              <a:t>Máximo 10 láminas, con poco texto y cifras grandes.</a:t>
            </a:r>
            <a:endParaRPr lang="en-US" sz="1350" dirty="0"/>
          </a:p>
          <a:p>
            <a:pPr algn="l" marL="169037" indent="-169037">
              <a:lnSpc>
                <a:spcPts val="1958"/>
              </a:lnSpc>
              <a:buSzPct val="100000"/>
              <a:buChar char="•"/>
            </a:pPr>
            <a:r>
              <a:rPr lang="en-US" sz="1350" dirty="0">
                <a:solidFill>
                  <a:srgbClr val="2B3A4E"/>
                </a:solidFill>
                <a:latin typeface="Nunito Sans" pitchFamily="34" charset="0"/>
                <a:ea typeface="Nunito Sans" pitchFamily="34" charset="-122"/>
                <a:cs typeface="Nunito Sans" pitchFamily="34" charset="-120"/>
              </a:rPr>
              <a:t>El PMV se muestra en vivo, con un video de 60 s de respaldo.</a:t>
            </a:r>
            <a:endParaRPr lang="en-US" sz="1350" dirty="0"/>
          </a:p>
          <a:p>
            <a:pPr algn="l" marL="169037" indent="-169037">
              <a:lnSpc>
                <a:spcPts val="1958"/>
              </a:lnSpc>
              <a:buSzPct val="100000"/>
              <a:buChar char="•"/>
            </a:pPr>
            <a:r>
              <a:rPr lang="en-US" sz="1350" dirty="0">
                <a:solidFill>
                  <a:srgbClr val="2B3A4E"/>
                </a:solidFill>
                <a:latin typeface="Nunito Sans" pitchFamily="34" charset="0"/>
                <a:ea typeface="Nunito Sans" pitchFamily="34" charset="-122"/>
                <a:cs typeface="Nunito Sans" pitchFamily="34" charset="-120"/>
              </a:rPr>
              <a:t>Presentan dos personas; responde todo el equipo.</a:t>
            </a:r>
            <a:endParaRPr lang="en-US" sz="1350" dirty="0"/>
          </a:p>
          <a:p>
            <a:pPr algn="l" marL="169037" indent="-169037">
              <a:lnSpc>
                <a:spcPts val="1958"/>
              </a:lnSpc>
              <a:buSzPct val="100000"/>
              <a:buChar char="•"/>
            </a:pPr>
            <a:r>
              <a:rPr lang="en-US" sz="1350" dirty="0">
                <a:solidFill>
                  <a:srgbClr val="2B3A4E"/>
                </a:solidFill>
                <a:latin typeface="Nunito Sans" pitchFamily="34" charset="0"/>
                <a:ea typeface="Nunito Sans" pitchFamily="34" charset="-122"/>
                <a:cs typeface="Nunito Sans" pitchFamily="34" charset="-120"/>
              </a:rPr>
              <a:t>Lleguen 9h45 para probar proyector, audio e internet.</a:t>
            </a:r>
            <a:endParaRPr lang="en-US" sz="1350" dirty="0"/>
          </a:p>
          <a:p>
            <a:pPr algn="l" marL="169037" indent="-169037">
              <a:lnSpc>
                <a:spcPts val="1958"/>
              </a:lnSpc>
              <a:buSzPct val="100000"/>
              <a:buChar char="•"/>
            </a:pPr>
            <a:r>
              <a:rPr lang="en-US" sz="1350" dirty="0">
                <a:solidFill>
                  <a:srgbClr val="2B3A4E"/>
                </a:solidFill>
                <a:latin typeface="Nunito Sans" pitchFamily="34" charset="0"/>
                <a:ea typeface="Nunito Sans" pitchFamily="34" charset="-122"/>
                <a:cs typeface="Nunito Sans" pitchFamily="34" charset="-120"/>
              </a:rPr>
              <a:t>El orden de presentación se sortea al llegar.</a:t>
            </a:r>
            <a:endParaRPr lang="en-US" sz="1350" dirty="0"/>
          </a:p>
          <a:p>
            <a:pPr algn="l" marL="169037" indent="-169037">
              <a:lnSpc>
                <a:spcPts val="1958"/>
              </a:lnSpc>
              <a:buSzPct val="100000"/>
              <a:buChar char="•"/>
            </a:pPr>
            <a:r>
              <a:rPr lang="en-US" sz="1350" dirty="0">
                <a:solidFill>
                  <a:srgbClr val="2B3A4E"/>
                </a:solidFill>
                <a:latin typeface="Nunito Sans" pitchFamily="34" charset="0"/>
                <a:ea typeface="Nunito Sans" pitchFamily="34" charset="-122"/>
                <a:cs typeface="Nunito Sans" pitchFamily="34" charset="-120"/>
              </a:rPr>
              <a:t>Traigan el pitch en una memoria USB y en la nube.</a:t>
            </a:r>
            <a:endParaRPr lang="en-US" sz="1350" dirty="0"/>
          </a:p>
        </p:txBody>
      </p:sp>
      <p:pic>
        <p:nvPicPr>
          <p:cNvPr id="10"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1" name="Text 8"/>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LO QUE DEBE GENERAR CADA EQUIPO</a:t>
            </a:r>
            <a:endParaRPr lang="en-US" sz="1200" dirty="0"/>
          </a:p>
        </p:txBody>
      </p:sp>
      <p:sp>
        <p:nvSpPr>
          <p:cNvPr id="3" name="Text 1"/>
          <p:cNvSpPr/>
          <p:nvPr>
            <p:ph type="title"/>
          </p:nvPr>
        </p:nvSpPr>
        <p:spPr>
          <a:xfrm>
            <a:off x="812800" y="9499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Las diez láminas de un pitch que convence</a:t>
            </a:r>
            <a:endParaRPr lang="en-US" sz="2800" dirty="0"/>
          </a:p>
        </p:txBody>
      </p:sp>
      <p:sp>
        <p:nvSpPr>
          <p:cNvPr id="4" name="Text 2"/>
          <p:cNvSpPr/>
          <p:nvPr/>
        </p:nvSpPr>
        <p:spPr>
          <a:xfrm>
            <a:off x="815975" y="1565201"/>
            <a:ext cx="5276850" cy="435542"/>
          </a:xfrm>
          <a:prstGeom prst="roundRect">
            <a:avLst>
              <a:gd name="adj" fmla="val 16766"/>
            </a:avLst>
          </a:prstGeom>
          <a:solidFill>
            <a:srgbClr val="FDFDFB"/>
          </a:solidFill>
          <a:ln w="6350">
            <a:solidFill>
              <a:srgbClr val="DCE3EA"/>
            </a:solidFill>
            <a:prstDash val="solid"/>
          </a:ln>
        </p:spPr>
        <p:txBody>
          <a:bodyPr wrap="square" lIns="131465" tIns="80665" rIns="0" bIns="55265" rtlCol="0" anchor="t">
            <a:normAutofit/>
          </a:bodyPr>
          <a:lstStyle/>
          <a:p>
            <a:pPr algn="l" indent="0" marL="0">
              <a:lnSpc>
                <a:spcPts val="1823"/>
              </a:lnSpc>
              <a:buNone/>
            </a:pPr>
            <a:r>
              <a:rPr lang="en-US" sz="1350" b="1" dirty="0">
                <a:solidFill>
                  <a:srgbClr val="2B3A4E"/>
                </a:solidFill>
                <a:latin typeface="Nunito Sans" pitchFamily="34" charset="0"/>
                <a:ea typeface="Nunito Sans" pitchFamily="34" charset="-122"/>
                <a:cs typeface="Nunito Sans" pitchFamily="34" charset="-120"/>
              </a:rPr>
              <a:t>1 · Gancho:</a:t>
            </a:r>
            <a:r>
              <a:rPr lang="en-US" sz="1350" dirty="0">
                <a:solidFill>
                  <a:srgbClr val="2B3A4E"/>
                </a:solidFill>
                <a:latin typeface="Nunito Sans" pitchFamily="34" charset="0"/>
                <a:ea typeface="Nunito Sans" pitchFamily="34" charset="-122"/>
                <a:cs typeface="Nunito Sans" pitchFamily="34" charset="-120"/>
              </a:rPr>
              <a:t> una persona real o una cifra que duela</a:t>
            </a:r>
            <a:endParaRPr lang="en-US" sz="1350" dirty="0"/>
          </a:p>
        </p:txBody>
      </p:sp>
      <p:sp>
        <p:nvSpPr>
          <p:cNvPr id="5" name="Text 3"/>
          <p:cNvSpPr/>
          <p:nvPr/>
        </p:nvSpPr>
        <p:spPr>
          <a:xfrm>
            <a:off x="6099175" y="1565201"/>
            <a:ext cx="5276850" cy="435542"/>
          </a:xfrm>
          <a:prstGeom prst="roundRect">
            <a:avLst>
              <a:gd name="adj" fmla="val 16766"/>
            </a:avLst>
          </a:prstGeom>
          <a:solidFill>
            <a:srgbClr val="FDFDFB"/>
          </a:solidFill>
          <a:ln w="6350">
            <a:solidFill>
              <a:srgbClr val="DCE3EA"/>
            </a:solidFill>
            <a:prstDash val="solid"/>
          </a:ln>
        </p:spPr>
        <p:txBody>
          <a:bodyPr wrap="square" lIns="131465" tIns="80665" rIns="0" bIns="55265" rtlCol="0" anchor="t">
            <a:normAutofit/>
          </a:bodyPr>
          <a:lstStyle/>
          <a:p>
            <a:pPr algn="l" indent="0" marL="0">
              <a:lnSpc>
                <a:spcPts val="1823"/>
              </a:lnSpc>
              <a:buNone/>
            </a:pPr>
            <a:r>
              <a:rPr lang="en-US" sz="1350" b="1" dirty="0">
                <a:solidFill>
                  <a:srgbClr val="2B3A4E"/>
                </a:solidFill>
                <a:latin typeface="Nunito Sans" pitchFamily="34" charset="0"/>
                <a:ea typeface="Nunito Sans" pitchFamily="34" charset="-122"/>
                <a:cs typeface="Nunito Sans" pitchFamily="34" charset="-120"/>
              </a:rPr>
              <a:t>6 · Resultado del PMV:</a:t>
            </a:r>
            <a:r>
              <a:rPr lang="en-US" sz="1350" dirty="0">
                <a:solidFill>
                  <a:srgbClr val="2B3A4E"/>
                </a:solidFill>
                <a:latin typeface="Nunito Sans" pitchFamily="34" charset="0"/>
                <a:ea typeface="Nunito Sans" pitchFamily="34" charset="-122"/>
                <a:cs typeface="Nunito Sans" pitchFamily="34" charset="-120"/>
              </a:rPr>
              <a:t> la métrica, plan contra real</a:t>
            </a:r>
            <a:endParaRPr lang="en-US" sz="1350" dirty="0"/>
          </a:p>
        </p:txBody>
      </p:sp>
      <p:sp>
        <p:nvSpPr>
          <p:cNvPr id="6" name="Text 4"/>
          <p:cNvSpPr/>
          <p:nvPr/>
        </p:nvSpPr>
        <p:spPr>
          <a:xfrm>
            <a:off x="815975" y="2007096"/>
            <a:ext cx="5276850" cy="435542"/>
          </a:xfrm>
          <a:prstGeom prst="roundRect">
            <a:avLst>
              <a:gd name="adj" fmla="val 16766"/>
            </a:avLst>
          </a:prstGeom>
          <a:solidFill>
            <a:srgbClr val="FDFDFB"/>
          </a:solidFill>
          <a:ln w="6350">
            <a:solidFill>
              <a:srgbClr val="DCE3EA"/>
            </a:solidFill>
            <a:prstDash val="solid"/>
          </a:ln>
        </p:spPr>
        <p:txBody>
          <a:bodyPr wrap="square" lIns="131465" tIns="80665" rIns="0" bIns="55265" rtlCol="0" anchor="t">
            <a:normAutofit/>
          </a:bodyPr>
          <a:lstStyle/>
          <a:p>
            <a:pPr algn="l" indent="0" marL="0">
              <a:lnSpc>
                <a:spcPts val="1823"/>
              </a:lnSpc>
              <a:buNone/>
            </a:pPr>
            <a:r>
              <a:rPr lang="en-US" sz="1350" b="1" dirty="0">
                <a:solidFill>
                  <a:srgbClr val="2B3A4E"/>
                </a:solidFill>
                <a:latin typeface="Nunito Sans" pitchFamily="34" charset="0"/>
                <a:ea typeface="Nunito Sans" pitchFamily="34" charset="-122"/>
                <a:cs typeface="Nunito Sans" pitchFamily="34" charset="-120"/>
              </a:rPr>
              <a:t>2 · Problema:</a:t>
            </a:r>
            <a:r>
              <a:rPr lang="en-US" sz="1350" dirty="0">
                <a:solidFill>
                  <a:srgbClr val="2B3A4E"/>
                </a:solidFill>
                <a:latin typeface="Nunito Sans" pitchFamily="34" charset="0"/>
                <a:ea typeface="Nunito Sans" pitchFamily="34" charset="-122"/>
                <a:cs typeface="Nunito Sans" pitchFamily="34" charset="-120"/>
              </a:rPr>
              <a:t> a quién le duele y cuánto</a:t>
            </a:r>
            <a:endParaRPr lang="en-US" sz="1350" dirty="0"/>
          </a:p>
        </p:txBody>
      </p:sp>
      <p:sp>
        <p:nvSpPr>
          <p:cNvPr id="7" name="Text 5"/>
          <p:cNvSpPr/>
          <p:nvPr/>
        </p:nvSpPr>
        <p:spPr>
          <a:xfrm>
            <a:off x="6099175" y="2007096"/>
            <a:ext cx="5276850" cy="435542"/>
          </a:xfrm>
          <a:prstGeom prst="roundRect">
            <a:avLst>
              <a:gd name="adj" fmla="val 16766"/>
            </a:avLst>
          </a:prstGeom>
          <a:solidFill>
            <a:srgbClr val="FDFDFB"/>
          </a:solidFill>
          <a:ln w="6350">
            <a:solidFill>
              <a:srgbClr val="DCE3EA"/>
            </a:solidFill>
            <a:prstDash val="solid"/>
          </a:ln>
        </p:spPr>
        <p:txBody>
          <a:bodyPr wrap="square" lIns="131465" tIns="80665" rIns="0" bIns="55265" rtlCol="0" anchor="t">
            <a:normAutofit/>
          </a:bodyPr>
          <a:lstStyle/>
          <a:p>
            <a:pPr algn="l" indent="0" marL="0">
              <a:lnSpc>
                <a:spcPts val="1823"/>
              </a:lnSpc>
              <a:buNone/>
            </a:pPr>
            <a:r>
              <a:rPr lang="en-US" sz="1350" b="1" dirty="0">
                <a:solidFill>
                  <a:srgbClr val="2B3A4E"/>
                </a:solidFill>
                <a:latin typeface="Nunito Sans" pitchFamily="34" charset="0"/>
                <a:ea typeface="Nunito Sans" pitchFamily="34" charset="-122"/>
                <a:cs typeface="Nunito Sans" pitchFamily="34" charset="-120"/>
              </a:rPr>
              <a:t>7 · Competencia:</a:t>
            </a:r>
            <a:r>
              <a:rPr lang="en-US" sz="1350" dirty="0">
                <a:solidFill>
                  <a:srgbClr val="2B3A4E"/>
                </a:solidFill>
                <a:latin typeface="Nunito Sans" pitchFamily="34" charset="0"/>
                <a:ea typeface="Nunito Sans" pitchFamily="34" charset="-122"/>
                <a:cs typeface="Nunito Sans" pitchFamily="34" charset="-120"/>
              </a:rPr>
              <a:t> qué usan hoy y por qué ustedes</a:t>
            </a:r>
            <a:endParaRPr lang="en-US" sz="1350" dirty="0"/>
          </a:p>
        </p:txBody>
      </p:sp>
      <p:sp>
        <p:nvSpPr>
          <p:cNvPr id="8" name="Text 6"/>
          <p:cNvSpPr/>
          <p:nvPr/>
        </p:nvSpPr>
        <p:spPr>
          <a:xfrm>
            <a:off x="815975" y="2448992"/>
            <a:ext cx="5276850" cy="435542"/>
          </a:xfrm>
          <a:prstGeom prst="roundRect">
            <a:avLst>
              <a:gd name="adj" fmla="val 16766"/>
            </a:avLst>
          </a:prstGeom>
          <a:solidFill>
            <a:srgbClr val="FDFDFB"/>
          </a:solidFill>
          <a:ln w="6350">
            <a:solidFill>
              <a:srgbClr val="DCE3EA"/>
            </a:solidFill>
            <a:prstDash val="solid"/>
          </a:ln>
        </p:spPr>
        <p:txBody>
          <a:bodyPr wrap="square" lIns="131465" tIns="80665" rIns="0" bIns="55265" rtlCol="0" anchor="t">
            <a:normAutofit/>
          </a:bodyPr>
          <a:lstStyle/>
          <a:p>
            <a:pPr algn="l" indent="0" marL="0">
              <a:lnSpc>
                <a:spcPts val="1823"/>
              </a:lnSpc>
              <a:buNone/>
            </a:pPr>
            <a:r>
              <a:rPr lang="en-US" sz="1350" b="1" dirty="0">
                <a:solidFill>
                  <a:srgbClr val="2B3A4E"/>
                </a:solidFill>
                <a:latin typeface="Nunito Sans" pitchFamily="34" charset="0"/>
                <a:ea typeface="Nunito Sans" pitchFamily="34" charset="-122"/>
                <a:cs typeface="Nunito Sans" pitchFamily="34" charset="-120"/>
              </a:rPr>
              <a:t>3 · Evidencia:</a:t>
            </a:r>
            <a:r>
              <a:rPr lang="en-US" sz="1350" dirty="0">
                <a:solidFill>
                  <a:srgbClr val="2B3A4E"/>
                </a:solidFill>
                <a:latin typeface="Nunito Sans" pitchFamily="34" charset="0"/>
                <a:ea typeface="Nunito Sans" pitchFamily="34" charset="-122"/>
                <a:cs typeface="Nunito Sans" pitchFamily="34" charset="-120"/>
              </a:rPr>
              <a:t> entrevistas y 3 cifras de las 40 encuestas</a:t>
            </a:r>
            <a:endParaRPr lang="en-US" sz="1350" dirty="0"/>
          </a:p>
        </p:txBody>
      </p:sp>
      <p:sp>
        <p:nvSpPr>
          <p:cNvPr id="9" name="Text 7"/>
          <p:cNvSpPr/>
          <p:nvPr/>
        </p:nvSpPr>
        <p:spPr>
          <a:xfrm>
            <a:off x="6099175" y="2448992"/>
            <a:ext cx="5276850" cy="435542"/>
          </a:xfrm>
          <a:prstGeom prst="roundRect">
            <a:avLst>
              <a:gd name="adj" fmla="val 16766"/>
            </a:avLst>
          </a:prstGeom>
          <a:solidFill>
            <a:srgbClr val="FDFDFB"/>
          </a:solidFill>
          <a:ln w="6350">
            <a:solidFill>
              <a:srgbClr val="DCE3EA"/>
            </a:solidFill>
            <a:prstDash val="solid"/>
          </a:ln>
        </p:spPr>
        <p:txBody>
          <a:bodyPr wrap="square" lIns="131465" tIns="80665" rIns="0" bIns="55265" rtlCol="0" anchor="t">
            <a:normAutofit/>
          </a:bodyPr>
          <a:lstStyle/>
          <a:p>
            <a:pPr algn="l" indent="0" marL="0">
              <a:lnSpc>
                <a:spcPts val="1823"/>
              </a:lnSpc>
              <a:buNone/>
            </a:pPr>
            <a:r>
              <a:rPr lang="en-US" sz="1350" b="1" dirty="0">
                <a:solidFill>
                  <a:srgbClr val="2B3A4E"/>
                </a:solidFill>
                <a:latin typeface="Nunito Sans" pitchFamily="34" charset="0"/>
                <a:ea typeface="Nunito Sans" pitchFamily="34" charset="-122"/>
                <a:cs typeface="Nunito Sans" pitchFamily="34" charset="-120"/>
              </a:rPr>
              <a:t>8 · Modelo de negocio:</a:t>
            </a:r>
            <a:r>
              <a:rPr lang="en-US" sz="1350" dirty="0">
                <a:solidFill>
                  <a:srgbClr val="2B3A4E"/>
                </a:solidFill>
                <a:latin typeface="Nunito Sans" pitchFamily="34" charset="0"/>
                <a:ea typeface="Nunito Sans" pitchFamily="34" charset="-122"/>
                <a:cs typeface="Nunito Sans" pitchFamily="34" charset="-120"/>
              </a:rPr>
              <a:t> quién paga, cuánto y costos</a:t>
            </a:r>
            <a:endParaRPr lang="en-US" sz="1350" dirty="0"/>
          </a:p>
        </p:txBody>
      </p:sp>
      <p:sp>
        <p:nvSpPr>
          <p:cNvPr id="10" name="Text 8"/>
          <p:cNvSpPr/>
          <p:nvPr/>
        </p:nvSpPr>
        <p:spPr>
          <a:xfrm>
            <a:off x="815975" y="2890887"/>
            <a:ext cx="5276850" cy="435542"/>
          </a:xfrm>
          <a:prstGeom prst="roundRect">
            <a:avLst>
              <a:gd name="adj" fmla="val 16766"/>
            </a:avLst>
          </a:prstGeom>
          <a:solidFill>
            <a:srgbClr val="FDFDFB"/>
          </a:solidFill>
          <a:ln w="6350">
            <a:solidFill>
              <a:srgbClr val="DCE3EA"/>
            </a:solidFill>
            <a:prstDash val="solid"/>
          </a:ln>
        </p:spPr>
        <p:txBody>
          <a:bodyPr wrap="square" lIns="131465" tIns="80665" rIns="0" bIns="55265" rtlCol="0" anchor="t">
            <a:normAutofit/>
          </a:bodyPr>
          <a:lstStyle/>
          <a:p>
            <a:pPr algn="l" indent="0" marL="0">
              <a:lnSpc>
                <a:spcPts val="1823"/>
              </a:lnSpc>
              <a:buNone/>
            </a:pPr>
            <a:r>
              <a:rPr lang="en-US" sz="1350" b="1" dirty="0">
                <a:solidFill>
                  <a:srgbClr val="2B3A4E"/>
                </a:solidFill>
                <a:latin typeface="Nunito Sans" pitchFamily="34" charset="0"/>
                <a:ea typeface="Nunito Sans" pitchFamily="34" charset="-122"/>
                <a:cs typeface="Nunito Sans" pitchFamily="34" charset="-120"/>
              </a:rPr>
              <a:t>4 · Solución:</a:t>
            </a:r>
            <a:r>
              <a:rPr lang="en-US" sz="1350" dirty="0">
                <a:solidFill>
                  <a:srgbClr val="2B3A4E"/>
                </a:solidFill>
                <a:latin typeface="Nunito Sans" pitchFamily="34" charset="0"/>
                <a:ea typeface="Nunito Sans" pitchFamily="34" charset="-122"/>
                <a:cs typeface="Nunito Sans" pitchFamily="34" charset="-120"/>
              </a:rPr>
              <a:t> la propuesta de valor en una frase</a:t>
            </a:r>
            <a:endParaRPr lang="en-US" sz="1350" dirty="0"/>
          </a:p>
        </p:txBody>
      </p:sp>
      <p:sp>
        <p:nvSpPr>
          <p:cNvPr id="11" name="Text 9"/>
          <p:cNvSpPr/>
          <p:nvPr/>
        </p:nvSpPr>
        <p:spPr>
          <a:xfrm>
            <a:off x="6099175" y="2890887"/>
            <a:ext cx="5276850" cy="435542"/>
          </a:xfrm>
          <a:prstGeom prst="roundRect">
            <a:avLst>
              <a:gd name="adj" fmla="val 16766"/>
            </a:avLst>
          </a:prstGeom>
          <a:solidFill>
            <a:srgbClr val="FDFDFB"/>
          </a:solidFill>
          <a:ln w="6350">
            <a:solidFill>
              <a:srgbClr val="DCE3EA"/>
            </a:solidFill>
            <a:prstDash val="solid"/>
          </a:ln>
        </p:spPr>
        <p:txBody>
          <a:bodyPr wrap="square" lIns="131465" tIns="80665" rIns="0" bIns="55265" rtlCol="0" anchor="t">
            <a:normAutofit/>
          </a:bodyPr>
          <a:lstStyle/>
          <a:p>
            <a:pPr algn="l" indent="0" marL="0">
              <a:lnSpc>
                <a:spcPts val="1823"/>
              </a:lnSpc>
              <a:buNone/>
            </a:pPr>
            <a:r>
              <a:rPr lang="en-US" sz="1350" b="1" dirty="0">
                <a:solidFill>
                  <a:srgbClr val="2B3A4E"/>
                </a:solidFill>
                <a:latin typeface="Nunito Sans" pitchFamily="34" charset="0"/>
                <a:ea typeface="Nunito Sans" pitchFamily="34" charset="-122"/>
                <a:cs typeface="Nunito Sans" pitchFamily="34" charset="-120"/>
              </a:rPr>
              <a:t>9 · Impacto:</a:t>
            </a:r>
            <a:r>
              <a:rPr lang="en-US" sz="1350" dirty="0">
                <a:solidFill>
                  <a:srgbClr val="2B3A4E"/>
                </a:solidFill>
                <a:latin typeface="Nunito Sans" pitchFamily="34" charset="0"/>
                <a:ea typeface="Nunito Sans" pitchFamily="34" charset="-122"/>
                <a:cs typeface="Nunito Sans" pitchFamily="34" charset="-120"/>
              </a:rPr>
              <a:t> qué cambia para Fe y Alegría y la comunidad</a:t>
            </a:r>
            <a:endParaRPr lang="en-US" sz="1350" dirty="0"/>
          </a:p>
        </p:txBody>
      </p:sp>
      <p:sp>
        <p:nvSpPr>
          <p:cNvPr id="12" name="Text 10"/>
          <p:cNvSpPr/>
          <p:nvPr/>
        </p:nvSpPr>
        <p:spPr>
          <a:xfrm>
            <a:off x="819150" y="3335958"/>
            <a:ext cx="5270500" cy="443706"/>
          </a:xfrm>
          <a:prstGeom prst="roundRect">
            <a:avLst>
              <a:gd name="adj" fmla="val 15742"/>
            </a:avLst>
          </a:prstGeom>
          <a:solidFill>
            <a:srgbClr val="E3F5F5"/>
          </a:solidFill>
          <a:ln w="12700">
            <a:solidFill>
              <a:srgbClr val="06B2B3"/>
            </a:solidFill>
            <a:prstDash val="solid"/>
          </a:ln>
        </p:spPr>
        <p:txBody>
          <a:bodyPr wrap="square" lIns="136477" tIns="85677" rIns="0" bIns="60277" rtlCol="0" anchor="t">
            <a:normAutofit/>
          </a:bodyPr>
          <a:lstStyle/>
          <a:p>
            <a:pPr algn="l" indent="0" marL="0">
              <a:lnSpc>
                <a:spcPts val="1823"/>
              </a:lnSpc>
              <a:buNone/>
            </a:pPr>
            <a:r>
              <a:rPr lang="en-US" sz="1350" b="1" dirty="0">
                <a:solidFill>
                  <a:srgbClr val="2B3A4E"/>
                </a:solidFill>
                <a:latin typeface="Nunito Sans" pitchFamily="34" charset="0"/>
                <a:ea typeface="Nunito Sans" pitchFamily="34" charset="-122"/>
                <a:cs typeface="Nunito Sans" pitchFamily="34" charset="-120"/>
              </a:rPr>
              <a:t>5 · Demo en vivo del PMV</a:t>
            </a:r>
            <a:r>
              <a:rPr lang="en-US" sz="1350" dirty="0">
                <a:solidFill>
                  <a:srgbClr val="2B3A4E"/>
                </a:solidFill>
                <a:latin typeface="Nunito Sans" pitchFamily="34" charset="0"/>
                <a:ea typeface="Nunito Sans" pitchFamily="34" charset="-122"/>
                <a:cs typeface="Nunito Sans" pitchFamily="34" charset="-120"/>
              </a:rPr>
              <a:t> en un celular</a:t>
            </a:r>
            <a:endParaRPr lang="en-US" sz="1350" dirty="0"/>
          </a:p>
        </p:txBody>
      </p:sp>
      <p:sp>
        <p:nvSpPr>
          <p:cNvPr id="13" name="Text 11"/>
          <p:cNvSpPr/>
          <p:nvPr/>
        </p:nvSpPr>
        <p:spPr>
          <a:xfrm>
            <a:off x="6099175" y="3332783"/>
            <a:ext cx="5276850" cy="450056"/>
          </a:xfrm>
          <a:prstGeom prst="roundRect">
            <a:avLst>
              <a:gd name="adj" fmla="val 16226"/>
            </a:avLst>
          </a:prstGeom>
          <a:solidFill>
            <a:srgbClr val="FDFDFB"/>
          </a:solidFill>
          <a:ln w="6350">
            <a:solidFill>
              <a:srgbClr val="DCE3EA"/>
            </a:solidFill>
            <a:prstDash val="solid"/>
          </a:ln>
        </p:spPr>
        <p:txBody>
          <a:bodyPr wrap="square" lIns="131465" tIns="80665" rIns="0" bIns="55265" rtlCol="0" anchor="t">
            <a:normAutofit/>
          </a:bodyPr>
          <a:lstStyle/>
          <a:p>
            <a:pPr algn="l" indent="0" marL="0">
              <a:lnSpc>
                <a:spcPts val="1823"/>
              </a:lnSpc>
              <a:buNone/>
            </a:pPr>
            <a:r>
              <a:rPr lang="en-US" sz="1350" b="1" dirty="0">
                <a:solidFill>
                  <a:srgbClr val="2B3A4E"/>
                </a:solidFill>
                <a:latin typeface="Nunito Sans" pitchFamily="34" charset="0"/>
                <a:ea typeface="Nunito Sans" pitchFamily="34" charset="-122"/>
                <a:cs typeface="Nunito Sans" pitchFamily="34" charset="-120"/>
              </a:rPr>
              <a:t>10 · Equipo y pedido:</a:t>
            </a:r>
            <a:r>
              <a:rPr lang="en-US" sz="1350" dirty="0">
                <a:solidFill>
                  <a:srgbClr val="2B3A4E"/>
                </a:solidFill>
                <a:latin typeface="Nunito Sans" pitchFamily="34" charset="0"/>
                <a:ea typeface="Nunito Sans" pitchFamily="34" charset="-122"/>
                <a:cs typeface="Nunito Sans" pitchFamily="34" charset="-120"/>
              </a:rPr>
              <a:t> próximos pasos y qué necesitan</a:t>
            </a:r>
            <a:endParaRPr lang="en-US" sz="1350" dirty="0"/>
          </a:p>
        </p:txBody>
      </p:sp>
      <p:pic>
        <p:nvPicPr>
          <p:cNvPr id="14"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5" name="Text 12"/>
          <p:cNvSpPr/>
          <p:nvPr/>
        </p:nvSpPr>
        <p:spPr>
          <a:xfrm>
            <a:off x="8008847" y="621789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DETALLES QUE HACEN CREÍBLE EL PITCH</a:t>
            </a:r>
            <a:endParaRPr lang="en-US" sz="1200" dirty="0"/>
          </a:p>
        </p:txBody>
      </p:sp>
      <p:sp>
        <p:nvSpPr>
          <p:cNvPr id="3" name="Text 1"/>
          <p:cNvSpPr/>
          <p:nvPr>
            <p:ph type="title"/>
          </p:nvPr>
        </p:nvSpPr>
        <p:spPr>
          <a:xfrm>
            <a:off x="812800" y="949945"/>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Un jurado cree en números con nombre y apellido</a:t>
            </a:r>
            <a:endParaRPr lang="en-US" sz="2800" dirty="0"/>
          </a:p>
        </p:txBody>
      </p:sp>
      <p:sp>
        <p:nvSpPr>
          <p:cNvPr id="4" name="Shape 2"/>
          <p:cNvSpPr/>
          <p:nvPr/>
        </p:nvSpPr>
        <p:spPr>
          <a:xfrm>
            <a:off x="815975" y="1565201"/>
            <a:ext cx="5187950" cy="2825297"/>
          </a:xfrm>
          <a:prstGeom prst="roundRect">
            <a:avLst>
              <a:gd name="adj" fmla="val 3484"/>
            </a:avLst>
          </a:prstGeom>
          <a:solidFill>
            <a:srgbClr val="FDFDFB"/>
          </a:solidFill>
          <a:ln w="6350">
            <a:solidFill>
              <a:srgbClr val="DCE3EA"/>
            </a:solidFill>
            <a:prstDash val="solid"/>
          </a:ln>
        </p:spPr>
      </p:sp>
      <p:sp>
        <p:nvSpPr>
          <p:cNvPr id="5" name="Text 3"/>
          <p:cNvSpPr/>
          <p:nvPr/>
        </p:nvSpPr>
        <p:spPr>
          <a:xfrm>
            <a:off x="1006929" y="1756172"/>
            <a:ext cx="495022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Así no</a:t>
            </a:r>
            <a:endParaRPr lang="en-US" sz="1500" dirty="0"/>
          </a:p>
        </p:txBody>
      </p:sp>
      <p:sp>
        <p:nvSpPr>
          <p:cNvPr id="6" name="Text 4"/>
          <p:cNvSpPr/>
          <p:nvPr/>
        </p:nvSpPr>
        <p:spPr>
          <a:xfrm>
            <a:off x="1006929" y="2073672"/>
            <a:ext cx="4806043" cy="477497"/>
          </a:xfrm>
          <a:prstGeom prst="roundRect">
            <a:avLst>
              <a:gd name="adj" fmla="val 15958"/>
            </a:avLst>
          </a:prstGeom>
          <a:solidFill>
            <a:srgbClr val="FBEAEA"/>
          </a:solidFill>
          <a:ln/>
        </p:spPr>
        <p:txBody>
          <a:bodyPr wrap="square" lIns="117382" tIns="91982" rIns="0" bIns="66582" rtlCol="0" anchor="t">
            <a:normAutofit/>
          </a:bodyPr>
          <a:lstStyle/>
          <a:p>
            <a:pPr algn="l" indent="0" marL="0">
              <a:lnSpc>
                <a:spcPts val="1960"/>
              </a:lnSpc>
              <a:buNone/>
            </a:pPr>
            <a:r>
              <a:rPr lang="en-US" sz="1400" dirty="0">
                <a:solidFill>
                  <a:srgbClr val="8A2E2E"/>
                </a:solidFill>
                <a:latin typeface="Nunito Sans" pitchFamily="34" charset="0"/>
                <a:ea typeface="Nunito Sans" pitchFamily="34" charset="-122"/>
                <a:cs typeface="Nunito Sans" pitchFamily="34" charset="-120"/>
              </a:rPr>
              <a:t>«A la mayoría de encuestados les gustó mucho la idea.»</a:t>
            </a:r>
            <a:endParaRPr lang="en-US" sz="1400" dirty="0"/>
          </a:p>
        </p:txBody>
      </p:sp>
      <p:sp>
        <p:nvSpPr>
          <p:cNvPr id="7" name="Text 5"/>
          <p:cNvSpPr/>
          <p:nvPr/>
        </p:nvSpPr>
        <p:spPr>
          <a:xfrm>
            <a:off x="1006929" y="2640062"/>
            <a:ext cx="495022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Así sí</a:t>
            </a:r>
            <a:endParaRPr lang="en-US" sz="1500" dirty="0"/>
          </a:p>
        </p:txBody>
      </p:sp>
      <p:sp>
        <p:nvSpPr>
          <p:cNvPr id="8" name="Text 6"/>
          <p:cNvSpPr/>
          <p:nvPr/>
        </p:nvSpPr>
        <p:spPr>
          <a:xfrm>
            <a:off x="1006929" y="2957562"/>
            <a:ext cx="4806043" cy="726395"/>
          </a:xfrm>
          <a:prstGeom prst="roundRect">
            <a:avLst>
              <a:gd name="adj" fmla="val 10490"/>
            </a:avLst>
          </a:prstGeom>
          <a:solidFill>
            <a:srgbClr val="E9F6EC"/>
          </a:solidFill>
          <a:ln/>
        </p:spPr>
        <p:txBody>
          <a:bodyPr wrap="square" lIns="117382" tIns="91982" rIns="0" bIns="66582" rtlCol="0" anchor="t">
            <a:normAutofit/>
          </a:bodyPr>
          <a:lstStyle/>
          <a:p>
            <a:pPr algn="l" indent="0" marL="0">
              <a:lnSpc>
                <a:spcPts val="1960"/>
              </a:lnSpc>
              <a:buNone/>
            </a:pPr>
            <a:r>
              <a:rPr lang="en-US" sz="1400" dirty="0">
                <a:solidFill>
                  <a:srgbClr val="1F4D29"/>
                </a:solidFill>
                <a:latin typeface="Nunito Sans" pitchFamily="34" charset="0"/>
                <a:ea typeface="Nunito Sans" pitchFamily="34" charset="-122"/>
                <a:cs typeface="Nunito Sans" pitchFamily="34" charset="-120"/>
              </a:rPr>
              <a:t>«31 de 40 docentes (78 %) dicen que pasan más de 2 horas a la semana preparando ejercicios.»</a:t>
            </a:r>
            <a:endParaRPr lang="en-US" sz="1400" dirty="0"/>
          </a:p>
        </p:txBody>
      </p:sp>
      <p:sp>
        <p:nvSpPr>
          <p:cNvPr id="9" name="Text 7"/>
          <p:cNvSpPr/>
          <p:nvPr/>
        </p:nvSpPr>
        <p:spPr>
          <a:xfrm>
            <a:off x="1006929" y="3772867"/>
            <a:ext cx="4950224"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Ejemplo de formato: usen sus cifras reales, con la pregunta y el número de respuestas.</a:t>
            </a:r>
            <a:endParaRPr lang="en-US" sz="1200" dirty="0"/>
          </a:p>
        </p:txBody>
      </p:sp>
      <p:sp>
        <p:nvSpPr>
          <p:cNvPr id="10" name="Shape 8"/>
          <p:cNvSpPr/>
          <p:nvPr/>
        </p:nvSpPr>
        <p:spPr>
          <a:xfrm>
            <a:off x="6188075" y="1565201"/>
            <a:ext cx="5187950" cy="2825297"/>
          </a:xfrm>
          <a:prstGeom prst="roundRect">
            <a:avLst>
              <a:gd name="adj" fmla="val 3484"/>
            </a:avLst>
          </a:prstGeom>
          <a:solidFill>
            <a:srgbClr val="FDFDFB"/>
          </a:solidFill>
          <a:ln w="6350">
            <a:solidFill>
              <a:srgbClr val="DCE3EA"/>
            </a:solidFill>
            <a:prstDash val="solid"/>
          </a:ln>
        </p:spPr>
      </p:sp>
      <p:sp>
        <p:nvSpPr>
          <p:cNvPr id="11" name="Text 9"/>
          <p:cNvSpPr/>
          <p:nvPr/>
        </p:nvSpPr>
        <p:spPr>
          <a:xfrm>
            <a:off x="6379029" y="1756172"/>
            <a:ext cx="495022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E78"/>
                </a:solidFill>
                <a:latin typeface="Nunito Sans" pitchFamily="34" charset="0"/>
                <a:ea typeface="Nunito Sans" pitchFamily="34" charset="-122"/>
                <a:cs typeface="Nunito Sans" pitchFamily="34" charset="-120"/>
              </a:rPr>
              <a:t>Qué llevar el lunes</a:t>
            </a:r>
            <a:endParaRPr lang="en-US" sz="1500" dirty="0"/>
          </a:p>
        </p:txBody>
      </p:sp>
      <p:sp>
        <p:nvSpPr>
          <p:cNvPr id="12" name="Text 10"/>
          <p:cNvSpPr/>
          <p:nvPr/>
        </p:nvSpPr>
        <p:spPr>
          <a:xfrm>
            <a:off x="6470723" y="2060972"/>
            <a:ext cx="4850910" cy="1461634"/>
          </a:xfrm>
          <a:prstGeom prst="rect">
            <a:avLst/>
          </a:prstGeom>
          <a:noFill/>
          <a:ln/>
        </p:spPr>
        <p:txBody>
          <a:bodyPr wrap="square" lIns="0" tIns="0" rIns="0" bIns="0" rtlCol="0" anchor="t">
            <a:normAutofit/>
          </a:bodyPr>
          <a:lstStyle/>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El PMV funcionando y un QR para que Alfred lo pruebe.</a:t>
            </a:r>
            <a:endParaRPr lang="en-US" sz="1300" dirty="0"/>
          </a:p>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El Excel de las 40 encuestas, por si piden ver los datos.</a:t>
            </a:r>
            <a:endParaRPr lang="en-US" sz="1300" dirty="0"/>
          </a:p>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Cuántas entrevistas hicieron y una cita textual con permiso.</a:t>
            </a:r>
            <a:endParaRPr lang="en-US" sz="1300" dirty="0"/>
          </a:p>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La métrica del PMV: lo esperado frente a lo obtenido.</a:t>
            </a:r>
            <a:endParaRPr lang="en-US" sz="1300" dirty="0"/>
          </a:p>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La hoja del proceso del trabajo del cliente.</a:t>
            </a:r>
            <a:endParaRPr lang="en-US" sz="1300" dirty="0"/>
          </a:p>
          <a:p>
            <a:pPr algn="l" marL="162306" indent="-162306">
              <a:lnSpc>
                <a:spcPts val="1885"/>
              </a:lnSpc>
              <a:buSzPct val="100000"/>
              <a:buChar char="•"/>
            </a:pPr>
            <a:r>
              <a:rPr lang="en-US" sz="1300" dirty="0">
                <a:solidFill>
                  <a:srgbClr val="2B3A4E"/>
                </a:solidFill>
                <a:latin typeface="Nunito Sans" pitchFamily="34" charset="0"/>
                <a:ea typeface="Nunito Sans" pitchFamily="34" charset="-122"/>
                <a:cs typeface="Nunito Sans" pitchFamily="34" charset="-120"/>
              </a:rPr>
              <a:t>La landing page, si ya la tienen en borrador.</a:t>
            </a:r>
            <a:endParaRPr lang="en-US" sz="1300" dirty="0"/>
          </a:p>
        </p:txBody>
      </p:sp>
      <p:pic>
        <p:nvPicPr>
          <p:cNvPr id="13" name="Image 0" descr="Logo PUCE">    </p:cNvPr>
          <p:cNvPicPr>
            <a:picLocks noChangeAspect="1"/>
          </p:cNvPicPr>
          <p:nvPr/>
        </p:nvPicPr>
        <p:blipFill>
          <a:blip r:embed="rId1"/>
          <a:srcRect l="-436" r="-436" t="0" b="0"/>
          <a:stretch/>
        </p:blipFill>
        <p:spPr>
          <a:xfrm>
            <a:off x="812800" y="6184875"/>
            <a:ext cx="1016000" cy="279400"/>
          </a:xfrm>
          <a:prstGeom prst="rect">
            <a:avLst/>
          </a:prstGeom>
        </p:spPr>
      </p:pic>
      <p:sp>
        <p:nvSpPr>
          <p:cNvPr id="14" name="Text 11"/>
          <p:cNvSpPr/>
          <p:nvPr/>
        </p:nvSpPr>
        <p:spPr>
          <a:xfrm>
            <a:off x="8008847" y="6217915"/>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PIENSEN COMO EL JURADO</a:t>
            </a:r>
            <a:endParaRPr lang="en-US" sz="1200" dirty="0"/>
          </a:p>
        </p:txBody>
      </p:sp>
      <p:sp>
        <p:nvSpPr>
          <p:cNvPr id="3" name="Text 1"/>
          <p:cNvSpPr/>
          <p:nvPr>
            <p:ph type="title"/>
          </p:nvPr>
        </p:nvSpPr>
        <p:spPr>
          <a:xfrm>
            <a:off x="812800" y="949970"/>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Seis preguntas que el jurado se hace en silencio</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686" y="1572936"/>
          <a:ext cx="6847114" cy="2502694"/>
        </p:xfrm>
        <a:graphic>
          <a:graphicData uri="http://schemas.openxmlformats.org/drawingml/2006/table">
            <a:tbl>
              <a:tblPr/>
              <a:tblGrid>
                <a:gridCol w="2191077"/>
                <a:gridCol w="4656038"/>
              </a:tblGrid>
              <a:tr h="357528">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Criterio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c>
                  <a:txBody>
                    <a:bodyPr/>
                    <a:lstStyle/>
                    <a:p>
                      <a:pPr indent="0" marL="0">
                        <a:lnSpc>
                          <a:spcPts val="1820"/>
                        </a:lnSpc>
                        <a:buNone/>
                      </a:pPr>
                      <a:r>
                        <a:rPr lang="en-US" sz="1300" b="1" dirty="0">
                          <a:solidFill>
                            <a:srgbClr val="2B3A4E"/>
                          </a:solidFill>
                          <a:latin typeface="Nunito Sans" pitchFamily="34" charset="0"/>
                          <a:ea typeface="Nunito Sans" pitchFamily="34" charset="-122"/>
                          <a:cs typeface="Nunito Sans" pitchFamily="34" charset="-120"/>
                        </a:rPr>
                        <a:t>La pregunta del jurado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7B8B5"/>
                      </a:solidFill>
                      <a:prstDash val="solid"/>
                      <a:round/>
                      <a:headEnd type="none" w="med" len="med"/>
                      <a:tailEnd type="none" w="med" len="med"/>
                    </a:lnL>
                    <a:lnR w="12700" cap="flat" cmpd="sng" algn="ctr">
                      <a:solidFill>
                        <a:srgbClr val="B7B8B5"/>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7B8B5"/>
                      </a:solidFill>
                      <a:prstDash val="solid"/>
                      <a:round/>
                      <a:headEnd type="none" w="med" len="med"/>
                      <a:tailEnd type="none" w="med" len="med"/>
                    </a:lnB>
                    <a:solidFill>
                      <a:srgbClr val="E5E6E3"/>
                    </a:solidFill>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Problema</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¿Es real y le duele a alguien concreto?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7B8B5"/>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Evidencia</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¿Lo comprobaron fuera del aula?</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PMV</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¿Funciona y la gente lo usa?</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Modelo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¿Quién paga y cuánto cuesta operar?</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Equipo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¿Pueden sacarlo adelante?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7528">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Impacto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2B3A4E"/>
                          </a:solidFill>
                          <a:latin typeface="Nunito Sans" pitchFamily="34" charset="0"/>
                          <a:ea typeface="Nunito Sans" pitchFamily="34" charset="-122"/>
                          <a:cs typeface="Nunito Sans" pitchFamily="34" charset="-120"/>
                        </a:rPr>
                        <a:t>¿Qué cambia para Fe y Alegría?</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bl>
          </a:graphicData>
        </a:graphic>
      </p:graphicFrame>
      <p:sp>
        <p:nvSpPr>
          <p:cNvPr id="5" name="Shape 2"/>
          <p:cNvSpPr/>
          <p:nvPr/>
        </p:nvSpPr>
        <p:spPr>
          <a:xfrm>
            <a:off x="7902575" y="1565225"/>
            <a:ext cx="3473450" cy="1883569"/>
          </a:xfrm>
          <a:prstGeom prst="roundRect">
            <a:avLst>
              <a:gd name="adj" fmla="val 5225"/>
            </a:avLst>
          </a:prstGeom>
          <a:solidFill>
            <a:srgbClr val="FFF4DC"/>
          </a:solidFill>
          <a:ln w="6350">
            <a:solidFill>
              <a:srgbClr val="E8C877"/>
            </a:solidFill>
            <a:prstDash val="solid"/>
          </a:ln>
        </p:spPr>
      </p:sp>
      <p:sp>
        <p:nvSpPr>
          <p:cNvPr id="6" name="Text 3"/>
          <p:cNvSpPr/>
          <p:nvPr/>
        </p:nvSpPr>
        <p:spPr>
          <a:xfrm>
            <a:off x="8093529" y="1756172"/>
            <a:ext cx="31842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4B00"/>
                </a:solidFill>
                <a:latin typeface="Nunito Sans" pitchFamily="34" charset="0"/>
                <a:ea typeface="Nunito Sans" pitchFamily="34" charset="-122"/>
                <a:cs typeface="Nunito Sans" pitchFamily="34" charset="-120"/>
              </a:rPr>
              <a:t>Errores que restan</a:t>
            </a:r>
            <a:endParaRPr lang="en-US" sz="1500" dirty="0"/>
          </a:p>
        </p:txBody>
      </p:sp>
      <p:sp>
        <p:nvSpPr>
          <p:cNvPr id="7" name="Text 4"/>
          <p:cNvSpPr/>
          <p:nvPr/>
        </p:nvSpPr>
        <p:spPr>
          <a:xfrm>
            <a:off x="8185223" y="2060972"/>
            <a:ext cx="3084975" cy="1222262"/>
          </a:xfrm>
          <a:prstGeom prst="rect">
            <a:avLst/>
          </a:prstGeom>
          <a:noFill/>
          <a:ln/>
        </p:spPr>
        <p:txBody>
          <a:bodyPr wrap="square" lIns="0" tIns="0" rIns="0" bIns="0" rtlCol="0" anchor="t">
            <a:normAutofit/>
          </a:bodyPr>
          <a:lstStyle/>
          <a:p>
            <a:pPr algn="l" marL="162306" indent="-162306">
              <a:lnSpc>
                <a:spcPts val="1885"/>
              </a:lnSpc>
              <a:buSzPct val="100000"/>
              <a:buChar char="•"/>
            </a:pPr>
            <a:r>
              <a:rPr lang="en-US" sz="1300" dirty="0">
                <a:solidFill>
                  <a:srgbClr val="3D2B00"/>
                </a:solidFill>
                <a:latin typeface="Nunito Sans" pitchFamily="34" charset="0"/>
                <a:ea typeface="Nunito Sans" pitchFamily="34" charset="-122"/>
                <a:cs typeface="Nunito Sans" pitchFamily="34" charset="-120"/>
              </a:rPr>
              <a:t>Leer las láminas</a:t>
            </a:r>
            <a:endParaRPr lang="en-US" sz="1300" dirty="0"/>
          </a:p>
          <a:p>
            <a:pPr algn="l" marL="162306" indent="-162306">
              <a:lnSpc>
                <a:spcPts val="1885"/>
              </a:lnSpc>
              <a:buSzPct val="100000"/>
              <a:buChar char="•"/>
            </a:pPr>
            <a:r>
              <a:rPr lang="en-US" sz="1300" dirty="0">
                <a:solidFill>
                  <a:srgbClr val="3D2B00"/>
                </a:solidFill>
                <a:latin typeface="Nunito Sans" pitchFamily="34" charset="0"/>
                <a:ea typeface="Nunito Sans" pitchFamily="34" charset="-122"/>
                <a:cs typeface="Nunito Sans" pitchFamily="34" charset="-120"/>
              </a:rPr>
              <a:t>«No tenemos competencia»</a:t>
            </a:r>
            <a:endParaRPr lang="en-US" sz="1300" dirty="0"/>
          </a:p>
          <a:p>
            <a:pPr algn="l" marL="162306" indent="-162306">
              <a:lnSpc>
                <a:spcPts val="1885"/>
              </a:lnSpc>
              <a:buSzPct val="100000"/>
              <a:buChar char="•"/>
            </a:pPr>
            <a:r>
              <a:rPr lang="en-US" sz="1300" dirty="0">
                <a:solidFill>
                  <a:srgbClr val="3D2B00"/>
                </a:solidFill>
                <a:latin typeface="Nunito Sans" pitchFamily="34" charset="0"/>
                <a:ea typeface="Nunito Sans" pitchFamily="34" charset="-122"/>
                <a:cs typeface="Nunito Sans" pitchFamily="34" charset="-120"/>
              </a:rPr>
              <a:t>Una demo que no carga</a:t>
            </a:r>
            <a:endParaRPr lang="en-US" sz="1300" dirty="0"/>
          </a:p>
          <a:p>
            <a:pPr algn="l" marL="162306" indent="-162306">
              <a:lnSpc>
                <a:spcPts val="1885"/>
              </a:lnSpc>
              <a:buSzPct val="100000"/>
              <a:buChar char="•"/>
            </a:pPr>
            <a:r>
              <a:rPr lang="en-US" sz="1300" dirty="0">
                <a:solidFill>
                  <a:srgbClr val="3D2B00"/>
                </a:solidFill>
                <a:latin typeface="Nunito Sans" pitchFamily="34" charset="0"/>
                <a:ea typeface="Nunito Sans" pitchFamily="34" charset="-122"/>
                <a:cs typeface="Nunito Sans" pitchFamily="34" charset="-120"/>
              </a:rPr>
              <a:t>Hablar de funciones, no del cliente</a:t>
            </a:r>
            <a:endParaRPr lang="en-US" sz="1300" dirty="0"/>
          </a:p>
          <a:p>
            <a:pPr algn="l" marL="162306" indent="-162306">
              <a:lnSpc>
                <a:spcPts val="1885"/>
              </a:lnSpc>
              <a:buSzPct val="100000"/>
              <a:buChar char="•"/>
            </a:pPr>
            <a:r>
              <a:rPr lang="en-US" sz="1300" dirty="0">
                <a:solidFill>
                  <a:srgbClr val="3D2B00"/>
                </a:solidFill>
                <a:latin typeface="Nunito Sans" pitchFamily="34" charset="0"/>
                <a:ea typeface="Nunito Sans" pitchFamily="34" charset="-122"/>
                <a:cs typeface="Nunito Sans" pitchFamily="34" charset="-120"/>
              </a:rPr>
              <a:t>Pasarse del tiempo</a:t>
            </a:r>
            <a:endParaRPr lang="en-US" sz="1300" dirty="0"/>
          </a:p>
        </p:txBody>
      </p:sp>
      <p:pic>
        <p:nvPicPr>
          <p:cNvPr id="8"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9" name="Text 5"/>
          <p:cNvSpPr/>
          <p:nvPr/>
        </p:nvSpPr>
        <p:spPr>
          <a:xfrm>
            <a:off x="8008847" y="621794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812800" y="6604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7A7B"/>
                </a:solidFill>
                <a:latin typeface="Nunito Sans" pitchFamily="34" charset="0"/>
                <a:ea typeface="Nunito Sans" pitchFamily="34" charset="-122"/>
                <a:cs typeface="Nunito Sans" pitchFamily="34" charset="-120"/>
              </a:rPr>
              <a:t>DE HOY AL LUNES</a:t>
            </a:r>
            <a:endParaRPr lang="en-US" sz="1200" dirty="0"/>
          </a:p>
        </p:txBody>
      </p:sp>
      <p:sp>
        <p:nvSpPr>
          <p:cNvPr id="3" name="Text 1"/>
          <p:cNvSpPr/>
          <p:nvPr>
            <p:ph type="title"/>
          </p:nvPr>
        </p:nvSpPr>
        <p:spPr>
          <a:xfrm>
            <a:off x="812800" y="949970"/>
            <a:ext cx="10883393" cy="43429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3E78"/>
                </a:solidFill>
                <a:latin typeface="Domine" pitchFamily="18" charset="0"/>
                <a:ea typeface="Domine" pitchFamily="18" charset="-122"/>
                <a:cs typeface="Domine" pitchFamily="18" charset="-120"/>
              </a:rPr>
              <a:t>Cuatro días, una lista</a:t>
            </a:r>
            <a:endParaRPr lang="en-US" sz="2800" dirty="0"/>
          </a:p>
        </p:txBody>
      </p:sp>
      <p:sp>
        <p:nvSpPr>
          <p:cNvPr id="4" name="Shape 2"/>
          <p:cNvSpPr/>
          <p:nvPr/>
        </p:nvSpPr>
        <p:spPr>
          <a:xfrm>
            <a:off x="815975" y="1565225"/>
            <a:ext cx="2540000" cy="1509486"/>
          </a:xfrm>
          <a:prstGeom prst="roundRect">
            <a:avLst>
              <a:gd name="adj" fmla="val 5679"/>
            </a:avLst>
          </a:prstGeom>
          <a:solidFill>
            <a:srgbClr val="FDFDFB"/>
          </a:solidFill>
          <a:ln w="6350">
            <a:solidFill>
              <a:srgbClr val="DCE3EA"/>
            </a:solidFill>
            <a:prstDash val="solid"/>
          </a:ln>
        </p:spPr>
      </p:sp>
      <p:sp>
        <p:nvSpPr>
          <p:cNvPr id="5" name="Text 3"/>
          <p:cNvSpPr/>
          <p:nvPr/>
        </p:nvSpPr>
        <p:spPr>
          <a:xfrm>
            <a:off x="981529" y="1730772"/>
            <a:ext cx="2275160" cy="25649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47A7B"/>
                </a:solidFill>
                <a:latin typeface="Nunito Sans" pitchFamily="34" charset="0"/>
                <a:ea typeface="Nunito Sans" pitchFamily="34" charset="-122"/>
                <a:cs typeface="Nunito Sans" pitchFamily="34" charset="-120"/>
              </a:rPr>
              <a:t>Jueves y viernes</a:t>
            </a:r>
            <a:endParaRPr lang="en-US" sz="1300" dirty="0"/>
          </a:p>
        </p:txBody>
      </p:sp>
      <p:sp>
        <p:nvSpPr>
          <p:cNvPr id="6" name="Text 4"/>
          <p:cNvSpPr/>
          <p:nvPr/>
        </p:nvSpPr>
        <p:spPr>
          <a:xfrm>
            <a:off x="1080335" y="2025402"/>
            <a:ext cx="2168734" cy="909184"/>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2B3A4E"/>
                </a:solidFill>
                <a:latin typeface="Nunito Sans" pitchFamily="34" charset="0"/>
                <a:ea typeface="Nunito Sans" pitchFamily="34" charset="-122"/>
                <a:cs typeface="Nunito Sans" pitchFamily="34" charset="-120"/>
              </a:rPr>
              <a:t>Corregir la E5 con esta retroalimentación</a:t>
            </a:r>
            <a:endParaRPr lang="en-US" sz="1200" dirty="0"/>
          </a:p>
          <a:p>
            <a:pPr algn="l" marL="155194" indent="-155194">
              <a:lnSpc>
                <a:spcPts val="1740"/>
              </a:lnSpc>
              <a:buSzPct val="100000"/>
              <a:buChar char="•"/>
            </a:pPr>
            <a:r>
              <a:rPr lang="en-US" sz="1200" dirty="0">
                <a:solidFill>
                  <a:srgbClr val="2B3A4E"/>
                </a:solidFill>
                <a:latin typeface="Nunito Sans" pitchFamily="34" charset="0"/>
                <a:ea typeface="Nunito Sans" pitchFamily="34" charset="-122"/>
                <a:cs typeface="Nunito Sans" pitchFamily="34" charset="-120"/>
              </a:rPr>
              <a:t>Elegir las 3 cifras de las encuestas</a:t>
            </a:r>
            <a:endParaRPr lang="en-US" sz="1200" dirty="0"/>
          </a:p>
        </p:txBody>
      </p:sp>
      <p:sp>
        <p:nvSpPr>
          <p:cNvPr id="7" name="Shape 5"/>
          <p:cNvSpPr/>
          <p:nvPr/>
        </p:nvSpPr>
        <p:spPr>
          <a:xfrm>
            <a:off x="3489325" y="1565225"/>
            <a:ext cx="2540000" cy="1509486"/>
          </a:xfrm>
          <a:prstGeom prst="roundRect">
            <a:avLst>
              <a:gd name="adj" fmla="val 5679"/>
            </a:avLst>
          </a:prstGeom>
          <a:solidFill>
            <a:srgbClr val="FDFDFB"/>
          </a:solidFill>
          <a:ln w="6350">
            <a:solidFill>
              <a:srgbClr val="DCE3EA"/>
            </a:solidFill>
            <a:prstDash val="solid"/>
          </a:ln>
        </p:spPr>
      </p:sp>
      <p:sp>
        <p:nvSpPr>
          <p:cNvPr id="8" name="Text 6"/>
          <p:cNvSpPr/>
          <p:nvPr/>
        </p:nvSpPr>
        <p:spPr>
          <a:xfrm>
            <a:off x="3654879" y="1730772"/>
            <a:ext cx="2275160" cy="25649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47A7B"/>
                </a:solidFill>
                <a:latin typeface="Nunito Sans" pitchFamily="34" charset="0"/>
                <a:ea typeface="Nunito Sans" pitchFamily="34" charset="-122"/>
                <a:cs typeface="Nunito Sans" pitchFamily="34" charset="-120"/>
              </a:rPr>
              <a:t>Sábado</a:t>
            </a:r>
            <a:endParaRPr lang="en-US" sz="1300" dirty="0"/>
          </a:p>
        </p:txBody>
      </p:sp>
      <p:sp>
        <p:nvSpPr>
          <p:cNvPr id="9" name="Text 7"/>
          <p:cNvSpPr/>
          <p:nvPr/>
        </p:nvSpPr>
        <p:spPr>
          <a:xfrm>
            <a:off x="3753685" y="2025402"/>
            <a:ext cx="2168734" cy="688238"/>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2B3A4E"/>
                </a:solidFill>
                <a:latin typeface="Nunito Sans" pitchFamily="34" charset="0"/>
                <a:ea typeface="Nunito Sans" pitchFamily="34" charset="-122"/>
                <a:cs typeface="Nunito Sans" pitchFamily="34" charset="-120"/>
              </a:rPr>
              <a:t>Armar las 10 láminas</a:t>
            </a:r>
            <a:endParaRPr lang="en-US" sz="1200" dirty="0"/>
          </a:p>
          <a:p>
            <a:pPr algn="l" marL="155194" indent="-155194">
              <a:lnSpc>
                <a:spcPts val="1740"/>
              </a:lnSpc>
              <a:buSzPct val="100000"/>
              <a:buChar char="•"/>
            </a:pPr>
            <a:r>
              <a:rPr lang="en-US" sz="1200" dirty="0">
                <a:solidFill>
                  <a:srgbClr val="2B3A4E"/>
                </a:solidFill>
                <a:latin typeface="Nunito Sans" pitchFamily="34" charset="0"/>
                <a:ea typeface="Nunito Sans" pitchFamily="34" charset="-122"/>
                <a:cs typeface="Nunito Sans" pitchFamily="34" charset="-120"/>
              </a:rPr>
              <a:t>Grabar el video de 60 s del PMV</a:t>
            </a:r>
            <a:endParaRPr lang="en-US" sz="1200" dirty="0"/>
          </a:p>
        </p:txBody>
      </p:sp>
      <p:sp>
        <p:nvSpPr>
          <p:cNvPr id="10" name="Shape 8"/>
          <p:cNvSpPr/>
          <p:nvPr/>
        </p:nvSpPr>
        <p:spPr>
          <a:xfrm>
            <a:off x="6162675" y="1565225"/>
            <a:ext cx="2540000" cy="1509486"/>
          </a:xfrm>
          <a:prstGeom prst="roundRect">
            <a:avLst>
              <a:gd name="adj" fmla="val 5679"/>
            </a:avLst>
          </a:prstGeom>
          <a:solidFill>
            <a:srgbClr val="FDFDFB"/>
          </a:solidFill>
          <a:ln w="6350">
            <a:solidFill>
              <a:srgbClr val="DCE3EA"/>
            </a:solidFill>
            <a:prstDash val="solid"/>
          </a:ln>
        </p:spPr>
      </p:sp>
      <p:sp>
        <p:nvSpPr>
          <p:cNvPr id="11" name="Text 9"/>
          <p:cNvSpPr/>
          <p:nvPr/>
        </p:nvSpPr>
        <p:spPr>
          <a:xfrm>
            <a:off x="6328229" y="1730772"/>
            <a:ext cx="2275160" cy="25649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3E78"/>
                </a:solidFill>
                <a:latin typeface="Nunito Sans" pitchFamily="34" charset="0"/>
                <a:ea typeface="Nunito Sans" pitchFamily="34" charset="-122"/>
                <a:cs typeface="Nunito Sans" pitchFamily="34" charset="-120"/>
              </a:rPr>
              <a:t>Domingo</a:t>
            </a:r>
            <a:endParaRPr lang="en-US" sz="1300" dirty="0"/>
          </a:p>
        </p:txBody>
      </p:sp>
      <p:sp>
        <p:nvSpPr>
          <p:cNvPr id="12" name="Text 10"/>
          <p:cNvSpPr/>
          <p:nvPr/>
        </p:nvSpPr>
        <p:spPr>
          <a:xfrm>
            <a:off x="6427035" y="2025402"/>
            <a:ext cx="2168734" cy="909184"/>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2B3A4E"/>
                </a:solidFill>
                <a:latin typeface="Nunito Sans" pitchFamily="34" charset="0"/>
                <a:ea typeface="Nunito Sans" pitchFamily="34" charset="-122"/>
                <a:cs typeface="Nunito Sans" pitchFamily="34" charset="-120"/>
              </a:rPr>
              <a:t>Ensayar dos veces con cronómetro</a:t>
            </a:r>
            <a:endParaRPr lang="en-US" sz="1200" dirty="0"/>
          </a:p>
          <a:p>
            <a:pPr algn="l" marL="155194" indent="-155194">
              <a:lnSpc>
                <a:spcPts val="1740"/>
              </a:lnSpc>
              <a:buSzPct val="100000"/>
              <a:buChar char="•"/>
            </a:pPr>
            <a:r>
              <a:rPr lang="en-US" sz="1200" dirty="0">
                <a:solidFill>
                  <a:srgbClr val="2B3A4E"/>
                </a:solidFill>
                <a:latin typeface="Nunito Sans" pitchFamily="34" charset="0"/>
                <a:ea typeface="Nunito Sans" pitchFamily="34" charset="-122"/>
                <a:cs typeface="Nunito Sans" pitchFamily="34" charset="-120"/>
              </a:rPr>
              <a:t>Control 1 del RDA 2 a las 23:59</a:t>
            </a:r>
            <a:endParaRPr lang="en-US" sz="1200" dirty="0"/>
          </a:p>
        </p:txBody>
      </p:sp>
      <p:sp>
        <p:nvSpPr>
          <p:cNvPr id="13" name="Shape 11"/>
          <p:cNvSpPr/>
          <p:nvPr/>
        </p:nvSpPr>
        <p:spPr>
          <a:xfrm>
            <a:off x="8832851" y="1562050"/>
            <a:ext cx="2546350" cy="1515836"/>
          </a:xfrm>
          <a:prstGeom prst="roundRect">
            <a:avLst>
              <a:gd name="adj" fmla="val 5865"/>
            </a:avLst>
          </a:prstGeom>
          <a:solidFill>
            <a:srgbClr val="173E78"/>
          </a:solidFill>
          <a:ln/>
        </p:spPr>
      </p:sp>
      <p:sp>
        <p:nvSpPr>
          <p:cNvPr id="14" name="Text 12"/>
          <p:cNvSpPr/>
          <p:nvPr/>
        </p:nvSpPr>
        <p:spPr>
          <a:xfrm>
            <a:off x="8997951" y="1727150"/>
            <a:ext cx="2282635" cy="25649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FDCDC"/>
                </a:solidFill>
                <a:latin typeface="Nunito Sans" pitchFamily="34" charset="0"/>
                <a:ea typeface="Nunito Sans" pitchFamily="34" charset="-122"/>
                <a:cs typeface="Nunito Sans" pitchFamily="34" charset="-120"/>
              </a:rPr>
              <a:t>Lunes 19</a:t>
            </a:r>
            <a:endParaRPr lang="en-US" sz="1300" dirty="0"/>
          </a:p>
        </p:txBody>
      </p:sp>
      <p:sp>
        <p:nvSpPr>
          <p:cNvPr id="15" name="Text 13"/>
          <p:cNvSpPr/>
          <p:nvPr/>
        </p:nvSpPr>
        <p:spPr>
          <a:xfrm>
            <a:off x="9096757" y="2021780"/>
            <a:ext cx="2176209" cy="467292"/>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F3F6FA"/>
                </a:solidFill>
                <a:latin typeface="Nunito Sans" pitchFamily="34" charset="0"/>
                <a:ea typeface="Nunito Sans" pitchFamily="34" charset="-122"/>
                <a:cs typeface="Nunito Sans" pitchFamily="34" charset="-120"/>
              </a:rPr>
              <a:t>9h45 en el TEDA</a:t>
            </a:r>
            <a:endParaRPr lang="en-US" sz="1200" dirty="0"/>
          </a:p>
          <a:p>
            <a:pPr algn="l" marL="155194" indent="-155194">
              <a:lnSpc>
                <a:spcPts val="1740"/>
              </a:lnSpc>
              <a:buSzPct val="100000"/>
              <a:buChar char="•"/>
            </a:pPr>
            <a:r>
              <a:rPr lang="en-US" sz="1200" dirty="0">
                <a:solidFill>
                  <a:srgbClr val="F3F6FA"/>
                </a:solidFill>
                <a:latin typeface="Nunito Sans" pitchFamily="34" charset="0"/>
                <a:ea typeface="Nunito Sans" pitchFamily="34" charset="-122"/>
                <a:cs typeface="Nunito Sans" pitchFamily="34" charset="-120"/>
              </a:rPr>
              <a:t>10h00 empieza la jornada</a:t>
            </a:r>
            <a:endParaRPr lang="en-US" sz="1200" dirty="0"/>
          </a:p>
        </p:txBody>
      </p:sp>
      <p:sp>
        <p:nvSpPr>
          <p:cNvPr id="16" name="Text 14"/>
          <p:cNvSpPr/>
          <p:nvPr/>
        </p:nvSpPr>
        <p:spPr>
          <a:xfrm>
            <a:off x="812800" y="3281114"/>
            <a:ext cx="10566401" cy="838200"/>
          </a:xfrm>
          <a:prstGeom prst="roundRect">
            <a:avLst>
              <a:gd name="adj" fmla="val 10606"/>
            </a:avLst>
          </a:prstGeom>
          <a:solidFill>
            <a:srgbClr val="E3F5F5"/>
          </a:solidFill>
          <a:ln/>
        </p:spPr>
        <p:txBody>
          <a:bodyPr wrap="square" lIns="189862" tIns="126362" rIns="0" bIns="100962" rtlCol="0" anchor="t">
            <a:normAutofit/>
          </a:bodyPr>
          <a:lstStyle/>
          <a:p>
            <a:pPr algn="l" indent="0" marL="0">
              <a:lnSpc>
                <a:spcPts val="2100"/>
              </a:lnSpc>
              <a:buNone/>
            </a:pPr>
            <a:r>
              <a:rPr lang="en-US" sz="1500" dirty="0">
                <a:solidFill>
                  <a:srgbClr val="173E78"/>
                </a:solidFill>
                <a:latin typeface="Nunito Sans" pitchFamily="34" charset="0"/>
                <a:ea typeface="Nunito Sans" pitchFamily="34" charset="-122"/>
                <a:cs typeface="Nunito Sans" pitchFamily="34" charset="-120"/>
              </a:rPr>
              <a:t>Prueba final: que alguien de otro equipo vea su pitch y diga en una frase qué problema resuelven. Si no puede, simplifiquen.</a:t>
            </a:r>
            <a:endParaRPr lang="en-US" sz="1500" dirty="0"/>
          </a:p>
        </p:txBody>
      </p:sp>
      <p:pic>
        <p:nvPicPr>
          <p:cNvPr id="17" name="Image 0" descr="Logo PUCE">    </p:cNvPr>
          <p:cNvPicPr>
            <a:picLocks noChangeAspect="1"/>
          </p:cNvPicPr>
          <p:nvPr/>
        </p:nvPicPr>
        <p:blipFill>
          <a:blip r:embed="rId1"/>
          <a:srcRect l="-436" r="-436" t="0" b="0"/>
          <a:stretch/>
        </p:blipFill>
        <p:spPr>
          <a:xfrm>
            <a:off x="812800" y="6184900"/>
            <a:ext cx="1016000" cy="279400"/>
          </a:xfrm>
          <a:prstGeom prst="rect">
            <a:avLst/>
          </a:prstGeom>
        </p:spPr>
      </p:pic>
      <p:sp>
        <p:nvSpPr>
          <p:cNvPr id="18" name="Text 15"/>
          <p:cNvSpPr/>
          <p:nvPr/>
        </p:nvSpPr>
        <p:spPr>
          <a:xfrm>
            <a:off x="8008847" y="6217940"/>
            <a:ext cx="337035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Nunito Sans" pitchFamily="34" charset="0"/>
                <a:ea typeface="Nunito Sans" pitchFamily="34" charset="-122"/>
                <a:cs typeface="Nunito Sans" pitchFamily="34" charset="-120"/>
              </a:rPr>
              <a:t>Emprendimiento Tecnológico · NRC 2667</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73E7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6B2B3"/>
          </a:solidFill>
          <a:ln/>
        </p:spPr>
      </p:sp>
      <p:sp>
        <p:nvSpPr>
          <p:cNvPr id="3" name="Shape 1"/>
          <p:cNvSpPr/>
          <p:nvPr/>
        </p:nvSpPr>
        <p:spPr>
          <a:xfrm>
            <a:off x="9474201" y="609600"/>
            <a:ext cx="1905000" cy="660400"/>
          </a:xfrm>
          <a:prstGeom prst="roundRect">
            <a:avLst>
              <a:gd name="adj" fmla="val 15385"/>
            </a:avLst>
          </a:prstGeom>
          <a:solidFill>
            <a:srgbClr val="FDFDFB"/>
          </a:solidFill>
          <a:ln/>
        </p:spPr>
      </p:sp>
      <p:pic>
        <p:nvPicPr>
          <p:cNvPr id="4" name="Image 0" descr="Logo PUCE 80 años">    </p:cNvPr>
          <p:cNvPicPr>
            <a:picLocks noChangeAspect="1"/>
          </p:cNvPicPr>
          <p:nvPr/>
        </p:nvPicPr>
        <p:blipFill>
          <a:blip r:embed="rId1"/>
          <a:srcRect l="-86" r="-86" t="0" b="0"/>
          <a:stretch/>
        </p:blipFill>
        <p:spPr>
          <a:xfrm>
            <a:off x="9601201" y="711200"/>
            <a:ext cx="1651000" cy="457200"/>
          </a:xfrm>
          <a:prstGeom prst="rect">
            <a:avLst/>
          </a:prstGeom>
        </p:spPr>
      </p:pic>
      <p:sp>
        <p:nvSpPr>
          <p:cNvPr id="5" name="Text 2"/>
          <p:cNvSpPr/>
          <p:nvPr>
            <p:ph type="title"/>
          </p:nvPr>
        </p:nvSpPr>
        <p:spPr>
          <a:xfrm>
            <a:off x="812800" y="2057499"/>
            <a:ext cx="9156701" cy="1254692"/>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3F6FA"/>
                </a:solidFill>
                <a:latin typeface="Domine" pitchFamily="18" charset="0"/>
                <a:ea typeface="Domine" pitchFamily="18" charset="-122"/>
                <a:cs typeface="Domine" pitchFamily="18" charset="-120"/>
              </a:rPr>
              <a:t>Nos vemos el lunes a las 10h00 en el TEDA</a:t>
            </a:r>
            <a:endParaRPr lang="en-US" sz="4400" dirty="0"/>
          </a:p>
        </p:txBody>
      </p:sp>
      <p:sp>
        <p:nvSpPr>
          <p:cNvPr id="6" name="Text 3"/>
          <p:cNvSpPr/>
          <p:nvPr/>
        </p:nvSpPr>
        <p:spPr>
          <a:xfrm>
            <a:off x="812800" y="3489970"/>
            <a:ext cx="8502650" cy="327649"/>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6E8"/>
                </a:solidFill>
                <a:latin typeface="Nunito Sans" pitchFamily="34" charset="0"/>
                <a:ea typeface="Nunito Sans" pitchFamily="34" charset="-122"/>
                <a:cs typeface="Nunito Sans" pitchFamily="34" charset="-120"/>
              </a:rPr>
              <a:t>Traigan el PMV funcionando, sus encuestas y las ganas de convencer a un jurado.</a:t>
            </a:r>
            <a:endParaRPr lang="en-US" sz="1700" dirty="0"/>
          </a:p>
        </p:txBody>
      </p:sp>
      <p:sp>
        <p:nvSpPr>
          <p:cNvPr id="7" name="Text 4"/>
          <p:cNvSpPr/>
          <p:nvPr/>
        </p:nvSpPr>
        <p:spPr>
          <a:xfrm>
            <a:off x="812800" y="3995440"/>
            <a:ext cx="1088339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FDCDC"/>
                </a:solidFill>
                <a:latin typeface="Nunito Sans" pitchFamily="34" charset="0"/>
                <a:ea typeface="Nunito Sans" pitchFamily="34" charset="-122"/>
                <a:cs typeface="Nunito Sans" pitchFamily="34" charset="-120"/>
              </a:rPr>
              <a:t>Ing. Francisco Rodríguez, MsC · Docente Principal 1</a:t>
            </a:r>
            <a:endParaRPr lang="en-US" sz="1500" dirty="0"/>
          </a:p>
        </p:txBody>
      </p:sp>
      <p:sp>
        <p:nvSpPr>
          <p:cNvPr id="8" name="Text 5"/>
          <p:cNvSpPr/>
          <p:nvPr/>
        </p:nvSpPr>
        <p:spPr>
          <a:xfrm>
            <a:off x="812800" y="4300240"/>
            <a:ext cx="10883393" cy="25649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8"/>
                </a:solidFill>
                <a:latin typeface="Nunito Sans" pitchFamily="34" charset="0"/>
                <a:ea typeface="Nunito Sans" pitchFamily="34" charset="-122"/>
                <a:cs typeface="Nunito Sans" pitchFamily="34" charset="-120"/>
              </a:rPr>
              <a:t>frodriguez@puce.edu.ec · (593-2) 2991700 ext. 1289</a:t>
            </a:r>
            <a:endParaRPr lang="en-US" sz="1300" dirty="0"/>
          </a:p>
        </p:txBody>
      </p:sp>
      <p:sp>
        <p:nvSpPr>
          <p:cNvPr id="9" name="Text 6"/>
          <p:cNvSpPr/>
          <p:nvPr/>
        </p:nvSpPr>
        <p:spPr>
          <a:xfrm>
            <a:off x="812800" y="4569420"/>
            <a:ext cx="10883393" cy="25649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8"/>
                </a:solidFill>
                <a:latin typeface="Nunito Sans" pitchFamily="34" charset="0"/>
                <a:ea typeface="Nunito Sans" pitchFamily="34" charset="-122"/>
                <a:cs typeface="Nunito Sans" pitchFamily="34" charset="-120"/>
              </a:rPr>
              <a:t>Facultad de Hábitat, Infraestructura y Creatividad · Ingeniería en Sistemas de Información</a:t>
            </a:r>
            <a:endParaRPr lang="en-US" sz="1300" dirty="0"/>
          </a:p>
        </p:txBody>
      </p:sp>
    </p:spTree>
  </p:cSld>
  <p:clrMapOvr>
    <a:masterClrMapping/>
  </p:clrMapOvr>
</p:sld>
</file>

<file path=ppt/theme/theme1.xml><?xml version="1.0" encoding="utf-8"?>
<a:theme xmlns:a="http://schemas.openxmlformats.org/drawingml/2006/main" name="Retroalimentación E5, RDA 2 y pitch con Alfred Naranjo">
  <a:themeElements>
    <a:clrScheme name="Retroalimentación E5, RDA 2 y pitch con Alfred Naranjo">
      <a:dk1>
        <a:srgbClr val="173E78"/>
      </a:dk1>
      <a:lt1>
        <a:srgbClr val="F7F8F5"/>
      </a:lt1>
      <a:dk2>
        <a:srgbClr val="4F6D97"/>
      </a:dk2>
      <a:lt2>
        <a:srgbClr val="E1E5E9"/>
      </a:lt2>
      <a:accent1>
        <a:srgbClr val="047A7B"/>
      </a:accent1>
      <a:accent2>
        <a:srgbClr val="1F4D29"/>
      </a:accent2>
      <a:accent3>
        <a:srgbClr val="6E2020"/>
      </a:accent3>
      <a:accent4>
        <a:srgbClr val="06B2B3"/>
      </a:accent4>
      <a:accent5>
        <a:srgbClr val="7A4B00"/>
      </a:accent5>
      <a:accent6>
        <a:srgbClr val="7FDCDC"/>
      </a:accent6>
      <a:hlink>
        <a:srgbClr val="0563C1"/>
      </a:hlink>
      <a:folHlink>
        <a:srgbClr val="954F72"/>
      </a:folHlink>
    </a:clrScheme>
    <a:fontScheme name="Retroalimentación E5, RDA 2 y pitch con Alfred Naranjo">
      <a:majorFont>
        <a:latin typeface="Nuni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Retroalimentación E5, RDA 2 y pitch con Alfred Naranjo</dc:title>
  <dc:subject/>
  <dc:creator/>
  <cp:lastModifiedBy/>
  <cp:revision>1</cp:revision>
  <dcterms:created xsi:type="dcterms:W3CDTF">2026-10-15T15:44:14Z</dcterms:created>
  <dcterms:modified xsi:type="dcterms:W3CDTF">2026-10-15T15:44:14Z</dcterms:modified>
</cp:coreProperties>
</file>