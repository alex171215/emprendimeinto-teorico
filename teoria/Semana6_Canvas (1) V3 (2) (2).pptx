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3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442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3840480" cy="56692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02920" y="3749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en Sistemas de Información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 Tecnológico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7680960" cy="27432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3675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· Validar · Escalar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Rodríguez   |   Abril 2026   |   NRC 2519 &amp; Q361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3657600" cy="2651760"/>
          </a:xfrm>
          <a:prstGeom prst="rect">
            <a:avLst/>
          </a:prstGeom>
          <a:solidFill>
            <a:srgbClr val="0D253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5029200" y="1097280"/>
            <a:ext cx="64008" cy="265176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2120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clave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036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abr — hoy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30368" y="1911096"/>
            <a:ext cx="333756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5230368" y="1984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9440" y="1984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 — Prototipo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30368" y="2340864"/>
            <a:ext cx="333756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230368" y="24140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24140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jun — Prueba campo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30368" y="2770632"/>
            <a:ext cx="333756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230368" y="28437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13-16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8437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final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30368" y="3200400"/>
            <a:ext cx="333756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230368" y="3273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 Pichincha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hoy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· Técnico · PMV · Tarea · Aviso Grupo 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64008" cy="4572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30352" y="12252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2252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Business Model Canvas?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43560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9 bloques y qué busca cada uno.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700784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11480" y="1700784"/>
            <a:ext cx="64008" cy="4572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30352" y="17556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1755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— Ecuador y el mundo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19659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impacto social que usaron esta metodología.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31136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411480" y="2231136"/>
            <a:ext cx="64008" cy="45720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30352" y="22860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2286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aula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249631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Completamos el Canvas de un proyecto del paralelo juntos.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761488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411480" y="2761488"/>
            <a:ext cx="64008" cy="4572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30352" y="28163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" y="2816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y recursos técnicos por grupo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0266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stacks, créditos gratuitos para producción.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291840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411480" y="3291840"/>
            <a:ext cx="64008" cy="4572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30352" y="3346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" y="33467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— Indicadores y formularios de validación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5568" y="35570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medir esta semana con docentes y autoridades.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822192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411480" y="3822192"/>
            <a:ext cx="64008" cy="4572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530352" y="38770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" y="38770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para el lunes 28 de abril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15568" y="408736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concretos con criterios de evaluación.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4352544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411480" y="4352544"/>
            <a:ext cx="64008" cy="45720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530352" y="44074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" y="44074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AmigojoLive — Reunión lunes 21 de abril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15568" y="46177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 de hipótesis. Asistencia obligatoria de todos los integrantes.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Business Model Canvas?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Osterwalder · 2008 · Usado por más de 5 millones de emprendedores en el mundo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de una sola página que describe cómo una organización crea, entrega y captura valor.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1508760" cy="13716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66344" y="1737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" y="1984248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691640"/>
            <a:ext cx="1508760" cy="13716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2066544" y="1737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66544" y="1984248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691640"/>
            <a:ext cx="1508760" cy="64008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666744" y="1737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66744" y="198424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2423160"/>
            <a:ext cx="1508760" cy="64008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3666744" y="2468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66744" y="271576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clientes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1691640"/>
            <a:ext cx="1508760" cy="137160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266944" y="1737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66944" y="1984248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ingresos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154680"/>
            <a:ext cx="1508760" cy="109728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466344" y="3200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" y="3447288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3154680"/>
            <a:ext cx="1508760" cy="109728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066544" y="3200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66544" y="3447288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3154680"/>
            <a:ext cx="1508760" cy="1097280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3666744" y="3200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66744" y="3447288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3154680"/>
            <a:ext cx="1508760" cy="1097280"/>
          </a:xfrm>
          <a:prstGeom prst="rect">
            <a:avLst/>
          </a:prstGeom>
          <a:solidFill>
            <a:srgbClr val="7D3C98"/>
          </a:solidFill>
          <a:ln w="635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266944" y="3200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66944" y="3447288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costos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691640"/>
            <a:ext cx="1828800" cy="256032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6903720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persigue?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20574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Claridad estratégica rápida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245973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Comunicar la idea en 1 página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0" y="28620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Iterar sin reescribir planes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326440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Alinear al equipo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0" y="366674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Identificar riesgos antes de construir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— Ecuador: Kushkipay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ecuatoriana fundada en 2017 · Pagos digitales para zonas sin bancarización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41148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Kushkipay: pagos móviles sin necesidad de cuenta bancaria para mercados populares y comerciantes informales.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64008" cy="111556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576072" y="17190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" y="19933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Comerciantes informales, mercados populares, PyMEs sin acceso bancario en Ecuador, Perú, México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645920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227832" y="1645920"/>
            <a:ext cx="64008" cy="111556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392424" y="17190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92424" y="19933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con tarjeta o QR sin cuenta bancaria formal. Liquidación en 24h.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44184" y="1645920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044184" y="1645920"/>
            <a:ext cx="64008" cy="1115568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208776" y="17190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08776" y="19933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móvil, datáfono físico portátil, integración con e-commerce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834640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64008" cy="1115568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76072" y="29077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ingresos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" y="31821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transacción (1.5-3%). SaaS para comercios grandes.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2834640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27832" y="2834640"/>
            <a:ext cx="64008" cy="111556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392424" y="29077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92424" y="31821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de operadora de pagos, API propia, red de agentes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44184" y="2834640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6044184" y="2834640"/>
            <a:ext cx="64008" cy="1115568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6208776" y="29077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08776" y="31821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Mastercard, bancos locales, Ministerio de Economía Ecuador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160520"/>
            <a:ext cx="8321040" cy="347472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el Canvas les permitió encontrar el segmento correcto en la tercera iteración — no en la primera idea.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— Mundo: Duolingo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· Pittsburgh, USA · 2011 · Valuación $6B · 500M usuarios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38404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aplicó Canvas + Lean Startup antes de escribir una línea de código. Validaron que la gente completaba lecciones gratuitas antes de construir el modelo freemium.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269748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64008" cy="109728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576072" y="17007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" y="195681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que quieren aprender idiomas gratis. Empresas (B2B). Escuelas.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627632"/>
            <a:ext cx="269748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227832" y="1627632"/>
            <a:ext cx="64008" cy="109728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392424" y="17007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92424" y="195681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idiomas gratis, gamificado, 5 min/día. Tan efectivo como 1 semestre universitario.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44184" y="1627632"/>
            <a:ext cx="269748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044184" y="1627632"/>
            <a:ext cx="64008" cy="109728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208776" y="17007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08776" y="195681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iOS/Android, web, notificaciones push agresivas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798064"/>
            <a:ext cx="269748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411480" y="2798064"/>
            <a:ext cx="64008" cy="109728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76072" y="28712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ingresos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" y="31272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Super Duolingo $7/mes. Duolingo for Schools (gratis). Certificaciones.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2798064"/>
            <a:ext cx="269748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27832" y="2798064"/>
            <a:ext cx="64008" cy="109728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392424" y="28712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92424" y="31272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repetición espaciada, comunidad de traductores, data de 500M usuarios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44184" y="2798064"/>
            <a:ext cx="269748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6044184" y="2798064"/>
            <a:ext cx="64008" cy="109728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6208776" y="28712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08776" y="312724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constante. Gamificación. IA para personalizar currículo.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151376"/>
            <a:ext cx="832104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Connexión con sus proyectos: Comprendo, AdaptaClass e IncluApp tienen ADN similar a Duolingo — retroalimentación inmediata, acceso gratuito, impacto medible.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aula — Canvas de PresenTech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 los campos en blanco con el grupo. 15 minutos.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PresenTech — App de registro de asistencia automatizada para docentes de Fe y Alegría (D9)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64008" cy="1042416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76072" y="15361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" y="177393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de Fe y Alegría con 30+ estudiantes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1481328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3227832" y="1481328"/>
            <a:ext cx="64008" cy="1042416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392424" y="15361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92424" y="177393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asistencia en 30 segundos vs 10 minutos con papel. Sin errores.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44184" y="1481328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6044184" y="1481328"/>
            <a:ext cx="64008" cy="1042416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208776" y="15361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08776" y="177393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llegarán a los docentes? → Llenar...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596896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411480" y="2596896"/>
            <a:ext cx="64008" cy="1042416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76072" y="26517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" y="28895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¿Autoservicio? ¿Soporte? ¿Comunidad? → Llenar...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2596896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3227832" y="2596896"/>
            <a:ext cx="64008" cy="1042416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3392424" y="26517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ingresos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92424" y="28895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¿Fe y Alegría paga? ¿MINEDUC? ¿Freemium? → Llenar...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44184" y="2596896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6044184" y="2596896"/>
            <a:ext cx="64008" cy="1042416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6208776" y="26517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28895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LIVE, API cámara, Firebase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712464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411480" y="3712464"/>
            <a:ext cx="64008" cy="1042416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576072" y="37673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" y="40050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hacen cada semana para que funcione? → Llenar...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27832" y="3712464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27832" y="3712464"/>
            <a:ext cx="64008" cy="1042416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3392424" y="37673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92424" y="40050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y Alegría, PUCE, ¿quién más? → Llenar...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44184" y="3712464"/>
            <a:ext cx="269748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6044184" y="3712464"/>
            <a:ext cx="64008" cy="1042416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6208776" y="37673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08776" y="400507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gratis tier + dominio + Anthropic API → Llenar costos reales...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Instrucción: cada grupo abre su Canvas en blanco y completa los 9 bloques para su propio proyecto. Tiempo: 15 min. Luego comparten el bloque 5 (Fuente de ingresos) en plenaria.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para gestionar créditos de API — Hacerlo esta semana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desarrollo en Fase 2 y producción en julio 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23360" cy="114300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64008" cy="11430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94360" y="1197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Student Builders (Anthropic)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472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anthropic.com/contact-sales/for-student-builders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estudiante aplica individualmente. Créditos de API para proyectos universitarios con impacto social.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1800" y="1197864"/>
            <a:ext cx="1371600" cy="2286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990088" y="120700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4023360" cy="114300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64008" cy="11430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846320" y="1197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Campus Ambassador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472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anthropic.com/contact-sales/claude-campus-ambassadors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1691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quieren representar a PUCE ante Anthropic y organizar eventos de IA en el campus.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23760" y="1197864"/>
            <a:ext cx="1371600" cy="2286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7242048" y="120700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2377440"/>
            <a:ext cx="4023360" cy="114300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411480" y="2377440"/>
            <a:ext cx="64008" cy="11430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94360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Flash — API gratuita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2706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aistudio.google.com → Get API Key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29260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requests/día gratis. Sin tarjeta de crédito. Ideal para AdaptaClass, IncluApp y Comprendo.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71800" y="2432304"/>
            <a:ext cx="1371600" cy="2286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990088" y="244144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gratuito permanente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4023360" cy="114300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64008" cy="11430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4846320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Startups Program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706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claude.com/programs/startups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29260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grupos que registren el proyecto como startup o emprendimiento real. Hasta $25,000 en créditos.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2432304"/>
            <a:ext cx="1371600" cy="2286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7242048" y="244144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aplicación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3611880"/>
            <a:ext cx="4023360" cy="114300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411480" y="3611880"/>
            <a:ext cx="64008" cy="114300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594360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Educación PUCE × Anthropic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claude.com/contact-sales/education-plan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" y="4160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Ing. Rodríguez enviará solicitud institucional para créditos de toda la clase. Resultado estimado: 2-3 semanas.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71800" y="3666744"/>
            <a:ext cx="1371600" cy="22860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2990088" y="36758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institucional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63440" y="3611880"/>
            <a:ext cx="4023360" cy="1143000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4663440" y="3611880"/>
            <a:ext cx="64008" cy="1143000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4846320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 / Vercel (deploy gratis)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46320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render.com  |  railway.app  |  vercel.com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4160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 backend Node.js o Python gratis. Sin costo hasta producción real. PresenTech y DocuIA ya los usan.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23760" y="3666744"/>
            <a:ext cx="1371600" cy="228600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7242048" y="36758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hasta escalar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por grupo — Paralelo 2519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necesitan construir para llegar a producción en julio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64008" cy="694944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PresenTech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Native + Firebase Realtime DB + Cámara API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60604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Sin IA generativa necesaria — solo lógica de reconocimiento de lista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0604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Expo Go (test) → Expo EAS Build (producción)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23560" y="1188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Landing LIVE ✅ mvp-fe-y-alegria.onrender.com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23560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Firebase Spark (gratis) + Expo $0 en pruebas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1892808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11480" y="1892808"/>
            <a:ext cx="64008" cy="694944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566928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AmigojoLive → PIVOT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Node.js + PostgreSQL + Telegram Bot API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06040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Gemini Flash para clasificar prácticas pedagógicas por materia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0604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Railway (gratis) + Vercel frontend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23560" y="1938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PENDIENTE — definir en reunión 21 abril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hasta 500 usuarios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2642616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411480" y="2642616"/>
            <a:ext cx="64008" cy="694944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66928" y="2688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Comprendo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Twilio Sandbox (test) → Twilio prod / Telegram Bot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606040" y="2688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Anthropic Haiku para generar 3 preguntas por tema de clase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06040" y="3035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Render.com (gratis) para webhook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23560" y="26883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Bot sin URL pública aún — construir esta semana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3560" y="30083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Telegram API = $0. Haiku = ~$0.15/mes en uso real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3392424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411480" y="3392424"/>
            <a:ext cx="64008" cy="694944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66928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AlegriApp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3694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+ Node.js + PostgreSQL + Twilio WhatsApp / Telegram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06040" y="3438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Sin IA — lógica de confirmación de lectura y escalamiento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0604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(frontend) + Render (backend)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23560" y="3438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Link inconsistente — verificar y corregir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3560" y="37581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en tier gratuito hasta 1,000 usuarios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480" y="4142232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411480" y="4142232"/>
            <a:ext cx="64008" cy="694944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566928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DocuIA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4443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+ Python FastAPI + Google Apps Script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606040" y="4187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Anthropic Haiku o Gemini Flash para generar documento desde datos mínimos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06040" y="4535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(frontend) + Railway (FastAPI)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623560" y="4187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docuia.vercel.app LIVE ✅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23560" y="4507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Gemini Flash gratuito o Haiku &lt;$0.20/mes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por grupo — Paralelo Q361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necesitan construir para llegar a producción en julio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694944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64008" cy="694944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Vínculo Pro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+ Node.js + PostgreSQL + Cloudinary (archivos CV)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60604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Sin IA en MVP — formulario de portafolio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0604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+ Railway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23560" y="1188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Sin URL — construir landing esta semana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23560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en tier gratuito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1892808"/>
            <a:ext cx="8321040" cy="694944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11480" y="1892808"/>
            <a:ext cx="64008" cy="694944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566928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AdaptaClass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+ Python FastAPI + Gemini Flash API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06040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Gemini Flash (gratuito 1500 req/día) para generar 3 versiones de contenido desde input del docente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0604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+ Render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23560" y="1938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Captura imagen en PPTX — construir demo web esta semana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— Gemini Flash tier gratuito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2642616"/>
            <a:ext cx="8321040" cy="694944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411480" y="2642616"/>
            <a:ext cx="64008" cy="694944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66928" y="2688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IncluApp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Flutter (mobile) + Web Speech API + ML Kit (OCR)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606040" y="2688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Text-to-Speech nativo del SO — sin costo de API. OCR con ML Kit gratuito.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06040" y="3035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Google Play Store (test) o APK directo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23560" y="26883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incluapp.netlify.app LIVE ✅ — añadir demo de voz real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3560" y="30083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— APIs nativas del sistema operativo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3392424"/>
            <a:ext cx="8321040" cy="694944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411480" y="3392424"/>
            <a:ext cx="64008" cy="694944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66928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VozSegura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3694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Telegram Bot API + Node.js + PostgreSQL (anónimo)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06040" y="3438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Sin IA — lógica de anonimización y enrutamiento al DECE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0604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Render o Railway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23560" y="3438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SIN PMV — construir bot Telegram esta semana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23560" y="37581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— Telegram API gratuita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480" y="4142232"/>
            <a:ext cx="8321040" cy="694944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411480" y="4142232"/>
            <a:ext cx="64008" cy="694944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566928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Brújula Futura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4443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+ Supabase + Gemini Flash (opcional recomendaciones)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606040" y="4187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Gemini Flash para sugerir carreras basado en respuestas del test vocacional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06040" y="4535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+ Supabase (gratis)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623560" y="4187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PMV: Figma LIVE ✅ — migrar a React esta semana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23560" y="4507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 — Gemini gratis + Supabase gratis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para validar el PMV — Esta semana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medir, cómo medirlo y cuándo decir que está validado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un PMV está validado cuando un usuario real usa el producto sin que el equipo lo ayude y regresa a usarlo de nuevo.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4023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64008" cy="93268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2788920" y="1655064"/>
            <a:ext cx="1572768" cy="256032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807208" y="16733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 de 10 usuarios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673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sin ayuda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usuario completa la acción principal sin que el equipo explique nada?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023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64008" cy="93268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7040880" y="1655064"/>
            <a:ext cx="1572768" cy="256032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7059168" y="16733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de 10 usuarios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1673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retorno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9476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usuario vuelve a usar el PMV en los siguientes 7 días sin que lo inviten?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4023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411480" y="2606040"/>
            <a:ext cx="64008" cy="932688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2788920" y="2660904"/>
            <a:ext cx="1572768" cy="256032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807208" y="26791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 más rápido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2679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tarea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2953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¿Completa la tarea principal en menos tiempo que el método actual?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023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4663440" y="2606040"/>
            <a:ext cx="64008" cy="932688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7040880" y="2660904"/>
            <a:ext cx="1572768" cy="256032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7059168" y="26791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 promedio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2679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simplificado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953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¿Del 1 al 10, qué tan probable es que lo recomiendes? Promotores (9-10) vs Detractores (1-6)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611880"/>
            <a:ext cx="4023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411480" y="3611880"/>
            <a:ext cx="64008" cy="93268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2788920" y="3666744"/>
            <a:ext cx="1572768" cy="256032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2807208" y="368503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de 10 aceptan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" y="3685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de uso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3959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docente/autoridad acepta usarlo la próxima semana y da su correo para seguimiento?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611880"/>
            <a:ext cx="4023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64008" cy="932688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7040880" y="3666744"/>
            <a:ext cx="1572768" cy="256032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7059168" y="368503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completitud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3685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completado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959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usuario llena el formulario de retroalimentación sin abandono?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validación del PMV — Para docentes y autoridades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en Google Forms · Entregar al entrevistado en papel o digital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VALIDACIÓN — Proyecto de Emprendimiento Tecnológico PUCE × Fe y Alegría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8321040" cy="393192"/>
          </a:xfrm>
          <a:prstGeom prst="rect">
            <a:avLst/>
          </a:prstGeom>
          <a:solidFill>
            <a:srgbClr val="F2F3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02920" y="1563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56362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su cargo en la institución?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175564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Opción: Docente / Inspector / Rector / Vice-rector / DECE / Administrativo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947672"/>
            <a:ext cx="8321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02920" y="200253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00253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¿Usó el prototipo que le mostró el equipo? ¿Pudo completar la tarea sin ayuda?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194560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completé solo / Completé con ayuda / No pude completar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386584"/>
            <a:ext cx="8321040" cy="393192"/>
          </a:xfrm>
          <a:prstGeom prst="rect">
            <a:avLst/>
          </a:prstGeom>
          <a:solidFill>
            <a:srgbClr val="F2F3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502920" y="2441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44144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comparación con cómo hace esto hoy, ¿el prototipo le ahorraría tiempo?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" y="2633472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 (nada) a 5 (mucho tiempo ahorrado)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2825496"/>
            <a:ext cx="8321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02920" y="2880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28803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fue lo más útil del prototipo? Descríbalo en sus propias palabras.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" y="3072384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abierta — mínimo 1 oración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3264408"/>
            <a:ext cx="8321040" cy="393192"/>
          </a:xfrm>
          <a:prstGeom prst="rect">
            <a:avLst/>
          </a:prstGeom>
          <a:solidFill>
            <a:srgbClr val="F2F3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02920" y="3319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3192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falta o qué cambiaría para que fuera más útil en su trabajo diario?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" y="351129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abierta — mínimo 1 oración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3703320"/>
            <a:ext cx="8321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02920" y="3758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758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1 al 10, ¿qué tan probable es que lo recomendaría a un colega si estuviera disponible?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" y="3950208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 (nada probable) a 10 (muy probable)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4142232"/>
            <a:ext cx="8321040" cy="393192"/>
          </a:xfrm>
          <a:prstGeom prst="rect">
            <a:avLst/>
          </a:prstGeom>
          <a:solidFill>
            <a:srgbClr val="F2F3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502920" y="41970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41970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¿Estaría dispuesto/a a usarlo la próxima semana si el equipo lo activa en su institución?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" y="4389120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con gusto / Sí, pero necesito más información / No por ahora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4581144"/>
            <a:ext cx="8321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502920" y="46360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" y="46360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dejarnos su correo institucional para enviarle los resultados del proyecto en julio?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" y="4828032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institucional (opcional pero valorado)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— Entrega lunes 28 de abril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PMV + Canvas completo + Pasos para el prototipo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621792" cy="694944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621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1978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completo del proyecto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9 bloques completados con evidencia real de campo. No inventados. Mínimo 3 bullets por bloque.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160" y="1344168"/>
            <a:ext cx="1554480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995160" y="1344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892808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411480" y="1892808"/>
            <a:ext cx="621792" cy="694944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11480" y="1892808"/>
            <a:ext cx="621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194767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activo y demostrable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2240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funcionando o APK instalable. Si no existe aún, captura del proceso de construcción con código en GitHub.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2093976"/>
            <a:ext cx="1554480" cy="27432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6995160" y="2093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642616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411480" y="2642616"/>
            <a:ext cx="621792" cy="694944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411480" y="2642616"/>
            <a:ext cx="621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26974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formularios completados por usuarios reales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" y="2990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o autoridades de Fe y Alegría. Con nombre, cargo, firma o foto. Usar el formulario de la slide anterior.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95160" y="2843784"/>
            <a:ext cx="1554480" cy="27432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6995160" y="2843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392424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411480" y="3392424"/>
            <a:ext cx="621792" cy="694944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411480" y="3392424"/>
            <a:ext cx="621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" y="34472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indicadores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373989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uno de los 6 indicadores: resultado obtenido + decisión (continuar / pivote / iterar). Tabla de 2 columnas.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95160" y="3593592"/>
            <a:ext cx="1554480" cy="27432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699516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4142232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411480" y="4142232"/>
            <a:ext cx="621792" cy="694944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411480" y="4142232"/>
            <a:ext cx="621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5568" y="419709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construir el prototipo 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" y="44897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técnica: qué pantallas, qué endpoints, qué base de datos, qué IA, qué pruebas. Fecha límite Semana 11 = 1 de junio.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95160" y="4343400"/>
            <a:ext cx="1554480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699516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tarea: 50 pts  |  Entrega: lunes 28 de abril, 09:00, EVA PUCE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construir el Prototipo 1 — Semana 11: 1 de junio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pasos concretos desde hoy hasta la entrega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804672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02920" cy="804672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3 pantallas mínimas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2704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app necesita al menos: pantalla de entrada de datos, pantalla de resultado/acción, pantalla de confirmación. Nada más por ahora.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8321040" cy="804672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502920" cy="804672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11480" y="20299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103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repositorio en GitHub esta semana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4144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 por grupo con README que describa el proyecto, el stack y los integrantes. Compartir el link en la tarea del 28 de abril.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8321040" cy="804672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502920" cy="804672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11480" y="29443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 API de IA en la semana 8 (4 mayo)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35584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una sola llamada que funcione end-to-end: input del usuario → llamada a Gemini/Haiku → resultado mostrado. Verificar que no excede el tier gratuito.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858768"/>
            <a:ext cx="8321040" cy="804672"/>
          </a:xfrm>
          <a:prstGeom prst="rect">
            <a:avLst/>
          </a:prstGeom>
          <a:solidFill>
            <a:srgbClr val="F2F3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411480" y="3858768"/>
            <a:ext cx="502920" cy="804672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411480" y="38587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931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producción en la semana 9 (11 mayo)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27024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versión más básica a Vercel/Render/Railway. URL pública que cualquier docente pueda abrir desde su celular sin instalar nada.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681728"/>
            <a:ext cx="8321040" cy="237744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502920" y="470001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 = 1 de junio 2026  |  Prototipo 1 funcionando con al menos 3 usuarios reales que lo hayan probado sin ayuda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— Semana 6 a Semana 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 = 1 de junio 2026  |  Se excluye feriado 25 mayo (Batalla de Pichincha)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115568" cy="219456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115568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48056" y="150876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" y="178308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abr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" y="2029968"/>
            <a:ext cx="1005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+ Links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validación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8056" y="34198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645920" y="1783080"/>
            <a:ext cx="1115568" cy="178308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1682496" y="1828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82496" y="21031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abr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00784" y="2350008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completo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activo + 5 formularios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80360" y="1783080"/>
            <a:ext cx="1115568" cy="178308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2916936" y="1828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16936" y="21031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35224" y="2350008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 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primeros tests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0" y="1783080"/>
            <a:ext cx="1115568" cy="178308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151376" y="1828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51376" y="21031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69664" y="2350008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producción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 funcionando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783080"/>
            <a:ext cx="1115568" cy="178308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385816" y="1828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85816" y="21031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04104" y="2350008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usuarios reales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adopción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1783080"/>
            <a:ext cx="1115568" cy="1783080"/>
          </a:xfrm>
          <a:prstGeom prst="rect">
            <a:avLst/>
          </a:prstGeom>
          <a:solidFill>
            <a:srgbClr val="F2F3F4"/>
          </a:solidFill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6620256" y="1828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0256" y="21031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38544" y="2350008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Batalla de Pichincha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818120" y="1280160"/>
            <a:ext cx="1115568" cy="237744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7818120" y="1280160"/>
            <a:ext cx="1115568" cy="27432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7854696" y="132588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54696" y="16002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72984" y="1847088"/>
            <a:ext cx="1005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425196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411480" y="4251960"/>
            <a:ext cx="64008" cy="59436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94360" y="4297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abr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+ PMV + 5 formularios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624328" y="425196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2624328" y="4251960"/>
            <a:ext cx="64008" cy="59436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2807208" y="4297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07208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integración IA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37176" y="425196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Shape 44"/>
          <p:cNvSpPr/>
          <p:nvPr/>
        </p:nvSpPr>
        <p:spPr>
          <a:xfrm>
            <a:off x="4837176" y="4251960"/>
            <a:ext cx="64008" cy="59436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5020056" y="4297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0056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en producción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50024" y="425196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Shape 48"/>
          <p:cNvSpPr/>
          <p:nvPr/>
        </p:nvSpPr>
        <p:spPr>
          <a:xfrm>
            <a:off x="7050024" y="4251960"/>
            <a:ext cx="64008" cy="59436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1" name="Text 49"/>
          <p:cNvSpPr/>
          <p:nvPr/>
        </p:nvSpPr>
        <p:spPr>
          <a:xfrm>
            <a:off x="7232904" y="4297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232904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1 completo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IMPORTANTE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— AmigojoLive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obligatoria: lunes 21 de abril de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36576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convocados: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Fonseca · Míguez · Alobuela · Vásconez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8046720" cy="36576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reunión: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310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Análisis del trabajo entregado (133 páginas, 40 entrevistas — lo que sí funciona)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Refutación de AmigojoLive: las instituciones ya tienen Academium, SICE y SGA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Hamuk Pachay: revisar enunciado incompleto y diferenciar de Brújula Futura (Q361)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2153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Nueva propuesta: Red de práctica pedagógica entre UE Fe y Alegría — sin conflicto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5171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Definición del nuevo enunciado de hipótesis aprobado antes de Fase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cualquier integrante pospone la aprobación del nuevo PMV y afecta la nota de Fase 2.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9 bloques del Canvas — Qué va en cada uno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para sus proyectos de Fe y Alegría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64008" cy="11430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76072" y="12252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Segmentos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 creamos valor? Sé específico: no 'todos los docentes' sino 'docentes de secundaria técnica de Fe y Alegría con más de 30 estudiantes'.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PresenTech: docentes de UE Velaz y La Dolorosa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37560" y="117043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3337560" y="1170432"/>
            <a:ext cx="64008" cy="11430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502152" y="12252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Propuesta de valor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02152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 y cómo mejora la situación actual? Cuantifica el beneficio.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02152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DocuIA: de 6-8 horas semanales en reportes a 20 minutos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63640" y="117043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263640" y="1170432"/>
            <a:ext cx="64008" cy="11430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428232" y="12252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Canales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llegas al usuario? Email institucional, WhatsApp, charla en la UE, QR en tablón.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28232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AlegriApp: WhatsApp del docente → padres de familia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240487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411480" y="2404872"/>
            <a:ext cx="64008" cy="11430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76072" y="2459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Relación con clientes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6072" y="2715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¿Autoservicio, soporte, comunidad, asistente personal? ¿Cómo los retienes?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6072" y="3227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Comprendo: bot automático + reporte semanal al docente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37560" y="240487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337560" y="2404872"/>
            <a:ext cx="64008" cy="114300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3502152" y="2459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Fuente de ingresos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02152" y="2715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paga, cuánto y cuándo? Fe y Alegría central, la UE, el MINEDUC, donor externo.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02152" y="3227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Vínculo Pro: UE paga $15/mes por portafolio de egresados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63640" y="240487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6263640" y="2404872"/>
            <a:ext cx="64008" cy="114300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6428232" y="2459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Recursos clave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28232" y="2715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necesitas para funcionar? API, servidor, base de datos, relación con Fe y Alegría.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28232" y="3227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IncluApp: ML Kit, permiso cámara, acuerdo con Fe y Alegría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11480" y="363931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411480" y="3639312"/>
            <a:ext cx="64008" cy="114300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576072" y="3694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Actividades clave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6072" y="3950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equipo cada semana para que el negocio funcione? No desarrollo — operación.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607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AdaptaClass: revisar contenidos generados, reentrenar modelo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37560" y="363931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3337560" y="3639312"/>
            <a:ext cx="64008" cy="1143000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3502152" y="3694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Socios clave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502152" y="3950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les ayuda sin ser parte del equipo? PUCE, Fe y Alegría, Google, Anthropic.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50215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Todos los grupos: PUCE + Fe y Alegría como socios base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263640" y="3639312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6263640" y="3639312"/>
            <a:ext cx="64008" cy="11430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6428232" y="3694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Estructura de costos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28232" y="3950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operar cada mes? Servidor, API, dominio, tiempo del equipo.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2823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VozSegura: Telegram $0 + Railway $0 + dominio $12/año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completo — Comprendo (Sapos Blancos)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terminado para referencia de todos los grupos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920240" cy="201168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84632" y="117043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84632" y="1481328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y Alegría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API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15568"/>
            <a:ext cx="192024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496312" y="117043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96312" y="148132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preguntas por clase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respuestas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al docente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2167128"/>
            <a:ext cx="192024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2496312" y="22219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96312" y="253288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API · Node.js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· Telegram Bot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34840" y="1115568"/>
            <a:ext cx="2057400" cy="201168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507992" y="117043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07992" y="1481328"/>
            <a:ext cx="1911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sabe en tiempo real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entendieron.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identifica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vacío antes del examen.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0" y="1115568"/>
            <a:ext cx="2103120" cy="96012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6656832" y="117043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clientes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56832" y="148132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automático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semanal al docente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2167128"/>
            <a:ext cx="2103120" cy="96012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6656832" y="22219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56832" y="253288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Telegram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en aula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3218688"/>
            <a:ext cx="3931920" cy="987552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484632" y="3273552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" y="358444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API: ~$0.15/mes  ·  Telegram: $0  ·  Firebase: $0  ·  Dominio: $12/año  |  TOTAL: ~$15/año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34840" y="3218688"/>
            <a:ext cx="4251960" cy="987552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4507992" y="3273552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ingresos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07992" y="3584448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$10/UE/mes × 12 UE = $1,440/año  |  Modelo SaaS institucional  |  Docentes: gratis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321040" y="1115568"/>
            <a:ext cx="411480" cy="201168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8339328" y="1170432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96528" y="1188720"/>
            <a:ext cx="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secundaria Fe y Alegría con 30+ est. · UE José María Velaz (inicio)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 proyectos exitosos — Aplicadas a sus proyectos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Startup + Canvas en contextos de impacto social y tecnología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64008" cy="1207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594360" y="1225296"/>
            <a:ext cx="1463040" cy="2286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12648" y="124358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(Kenia)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67128" y="1243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social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517904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Validaron con 50 usuarios manuales antes de programar. Descubrieron que el problema no era enviar dinero sino recibirlo sin cuenta bancaria.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08483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a: VozSegura · AlegriApp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17043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4846320" y="1170432"/>
            <a:ext cx="64008" cy="120700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5029200" y="1225296"/>
            <a:ext cx="1463040" cy="2286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5047488" y="124358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(Bolivia)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1968" y="1243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Agri-tech rural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0" y="1517904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Construyeron el PMV más simple posible: un SMS que avisaba el precio del mercado. 3,000 agricultores adoptaron en 2 semanas.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0" y="208483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a: Comprendo · PresenTech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117043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411480" y="1170432"/>
            <a:ext cx="64008" cy="1207008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594360" y="1225296"/>
            <a:ext cx="1463040" cy="22860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612648" y="124358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Platzi (Colombia)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67128" y="1243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1517904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Arrancaron con una sola clase en vivo gratis. Validaron que la gente pagaba antes de construir la plataforma.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208483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a: AdaptaClass · Brújula Futura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245059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4846320" y="2450592"/>
            <a:ext cx="64008" cy="1207008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029200" y="2505456"/>
            <a:ext cx="1463040" cy="2286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047488" y="25237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International (Kenya)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1968" y="2523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Ed. básica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2798064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reveló que el pagador era la comunidad, no el gobierno. Cambiaron el modelo de negocio antes de escalar.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0" y="336499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a: Todos los grupos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" y="245059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411480" y="2450592"/>
            <a:ext cx="64008" cy="1207008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594360" y="2505456"/>
            <a:ext cx="1463040" cy="228600"/>
          </a:xfrm>
          <a:prstGeom prst="rect">
            <a:avLst/>
          </a:prstGeom>
          <a:solidFill>
            <a:srgbClr val="16A085"/>
          </a:solidFill>
          <a:ln w="63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612648" y="25237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Laboratoria (Perú/México)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67128" y="2523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técnica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360" y="2798064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Canvas les mostró que el verdadero cliente era la empresa que contrata, no la estudiante. Modelo de ingresos compartido.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" y="336499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a: Vínculo Pro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245059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4846320" y="2450592"/>
            <a:ext cx="64008" cy="120700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Shape 41"/>
          <p:cNvSpPr/>
          <p:nvPr/>
        </p:nvSpPr>
        <p:spPr>
          <a:xfrm>
            <a:off x="5029200" y="2505456"/>
            <a:ext cx="1463040" cy="22860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5047488" y="25237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Navent / Bumeran (Arg.)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01968" y="2523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Empleabilidad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0" y="2798064"/>
            <a:ext cx="3858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Validaron con 100 CVs manuales que los empleadores sí pagaban por candidatos curados. Luego construyeron el algoritmo.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0" y="336499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a: Vínculo Pro · Hamuk Pachay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continuar...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¿Algo que no esté claro?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¿Cuál de los 9 bloques del Canvas es más difícil de completar para su proyecto?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804672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¿El Canvas de su proyecto tiene algún bloque que contradiga la hipótesis validada?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804672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¿Tienen claro quién paga — la institución, el docente o un donor externo?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38728"/>
            <a:ext cx="804672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48640" y="35753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¿Alguien tiene dudas sobre los indicadores de validación del PMV esta semana?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8046720" cy="9144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48640" y="41422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¿Algún grupo necesita apoyo para elegir el stack técnico correcto?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Respondan en voz alta o envíen su pregunta por el chat del EVA.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hoy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salen con hoy y lo que deben hacer esta semana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1605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64008" cy="93268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Canvas completo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934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bloques completados para su proyecto antes del 28 de abril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18888" y="1170432"/>
            <a:ext cx="41605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818888" y="1170432"/>
            <a:ext cx="64008" cy="93268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5001768" y="126187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credits solicitados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160934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como Student Builder en anthropic.com esta semana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41605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11480" y="2194560"/>
            <a:ext cx="64008" cy="932688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594360" y="22860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PMV activo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63347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funcionando o APK instalable. Si no existe, construirlo antes del 28 de abril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2194560"/>
            <a:ext cx="41605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4818888" y="2194560"/>
            <a:ext cx="64008" cy="93268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001768" y="22860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5 formularios de validación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01768" y="263347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o autoridades de Fe y Alegría con nombre, cargo y fecha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218688"/>
            <a:ext cx="41605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411480" y="3218688"/>
            <a:ext cx="64008" cy="932688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94360" y="331012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6 indicadores medidos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65760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indicador: resultado numérico + decisión fundamentada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18888" y="3218688"/>
            <a:ext cx="41605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4818888" y="3218688"/>
            <a:ext cx="64008" cy="93268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001768" y="331012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Prototipo 1 — 1 de junio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01768" y="365760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11. 3 pantallas mínimas, deploy en producción, 3 usuarios reales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242816"/>
            <a:ext cx="8814816" cy="93268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411480" y="4242816"/>
            <a:ext cx="64008" cy="93268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640080" y="43342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Grupo 2 — lunes 21 abril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7183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obligatoria todos los integrantes para pivote de hipótesis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Facultad de Ing. en Sistemas  |  Emprendimiento Tecnológico  |  Francisco Rodríguez  |  Semana 6  |  Abril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Canvas no es un documento. Es una conversación con la realidad.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8046720" cy="36576"/>
          </a:xfrm>
          <a:prstGeom prst="rect">
            <a:avLst/>
          </a:prstGeom>
          <a:solidFill>
            <a:srgbClr val="1E354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emprendedor que no puede explicar su modelo de negocio en 9 bloques no entiende su modelo de negocio.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74320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Tarea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93776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713232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Canvas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0" y="42976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Rodríguez  |  Emprendimiento Tecnológico  |  PUCE  |  Semana 6 — Abril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lunes 28 de abril  |  Traer Canvas completo y PMV activo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— PLANTILLA  |  FFFFFF Proyecto: _______________________  |  NRC: _______  |  Fecha: ___________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9728" y="548640"/>
            <a:ext cx="1508760" cy="2743200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182880" y="6035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Socios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09928" y="548640"/>
            <a:ext cx="1508760" cy="1298448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1783080" y="6035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Actividades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0128" y="548640"/>
            <a:ext cx="1920240" cy="2743200"/>
          </a:xfrm>
          <a:prstGeom prst="rect">
            <a:avLst/>
          </a:prstGeom>
          <a:solidFill>
            <a:srgbClr val="1D8A6E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383280" y="60350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Propuesta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21808" y="548640"/>
            <a:ext cx="1508760" cy="1298448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394960" y="6035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Relación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22008" y="548640"/>
            <a:ext cx="2103120" cy="27432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995160" y="60350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Segmentos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09928" y="1938528"/>
            <a:ext cx="1508760" cy="135331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1783080" y="1993392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Recursos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21808" y="1938528"/>
            <a:ext cx="1508760" cy="1353312"/>
          </a:xfrm>
          <a:prstGeom prst="rect">
            <a:avLst/>
          </a:prstGeom>
          <a:solidFill>
            <a:srgbClr val="5B2C6F"/>
          </a:solidFill>
          <a:ln w="635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5394960" y="1993392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Canales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" y="3383280"/>
            <a:ext cx="4315968" cy="141732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182880" y="343814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Estructura de costos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17136" y="3383280"/>
            <a:ext cx="4507992" cy="141732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590288" y="3438144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Fuentes de ingresos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182880" y="4946904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— Emprendimiento Tecnológico — Francisco Rodríguez — Semana 6 — Imprimir en A3 o completar digitalmente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04672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4325</Words>
  <Application>Microsoft Office PowerPoint</Application>
  <PresentationFormat>Presentación en pantalla (16:9)</PresentationFormat>
  <Paragraphs>572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6 — Modelo de Negocio Canvas</dc:title>
  <dc:subject>PptxGenJS Presentation</dc:subject>
  <dc:creator>Francisco Rodríguez</dc:creator>
  <cp:lastModifiedBy>RODRIGUEZ CLAVIJO FRANCISCO</cp:lastModifiedBy>
  <cp:revision>1</cp:revision>
  <dcterms:created xsi:type="dcterms:W3CDTF">2026-04-20T02:32:11Z</dcterms:created>
  <dcterms:modified xsi:type="dcterms:W3CDTF">2026-04-20T15:53:07Z</dcterms:modified>
</cp:coreProperties>
</file>